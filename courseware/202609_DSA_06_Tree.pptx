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 树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 &amp; Forest：孩子个数不限的层次结构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树与森林的两种等价定义 · 四种逻辑表示法 · 森林 ⇄ 二叉树「连线、切线、旋转」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 / 后根 / 层次周游 · 子结点表 · 静态与动态「左子/右兄」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父指针表示法与并查集：重量权衡合并 + 路径压缩 · 连通分量计数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带右链 / 双标记先根 · 带度数后根 · 双标记层次 · K 叉树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附录：括号嵌套树 · 带度数层次序列 · 扩展域并查集（虫子的生活、食物链）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孩子个数不固定的树，怎么存？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四种链式表示；主实现「左子/右兄」二叉链表把任意度压成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两个指针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为什么一般树没有「中序」？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结点可能有多于两棵子树，「根排在中间」无从定义——只有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先根、后根、层次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「在不在同一组」怎么问得快？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：父指针表示法 + 重量权衡合并 + 路径压缩。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树与二叉树、森林与二叉树之间存在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一一对应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的关系：一般树的问题几乎都能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搬到二叉树上去做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定义与周游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 树和森林：定义、术语、四种表示法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6.1.2 森林与二叉树的等价转换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6.1.3 树的抽象数据类型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6.1.4 先根 / 后根 / 层次周游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链式存储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6.2.1 子结点表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 静态「左子/右兄」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6.2.3 动态表示法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 动态「左子/右兄」（主实现 GeneralTree）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父指针表示法与并查集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6.3–6.4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6.3.1 带右链的先根次序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 带双标记的先根次序（算法 6.10）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6.3.3 带度数的后根次序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6.3.4 带双标记的层次次序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K 叉树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A：6 道上机题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demo.cpp：建一棵一般树，三种周游；再做三次合并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11149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dsa::GeneralTree&lt;char&gt; tree;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tree.create_root('A');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auto* b = tree.insert_first(tree.root(), 'B');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auto* c = tree.insert_next(b, 'C');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tree.insert_next(c, 'D');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tree.insert_first(b, 'E');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tree.insert_next(tree.root()-&gt;child-&gt;child, 'F');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"先根: ";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tree.preorder([](char value) { std::cout &lt;&lt; value; });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"\n后根: ";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tree.postorder([](char value) { std::cout &lt;&lt; value; });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"\n层次: ";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tree.breadth_first([](char value) { std::cout &lt;&lt; value; });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'\n';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dsa::DisjointSet sets(5);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sets.unite(0, 1);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sets.unite(1, 2);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sets.unite(3, 4);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"0 与 2 同集合: " &lt;&lt; (sets.same(0, 2) ? "是" : "否") &lt;&lt; '\n';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"0 与 3 同集合: " &lt;&lt; (sets.same(0, 3) ? "是" : "否") &lt;&lt; '\n';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897880" y="932688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987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188720"/>
            <a:ext cx="25694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先根: ABEFCD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后根: EFBCDA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层次: ABCDEF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与 2 同集合: 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与 3 同集合: 否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423160"/>
            <a:ext cx="27889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-Icode/ch06/general_tree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code/ch06/general_tree/demo.cpp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97880" y="3108960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07608" y="3493008"/>
            <a:ext cx="2569464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同一棵树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A(B(E,F),C,D)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三种周游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次序各不相同。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DisjointSet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：0-1、1-2 合并后 0 与 2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同集合；3 在另一组。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里的树是怎么一步步长出来的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9601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create_root('A')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179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清空旧树，新建根 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453896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1408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insert_first(root, 'B')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1627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成为 A 的第一个孩子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901952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1856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insert_next(b, 'C')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075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接成 B 的下一个兄弟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304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insert_next(c, 'D')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25237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接成 C 的下一个兄弟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98064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27523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insert_first(b, 'E')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2971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成为 B 的第一个孩子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310896" cy="31089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3200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insert_next(root-&gt;child-&gt;child, 'F')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3419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root→child→child 就是 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730752"/>
            <a:ext cx="4343400" cy="950976"/>
          </a:xfrm>
          <a:prstGeom prst="roundRect">
            <a:avLst>
              <a:gd name="adj" fmla="val 7692"/>
            </a:avLst>
          </a:prstGeom>
          <a:solidFill>
            <a:srgbClr val="FFF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38221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孩子次序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11480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先插 B，再两次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insert_next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，孩子从左到右就是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B、C、D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。若反复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insert_first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后插入的反而在前端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1005840"/>
            <a:ext cx="3657600" cy="3675888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6636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左孩子 / 右兄弟 的样子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22392" y="15819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2239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22392" y="24963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2239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19672" y="24963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1967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16952" y="24963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1695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22392" y="34564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22392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19672" y="34564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19672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77840" y="1892808"/>
            <a:ext cx="0" cy="603504"/>
          </a:xfrm>
          <a:prstGeom prst="line">
            <a:avLst/>
          </a:prstGeom>
          <a:noFill/>
          <a:ln w="1651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733288" y="2651760"/>
            <a:ext cx="786384" cy="0"/>
          </a:xfrm>
          <a:prstGeom prst="line">
            <a:avLst/>
          </a:prstGeom>
          <a:noFill/>
          <a:ln w="16510">
            <a:solidFill>
              <a:srgbClr val="A06A00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830568" y="2651760"/>
            <a:ext cx="786384" cy="0"/>
          </a:xfrm>
          <a:prstGeom prst="line">
            <a:avLst/>
          </a:prstGeom>
          <a:noFill/>
          <a:ln w="16510">
            <a:solidFill>
              <a:srgbClr val="A06A00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577840" y="2807208"/>
            <a:ext cx="0" cy="649224"/>
          </a:xfrm>
          <a:prstGeom prst="line">
            <a:avLst/>
          </a:prstGeom>
          <a:noFill/>
          <a:ln w="1651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733288" y="3611880"/>
            <a:ext cx="786384" cy="0"/>
          </a:xfrm>
          <a:prstGeom prst="line">
            <a:avLst/>
          </a:prstGeom>
          <a:noFill/>
          <a:ln w="16510">
            <a:solidFill>
              <a:srgbClr val="A06A00"/>
            </a:solidFill>
            <a:prstDash val="dash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5650992" y="2057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child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650992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child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852160" y="2359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sibling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949440" y="2359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sibling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852160" y="3319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sibling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166360" y="4023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每个结点只有两个指针域（外加 parent）。代价：取「第 k 个孩子」要沿兄弟链走 k 步。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树的定义和基本术语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一个结点至多一个前驱，但可以有任意多个后继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两种等价定义 · 四种表示法 · 森林 ⇄ 二叉树 · 三种周游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树和森林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树的两种等价定义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递归定义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树是包括 n（n ≥ 1）个结点的有限集合 T，使得：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83080"/>
            <a:ext cx="3657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有且仅有一个特定的称为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（root）的结点；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除根以外的其他结点被分成 m（m ≥ 0）个不相交的有限集合 T₁, …, Tₘ，而每一个集合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又都是树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，称做根的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54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定义里又用到了树 → 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r>
              <a:rPr lang="en-US" sz="11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：一棵树分成几个分支，每个分支也是树。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二元关系定义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有穷集合 K（n &gt; 0）上的二元关系 R = {r}：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78308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有且仅有一个结点 k₀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没有前驱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，称做树的根；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 k₀ 外，每个结点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有且仅有一个前驱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 k₀ 外任一结点 k，都存在序列 k₀, k₁, …, kₛ = k，其中 ⟨kᵢ₋₁, kᵢ⟩ ∈ r——称为从根到 k 的一条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04088"/>
          </a:xfrm>
          <a:prstGeom prst="roundRect">
            <a:avLst>
              <a:gd name="adj" fmla="val 1039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两者等价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361688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除了定义的角度不同，两种描述是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。第 1 章用二元关系描述逻辑结构的办法，在这里直接用上了。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树和森林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以图 6.1 为例：结点集合 K 与关系 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pic>
        <p:nvPicPr>
          <p:cNvPr id="8" name="Image 0" descr="fig-6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24220"/>
            <a:ext cx="2926080" cy="23064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　一般树的树形表示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051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{A, B, C, D, E, F, G, H, I, J, K, L}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417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{ ⟨A,B⟩, ⟨A,C⟩, ⟨B,D⟩, ⟨B,E⟩, ⟨C,F⟩, ⟨C,G⟩, ⟨C,H⟩, ⟨D,I⟩, ⟨D,J⟩, ⟨G,K⟩, ⟨G,L⟩ }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2103120"/>
            <a:ext cx="47091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没有前驱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：它是根。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个结点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各恰好一个前驱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：11 条有序对。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的度为 3（F、G、H），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树的度 = 3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I、J、E、F、K、L、H 没有子结点：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从根 A 到 K 的路径：A → C → G → K；K 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（根为第 0 层）。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8229600" cy="612648"/>
          </a:xfrm>
          <a:prstGeom prst="roundRect">
            <a:avLst>
              <a:gd name="adj" fmla="val 11940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和第 5 章二叉树的差别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453128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一般树的结点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不限制孩子个数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。家谱、机关编制、文件系统目录、编译器的句法树，都是树。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术语基本沿用二叉树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94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9776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父结点 / 子结点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存在 k 指向 k′ 的连线，则 k 是 k′ 的父结点，k′ 是 k 的子结点；⟨k, k′⟩ 称做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兄弟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同一个父结点的子结点之间互称兄弟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 / 树叶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没有父结点的结点是根；没有子结点的结点是树叶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结点的度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结点的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子树数目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树的度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树中各结点度的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最大值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（二叉树的度是 2）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祖先 / 子孙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有一条由 k 到达 kₛ 的路径，则 k 是 kₛ 的祖先、kₛ 是 k 的子孙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根结点为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0 层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；非根结点的层数是其父结点的层数加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0058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无序树 vs 有序树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38988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自然界中子结点次序没必要区别：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无序树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。计算机的存储是有序的，往往把子结点按从左到右编号，当作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（ordered tree）处理。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017520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401568"/>
            <a:ext cx="2331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零棵或多棵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不相交的树的集合（通常有序）。一个结点的子树组成森林；加一个根，森林就变成一棵树。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注意：度为 2 的有序树并不是二叉树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有序树里，第一子结点被删除后，第二子结点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自然顶替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成为第一子结点——它只有「第几个孩子」，没有「左、右」。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EAF4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二叉树：这是两棵不同的树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07592" y="21305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0759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29535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1041178" y="2418641"/>
            <a:ext cx="340803" cy="557678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左不空、右空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36392" y="21305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3639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39312" y="29535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9312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72898" y="2418641"/>
            <a:ext cx="340803" cy="557678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左空、右不空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60020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FDF0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有序树：只有一种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21305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19672" y="29535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9672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441448"/>
            <a:ext cx="0" cy="512064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就是 A 的「第一个孩子」，无所谓左右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229600" cy="704088"/>
          </a:xfrm>
          <a:prstGeom prst="roundRect">
            <a:avLst>
              <a:gd name="adj" fmla="val 10390"/>
            </a:avLst>
          </a:prstGeom>
          <a:solidFill>
            <a:srgbClr val="FFF6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361688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度为 2 并且严格区分左右两个子结点的有序树才是二叉树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——二叉树必须能表示「左空、右不空」这种左右不对称。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树的表示法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同一棵树的四种逻辑表示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pic>
        <p:nvPicPr>
          <p:cNvPr id="8" name="Image 0" descr="fig-6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2720"/>
            <a:ext cx="4572000" cy="14236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303520" y="11887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6.2　凹入表适合按层次阅读，文氏图突出包含关系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嵌套括号表示（图 6.1 那棵树）：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A(B(D(I,J),E), C(F,G(K,L),H))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便于作为文本编码或输入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树形表示法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5021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根在上的倒挂树；默认上面的结点是前驱、下面的是后继。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3291840"/>
            <a:ext cx="310896" cy="31089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634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凹入表示法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35021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树根的线条最长，子结点线条更短、置于父结点下方——像图书目录。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023360"/>
            <a:ext cx="310896" cy="31089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2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文氏图表示法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2336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每棵树对应一个圆；同一根的两棵子树对应的圆互不相交。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023360"/>
            <a:ext cx="310896" cy="31089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634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07492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嵌套括号表示法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074920" y="42336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类似广义表：根写在左边，子树森林的表用逗号隔开。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森林与二叉树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连线、切线、旋转：森林变成二叉树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pic>
        <p:nvPicPr>
          <p:cNvPr id="8" name="Image 0" descr="fig-6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574" y="1005840"/>
            <a:ext cx="6368851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连线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把兄弟结点用线连起来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333756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2461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685032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切线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85032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只保留父结点到第一个孩子的连线，砍掉其余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333756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3504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73952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以根为轴顺时针转一下，像通常的二叉树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09651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E3D3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09651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左枝 = 父子关系（第一个孩子）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·　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右枝 = 兄弟关系（下一个兄弟）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·　单棵树转换后根的右孩子为空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森林与二叉树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形式定义，以及逆过程：两种转换互逆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 F = {T₁, T₂, …, Tₙ} → 二叉树 B(F)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44168"/>
            <a:ext cx="36576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空 → B(F) 空；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B(F)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T₁ 的根；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B(F)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T₁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子树森林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转成的二叉树；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B(F)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{T₂, …, Tₙ} 转成的二叉树。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 B → 森林 F(B)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344168"/>
            <a:ext cx="36576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逆时针旋转；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x 是 y 的左孩子，把 x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 x 右链上的所有结点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都补连到 y；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删掉所有到右孩子的边。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形式地：F(B) = 以 B 的根为根、F(B_L) 为子树森林的树，再加上 F(B_R)。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pic>
        <p:nvPicPr>
          <p:cNvPr id="14" name="Image 0" descr="fig-6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374" y="2990088"/>
            <a:ext cx="5471572" cy="1645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583680" y="31089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6.4　(a) 二叉树；(b) 它对应的森林。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的左孩子 B 及其右链 C、D 都成为 A 的孩子。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森林与二叉树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6.5：本章反复用到的那片森林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pic>
        <p:nvPicPr>
          <p:cNvPr id="8" name="Image 0" descr="fig-6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1288"/>
            <a:ext cx="4754880" cy="1426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16352"/>
            <a:ext cx="4937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6.5　(a) 森林；(b) 森林对应的二叉树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960120"/>
          <a:ext cx="3108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13716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 = 首孩子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 = 下一兄弟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G（下一棵树的根）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154680"/>
            <a:ext cx="4937760" cy="1527048"/>
          </a:xfrm>
          <a:prstGeom prst="roundRect">
            <a:avLst>
              <a:gd name="adj" fmla="val 4790"/>
            </a:avLst>
          </a:prstGeom>
          <a:solidFill>
            <a:srgbClr val="FFF6E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3538728"/>
            <a:ext cx="4718304" cy="10698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根的右链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就是森林中每棵树的根：A → G。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单棵树转成的二叉树，根的右孩子一定为空；森林则不然。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这张对应表就是「左子/右兄」存储的全部信息（6.2.2、6.2.4）。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树的抽象数据类型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 ADT：结点类 + 树类，对外一组运算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4864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103120"/>
                <a:gridCol w="20574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GeneralTree 接口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用一个值建立根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create_root(v)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清空旧树并新建根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插入第一个孩子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insert_first(p, v)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新结点接到孩子链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最前面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插入下一个兄弟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insert_next(n, v)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新结点成为 n 的下一个兄弟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查询父结点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parent_of(n)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 parent 链，O(1)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删除一棵子树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delete_subtree(n)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先从链上摘下，再递归销毁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三种周游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preorder / postorder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breadth_first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先根、后根、层次；传入 visitor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058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097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结点里存什么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38988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自身的值，以及指向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最左孩子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下一个兄弟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的链接。树类保存根（森林时根还可以沿兄弟链相连）。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27432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三条链一起改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127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插入和删除必须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同时维护父链、孩子链和兄弟链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，不能只改其中一条。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原书【代码6.1】【代码6.2】只给出声明；本书把运算直接写在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GeneralTree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上，不再另设空基类。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树的周游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深度优先：先根次序与后根次序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一个结点可能有多于两棵子树，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不能像二叉树那样给出中根次序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；但可以仿照前序法、后序法定义两种深度优先周游：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先根次序周游森林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292608" cy="2926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访问森林中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第一棵树的根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05456"/>
            <a:ext cx="292608" cy="29260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先根次序周游第一棵树根的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子树森林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35224"/>
            <a:ext cx="292608" cy="29260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先根次序周游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其他的树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构成的森林。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6.5(a)：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B C E F D G H J 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5544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后根次序周游森林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2075688"/>
            <a:ext cx="292608" cy="29260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76088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后根次序周游第一棵树根的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子树森林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505456"/>
            <a:ext cx="292608" cy="29260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9204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访问森林中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第一棵树的根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935224"/>
            <a:ext cx="292608" cy="29260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9204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后根次序周游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其他的树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构成的森林。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6.5(a)：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E F C D A J H I 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CFE0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对照代码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44074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沿兄弟链循环、对孩子链递归——正好是「第一棵树」+「其余的树」这个定义。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树的周游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与二叉树的对应：先根 = 前序，后根 = 中序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6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657600" cy="109728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960120"/>
          <a:ext cx="4206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148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森林的周游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 对应二叉树的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先根次序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E F D G H J 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后根次序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E F C D A J H I 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48056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原因就在转换关系里：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2514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T₁ 的诸子树 {T₁₁, …, T₁ₘ} ↔ B(F)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；其余的树 {T₂, …, Tₙ} ↔ B(F)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8229600" cy="1481328"/>
          </a:xfrm>
          <a:prstGeom prst="roundRect">
            <a:avLst>
              <a:gd name="adj" fmla="val 4938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273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后根次序 = 中序，逐项对上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639312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0080" y="3639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 {T₁₁, …, T₁ₘ}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9867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224528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0080" y="4224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中序周游左子树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337560" y="3639312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337560" y="3639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T₁ 的根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337560" y="39867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37560" y="4224528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337560" y="4224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访问根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035040" y="3639312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035040" y="36393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 {T₂, …, Tₙ}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035040" y="39867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035040" y="4224528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035040" y="4224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中序周游右子树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定义 · 树的周游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广度优先（层次）周游：森林与二叉树的层次序不同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 0 层（根）开始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自上至下逐层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周游；同一层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从左到右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逐一访问。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6.5(a) 森林：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G B C D H I E F J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对应二叉树的层次序却是 A B G C H E D J I F——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两者不同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在二叉树上按森林的层次走，是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沿着右链访问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，左指针起「承上启下」的作用。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本节的例子（demo 里那棵 A(B(E,F),C,D)）：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4846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结点，再孩子子树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E F C 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孩子子树，再结点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F B C D 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按离根的距离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D E 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532120" y="96012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pic>
        <p:nvPicPr>
          <p:cNvPr id="11" name="Image 0" descr="fig-6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520190"/>
            <a:ext cx="2971800" cy="8915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中按层读：A｜B G｜C H｜E D J I｜F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532120" y="3474720"/>
            <a:ext cx="3154680" cy="1207008"/>
          </a:xfrm>
          <a:prstGeom prst="roundRect">
            <a:avLst>
              <a:gd name="adj" fmla="val 6061"/>
            </a:avLst>
          </a:prstGeom>
          <a:solidFill>
            <a:srgbClr val="FDF0E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669280" y="3566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递归的风险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0" y="385876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递归周游和递归销毁在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极深的退化树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上会耗尽调用栈——和第 5 章是同一类风险。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树的链式存储结构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问题的根源在于「度不固定」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子结点表 · 静态左子/右兄 · 动态表示法 · 动态左子/右兄（主实现）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存储结构的要求，与四种链式表示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无论采取何种方式，存储结构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不但要存各结点本身的数据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，还要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准确反映结点之间的逻辑关系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。一般树的存储比二叉树麻烦，因为度不固定。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75564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75564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5727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子结点表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276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结点数组 + 每个结点一条孩子链表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920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顺链找所有孩子；度不固定时要扩容、搬指针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53288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5328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3500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静态「左子/右兄」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404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数组，每个结点 4 个域：值、父、最左子、右兄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空间更省、结点大小固定；两棵树归并只改 3 个链接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31012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3101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31272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动态表示法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1821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每个结点单独分配：孩子数 + 可变长孩子指针表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474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本质同子结点表，但动态分配；适合频繁长出新结点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904488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08736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408736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39044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动态「左子/右兄」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9593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二叉链表：child、sibling（+ parent）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42519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应用最广，本章主实现 GeneralTree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子结点表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「子结点表」：结点数组 + 孩子链表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66344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pic>
        <p:nvPicPr>
          <p:cNvPr id="8" name="Image 0" descr="fig-6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563" y="1005840"/>
            <a:ext cx="4304714" cy="2560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547872"/>
            <a:ext cx="4663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6.6　以子结点表实现图 6.1 中的树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960120"/>
            <a:ext cx="33832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主体是一个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结点数组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；每个元素 3 个域：值、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父结点下标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、指向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的指针。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子结点表按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从左到右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串起，表项存孩子下标。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最左子结点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由子结点表第一个表项直接找到，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找到所有孩子。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取第 k 个孩子：表用数组 O(1)，用链表要走 k 步。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886200"/>
            <a:ext cx="8229600" cy="795528"/>
          </a:xfrm>
          <a:prstGeom prst="roundRect">
            <a:avLst>
              <a:gd name="adj" fmla="val 9195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977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270248"/>
            <a:ext cx="7955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度不固定时数组表要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，孩子序列中间插入还要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搬动后面的指针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；度为 d 的结点留 d 个指针槽，孩子很少时浪费。→ 用「左子/右兄」把每个结点的链接数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固定为两个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静态「左子/右兄」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静态「左子/右兄」：访问右侧兄弟更方便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93776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pic>
        <p:nvPicPr>
          <p:cNvPr id="8" name="Image 0" descr="fig-6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141" y="1024128"/>
            <a:ext cx="4643878" cy="2926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931920"/>
            <a:ext cx="4937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6.7　「左子/右兄」表示两棵树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960120"/>
            <a:ext cx="31089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存结点，数组下标代替指针。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：值、父结点、最左子结点、右侧兄弟结点。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比子结点表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空间效率更高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，且每个结点的存储空间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大小固定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77840" y="31089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1500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6.1.2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34930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它就是森林 ⇄ 二叉树转换的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静态链表实现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：最左子 = 左孩子，右兄弟 = 右孩子。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图中两棵树（A 为根、G 为根）存在同一个数组里——这正是下一页归并的前提。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静态「左子/右兄」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两棵树在同一数组里：归并只改 3 个链接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pic>
        <p:nvPicPr>
          <p:cNvPr id="8" name="Image 0" descr="fig-6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094" y="1024128"/>
            <a:ext cx="4545971" cy="2971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977640"/>
            <a:ext cx="4937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6.8　把以 A 为根的树变成 H 的最左子树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需要改的链接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1444752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1371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的最左子结点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2048256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57784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的父结点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2651760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5778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的右侧兄弟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J（H 原来的最左子）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77840" y="324612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1500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其余不动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3630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其余结点的值和链接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都不变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。如果两棵树不在同一个数组里，就得先把一棵整体搬过来。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动态表示法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动态表示法：每个结点一块可变大小的空间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pic>
        <p:nvPicPr>
          <p:cNvPr id="8" name="Image 0" descr="fig-6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25" y="1005840"/>
            <a:ext cx="6946751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108960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DF0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限定树的度数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5204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每个结点分配确定数目的指针域：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度数小的结点浪费空间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，超过限制时增加结点又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非常不方便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3108960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EAF4E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为每个结点分配可变空间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结点里存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和一张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长度可变的孩子指针表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；孩子数变了就重新分配一块合适的空间。本质同子结点表，但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不必把所有结点放在同一个数组里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动态「左子/右兄」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二叉链表表示法：本章的主实现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 的静态「左子/右兄」是森林⇄二叉树的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静态链表实现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；照第 5 章二叉树链式存储的做法，就得到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指向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第一个孩子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sibling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指向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下一个兄弟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；再加一个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便于向上走。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根的右链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（根的 sibling 链）就是森林中每棵树的根。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代价：取第 k 个孩子必须沿兄弟链走 k 步。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3794760"/>
            <a:ext cx="470001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child → B ── sibling → C ── sibling → 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 child → E ── sibling → 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960120"/>
            <a:ext cx="3154680" cy="365760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0" y="1024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 Node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118872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1984248"/>
            <a:ext cx="1188720" cy="45720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1984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child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984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第一个孩子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2551176"/>
            <a:ext cx="1188720" cy="45720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2551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sibling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5511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下一个兄弟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15000" y="3118104"/>
            <a:ext cx="1188720" cy="457200"/>
          </a:xfrm>
          <a:prstGeom prst="rect">
            <a:avLst/>
          </a:prstGeom>
          <a:solidFill>
            <a:srgbClr val="E3E9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15000" y="3118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18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任意度的树，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只要两个指针域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（parent 是为了向上走）。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GeneralTree（1/6）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与拷贝：递归 clone，copy-and-swap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80644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66013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GeneralTree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value;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child{nullptr};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sibling{nullptr};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parent{nullptr};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explicit Node(const T&amp; value) : value(value) {}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GeneralTree() = default;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GeneralTree(const GeneralTree&amp; other) : root_(clone(other.root_, nullptr)) {}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GeneralTree&amp; operator=(const GeneralTree&amp; other)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!= &amp;other)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GeneralTree copy(other);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swap(copy);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446520" y="932688"/>
            <a:ext cx="224028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241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拷贝构造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316736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clone(other.root_, nullptr)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深拷贝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整棵树：每个结点复制一份，parent 指向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里的父结点。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834640"/>
            <a:ext cx="2240280" cy="1847088"/>
          </a:xfrm>
          <a:prstGeom prst="roundRect">
            <a:avLst>
              <a:gd name="adj" fmla="val 396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926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拷贝赋值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18688"/>
            <a:ext cx="1965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先拷出一份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——出异常时原对象不受影响；旧内容随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析构而释放。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GeneralTree（2/6）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移动、析构、create_root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34009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GeneralTree(GeneralTree&amp;&amp; other) noexcept : root_(other.release()) {}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GeneralTree&amp; operator=(GeneralTree&amp;&amp; other) noexcept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!= &amp;other)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clear();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root_ = other.release();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~GeneralTree() { clear();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swap(GeneralTree&amp; other) noexcept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using std::swap;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swap(root_, other.root_);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Node* root() noexcept { return root_;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const Node* root() const noexcept { return root_;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create_root(const T&amp; value)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clear();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new Node(value);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126480" y="932688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移动：接管指针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31673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把对方的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拿过来并置空——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，不复制任何结点。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create_root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8529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清空旧树，再新建根。所以 demo 开头调用它是安全的。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730752"/>
            <a:ext cx="2560320" cy="950976"/>
          </a:xfrm>
          <a:prstGeom prst="roundRect">
            <a:avLst>
              <a:gd name="adj" fmla="val 7692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11480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~GeneralTree()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调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，最终走递归的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（见 6/6）。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GeneralTree（3/6）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insert_first / insert_next：先接新结点，再改旧链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8463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7000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insert_first(Node* parent, const T&amp; 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(parent ==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std::invalid_argument("parent must not be null");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node = new Node(value);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node-&gt;sibling = parent-&gt;child;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node-&gt;parent = parent;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parent-&gt;child =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insert_next(Node* node, const T&amp; 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std::invalid_argument("node must not be null");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next = new Node(value);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next-&gt;sibling = node-&gt;sibling;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next-&gt;parent = node-&gt;parent;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node-&gt;sibling = 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Node* parent_of(Node* node) const noexcept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 == nullptr ? nullptr : node-&gt;parent;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932688"/>
            <a:ext cx="32004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2356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insert_first(P, X)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79592" y="14447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7959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79592" y="2359152"/>
            <a:ext cx="310896" cy="310896"/>
          </a:xfrm>
          <a:prstGeom prst="ellipse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795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93992" y="23591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08392" y="23591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083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755648"/>
            <a:ext cx="0" cy="603504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44958" y="1710118"/>
            <a:ext cx="694563" cy="694563"/>
          </a:xfrm>
          <a:prstGeom prst="line">
            <a:avLst/>
          </a:prstGeom>
          <a:noFill/>
          <a:ln w="16510">
            <a:solidFill>
              <a:srgbClr val="6B7B7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190488" y="2514600"/>
            <a:ext cx="603504" cy="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04888" y="2514600"/>
            <a:ext cx="603504" cy="0"/>
          </a:xfrm>
          <a:prstGeom prst="line">
            <a:avLst/>
          </a:prstGeom>
          <a:noFill/>
          <a:ln w="1651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3093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原来的第一个孩子 B 退到第二位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0" y="3200400"/>
            <a:ext cx="3200400" cy="1481328"/>
          </a:xfrm>
          <a:prstGeom prst="roundRect">
            <a:avLst>
              <a:gd name="adj" fmla="val 4938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235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次序为什么不能反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96128" y="3584448"/>
            <a:ext cx="2980944" cy="10241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node-&gt;sibling = parent-&gt;child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parent-&gt;child = node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反过来，原孩子链就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丢了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insert_next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同理：新结点的 parent 与 node 相同。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空指针参数抛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GeneralTree（4/6）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delete_subtree：先脱开，再销毁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7607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6144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delete_subtree(Node* node)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Node** link = node-&gt;parent == nullptr ? &amp;root_ : &amp;node-&gt;parent-&gt;child;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(*link != nullptr &amp;&amp; *link != node)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link = &amp;(*link)-&gt;sibling;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(*link != node)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std::invalid_argument("node is not part of this tree");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*link = node-&gt;sibling;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node-&gt;sibling = nullptr;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destroy(node);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clear() noexcept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destroy(root_);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nullptr;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355080" y="932688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Node** link 的用法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1316736"/>
            <a:ext cx="2112264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父为空 → 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开始（它在森林的根兄弟链上）；否则从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parent-&gt;child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沿兄弟链走，直到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*link == node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*link = node-&gt;sibling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：把它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从链上摘下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，前后兄弟接上。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3474720"/>
            <a:ext cx="2331720" cy="1207008"/>
          </a:xfrm>
          <a:prstGeom prst="roundRect">
            <a:avLst>
              <a:gd name="adj" fmla="val 6061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为什么先置空 sibling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85876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会顺着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sibling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递归释放。不先断开，就会把它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后面的兄弟子树一起删掉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GeneralTree（5/6）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先根与后根：沿兄弟链循环，对孩子链递归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84632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70001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 &lt;class Visitor&gt;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preorder(Visitor&amp;&amp; visitor)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pre(root_, visitor);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 &lt;class Visitor&gt;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postorder(Visitor&amp;&amp; visitor)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post(root_, visitor);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 &lt;class Visitor&gt;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pre(Node* node, Visitor&amp; visitor)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(; node != nullptr; node = node-&gt;sibling)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visitor(node-&gt;value);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pre(node-&gt;child, visitor);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 &lt;class Visitor&gt;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post(Node* node, Visitor&amp; visitor)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(; node != nullptr; node = node-&gt;sibling)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post(node-&gt;child, visitor);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visitor(node-&gt;value);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932688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235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两者只差一行的位置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371600"/>
          <a:ext cx="2926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先访问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后访问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孩子子树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孩子子树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6235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循环 = 「其他的树」；递归 = 「子树森林」。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3017520"/>
            <a:ext cx="3200400" cy="1664208"/>
          </a:xfrm>
          <a:prstGeom prst="roundRect">
            <a:avLst>
              <a:gd name="adj" fmla="val 4396"/>
            </a:avLst>
          </a:prstGeom>
          <a:solidFill>
            <a:srgbClr val="CFE0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235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visitor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3401568"/>
            <a:ext cx="2926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preorder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接受任意可调用对象：demo 里传 lambda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[](char v){ std::cout &lt;&lt; v; }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。容器本身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 I/O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GeneralTree（6/6）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breadth_first：vector 当队列，下标就是队头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20293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 &lt;class Visitor&gt;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breadth_first(Visitor&amp;&amp; visitor)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std::vector&lt;Node*&gt; queue;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(Node* node = root_; node != nullptr; node = node-&gt;sibling)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queue.push_back(node);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0; index &lt; queue.size();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visitor(queue[index]-&gt;value);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(Node* child = queue[index]-&gt;child; child !=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child = child-&gt;sibling)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queue.push_back(child);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83280"/>
            <a:ext cx="53492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森林所有树根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（根的兄弟链）入队。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是队头：访问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queue[index]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，再把它的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依次追加到队尾。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元素从不出队，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只增不减，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不需要真正的队列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932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树 A(B(E,F),C,D) 的队列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234440"/>
          <a:ext cx="2697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57200"/>
                <a:gridCol w="68580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index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追加孩子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queue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C 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D E F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结束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989320" y="36576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4041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ABCDEF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modern.hpp · GeneralTree（私有部分）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destroy 与 clone：递归保留教材写法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43153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Recursive destruction and traversals preserve the textbook presentation.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They have a Stack Overflow Risk for a pathologically deep tree.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destroy(Node* node) noexcept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destroy(node-&gt;child);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destroy(node-&gt;sibling);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node;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Node* clone(const Node* node, Node* parent)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nullptr;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copy = new Node(node-&gt;value);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copy-&gt;parent = parent;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copy-&gt;child = clone(node-&gt;child, copy);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copy-&gt;sibling = clone(node-&gt;sibling, parent);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(...)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destroy(copy);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copy;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0" y="932688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destroy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31673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先孩子链、再兄弟链、最后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自己——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释放，删 node 时它的子孙和后续兄弟都已处理。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clone 的异常安全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复制孩子或兄弟时若抛异常（如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bad_alloc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(...)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先把已建好的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整棵销毁再重抛，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767328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Stack Overflow Risk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151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destroy/clone 对孩子、兄弟两条链都递归，很长的兄弟链也会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耗尽调用栈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链式存储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GeneralTree 的三条要点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三条链一起维护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插入要同时设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sibling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和父（或前一个兄弟）的链；删除要沿链找到「指向它的指针」改写成下一个兄弟。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143000"/>
            <a:ext cx="420624" cy="42062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后插入的在前端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insert_first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把新结点插到孩子链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最前面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；要按从左到右建树，先插第一个孩子，再一路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insert_next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43000"/>
            <a:ext cx="420624" cy="42062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递归的深度风险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周游只在孩子链上递归，深度随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增长；销毁、拷贝连兄弟链也递归，还要加上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兄弟链长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。退化树上会耗尽调用栈——第 3 章实测过运行栈有多大。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父指针表示法与并查集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若干元素分属哪些互不相交的集合？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等价类 · 父指针 · 重量权衡合并 · 路径压缩 · 连通分量计数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等价类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等价关系把集合划分成互不相交的等价类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等价关系的三条性质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3611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974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自反性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对所有 x，(x, x) ∈ 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对称性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(x, y) ∈ R ⇒ (y, x) ∈ 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传递性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(x, y), (y, z) ∈ R ⇒ (x, z) ∈ 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[x]_R = { y ∈ S : (x, y) ∈ R 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由等价偶对求等价类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92040" y="141732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1371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n 个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单元素集合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开始；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92040" y="182880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1783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依次读入偶对 (x, y)，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x、y 所在子集；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2040" y="224028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257800" y="2194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两个根不同，就把两个子集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92040" y="265176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920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257800" y="2606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最后剩下的非空子集就是等价类。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并查集（union / find）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36758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由若干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互不相交子集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组成的集合抽象：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判断两个元素是否属于同一集合，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把两个集合归并为一个。常用来维护「已经连通」「属于同一组」这类关系。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所有等价类互不相交，它们的并正好是 S——等价关系就是对 S 的一种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父指针表示法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每个子集是一棵树，树根就是集合的标识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pic>
        <p:nvPicPr>
          <p:cNvPr id="8" name="Image 0" descr="fig-6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4937760" cy="1005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60720" y="1143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6.10　只存父结点下标：图 6.1 那棵树的父指针数组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pic>
        <p:nvPicPr>
          <p:cNvPr id="11" name="Image 1" descr="fig-6-1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6895"/>
            <a:ext cx="4937760" cy="12869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2194560"/>
            <a:ext cx="29260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森林中每棵树代表一个子集。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：沿父链走到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：把一棵树的根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另一棵树的根。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不必搬动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集合中的所有元素。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CFE0D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44074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S₁ = {1,3,5,7}、(b) S₂ = {2,4,6,8} 各是一棵树；(c)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S₁ 的根 1 挂到 S₂ 的根 2 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，得到 S₃。两集合一样大，挂法任选；本书实现并列时值大挂值小，会得到 2 挂 1 下，与图相反。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退化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朴素合并：反复把大树挂到小树下，退化成链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6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8659"/>
            <a:ext cx="7863840" cy="18860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6.12　(a) 起初 n 个单元素集合；(b) 每次都把大树挂到小树下，最后退化成一条长链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DF0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 n → find 是 O(n)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查最底下那个结点，要沿父链一路走到根。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347472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EAF4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两条改进，本书都实现了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重量权衡合并规则　② 路径压缩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改进一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重量权衡合并规则（weighted union rule）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合并时看两个集合的元素个数：「令含元素少的子集的树根指向含元素多的子集的根」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49377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原书【代码6.8】结点里那个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nCount; //子树元素数目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就是为它准备的，本书对应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深度限制在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：结点所在的树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作为较小（或一样大）的一方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被挂到别的树下时，它的深度才加 1，而这时它所在集合的元素个数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至少翻倍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——所以任何结点的深度不超过 ⌊log₂n⌋。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并列时（规模相同），本书让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值大的根挂到值小的根下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——原书没规定，取自课程第 6 章习题 8 的原话。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77840" y="1783080"/>
            <a:ext cx="3108960" cy="2898648"/>
          </a:xfrm>
          <a:prstGeom prst="roundRect">
            <a:avLst>
              <a:gd name="adj" fmla="val 2524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别和「按秩合并」混了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87568" y="2167128"/>
            <a:ext cx="2889504" cy="2441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按秩比的是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，按重量比的是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元素个数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两者复杂度同阶，但在同一组等价对上会长出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形状不同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的树。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本书按原书口径用重量；习题 8 要求「重量权衡合并规则与路径压缩」并画父指针数组，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换成按秩就对不上答案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改进二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路径压缩：find 顺手把沿途结点直接挂到根下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8" name="Image 0" descr="fig-6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07" y="1005840"/>
            <a:ext cx="7843386" cy="2423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566160"/>
            <a:ext cx="51206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在返回根之前，把沿途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每个结点的父指针都直接改成根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6.13：对结点 7 调用一次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，路径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→ 5 → 2 →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上的 7、5 改挂到根 1 下（2 本来就是根的孩子）；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9、10 仍留在 7 下面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3566160"/>
            <a:ext cx="2926080" cy="1115568"/>
          </a:xfrm>
          <a:prstGeom prst="roundRect">
            <a:avLst>
              <a:gd name="adj" fmla="val 6557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9788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两条合起来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3950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次操作的摊还代价是 O(m α(n))，α 是反 Ackermann 函数——大量操作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接近常数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modern.hpp · DisjointSet（1/3）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构造与 find：【算法6.9】路径压缩是一行递归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61441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DisjointSet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DisjointSet(std::size_t count) : parent_(count), size_(count, 1)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0; index &lt; count;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parent_[index] = index;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find(std::size_t 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&gt;= parent_.size())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std::out_of_range("disjoint-set index");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(parent_[index] != 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parent_[index] = find(parent_[index]);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【算法6.9】路径压缩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parent_[index];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0" y="932688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16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每个元素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parent_[i] = i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：自己就是根，n 个单元素集合；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全为 1。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286000" cy="1298448"/>
          </a:xfrm>
          <a:prstGeom prst="roundRect">
            <a:avLst>
              <a:gd name="adj" fmla="val 5634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76148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下标越界抛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out_of_range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——调用方的错误。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886968"/>
          </a:xfrm>
          <a:prstGeom prst="roundRect">
            <a:avLst>
              <a:gd name="adj" fmla="val 8247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递归展开：find(7) → find(5) → find(2) → find(1) 返回 1；回溯时依次写 parent_[2] = 1、parent_[5] = 1、parent_[7] = 1——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沿途每个结点一步到根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modern.hpp · DisjointSet（2/3）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unite：先各自找到根，小树挂到大树下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unite(std::size_t left, std::size_t right)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= find(left);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right = find(right);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(left == right)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已经同类：幂等的可预期失败（D-001 §3c）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重量权衡：小树挂到大树下。并列时把**值大的根**挂到值小的根下——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原书没有规定并列怎么办，这个口径取自课程第 6 章习题 8 的原话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「当两棵树规模同样大时，使结点值较大的根结点作为值较小的根结点的子结点」，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这样书里的实现能直接用来核对那道题的答案。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(size_[left] &lt; size_[right] || (size_[left] == size_[right] &amp;&amp; left &gt; right))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std::swap(left, 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parent_[right] = left;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size_[left] += size_[right];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730752"/>
            <a:ext cx="2606040" cy="950976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find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比较的是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；两个根相同就是已经同类，返回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（幂等的可预期失败）。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3730752"/>
            <a:ext cx="2606040" cy="950976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5848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 保证 left 是「大」的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规模小，或规模相同但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值更大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的那个，被换到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，挂到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下。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730752"/>
            <a:ext cx="2606040" cy="950976"/>
          </a:xfrm>
          <a:prstGeom prst="roundRect">
            <a:avLst>
              <a:gd name="adj" fmla="val 7692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44768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重量加在根上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size_[left] += size_[right]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：只有根的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有意义。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modern.hpp · DisjointSet（3/3）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/ set_size / parents，以及 demo 的三次合并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bool same(std::size_t left, std::size_t right)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find(left) == find(right);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某个元素所在集合的大小。原书 `nCount` 的对外读法，也让「重量」这件事可测。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std::size_t set_size(std::size_t index) { return size_[find(index)];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当前的父指针数组——课程习题要求画出的正是它。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const std::vector&lt;std::size_t&gt;&amp; parents() const noexcept { return parent_;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parent_;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size_;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 nCount：子树元素数目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73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demo：DisjointSet sets(5)</a:t>
            </a:r>
            <a:endParaRPr lang="en-US" sz="11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155448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两个根（规模）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parent_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0 1 2 3 4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unite(0,1)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0(1) vs 1(1)，并列 → 1 挂 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0 0 2 3 4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unite(1,2)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0(2) vs 2(1) → 2 挂 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0 0 0 3 4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unite(3,4)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3(1) vs 4(1)，并列 → 4 挂 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0 0 0 3 3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172200" y="3273552"/>
            <a:ext cx="2514600" cy="1408176"/>
          </a:xfrm>
          <a:prstGeom prst="roundRect">
            <a:avLst>
              <a:gd name="adj" fmla="val 5195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657600"/>
            <a:ext cx="2240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same(0,2)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：根都是 0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same(0,3)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：0 ≠ 3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逐步演算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课程习题 8：0~15 上的 15 个等价对（重量权衡 + 路径压缩）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56692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417320"/>
                <a:gridCol w="1371600"/>
                <a:gridCol w="210312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等价对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两个根(规模)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路径压缩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(0,2)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0(1) · 2(1)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并列：2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(1,2)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1(1) · 0(2)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(3,4)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3(1) · 4(1)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并列：4 挂 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(3,1)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3(2) · 0(3)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(3,5)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0(5) · 5(1)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(9,11)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9(1) · 11(1)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并列：11 挂 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(12,14)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12(1) · 14(1)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并列：14 挂 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(3,9)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0(6) · 9(2)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(4,14)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0(8) · 12(2)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find(4)：4 改挂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(6,7)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6(1) · 7(1)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并列：7 挂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(8,10)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8(1) · 10(1)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并列：10 挂 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(8,7)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8(2) · 6(2)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并列：8 挂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(7,0)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6(4) · 0(10)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(10,15)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0(14) · 15(1)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find(10)：10、8 改挂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(10,13)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0(15) · 13(1)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挂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最终父指针数组（本书实现实测）</a:t>
            </a:r>
            <a:endParaRPr lang="en-US" sz="110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16152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 ·  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 ·  10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 ·  11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 ·  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 ·  13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 ·  14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 ·  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 ·  15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 · 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09360" y="3401568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DF0E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6520" y="3493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7856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7、11、14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不直接挂在根下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：之后再没有 find 经过它们，路径压缩只改走过的路。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应用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顺带数出连通分量和连通点对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动态连通性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：图的边一条条加进来，每加一条就要回答「现在有几个连通分量」「现在有多少对顶点互相连通」。两个数都不必重新数：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连通分量数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933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n 开始，每次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合并减 1；两端本来就在同一集合里的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不改变它。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连通点对数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9339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开始。规模 s₁、s₂ 的两个集合合并，新连通的无序点对恰好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s₁ · s₂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对：一边任取一个、另一边任取一个。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1572768"/>
          </a:xfrm>
          <a:prstGeom prst="roundRect">
            <a:avLst>
              <a:gd name="adj" fmla="val 4651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s₁、s₂ 从哪里读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493008"/>
            <a:ext cx="8010144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重量记在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上，必须先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到根再读；拿边的端点直接读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，读到的是某棵子树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当年的旧规模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也不能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合并之后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再读——那时两个规模已经加在了一起。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点对数用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无符号整数：最多 n(n−1)/2 对，32 位在 n 约 9.3 万时就会溢出。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并查集 · modern.hpp · ComponentCounter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组合一个 DisjointSet，而不改动它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85216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70585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ComponentCounter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ComponentCounter(std::size_t count) : sets_(count), component_count_(count) {}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连一条边 (left, right)，返回因此**新**连通的点对数；两端本已连通时返回 0。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std::uint64_t connect(std::size_t left, std::size_t right)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std::uint64_t pairs =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static_cast&lt;std::uint64_t&gt;(sets_.set_size(left)) * sets_.set_size(right);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(!sets_.unite(left, right))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0;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冗余边：分量数不变，点对数不变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--component_count_;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pair_total_ += pairs;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pairs;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std::size_t components() const noexcept { return component_count_;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std::uint64_t connected_pairs() const noexcept { return pair_total_;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DisjointSet sets_;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component_count_;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std::uint64_t pair_total_{0};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932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例：n = 6（本书实现实测）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34440"/>
          <a:ext cx="21945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85800"/>
                <a:gridCol w="50292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0-1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1·1=1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2-3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1·1=1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1-2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2·2=4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0-3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冗余 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4-5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1·1=1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92240" y="3310128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294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为什么组合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69417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内部并查集是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的，调用方没法绕过计数直接合并，两个数不会失真。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树的顺序存储结构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把结点按某种周游次序排进数组，再用很少的附加信息还原整棵树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带右链先根 · 双标记先根 · 带度数后根 · 双标记层次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为什么要顺序存储，四种表示一览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链式存储每个结点单独分配，指针占空间，也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不利于整块读写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。顺序存储要求在结点表中包含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足够的结构信息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。下面都以图 6.5(a) 的森林为例：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31720"/>
                <a:gridCol w="219456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表示法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周游序列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每个结点的附加信息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还原时用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带右链的先根次序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E F D G H J 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 + rlink（下标）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顺序扫描 + 右链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带双标记的先根次序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E F D G H J 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 + rtag（两位）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带度数的后根次序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E F C D A J H I 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degree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带双标记的层次次序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G B C D H I E F J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 + rtag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5760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先根序列的关键性质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0416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任何结点的子树的所有结点都直接跟在该结点之后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，任何一个分支结点后面紧跟的是它的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第一个子结点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——下面几种表示法共同的基础。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3657600"/>
            <a:ext cx="2651760" cy="1024128"/>
          </a:xfrm>
          <a:prstGeom prst="roundRect">
            <a:avLst>
              <a:gd name="adj" fmla="val 7143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722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本书口径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041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原书给了四种，思路都对；本章不另写未验证的实现，只把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还原办法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说清楚（双标记先根有实现）。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带右链的先根次序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ltag | info | rlink ]：用 ltag 代替左链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8" name="Image 0" descr="fig-6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46015"/>
            <a:ext cx="3566160" cy="132782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6.14　先根序列配合右链下标还原树形</a:t>
            </a:r>
            <a:endParaRPr lang="en-US" sz="9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960120"/>
          <a:ext cx="4206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rlink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B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480560" y="2286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rlink = 下一个兄弟的下标（即对应二叉树的右子结点）；ltag = 1 表示叶结点（二叉树中没有左子结点）。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8229600" cy="1755648"/>
          </a:xfrm>
          <a:prstGeom prst="roundRect">
            <a:avLst>
              <a:gd name="adj" fmla="val 4167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94360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为什么不存 llink？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3310128"/>
            <a:ext cx="8010144" cy="1298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ltag == 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的结点有左子结点，它的 llink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一定指向存储区中的下一个结点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（先根序列的性质）；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ltag ==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的结点没有左子结点，llink 为空。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所以顺着数组往下走、再靠右链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跳过整棵子树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，就能还原所有父子和兄弟关系。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带双标记的先根次序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ltag | info | rtag ]：右链换成一个布尔标记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先根次序   A  B  C  E  F  D  G  H  J  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ltag       0  1  0  1  1  1  0  0  1  1     0 = 有孩子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rtag       0  0  0  0  1  1  1  0  1  1     0 = 有下一个兄弟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pic>
        <p:nvPicPr>
          <p:cNvPr id="10" name="Image 0" descr="fig-6-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58808"/>
            <a:ext cx="2377440" cy="57986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1828800"/>
            <a:ext cx="8229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ltag：有没有孩子；rtag：有没有下一个兄弟。理论上只需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信息。但普通 C++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成员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通常按字节存储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，只有显式位压缩或位域才谈得上这种节省。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照抄图 6.15 很容易把两行读反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2898648"/>
            <a:ext cx="801014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6.15 三行从上到下是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rtag / info / ltag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ltag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最下面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按定义核一遍：B 是叶结点 → ltag 必须是 1；B 有兄弟 C → rtag 必须是 0。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两行一旦互换，还原出的是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另一片森林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 变成 B 的孩子），而它的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先根序列恰好还是 A B C E F D G H J I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——只对先根查不出来，得同时对后根序列 B E F C D A J H I G。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它是早期教材常见的顺序编码，今天主要用于理解树的序列化思想，不是通用工程接口。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带双标记的先根次序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用一把栈还原：逐步演算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扫到 rtag = 0（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有兄弟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）的结点就压栈；扫到 ltag = 1（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没孩子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，子树到头）的结点，就弹栈顶，把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下一个结点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接成它的右兄弟。</a:t>
            </a:r>
            <a:endParaRPr lang="en-US" sz="11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548640"/>
                <a:gridCol w="548640"/>
                <a:gridCol w="960120"/>
                <a:gridCol w="324612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rtag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rtag=0?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 决定下一个结点接在哪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处理后栈（底→顶）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下一个 B 是 A 的孩子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B → C 是 B 的兄弟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下一个 E 是 C 的孩子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E → F 是 E 的兄弟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C → D 是 C 的兄弟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A → G 是 A 的兄弟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（空）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下一个 H 是 G 的孩子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（空）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下一个 J 是 H 的孩子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H → I 是 H 的兄弟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（空）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收尾检查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末结点 1,1 且栈空 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（空）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结果：A 的孩子 B、C、D；C 的孩子 E、F；A 的兄弟 G；G 的孩子 H、I；H 的孩子 J——正是图 6.5(a)。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modern.hpp · 【算法6.10】（1/3）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from_dual_tag：结点格式与准备工作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DualTagNode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has_child;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///&lt; 原书 ltag ==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has_sibling;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///&lt; 原书 rtag ==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static GeneralTree from_dual_tag(const DualTagNode* nodes, std::size_t count)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GeneralTree tree;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(count ==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tree;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(nodes ==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std::invalid_argument("from_dual_tag: 结点数组是空指针");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原书用 `stack&lt;TreeNode&lt;T&gt;*&gt; aStack`，这里用 vector 当栈（见 unit.json 豁免）。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std::vector&lt;Node*&gt; waiting;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已扫到、还等着接右兄弟的结点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current = new Node(nodes[0].value);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tree.root_ = current;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has_child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61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ltag == 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（注意取反）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95020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584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has_sibling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4261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rtag ==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95020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4476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42611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已扫到、还等着接右兄弟的结点；vector 当栈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modern.hpp · 【算法6.10】（2/3）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主循环：有孩子就接成 child，否则弹栈接成 sibling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+ 1 &lt; count; ++i)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(nodes[i].has_sibling)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waiting.push_back(current);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new Node(nodes[i + 1].value);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(nodes[i].has_child)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current-&gt;child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fresh-&gt;parent = current;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子树到头了：刚建的结点属于栈顶那个结点的右兄弟。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原书这里直接 `aStack.top()`，**没有判空**。标志位不自洽的输入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（例如全是 has_child=false、has_sibling=false）会让它对空栈取顶，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那是未定义行为（证据见 legacy.md 缺陷 4）。这里判空并抛异常。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(waiting.empty())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delete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throw std::invalid_argument("from_dual_tag: 标志位不自洽，右兄弟无处安放");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owner = waiting.back();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waiting.pop_back();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owner-&gt;sibling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fresh-&gt;parent = owner-&gt;parent;  </a:t>
            </a:r>
            <a:r>
              <a:rPr lang="en-US" sz="88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兄弟与它共享同一个父结点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modern.hpp · 【算法6.10】（3/3）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收尾检查：不自洽就拒绝，不做「尽量还原」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先根次序里最后一个结点必是叶子，**而且没有下一个兄弟**——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它的孩子和它的右兄弟都只能排在它后面，而它已经是最后一个了。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按标记的定义，末结点必然 `ltag == 1 且 rtag == 1`。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循环只走到 count-2，所以末结点的两个标志位都得在这里单独查。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**不自洽就拒绝，不做「尽量还原」**：压栈（有兄弟）与出栈（子树到头）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必须一一配对，配不上的序列不对应任何森林的编码。见 legacy.md 缺陷 4。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(nodes[count - 1].has_child || nodes[count - 1].has_sibling || !waiting.empty())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std::invalid_argument("from_dual_tag: 标志位不自洽，序列没有正常收尾");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tree;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原书这段代码有一处会崩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58444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ltag ==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分支里直接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 = aStack.top();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没有判空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。标志位不自洽（比如两个结点都声称「没孩子、也没兄弟」）→ 对空栈取顶，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未定义行为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。本书判空并抛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；测试里三种不自洽输入各有一条用例。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200400"/>
            <a:ext cx="4023360" cy="1481328"/>
          </a:xfrm>
          <a:prstGeom prst="roundRect">
            <a:avLst>
              <a:gd name="adj" fmla="val 4938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为什么拒绝而不是还原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3584448"/>
            <a:ext cx="3803904" cy="10241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先根序列最后一个结点后面没有结点了，孩子和右兄弟都无处安放，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必然是 1,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「有兄弟」入栈与「子树到头」出栈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一一配对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；对空栈出栈说明违反了配对。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这类输入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不对应任何森林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——多半是抄错一位或被截断。默默还原只会把错误往后传。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带度数的后根次序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info | degree ]：不含指针，也能反映结构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pic>
        <p:nvPicPr>
          <p:cNvPr id="8" name="Image 0" descr="fig-6-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1565"/>
            <a:ext cx="3566160" cy="7429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057400"/>
            <a:ext cx="38404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后根序列里，任何一棵子树的所有结点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聚集在一起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，并以该子树的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根作为最后一个结点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度数为 0 的是叶子；遇到度数为 k 的结点，排在它之前、离它最近的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棵子树的根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就是它的 k 个孩子。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84048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用栈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224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每读到度数为 d 的结点，从栈顶弹出 d 棵子树做孩子（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接回），再把新树压回；扫完，栈里剩下的就是整棵树（或森林）。</a:t>
            </a:r>
            <a:endParaRPr lang="en-US" sz="9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60120"/>
          <a:ext cx="4160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057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结点/度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栈（底→顶）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/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/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/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E F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/ 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F、E → C(E,F)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/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C 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/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D、C、B → A(B,C,D)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/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J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J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/ 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J → H(J)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/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H 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 / 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I、H → G(H,I)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26280" y="4069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栈里剩两棵树 A、G：正是图 6.5(a) 的森林。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带双标记的层次次序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层次序 + 双标记：队列「承上启下」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pic>
        <p:nvPicPr>
          <p:cNvPr id="8" name="Image 0" descr="fig-6-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15332"/>
            <a:ext cx="2926080" cy="9411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ltag = 1：没有左子结点（孩子）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rtag = 1：没有下一个兄弟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60320"/>
            <a:ext cx="31089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同一层的结点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聚集在一起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；有右兄弟的结点，右兄弟就排在它后面。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任何结点的孩子都排在它的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所有兄弟之后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rlink：rtag = 0 就指向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紧邻的下一个结点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llink：ltag = 0 的结点入队；遇到 rtag = 1（一条兄弟链扫完），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下一个结点就是队头的最左子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960120"/>
          <a:ext cx="4937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"/>
                <a:gridCol w="411480"/>
                <a:gridCol w="548640"/>
                <a:gridCol w="233172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rtag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ltag=0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rtag 决定的链接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的兄弟 = 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 A → B 是 A 的最左子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的兄弟 = 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的兄弟 = 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 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 G → H 是 G 的最左子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 的兄弟 = 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 C → E 是 C 的最左子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的兄弟 = F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 H → J 是 H 的最左子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（空）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序列结束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（空）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37490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适合需要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按层处理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的外部存储。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顺序存储 · 现代视角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紧凑树编码：经典表示法该怎么看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经典编码（本节）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57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右链、双标记、带度数表示。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用来理解「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结构信息如何随周游序列保存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还原靠顺序扫描 + 栈或队列。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succinct tree 编码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08760"/>
            <a:ext cx="3657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LOUDS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、平衡括号（balanced parentheses）等。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同样把树压成位串，但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明确规定位级布局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支持秩/选择（rank/select）操作，有明确的随机访问边界。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95020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工程中要紧凑存储或高速导航，通常会考虑 LOUDS、平衡括号这类编码，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而不是直接照搬双标记结构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。本节的表示法是经典编码对照。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叉树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每个结点的孩子数有固定上限 K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 K 叉树 · 完全 K 叉树 · 数组编号公式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K 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 K 叉树与完全 K 叉树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8" name="Image 0" descr="fig-6-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92" y="1005840"/>
            <a:ext cx="7832816" cy="1783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26080"/>
            <a:ext cx="51206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有些应用每个结点的孩子数有固定上限 K：三子棋的博弈树、某些 B 树的内存模拟。不必走「任意度 + 兄弟链」。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 K 叉树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：每个结点要么是叶，要么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 K 个孩子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 K 叉树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：只有最下两层的度可以小于 K，且最下层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靠左对齐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926080"/>
            <a:ext cx="2926080" cy="1755648"/>
          </a:xfrm>
          <a:prstGeom prst="roundRect">
            <a:avLst>
              <a:gd name="adj" fmla="val 4167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9788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3310128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计算机图形学里的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叉树、8 叉树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；K = 2 就回到二叉树。分支结点孩子数定死，链式和顺序两种存法都好实现。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K 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 K 叉树按层编号存进数组：父子公式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编号（本书正文）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 i 的孩子：Ki+1, …, Ki+K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 i 的父：⌊(i−1)/K⌋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3：结点 4 的父是 ⌊3/3⌋ = 1，孩子是 13、14、15。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 编号（原书习题 10）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个孩子（1 ≤ i ≤ K）：K(N−1)+i+1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 N 的父（N &gt; 1）：⌊(N−2)/K⌋+1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3：结点 4 的父是 1，孩子是 11、12、13。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120640" cy="1664208"/>
          </a:xfrm>
          <a:prstGeom prst="roundRect">
            <a:avLst>
              <a:gd name="adj" fmla="val 4396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两套编号不能混用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01568"/>
            <a:ext cx="4846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⌊(N−1)/K⌋ 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起始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的父公式。和 1 起始的孩子公式混用，会在 N = K+1 附近出错。答题先说清编号从 0 还是 1 起。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017520"/>
            <a:ext cx="2926080" cy="1664208"/>
          </a:xfrm>
          <a:prstGeom prst="roundRect">
            <a:avLst>
              <a:gd name="adj" fmla="val 4396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本章口径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401568"/>
            <a:ext cx="2651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主实现仍是任意度的左子 / 右兄，不单独做一份 K 叉数组。需要固定 K、又想顺序存放时，用编号公式即可——和完全二叉树是同一套办法。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几道代表性的题（答案见 book/习题与参考答案.md）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0149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对树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A(B(E,F),C(G),D(H,I,J))</a:t>
            </a: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写出先根、后根、层次序列。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36245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先根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ABEFCGDHIJ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；后根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EFBGCHIJDA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；层次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ABCDEFGHIJ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121408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19476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度为 2 的有序树和二叉树差在哪里？举一个例子。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29514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二叉树还区分左右：根只有右孩子 B、左孩子为空是合法二叉树，却没有对应的度为 2 有序树形态。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05409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8803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A 有孩子 B、C，C 有孩子 D，写出带度数的后根序列，说明栈如何弹出孩子。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22783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B/0, D/0, C/1, A/2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。读到 C/1 弹 1 棵作其孩子再压回 C；读到 A/2 按逆序弹 C、B，接回 B、C 次序。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98678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8130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原书习题 8：0~15 的等价对按重量权衡 + 路径压缩归并，给出父指针数组。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1605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见前面的逐步演算页；并列时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值大的根挂到值小的根下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道上机题：把本章的表示法、周游与并查集用到题里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24729 括号嵌套树 · 07161 带度数层次序列 · 27928 遍历树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父数组求树高 · 07734 虫子的生活 · 01182 食物链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24729 括号嵌套树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嵌套括号 → 树：一把栈记住「谁在收孩子」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0657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Node: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val):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self.val, self.children = val, []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parse(s):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stack, last = [], None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 in s: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ch.isalpha():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 = Node(ch)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stack: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stack[-1].children.append(last)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挂到当前父结点下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 == '(':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stack.append(last)  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要开始收孩子了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ch == ')':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 = stack.pop()          </a:t>
            </a:r>
            <a:r>
              <a:rPr lang="en-US" sz="84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这个父结点的孩子收完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last                 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最后弹出的就是根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pre(t):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t.val + ''.join(pre(c) for c in t.children)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post(t):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''.join(post(c) for c in t.children) + t.val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parse(''.join(input().split()))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去掉空白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print(pre(root))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print(post(root))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852160" y="9601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6188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1216152"/>
            <a:ext cx="26151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输入 A(B(E),C(F,G),D(H(I)))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先根 ABECFGDHI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后根 EBFGCIHDA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flipH="1">
            <a:off x="6579161" y="2275618"/>
            <a:ext cx="557678" cy="340803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350008"/>
            <a:ext cx="0" cy="192024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2121" y="2275618"/>
            <a:ext cx="557678" cy="340803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852928"/>
            <a:ext cx="0" cy="192024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7032896" y="2828625"/>
            <a:ext cx="153128" cy="240629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2936" y="2828625"/>
            <a:ext cx="153128" cy="240629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852928"/>
            <a:ext cx="0" cy="192024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355848"/>
            <a:ext cx="0" cy="192024"/>
          </a:xfrm>
          <a:prstGeom prst="line">
            <a:avLst/>
          </a:prstGeom>
          <a:noFill/>
          <a:ln w="1651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20391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9107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1403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1403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3699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3699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30449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1072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93992" y="30449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93992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34072" y="30449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34072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36992" y="30449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36992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36992" y="35478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3699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 6.1 节「嵌套括号表示法」：根在左，子树森林写在括号里。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07161 森林的带度数层次序列存储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层次序 + 度数 → 树：队头结点的孩子紧接着出现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build(tokens):      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[名, 度, 名, 度, ...]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names, degs = tokens[0::2], list(map(int, tokens[1::2]))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 = [[] for _ in names]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q, nxt = deque([0]), 1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q:                            </a:t>
            </a:r>
            <a:r>
              <a:rPr lang="en-US" sz="82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层次序：队头结点的孩子紧接着出现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q.popleft()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_ in range(degs[u]):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children[u].append(nxt)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q.append(nxt)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nxt += 1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names, children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post(u, names, children, out):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children[u]: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post(c, names, children, out)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out.append(names[u])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= sys.stdin.read().splitlines()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[]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lines[1:1 + int(lines[0])]: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names, children = build(line.split())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post(0, names, children, out)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森林后根 = 各棵树后根依次相接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 '.join(out))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216152"/>
            <a:ext cx="24323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3 E 3 F 0 G 0 K 0 H 0 J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2 X 0 I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 H J E F G C X I 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6.3 节对照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700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6.3.3「带度数的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次序」用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还原；这里是带度数的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次序，用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还原——次序换了，辅助结构跟着换。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794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下标代替指针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178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结点就是它在序列里的位置，children 存下标，不必建 Node 类。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27928 遍历树 · 父数组求树高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两种输入格式：孩子表、父数组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05993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sys.setrecursionlimit(10000)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int(sys.stdin.readline())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tree, kids = {}, set()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range(n):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parent, *children = map(int, sys.stdin.readline().split())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tree[parent] = children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kids.update(children)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(tree.keys() - kids).pop()     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没当过孩子的就是根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walk(u):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sorted(tree.get(u, []) + [u]): 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自己和孩子一起排序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x == u: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print(u)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walk(x)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walk(root)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49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50792"/>
            <a:ext cx="3986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10 3 6 / 10 / 6 / 3 → 3 6 7 10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「自己」插在排好序的孩子之间：先根、后根都是它的特例。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19472" y="1005840"/>
            <a:ext cx="369417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tree_height(parent):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高度按边数计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 = [-1] * len(parent)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d(i):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depth[i] &lt; 0: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备忘：每个点只算一次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= parent[i]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depth[i] = 0 if p == -1 else d(p) + 1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depth[i]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max(d(i) for i in range(len(parent)))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print(tree_height([-1, 0, 0, 0, 3, 1, 1, 2]))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print(tree_height([-1, 0, 1, 2, 3]))        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4846320" y="32004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父数组 = 6.2.5 的父指针表示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5844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每个结点只记父亲：找根、求深度只能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走。朴素地每个点走到根是 O(n²)；备忘之后每个点只算一次，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07734 虫子的生活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扩展域并查集：每只虫子开两个「分身」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find(p, x):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p[x] != x: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p[x] = p[p[x]]                  </a:t>
            </a: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路径减半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p[x]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sys.stdin.read().split()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1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case in range(1, int(data[0]) + 1):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n, m = int(data[pos]), int(data[pos + 1]); pos += 2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list(range(2 * n + 1))       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x：性别 A；x + n：性别 B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 = False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range(m):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int(data[pos]), int(data[pos + 1]); pos += 2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bad: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find(p, a) == find(p, b): 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已被推出同性，却又交互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bad = True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p[find(p, a)] = find(p, b + n)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与 b 异性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p[find(p, a + n)] = find(p, b)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print(f"Scenario #{case}:")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print("Suspicious bugs found!" if bad else "No suspicious bugs found!")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分身的含义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4416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同一集合 = 「这些断言要么同真要么同假」。a 与 b 交互：「a 是 A」⇔「b 是 B」，「a 是 B」⇔「b 是 A」，所以各并一次。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651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矛盾怎么看出来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0358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 本体已在同一集合：它们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被推出同性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；此刻又说它们交互，假设破产。样例 1→2→3 再给 1–3，第三条就撞上。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4160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每组输出后有一个空行；数据量大，用 sys.stdin 一次读入。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01182 食物链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三个域：同类 / 捕食 / 天敌，A 吃 B、B 吃 C、C 吃 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find(p, x):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p[x] != x: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p[x] = p[p[x]]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p[x]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union(p, a, b):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p[find(p, a)] = find(p, b)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list(map(int, sys.stdin.read().split()))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k = data[0], data[1]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list(range(3 * n + 1))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同类域，x+n 捕食域（x 吃的），x+2n 天敌域（吃 x 的）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lies = 0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range(k):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d, x, y = data[2 + 3 * i: 5 + 3 * i]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n or y &gt; n: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lies += 1; continue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 == 1:  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与 y 同类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find(p, x) in (find(p, y + n), find(p, y + 2 * n)):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lies += 1; continue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union(p, x, y); union(p, x + n, y + n); union(p, x + 2 * n, y + 2 * n)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吃 y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find(p, x) in (find(p, y), find(p, y + n)):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同类或 y 吃 x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lies += 1; continue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union(p, x + n, y); union(p, x, y + 2 * n); union(p, x + 2 * n, y + n)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print(lies)</a:t>
            </a:r>
            <a:endParaRPr lang="en-US" sz="79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960120"/>
          <a:ext cx="2377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判假条件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x、y 同类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已在 y 的捕食域或天敌域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吃 y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与 y 同类，或 x 在 y 的捕食域（y 吃 x）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越界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&gt; n 或 y &gt; n；「x 吃 x」按上一行判假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09360" y="260604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4652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吃 y 时并哪三对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99008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的猎物 = y；x = y 的天敌；x 的天敌 = y 的猎物（三角环，第三条最容易漏）。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39776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19088" y="4032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419088" y="4233672"/>
            <a:ext cx="21579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7 的样例 → 3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两种定义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递归定义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二元关系定义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等价；术语沿用二叉树。度为 2 的有序树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一一对应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 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第一个孩子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，右 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下一个兄弟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。先根 = 前序，后根 = 中序；层次序与对应二叉树不同。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左子/右兄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采用最多的表示法：任意度只要两个指针。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GeneralTree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插入删除要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三条链一起改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父指针表示；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重量权衡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（小挂大，并列值大挂值小）+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，操作接近常数。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右链 / 双标记先根、带度数后根、双标记层次：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栈或队列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还原；完全 K 叉树用数组编号。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第六章 树</dc:title>
  <dc:subject>PptxGenJS Presentation</dc:subject>
  <dc:creator>Hongfei Yan</dc:creator>
  <cp:lastModifiedBy>Hongfei Yan</cp:lastModifiedBy>
  <cp:revision>1</cp:revision>
  <dcterms:created xsi:type="dcterms:W3CDTF">2026-10-28T11:31:18Z</dcterms:created>
  <dcterms:modified xsi:type="dcterms:W3CDTF">2026-10-28T11:31:18Z</dcterms:modified>
</cp:coreProperties>
</file>