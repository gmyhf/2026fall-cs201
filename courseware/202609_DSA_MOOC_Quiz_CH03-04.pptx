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5029200" cy="5029200"/>
          </a:xfrm>
          <a:prstGeom prst="ellipse">
            <a:avLst/>
          </a:prstGeom>
          <a:solidFill>
            <a:srgbClr val="3E7C6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931920"/>
            <a:ext cx="2926080" cy="2926080"/>
          </a:xfrm>
          <a:prstGeom prst="ellipse">
            <a:avLst/>
          </a:prstGeom>
          <a:solidFill>
            <a:srgbClr val="F2B134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数据结构与算法 · 2026 Fall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课堂提问：MOOC 习题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14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栈与队列（6 题） · 第四章 字符串（13 题）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每页先出题，请同学作答；单击显示答案与解析，再单击进入下一题。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5029200" cy="5029200"/>
          </a:xfrm>
          <a:prstGeom prst="ellipse">
            <a:avLst/>
          </a:prstGeom>
          <a:solidFill>
            <a:srgbClr val="3E7C6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931920"/>
            <a:ext cx="2926080" cy="2926080"/>
          </a:xfrm>
          <a:prstGeom prst="ellipse">
            <a:avLst/>
          </a:prstGeom>
          <a:solidFill>
            <a:srgbClr val="F2B134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Chapter 3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栈与队列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14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6 题 · 准备好了吗？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栈与队列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中缀表达式转后缀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中缀表达式 E = ((100−4)/3 + 3*(36−7))*2，与 E 等价的后缀表达式是？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70052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00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27376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((100 4 - ) 3 / 3 (36 7 - ) * + ) 2 *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35889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58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285744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+ / - 100 4 3 * 3 - 36 7 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017264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17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944112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4 - 3 / 3 36 7 - * + 2 *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79145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602480"/>
            <a:ext cx="57607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( + / ( - 100 4 ) 3 * 3 ( - 36 7 ) ) 2</a:t>
            </a:r>
            <a:endParaRPr lang="en-US" sz="2000" dirty="0"/>
          </a:p>
        </p:txBody>
      </p:sp>
      <p:sp>
        <p:nvSpPr>
          <p:cNvPr id="19" name="ANS_0"/>
          <p:cNvSpPr/>
          <p:nvPr/>
        </p:nvSpPr>
        <p:spPr>
          <a:xfrm>
            <a:off x="457200" y="3907536"/>
            <a:ext cx="6492240" cy="603504"/>
          </a:xfrm>
          <a:prstGeom prst="roundRect">
            <a:avLst>
              <a:gd name="adj" fmla="val 1515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0" name="ANS_1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1" name="ANS_2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2" name="ANS_3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4400" dirty="0"/>
          </a:p>
        </p:txBody>
      </p:sp>
      <p:sp>
        <p:nvSpPr>
          <p:cNvPr id="23" name="ANS_4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4" name="ANS_5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ANS_6"/>
          <p:cNvSpPr txBox="1"/>
          <p:nvPr/>
        </p:nvSpPr>
        <p:spPr>
          <a:xfrm>
            <a:off x="7818120" y="2651760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后缀式没有括号，运算符紧跟在两个操作数之后（A、D 带括号 ✗，B 是前缀式 ✗）。</a:t>
            </a:r>
            <a:endParaRPr lang="en-US" sz="1700" dirty="0"/>
          </a:p>
        </p:txBody>
      </p:sp>
      <p:sp>
        <p:nvSpPr>
          <p:cNvPr id="26" name="ANS_7"/>
          <p:cNvSpPr/>
          <p:nvPr/>
        </p:nvSpPr>
        <p:spPr>
          <a:xfrm>
            <a:off x="7616952" y="3798265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7" name="ANS_8"/>
          <p:cNvSpPr txBox="1"/>
          <p:nvPr/>
        </p:nvSpPr>
        <p:spPr>
          <a:xfrm>
            <a:off x="7818120" y="3701491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4 - 3 /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即 (100−4)/3</a:t>
            </a:r>
            <a:endParaRPr lang="en-US" sz="1700" dirty="0"/>
          </a:p>
        </p:txBody>
      </p:sp>
      <p:sp>
        <p:nvSpPr>
          <p:cNvPr id="28" name="ANS_9"/>
          <p:cNvSpPr/>
          <p:nvPr/>
        </p:nvSpPr>
        <p:spPr>
          <a:xfrm>
            <a:off x="7616952" y="427802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9" name="ANS_10"/>
          <p:cNvSpPr txBox="1"/>
          <p:nvPr/>
        </p:nvSpPr>
        <p:spPr>
          <a:xfrm>
            <a:off x="7818120" y="4181246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36 7 - *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即 3*(36−7)，两者 </a:t>
            </a:r>
            <a:r>
              <a:rPr lang="en-US" sz="17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700" dirty="0"/>
          </a:p>
        </p:txBody>
      </p:sp>
      <p:sp>
        <p:nvSpPr>
          <p:cNvPr id="30" name="ANS_11"/>
          <p:cNvSpPr/>
          <p:nvPr/>
        </p:nvSpPr>
        <p:spPr>
          <a:xfrm>
            <a:off x="7616952" y="504276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1" name="ANS_12"/>
          <p:cNvSpPr txBox="1"/>
          <p:nvPr/>
        </p:nvSpPr>
        <p:spPr>
          <a:xfrm>
            <a:off x="7818120" y="4945990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 </a:t>
            </a:r>
            <a:r>
              <a:rPr lang="en-US" sz="17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*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栈与队列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栈的最小容量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 S、队列 Q 初始为空。e1…e6 依次进栈 S，出栈的元素立即进队 Q。若出队序列为 e2, e4, e3, e6, e5, e1，栈 S 的容量至少是？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96265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96265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60270" y="296265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60270" y="296265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771900" y="296265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71900" y="296265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383530" y="296265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83530" y="296265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000" dirty="0"/>
          </a:p>
        </p:txBody>
      </p:sp>
      <p:sp>
        <p:nvSpPr>
          <p:cNvPr id="15" name="ANS_13"/>
          <p:cNvSpPr/>
          <p:nvPr/>
        </p:nvSpPr>
        <p:spPr>
          <a:xfrm>
            <a:off x="2160270" y="2962656"/>
            <a:ext cx="1474470" cy="822960"/>
          </a:xfrm>
          <a:prstGeom prst="roundRect">
            <a:avLst>
              <a:gd name="adj" fmla="val 11111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16" name="ANS_14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17" name="ANS_15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18" name="ANS_16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4400" dirty="0"/>
          </a:p>
        </p:txBody>
      </p:sp>
      <p:sp>
        <p:nvSpPr>
          <p:cNvPr id="19" name="ANS_17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0" name="ANS_18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ANS_19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队列不改变次序：出队序列就是出栈序列。</a:t>
            </a:r>
            <a:endParaRPr lang="en-US" sz="1700" dirty="0"/>
          </a:p>
        </p:txBody>
      </p:sp>
      <p:sp>
        <p:nvSpPr>
          <p:cNvPr id="22" name="ANS_20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3" name="ANS_21"/>
          <p:cNvSpPr txBox="1"/>
          <p:nvPr/>
        </p:nvSpPr>
        <p:spPr>
          <a:xfrm>
            <a:off x="7818120" y="3416503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e1、e2 进，e2 出 → 栈中 [e1]</a:t>
            </a:r>
            <a:endParaRPr lang="en-US" sz="1700" dirty="0"/>
          </a:p>
        </p:txBody>
      </p:sp>
      <p:sp>
        <p:nvSpPr>
          <p:cNvPr id="24" name="ANS_22"/>
          <p:cNvSpPr/>
          <p:nvPr/>
        </p:nvSpPr>
        <p:spPr>
          <a:xfrm>
            <a:off x="7616952" y="399303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ANS_23"/>
          <p:cNvSpPr txBox="1"/>
          <p:nvPr/>
        </p:nvSpPr>
        <p:spPr>
          <a:xfrm>
            <a:off x="7818120" y="3896258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e3、e4 进 → [e1, e3, e4]，</a:t>
            </a: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</a:t>
            </a:r>
            <a:endParaRPr lang="en-US" sz="1700" dirty="0"/>
          </a:p>
        </p:txBody>
      </p:sp>
      <p:sp>
        <p:nvSpPr>
          <p:cNvPr id="26" name="ANS_24"/>
          <p:cNvSpPr/>
          <p:nvPr/>
        </p:nvSpPr>
        <p:spPr>
          <a:xfrm>
            <a:off x="7616952" y="4757776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7" name="ANS_25"/>
          <p:cNvSpPr txBox="1"/>
          <p:nvPr/>
        </p:nvSpPr>
        <p:spPr>
          <a:xfrm>
            <a:off x="7818120" y="4661002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e4、e3 出；e5、e6 进 → 又是 </a:t>
            </a: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</a:t>
            </a:r>
            <a:endParaRPr lang="en-US" sz="1700" dirty="0"/>
          </a:p>
        </p:txBody>
      </p:sp>
      <p:sp>
        <p:nvSpPr>
          <p:cNvPr id="28" name="ANS_26"/>
          <p:cNvSpPr/>
          <p:nvPr/>
        </p:nvSpPr>
        <p:spPr>
          <a:xfrm>
            <a:off x="7616952" y="5522519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9" name="ANS_27"/>
          <p:cNvSpPr txBox="1"/>
          <p:nvPr/>
        </p:nvSpPr>
        <p:spPr>
          <a:xfrm>
            <a:off x="7818120" y="5425745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e6、e5、e1 出。全程最多 3 个元素。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栈与队列  ·  多选题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循环队列能存几个元素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194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以下循环队列的实现方式中，长度为 n 的队列，所能容纳的元素个数也为 n 的有：（front、rear 都是 0…n−1 的数组下标，移动时对 n 取模；实指：指针指向队头 / 队尾元素本身；虚指：rear 指向队尾元素的下一个空位）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198419"/>
            <a:ext cx="381305" cy="381305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98419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33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058363"/>
            <a:ext cx="5760720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只用 front 和 rear 两个指针标记队头和队尾，两个指针均为实指。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968648"/>
            <a:ext cx="381305" cy="381305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968648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33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828593"/>
            <a:ext cx="5760720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front、rear 标记队头和队尾，并用整型变量 len 记录元素个数。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4738878"/>
            <a:ext cx="381305" cy="381305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738878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33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598822"/>
            <a:ext cx="5760720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front、rear 标记队头和队尾，并用布尔变量 empty 记录队列是否为空。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5509108"/>
            <a:ext cx="381305" cy="381305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509108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33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369052"/>
            <a:ext cx="5760720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只用 front 和 rear 两个指针标记队头和队尾，两个指针均为虚指。</a:t>
            </a:r>
            <a:endParaRPr lang="en-US" sz="1700" dirty="0"/>
          </a:p>
        </p:txBody>
      </p:sp>
      <p:sp>
        <p:nvSpPr>
          <p:cNvPr id="19" name="ANS_28"/>
          <p:cNvSpPr/>
          <p:nvPr/>
        </p:nvSpPr>
        <p:spPr>
          <a:xfrm>
            <a:off x="457200" y="3792017"/>
            <a:ext cx="6492240" cy="734568"/>
          </a:xfrm>
          <a:prstGeom prst="roundRect">
            <a:avLst>
              <a:gd name="adj" fmla="val 12448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0" name="ANS_29"/>
          <p:cNvSpPr/>
          <p:nvPr/>
        </p:nvSpPr>
        <p:spPr>
          <a:xfrm>
            <a:off x="457200" y="4562246"/>
            <a:ext cx="6492240" cy="734568"/>
          </a:xfrm>
          <a:prstGeom prst="roundRect">
            <a:avLst>
              <a:gd name="adj" fmla="val 12448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1" name="ANS_30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2" name="ANS_31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3" name="ANS_32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B、C</a:t>
            </a:r>
            <a:endParaRPr lang="en-US" sz="4400" dirty="0"/>
          </a:p>
        </p:txBody>
      </p:sp>
      <p:sp>
        <p:nvSpPr>
          <p:cNvPr id="24" name="ANS_33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5" name="ANS_34"/>
          <p:cNvSpPr/>
          <p:nvPr/>
        </p:nvSpPr>
        <p:spPr>
          <a:xfrm>
            <a:off x="7616952" y="2715006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ANS_35"/>
          <p:cNvSpPr txBox="1"/>
          <p:nvPr/>
        </p:nvSpPr>
        <p:spPr>
          <a:xfrm>
            <a:off x="7818120" y="2651760"/>
            <a:ext cx="3520440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 front、rear 两个下标（模 n）时，二者的相对位置只有 n 种，却要区分长度 0…n 共 n+1 种状态 → 最多存 n−1 个（A、D ✗）。</a:t>
            </a:r>
            <a:endParaRPr lang="en-US" sz="1300" dirty="0"/>
          </a:p>
        </p:txBody>
      </p:sp>
      <p:sp>
        <p:nvSpPr>
          <p:cNvPr id="27" name="ANS_36"/>
          <p:cNvSpPr/>
          <p:nvPr/>
        </p:nvSpPr>
        <p:spPr>
          <a:xfrm>
            <a:off x="7616952" y="3748583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8" name="ANS_37"/>
          <p:cNvSpPr txBox="1"/>
          <p:nvPr/>
        </p:nvSpPr>
        <p:spPr>
          <a:xfrm>
            <a:off x="7818120" y="3685337"/>
            <a:ext cx="3520440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虚指（D）：front == rear 表示空，满了也会 front == rear，只好空一格，以 (rear + 1) % n == front 判满；实指（A）同理，只是空、满的判别式整体差一格。</a:t>
            </a:r>
            <a:endParaRPr lang="en-US" sz="1300" dirty="0"/>
          </a:p>
        </p:txBody>
      </p:sp>
      <p:sp>
        <p:nvSpPr>
          <p:cNvPr id="29" name="ANS_38"/>
          <p:cNvSpPr/>
          <p:nvPr/>
        </p:nvSpPr>
        <p:spPr>
          <a:xfrm>
            <a:off x="7616952" y="478216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0" name="ANS_39"/>
          <p:cNvSpPr txBox="1"/>
          <p:nvPr/>
        </p:nvSpPr>
        <p:spPr>
          <a:xfrm>
            <a:off x="7818120" y="4718914"/>
            <a:ext cx="3520440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用 len、C 用 empty 标志，都能区分「空」与「满」→ 可存满 n 个。</a:t>
            </a:r>
            <a:endParaRPr lang="en-US" sz="1300" dirty="0"/>
          </a:p>
        </p:txBody>
      </p:sp>
      <p:sp>
        <p:nvSpPr>
          <p:cNvPr id="31" name="ANS_40"/>
          <p:cNvSpPr/>
          <p:nvPr/>
        </p:nvSpPr>
        <p:spPr>
          <a:xfrm>
            <a:off x="7616952" y="537987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2" name="ANS_41"/>
          <p:cNvSpPr txBox="1"/>
          <p:nvPr/>
        </p:nvSpPr>
        <p:spPr>
          <a:xfrm>
            <a:off x="7818120" y="5316626"/>
            <a:ext cx="3520440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注：题库原答案为 B、D，是把「虚指」理解成一直递增、用时才取模的计数器（rear − front 即长度）；题干已写明下标对 n 取模，排除这种理解。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栈与队列  ·  多选题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队列的特点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队列的特点包括：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6524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65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92096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后进先出 Last-in first-out (LIFO)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02361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23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950464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先进后出 First-in last-out (FILO)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681984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681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608832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先进先出 First-in first-out (FIFO)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340352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340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26720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后进后出 Last-in last-out (LILO)</a:t>
            </a:r>
            <a:endParaRPr lang="en-US" sz="2000" dirty="0"/>
          </a:p>
        </p:txBody>
      </p:sp>
      <p:sp>
        <p:nvSpPr>
          <p:cNvPr id="19" name="ANS_42"/>
          <p:cNvSpPr/>
          <p:nvPr/>
        </p:nvSpPr>
        <p:spPr>
          <a:xfrm>
            <a:off x="457200" y="3572256"/>
            <a:ext cx="6492240" cy="603504"/>
          </a:xfrm>
          <a:prstGeom prst="roundRect">
            <a:avLst>
              <a:gd name="adj" fmla="val 1515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0" name="ANS_43"/>
          <p:cNvSpPr/>
          <p:nvPr/>
        </p:nvSpPr>
        <p:spPr>
          <a:xfrm>
            <a:off x="457200" y="4230624"/>
            <a:ext cx="6492240" cy="603504"/>
          </a:xfrm>
          <a:prstGeom prst="roundRect">
            <a:avLst>
              <a:gd name="adj" fmla="val 1515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1" name="ANS_44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2" name="ANS_45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3" name="ANS_46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C、D</a:t>
            </a:r>
            <a:endParaRPr lang="en-US" sz="4400" dirty="0"/>
          </a:p>
        </p:txBody>
      </p:sp>
      <p:sp>
        <p:nvSpPr>
          <p:cNvPr id="24" name="ANS_47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5" name="ANS_48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ANS_49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队列在队尾插入、在队头删除：先进先出。</a:t>
            </a:r>
            <a:endParaRPr lang="en-US" sz="1700" dirty="0"/>
          </a:p>
        </p:txBody>
      </p:sp>
      <p:sp>
        <p:nvSpPr>
          <p:cNvPr id="27" name="ANS_50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8" name="ANS_51"/>
          <p:cNvSpPr txBox="1"/>
          <p:nvPr/>
        </p:nvSpPr>
        <p:spPr>
          <a:xfrm>
            <a:off x="7818120" y="3416503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「后进后出」是同一性质的另一种说法。</a:t>
            </a:r>
            <a:endParaRPr lang="en-US" sz="1700" dirty="0"/>
          </a:p>
        </p:txBody>
      </p:sp>
      <p:sp>
        <p:nvSpPr>
          <p:cNvPr id="29" name="ANS_52"/>
          <p:cNvSpPr/>
          <p:nvPr/>
        </p:nvSpPr>
        <p:spPr>
          <a:xfrm>
            <a:off x="7616952" y="427802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0" name="ANS_53"/>
          <p:cNvSpPr txBox="1"/>
          <p:nvPr/>
        </p:nvSpPr>
        <p:spPr>
          <a:xfrm>
            <a:off x="7818120" y="4181246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A、B 描述的是栈。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栈与队列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双端队列的输出排列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双端队列可以在队列的两端进行插入和删除操作。现有 4 个不同的元素依次从任一端全部入队，再从固定一端依次出队，可以得到 ____ 种不同的排列。</a:t>
            </a:r>
            <a:endParaRPr lang="en-US" sz="2000" dirty="0"/>
          </a:p>
        </p:txBody>
      </p:sp>
      <p:sp>
        <p:nvSpPr>
          <p:cNvPr id="7" name="ANS_54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55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56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4400" dirty="0"/>
          </a:p>
        </p:txBody>
      </p:sp>
      <p:sp>
        <p:nvSpPr>
          <p:cNvPr id="10" name="ANS_57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58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59"/>
          <p:cNvSpPr txBox="1"/>
          <p:nvPr/>
        </p:nvSpPr>
        <p:spPr>
          <a:xfrm>
            <a:off x="7818120" y="2651760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本题限定：先全部入队，再从固定一端依次出队；入队、出队不交错。</a:t>
            </a:r>
            <a:endParaRPr lang="en-US" sz="1700" dirty="0"/>
          </a:p>
        </p:txBody>
      </p:sp>
      <p:sp>
        <p:nvSpPr>
          <p:cNvPr id="13" name="ANS_60"/>
          <p:cNvSpPr/>
          <p:nvPr/>
        </p:nvSpPr>
        <p:spPr>
          <a:xfrm>
            <a:off x="7616952" y="3798265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61"/>
          <p:cNvSpPr txBox="1"/>
          <p:nvPr/>
        </p:nvSpPr>
        <p:spPr>
          <a:xfrm>
            <a:off x="7818120" y="3701491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个元素进哪端都一样，后 3 个各有 2 种选择：2</a:t>
            </a:r>
            <a:r>
              <a:rPr lang="en-US" sz="17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8。</a:t>
            </a:r>
            <a:endParaRPr lang="en-US" sz="1700" dirty="0"/>
          </a:p>
        </p:txBody>
      </p:sp>
      <p:sp>
        <p:nvSpPr>
          <p:cNvPr id="15" name="ANS_62"/>
          <p:cNvSpPr/>
          <p:nvPr/>
        </p:nvSpPr>
        <p:spPr>
          <a:xfrm>
            <a:off x="7616952" y="4563008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ANS_63"/>
          <p:cNvSpPr txBox="1"/>
          <p:nvPr/>
        </p:nvSpPr>
        <p:spPr>
          <a:xfrm>
            <a:off x="7818120" y="4466234"/>
            <a:ext cx="3520440" cy="1194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若入队、出队可以交错：两端都能进出时 24 种排列全能得到；只限一端输入或一端输出时 22 种；普通栈 14 种。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栈与队列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卡特兰数：列车进出站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编号为 1, 2, 3, 4 的四辆列车，顺序开进一个栈式结构的站台，则开出车站的顺序有 ____ 种可能。</a:t>
            </a:r>
            <a:endParaRPr lang="en-US" sz="2000" dirty="0"/>
          </a:p>
        </p:txBody>
      </p:sp>
      <p:sp>
        <p:nvSpPr>
          <p:cNvPr id="7" name="ANS_64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65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66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4400" dirty="0"/>
          </a:p>
        </p:txBody>
      </p:sp>
      <p:sp>
        <p:nvSpPr>
          <p:cNvPr id="10" name="ANS_67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68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69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进站 = 入栈，出站 = 出栈；合法出栈序列数是卡特兰数 C</a:t>
            </a:r>
            <a:r>
              <a:rPr lang="en-US" sz="1700" baseline="-4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700" dirty="0"/>
          </a:p>
        </p:txBody>
      </p:sp>
      <p:sp>
        <p:nvSpPr>
          <p:cNvPr id="13" name="ANS_70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71"/>
          <p:cNvSpPr txBox="1"/>
          <p:nvPr/>
        </p:nvSpPr>
        <p:spPr>
          <a:xfrm>
            <a:off x="7818120" y="3416503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r>
              <a:rPr lang="en-US" sz="1700" baseline="-4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C(8, 4) / (4 + 1) = 70 / 5 = 14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5029200" cy="5029200"/>
          </a:xfrm>
          <a:prstGeom prst="ellipse">
            <a:avLst/>
          </a:prstGeom>
          <a:solidFill>
            <a:srgbClr val="3E7C6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931920"/>
            <a:ext cx="2926080" cy="2926080"/>
          </a:xfrm>
          <a:prstGeom prst="ellipse">
            <a:avLst/>
          </a:prstGeom>
          <a:solidFill>
            <a:srgbClr val="F2B134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Chapter 4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字符串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14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13 题 · 准备好了吗？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字符串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KMP 特征向量 next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求字符串 "BAAABBBAA" 的特征向量（next 数组）：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70052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00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27376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{-1, 0, 0, 0, 0, 0, 0, 1, 2}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35889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58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285744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{-1, 0, 0, 0, 0, 1, 1, 1, 2}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017264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17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944112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{-1, 0, 0, 0, 0, 0, 1, 1, 2}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75632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675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60248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{-1, 0, 0, 0, 1, 1, 1, 1, 2}</a:t>
            </a:r>
            <a:endParaRPr lang="en-US" sz="2000" dirty="0"/>
          </a:p>
        </p:txBody>
      </p:sp>
      <p:sp>
        <p:nvSpPr>
          <p:cNvPr id="19" name="ANS_72"/>
          <p:cNvSpPr/>
          <p:nvPr/>
        </p:nvSpPr>
        <p:spPr>
          <a:xfrm>
            <a:off x="457200" y="3249168"/>
            <a:ext cx="6492240" cy="603504"/>
          </a:xfrm>
          <a:prstGeom prst="roundRect">
            <a:avLst>
              <a:gd name="adj" fmla="val 1515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0" name="ANS_73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1" name="ANS_74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2" name="ANS_75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4400" dirty="0"/>
          </a:p>
        </p:txBody>
      </p:sp>
      <p:sp>
        <p:nvSpPr>
          <p:cNvPr id="23" name="ANS_76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4" name="ANS_77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ANS_78"/>
          <p:cNvSpPr txBox="1"/>
          <p:nvPr/>
        </p:nvSpPr>
        <p:spPr>
          <a:xfrm>
            <a:off x="7818120" y="2651760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next[i] = P[0..i−1] 最长的相等真前缀、真后缀的长度；next[0] = −1。</a:t>
            </a:r>
            <a:endParaRPr lang="en-US" sz="1700" dirty="0"/>
          </a:p>
        </p:txBody>
      </p:sp>
      <p:sp>
        <p:nvSpPr>
          <p:cNvPr id="26" name="ANS_79"/>
          <p:cNvSpPr/>
          <p:nvPr/>
        </p:nvSpPr>
        <p:spPr>
          <a:xfrm>
            <a:off x="7616952" y="3798265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7" name="ANS_80"/>
          <p:cNvSpPr txBox="1"/>
          <p:nvPr/>
        </p:nvSpPr>
        <p:spPr>
          <a:xfrm>
            <a:off x="7818120" y="3701491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= 1…4：B、BA、BAA、BAAA 没有相等前后缀 → 0</a:t>
            </a:r>
            <a:endParaRPr lang="en-US" sz="1700" dirty="0"/>
          </a:p>
        </p:txBody>
      </p:sp>
      <p:sp>
        <p:nvSpPr>
          <p:cNvPr id="28" name="ANS_81"/>
          <p:cNvSpPr/>
          <p:nvPr/>
        </p:nvSpPr>
        <p:spPr>
          <a:xfrm>
            <a:off x="7616952" y="4563008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9" name="ANS_82"/>
          <p:cNvSpPr txBox="1"/>
          <p:nvPr/>
        </p:nvSpPr>
        <p:spPr>
          <a:xfrm>
            <a:off x="7818120" y="4466234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= 5、6、7：BAAAB、BAAABB、BAAABBB 以 B 结尾，与开头 B 相等 → 1</a:t>
            </a:r>
            <a:endParaRPr lang="en-US" sz="1700" dirty="0"/>
          </a:p>
        </p:txBody>
      </p:sp>
      <p:sp>
        <p:nvSpPr>
          <p:cNvPr id="30" name="ANS_83"/>
          <p:cNvSpPr/>
          <p:nvPr/>
        </p:nvSpPr>
        <p:spPr>
          <a:xfrm>
            <a:off x="7616952" y="561274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1" name="ANS_84"/>
          <p:cNvSpPr txBox="1"/>
          <p:nvPr/>
        </p:nvSpPr>
        <p:spPr>
          <a:xfrm>
            <a:off x="7818120" y="5515966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= 8：BAAABBBA 以 BA 结尾 → 2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字符串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串的基本概念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下面关于串的叙述中，哪一个是不正确的？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6524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65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92096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串是字符的有限序列。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02361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23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950464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模式匹配是串的一种重要运算。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681984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681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608832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串是一种数据对象和操作都特殊的线性表。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340352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340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26720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空串是由空格构成的串。</a:t>
            </a:r>
            <a:endParaRPr lang="en-US" sz="2000" dirty="0"/>
          </a:p>
        </p:txBody>
      </p:sp>
      <p:sp>
        <p:nvSpPr>
          <p:cNvPr id="19" name="ANS_85"/>
          <p:cNvSpPr/>
          <p:nvPr/>
        </p:nvSpPr>
        <p:spPr>
          <a:xfrm>
            <a:off x="457200" y="4230624"/>
            <a:ext cx="6492240" cy="603504"/>
          </a:xfrm>
          <a:prstGeom prst="roundRect">
            <a:avLst>
              <a:gd name="adj" fmla="val 1515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0" name="ANS_86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1" name="ANS_87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2" name="ANS_88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4400" dirty="0"/>
          </a:p>
        </p:txBody>
      </p:sp>
      <p:sp>
        <p:nvSpPr>
          <p:cNvPr id="23" name="ANS_89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4" name="ANS_90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ANS_91"/>
          <p:cNvSpPr txBox="1"/>
          <p:nvPr/>
        </p:nvSpPr>
        <p:spPr>
          <a:xfrm>
            <a:off x="7818120" y="2651760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空串长度为 0。</a:t>
            </a:r>
            <a:endParaRPr lang="en-US" sz="1700" dirty="0"/>
          </a:p>
        </p:txBody>
      </p:sp>
      <p:sp>
        <p:nvSpPr>
          <p:cNvPr id="26" name="ANS_92"/>
          <p:cNvSpPr/>
          <p:nvPr/>
        </p:nvSpPr>
        <p:spPr>
          <a:xfrm>
            <a:off x="7616952" y="3228289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7" name="ANS_93"/>
          <p:cNvSpPr txBox="1"/>
          <p:nvPr/>
        </p:nvSpPr>
        <p:spPr>
          <a:xfrm>
            <a:off x="7818120" y="3131515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由空格组成的串叫空白串（blank string），长度不为 0。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字符串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串运算组合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 = 'ABCDEFG'，S2 = '9898'，S3 = '###'，S4 = '012345'，求下式的值（substr(S, i, j) 从下标 i 起取 j 个字符，下标从 0 开始）：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962656"/>
            <a:ext cx="6309360" cy="705538"/>
          </a:xfrm>
          <a:prstGeom prst="roundRect">
            <a:avLst>
              <a:gd name="adj" fmla="val 10368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962656"/>
            <a:ext cx="6035040" cy="705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86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concat(replace(S1, substr(S1, length(S2), length(S3)), S3),</a:t>
            </a:r>
            <a:endParaRPr lang="en-US" sz="1286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6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substr(S4, index(S2, '8'), length(S2)))</a:t>
            </a:r>
            <a:endParaRPr lang="en-US" sz="1286" dirty="0"/>
          </a:p>
        </p:txBody>
      </p:sp>
      <p:sp>
        <p:nvSpPr>
          <p:cNvPr id="9" name="Shape 7"/>
          <p:cNvSpPr/>
          <p:nvPr/>
        </p:nvSpPr>
        <p:spPr>
          <a:xfrm>
            <a:off x="548640" y="399737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99737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924226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ABC###G0123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465574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65574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582594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ABCD###2345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5314114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31411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5240962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ABCD###1234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48640" y="5972482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9724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589933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ABC###G2345</a:t>
            </a:r>
            <a:endParaRPr lang="en-US" sz="2000" dirty="0"/>
          </a:p>
        </p:txBody>
      </p:sp>
      <p:sp>
        <p:nvSpPr>
          <p:cNvPr id="21" name="ANS_94"/>
          <p:cNvSpPr/>
          <p:nvPr/>
        </p:nvSpPr>
        <p:spPr>
          <a:xfrm>
            <a:off x="457200" y="5204386"/>
            <a:ext cx="6492240" cy="603504"/>
          </a:xfrm>
          <a:prstGeom prst="roundRect">
            <a:avLst>
              <a:gd name="adj" fmla="val 1515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2" name="ANS_95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3" name="ANS_96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4" name="ANS_97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4400" dirty="0"/>
          </a:p>
        </p:txBody>
      </p:sp>
      <p:sp>
        <p:nvSpPr>
          <p:cNvPr id="25" name="ANS_98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6" name="ANS_99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7" name="ANS_100"/>
          <p:cNvSpPr txBox="1"/>
          <p:nvPr/>
        </p:nvSpPr>
        <p:spPr>
          <a:xfrm>
            <a:off x="7818120" y="2651760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substr(S1, 4, 3) = 'EFG'</a:t>
            </a:r>
            <a:endParaRPr lang="en-US" sz="1700" dirty="0"/>
          </a:p>
        </p:txBody>
      </p:sp>
      <p:sp>
        <p:nvSpPr>
          <p:cNvPr id="28" name="ANS_101"/>
          <p:cNvSpPr/>
          <p:nvPr/>
        </p:nvSpPr>
        <p:spPr>
          <a:xfrm>
            <a:off x="7616952" y="3228289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9" name="ANS_102"/>
          <p:cNvSpPr txBox="1"/>
          <p:nvPr/>
        </p:nvSpPr>
        <p:spPr>
          <a:xfrm>
            <a:off x="7818120" y="3131515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replace(S1, 'EFG', '###') = 'ABCD###'</a:t>
            </a:r>
            <a:endParaRPr lang="en-US" sz="1700" dirty="0"/>
          </a:p>
        </p:txBody>
      </p:sp>
      <p:sp>
        <p:nvSpPr>
          <p:cNvPr id="30" name="ANS_103"/>
          <p:cNvSpPr/>
          <p:nvPr/>
        </p:nvSpPr>
        <p:spPr>
          <a:xfrm>
            <a:off x="7616952" y="399303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1" name="ANS_104"/>
          <p:cNvSpPr txBox="1"/>
          <p:nvPr/>
        </p:nvSpPr>
        <p:spPr>
          <a:xfrm>
            <a:off x="7818120" y="3896258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index(S2, '8') = 1，substr(S4, 1, 4) = '1234'</a:t>
            </a:r>
            <a:endParaRPr lang="en-US" sz="1700" dirty="0"/>
          </a:p>
        </p:txBody>
      </p:sp>
      <p:sp>
        <p:nvSpPr>
          <p:cNvPr id="32" name="ANS_105"/>
          <p:cNvSpPr/>
          <p:nvPr/>
        </p:nvSpPr>
        <p:spPr>
          <a:xfrm>
            <a:off x="7616952" y="4757776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3" name="ANS_106"/>
          <p:cNvSpPr txBox="1"/>
          <p:nvPr/>
        </p:nvSpPr>
        <p:spPr>
          <a:xfrm>
            <a:off x="7818120" y="4661002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concat → 'ABCD###1234'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字符串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串的性质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下列说法正确的是：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6524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65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92096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空串就是空白串。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02361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23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950464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空串是任意字符串的子串。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681984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681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608832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串只可以采用顺序存储，不可以采用链式存储。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45617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456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267200"/>
            <a:ext cx="57607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C++ 标准中，</a:t>
            </a:r>
            <a:r>
              <a:rPr lang="en-US" sz="2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S[M]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最多能表示长度为 M 的字符串。</a:t>
            </a:r>
            <a:endParaRPr lang="en-US" sz="2000" dirty="0"/>
          </a:p>
        </p:txBody>
      </p:sp>
      <p:sp>
        <p:nvSpPr>
          <p:cNvPr id="19" name="ANS_107"/>
          <p:cNvSpPr/>
          <p:nvPr/>
        </p:nvSpPr>
        <p:spPr>
          <a:xfrm>
            <a:off x="457200" y="2913888"/>
            <a:ext cx="6492240" cy="603504"/>
          </a:xfrm>
          <a:prstGeom prst="roundRect">
            <a:avLst>
              <a:gd name="adj" fmla="val 1515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0" name="ANS_108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1" name="ANS_109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2" name="ANS_110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4400" dirty="0"/>
          </a:p>
        </p:txBody>
      </p:sp>
      <p:sp>
        <p:nvSpPr>
          <p:cNvPr id="23" name="ANS_111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4" name="ANS_112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ANS_113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✗ 空串长度为 0，空白串由空格组成。</a:t>
            </a:r>
            <a:endParaRPr lang="en-US" sz="1700" dirty="0"/>
          </a:p>
        </p:txBody>
      </p:sp>
      <p:sp>
        <p:nvSpPr>
          <p:cNvPr id="26" name="ANS_114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7" name="ANS_115"/>
          <p:cNvSpPr txBox="1"/>
          <p:nvPr/>
        </p:nvSpPr>
        <p:spPr>
          <a:xfrm>
            <a:off x="7818120" y="3416503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✗ 串也可以链式存储（如块链）。</a:t>
            </a:r>
            <a:endParaRPr lang="en-US" sz="1700" dirty="0"/>
          </a:p>
        </p:txBody>
      </p:sp>
      <p:sp>
        <p:nvSpPr>
          <p:cNvPr id="28" name="ANS_116"/>
          <p:cNvSpPr/>
          <p:nvPr/>
        </p:nvSpPr>
        <p:spPr>
          <a:xfrm>
            <a:off x="7616952" y="427802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9" name="ANS_117"/>
          <p:cNvSpPr txBox="1"/>
          <p:nvPr/>
        </p:nvSpPr>
        <p:spPr>
          <a:xfrm>
            <a:off x="7818120" y="4181246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✗ 末尾要留一个位置放 '\0'，最多表示长度 M−1 的串。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字符串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模式匹配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设有两个串 p 和 q，其中 q 是 p 的子串，求 q 在 p 中首次出现的位置的算法称为：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62737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62737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求子串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60270" y="262737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60270" y="262737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联接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771900" y="262737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71900" y="262737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383530" y="262737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83530" y="262737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求串长</a:t>
            </a:r>
            <a:endParaRPr lang="en-US" sz="2000" dirty="0"/>
          </a:p>
        </p:txBody>
      </p:sp>
      <p:sp>
        <p:nvSpPr>
          <p:cNvPr id="15" name="ANS_118"/>
          <p:cNvSpPr/>
          <p:nvPr/>
        </p:nvSpPr>
        <p:spPr>
          <a:xfrm>
            <a:off x="3771900" y="2627376"/>
            <a:ext cx="1474470" cy="822960"/>
          </a:xfrm>
          <a:prstGeom prst="roundRect">
            <a:avLst>
              <a:gd name="adj" fmla="val 11111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16" name="ANS_119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17" name="ANS_120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18" name="ANS_121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4400" dirty="0"/>
          </a:p>
        </p:txBody>
      </p:sp>
      <p:sp>
        <p:nvSpPr>
          <p:cNvPr id="19" name="ANS_122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0" name="ANS_123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ANS_124"/>
          <p:cNvSpPr txBox="1"/>
          <p:nvPr/>
        </p:nvSpPr>
        <p:spPr>
          <a:xfrm>
            <a:off x="7818120" y="2651760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在主串中找模式串首次出现的位置就是模式匹配，如朴素匹配、KMP。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字符串  ·  多选题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互补回文串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39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DNA 序列由 A、C、G、T 组成，A–T、C–G 互补。若一个串的互补串反转后等于它自身，称为互补回文串（如 ATCATGAT 的互补串 TAGTACTA 反转后即原串）。下列是互补回文串的有：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297936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297936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CTGATCAG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697480" y="3297936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97480" y="3297936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AATTAATT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846320" y="3297936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46320" y="3297936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TGCAACGT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258056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258056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CATGGTAC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697480" y="4258056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697480" y="4258056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GTACGTAC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846320" y="4258056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46320" y="4258056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AGCTAGCT</a:t>
            </a:r>
            <a:endParaRPr lang="en-US" sz="2000" dirty="0"/>
          </a:p>
        </p:txBody>
      </p:sp>
      <p:sp>
        <p:nvSpPr>
          <p:cNvPr id="19" name="ANS_125"/>
          <p:cNvSpPr/>
          <p:nvPr/>
        </p:nvSpPr>
        <p:spPr>
          <a:xfrm>
            <a:off x="548640" y="3297936"/>
            <a:ext cx="2011680" cy="822960"/>
          </a:xfrm>
          <a:prstGeom prst="roundRect">
            <a:avLst>
              <a:gd name="adj" fmla="val 11111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0" name="ANS_126"/>
          <p:cNvSpPr/>
          <p:nvPr/>
        </p:nvSpPr>
        <p:spPr>
          <a:xfrm>
            <a:off x="2697480" y="3297936"/>
            <a:ext cx="2011680" cy="822960"/>
          </a:xfrm>
          <a:prstGeom prst="roundRect">
            <a:avLst>
              <a:gd name="adj" fmla="val 11111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1" name="ANS_127"/>
          <p:cNvSpPr/>
          <p:nvPr/>
        </p:nvSpPr>
        <p:spPr>
          <a:xfrm>
            <a:off x="2697480" y="4258056"/>
            <a:ext cx="2011680" cy="822960"/>
          </a:xfrm>
          <a:prstGeom prst="roundRect">
            <a:avLst>
              <a:gd name="adj" fmla="val 11111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2" name="ANS_128"/>
          <p:cNvSpPr/>
          <p:nvPr/>
        </p:nvSpPr>
        <p:spPr>
          <a:xfrm>
            <a:off x="4846320" y="4258056"/>
            <a:ext cx="2011680" cy="822960"/>
          </a:xfrm>
          <a:prstGeom prst="roundRect">
            <a:avLst>
              <a:gd name="adj" fmla="val 11111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3" name="ANS_129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4" name="ANS_130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5" name="ANS_131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A、B、E、F</a:t>
            </a:r>
            <a:endParaRPr lang="en-US" sz="3600" dirty="0"/>
          </a:p>
        </p:txBody>
      </p:sp>
      <p:sp>
        <p:nvSpPr>
          <p:cNvPr id="26" name="ANS_132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7" name="ANS_133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8" name="ANS_134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做法：先取互补串，再反转，看是否等于原串。</a:t>
            </a:r>
            <a:endParaRPr lang="en-US" sz="1700" dirty="0"/>
          </a:p>
        </p:txBody>
      </p:sp>
      <p:sp>
        <p:nvSpPr>
          <p:cNvPr id="29" name="ANS_135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0" name="ANS_136"/>
          <p:cNvSpPr txBox="1"/>
          <p:nvPr/>
        </p:nvSpPr>
        <p:spPr>
          <a:xfrm>
            <a:off x="7818120" y="3416503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A：CTGATCAG → GACTAGTC → 反转 CTGATCAG ✓</a:t>
            </a:r>
            <a:endParaRPr lang="en-US" sz="1700" dirty="0"/>
          </a:p>
        </p:txBody>
      </p:sp>
      <p:sp>
        <p:nvSpPr>
          <p:cNvPr id="31" name="ANS_137"/>
          <p:cNvSpPr/>
          <p:nvPr/>
        </p:nvSpPr>
        <p:spPr>
          <a:xfrm>
            <a:off x="7616952" y="427802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2" name="ANS_138"/>
          <p:cNvSpPr txBox="1"/>
          <p:nvPr/>
        </p:nvSpPr>
        <p:spPr>
          <a:xfrm>
            <a:off x="7818120" y="4181246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C：TGCAACGT → 反转互补 ACGTTGCA ✗</a:t>
            </a:r>
            <a:endParaRPr lang="en-US" sz="1700" dirty="0"/>
          </a:p>
        </p:txBody>
      </p:sp>
      <p:sp>
        <p:nvSpPr>
          <p:cNvPr id="33" name="ANS_139"/>
          <p:cNvSpPr/>
          <p:nvPr/>
        </p:nvSpPr>
        <p:spPr>
          <a:xfrm>
            <a:off x="7616952" y="504276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4" name="ANS_140"/>
          <p:cNvSpPr txBox="1"/>
          <p:nvPr/>
        </p:nvSpPr>
        <p:spPr>
          <a:xfrm>
            <a:off x="7818120" y="494599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D：CATGGTAC → 反转互补 GTACCATG ✗</a:t>
            </a:r>
            <a:endParaRPr lang="en-US" sz="1700" dirty="0"/>
          </a:p>
        </p:txBody>
      </p:sp>
      <p:sp>
        <p:nvSpPr>
          <p:cNvPr id="35" name="ANS_141"/>
          <p:cNvSpPr/>
          <p:nvPr/>
        </p:nvSpPr>
        <p:spPr>
          <a:xfrm>
            <a:off x="7616952" y="580750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6" name="ANS_142"/>
          <p:cNvSpPr txBox="1"/>
          <p:nvPr/>
        </p:nvSpPr>
        <p:spPr>
          <a:xfrm>
            <a:off x="7818120" y="5710733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B、E、F 同理成立。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字符串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KMP 匹配的比较次数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 P = "BAAABBBAA" 与目标 T = "BAAABBBCDDDCCHHHHBBBAAABBBAADD" 进行匹配，至少需要多少次字符比较？（利用优化后的 next 数组）</a:t>
            </a:r>
            <a:endParaRPr lang="en-US" sz="2000" dirty="0"/>
          </a:p>
        </p:txBody>
      </p:sp>
      <p:sp>
        <p:nvSpPr>
          <p:cNvPr id="7" name="ANS_143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144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145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4400" dirty="0"/>
          </a:p>
        </p:txBody>
      </p:sp>
      <p:sp>
        <p:nvSpPr>
          <p:cNvPr id="10" name="ANS_146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147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148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优化后的 nextval = [−1, 0, 0, 0, −1, 1, 1, 0, 0]</a:t>
            </a:r>
            <a:endParaRPr lang="en-US" sz="1700" dirty="0"/>
          </a:p>
        </p:txBody>
      </p:sp>
      <p:sp>
        <p:nvSpPr>
          <p:cNvPr id="13" name="ANS_149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150"/>
          <p:cNvSpPr txBox="1"/>
          <p:nvPr/>
        </p:nvSpPr>
        <p:spPr>
          <a:xfrm>
            <a:off x="7818120" y="3416503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失配时 P 右滑到 nextval 所指位置；值为 −1 时 T 的指针前进一位。</a:t>
            </a:r>
            <a:endParaRPr lang="en-US" sz="1700" dirty="0"/>
          </a:p>
        </p:txBody>
      </p:sp>
      <p:sp>
        <p:nvSpPr>
          <p:cNvPr id="15" name="ANS_151"/>
          <p:cNvSpPr/>
          <p:nvPr/>
        </p:nvSpPr>
        <p:spPr>
          <a:xfrm>
            <a:off x="7616952" y="4563008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ANS_152"/>
          <p:cNvSpPr txBox="1"/>
          <p:nvPr/>
        </p:nvSpPr>
        <p:spPr>
          <a:xfrm>
            <a:off x="7818120" y="4466234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T 的下标 19 处匹配成功，累计比较 31 次（用未优化的 next 要 32 次）。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字符串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判断对称串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下列程序判断串 s 是否对称，对称返回 1，否则返回 0。如 f("abba") 返回 1，f("abab") 返回 0。填空（三个答案用空格分隔）：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962656"/>
            <a:ext cx="6309360" cy="1883664"/>
          </a:xfrm>
          <a:prstGeom prst="roundRect">
            <a:avLst>
              <a:gd name="adj" fmla="val 388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962656"/>
            <a:ext cx="60350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f(char s[]) {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i=0, j=0;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while(s[j]) (1)__++;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for(j--; i &lt; j &amp;&amp; s[i] == s[j]; i++, j--);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return((2)__&gt;=(3)__);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ANS_153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10" name="ANS_154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11" name="ANS_155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 i j</a:t>
            </a:r>
            <a:endParaRPr lang="en-US" sz="4400" dirty="0"/>
          </a:p>
        </p:txBody>
      </p:sp>
      <p:sp>
        <p:nvSpPr>
          <p:cNvPr id="12" name="ANS_156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3" name="ANS_157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158"/>
          <p:cNvSpPr txBox="1"/>
          <p:nvPr/>
        </p:nvSpPr>
        <p:spPr>
          <a:xfrm>
            <a:off x="7818120" y="2651760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(1) </a:t>
            </a:r>
            <a:r>
              <a:rPr lang="en-US" sz="17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j++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：j 走到串尾的 '\0'</a:t>
            </a:r>
            <a:endParaRPr lang="en-US" sz="1700" dirty="0"/>
          </a:p>
        </p:txBody>
      </p:sp>
      <p:sp>
        <p:nvSpPr>
          <p:cNvPr id="15" name="ANS_159"/>
          <p:cNvSpPr/>
          <p:nvPr/>
        </p:nvSpPr>
        <p:spPr>
          <a:xfrm>
            <a:off x="7616952" y="3228289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ANS_160"/>
          <p:cNvSpPr txBox="1"/>
          <p:nvPr/>
        </p:nvSpPr>
        <p:spPr>
          <a:xfrm>
            <a:off x="7818120" y="3131515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j--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后 j 指向最后一个字符，i、j 相向比较。</a:t>
            </a:r>
            <a:endParaRPr lang="en-US" sz="1700" dirty="0"/>
          </a:p>
        </p:txBody>
      </p:sp>
      <p:sp>
        <p:nvSpPr>
          <p:cNvPr id="17" name="ANS_161"/>
          <p:cNvSpPr/>
          <p:nvPr/>
        </p:nvSpPr>
        <p:spPr>
          <a:xfrm>
            <a:off x="7616952" y="399303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8" name="ANS_162"/>
          <p:cNvSpPr txBox="1"/>
          <p:nvPr/>
        </p:nvSpPr>
        <p:spPr>
          <a:xfrm>
            <a:off x="7818120" y="3896258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对称时循环因 i &gt;= j 结束；不对称时因 s[i] != s[j] 提前退出（此时 i &lt; j）。</a:t>
            </a:r>
            <a:endParaRPr lang="en-US" sz="1700" dirty="0"/>
          </a:p>
        </p:txBody>
      </p:sp>
      <p:sp>
        <p:nvSpPr>
          <p:cNvPr id="19" name="ANS_163"/>
          <p:cNvSpPr/>
          <p:nvPr/>
        </p:nvSpPr>
        <p:spPr>
          <a:xfrm>
            <a:off x="7616952" y="504276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0" name="ANS_164"/>
          <p:cNvSpPr txBox="1"/>
          <p:nvPr/>
        </p:nvSpPr>
        <p:spPr>
          <a:xfrm>
            <a:off x="7818120" y="4945990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所以返回 </a:t>
            </a:r>
            <a:r>
              <a:rPr lang="en-US" sz="17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&gt;= j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字符串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奇偶位重排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73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= "S1S2…Sn" 存放在数组中，改造为：奇数位字符按下标从小到大放在前半部分，偶数位字符按下标从大到小放在后半部分。例如 'ABCDEFGHIJKL' 改造后为 'ACEGIKLJHFDB'。则 'algorithm' 改造后为：</a:t>
            </a:r>
            <a:endParaRPr lang="en-US" sz="2000" dirty="0"/>
          </a:p>
        </p:txBody>
      </p:sp>
      <p:sp>
        <p:nvSpPr>
          <p:cNvPr id="7" name="ANS_165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166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167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agrtmhiol</a:t>
            </a:r>
            <a:endParaRPr lang="en-US" sz="3600" dirty="0"/>
          </a:p>
        </p:txBody>
      </p:sp>
      <p:sp>
        <p:nvSpPr>
          <p:cNvPr id="10" name="ANS_168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169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170"/>
          <p:cNvSpPr txBox="1"/>
          <p:nvPr/>
        </p:nvSpPr>
        <p:spPr>
          <a:xfrm>
            <a:off x="7818120" y="2651760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位置从 1 开始数。</a:t>
            </a:r>
            <a:endParaRPr lang="en-US" sz="1700" dirty="0"/>
          </a:p>
        </p:txBody>
      </p:sp>
      <p:sp>
        <p:nvSpPr>
          <p:cNvPr id="13" name="ANS_171"/>
          <p:cNvSpPr/>
          <p:nvPr/>
        </p:nvSpPr>
        <p:spPr>
          <a:xfrm>
            <a:off x="7616952" y="3228289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172"/>
          <p:cNvSpPr txBox="1"/>
          <p:nvPr/>
        </p:nvSpPr>
        <p:spPr>
          <a:xfrm>
            <a:off x="7818120" y="3131515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奇数位 a g r t m，按原顺序 → agrtm</a:t>
            </a:r>
            <a:endParaRPr lang="en-US" sz="1700" dirty="0"/>
          </a:p>
        </p:txBody>
      </p:sp>
      <p:sp>
        <p:nvSpPr>
          <p:cNvPr id="15" name="ANS_173"/>
          <p:cNvSpPr/>
          <p:nvPr/>
        </p:nvSpPr>
        <p:spPr>
          <a:xfrm>
            <a:off x="7616952" y="399303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ANS_174"/>
          <p:cNvSpPr txBox="1"/>
          <p:nvPr/>
        </p:nvSpPr>
        <p:spPr>
          <a:xfrm>
            <a:off x="7818120" y="3896258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偶数位 l o i h，倒序 → hiol</a:t>
            </a:r>
            <a:endParaRPr lang="en-US" sz="1700" dirty="0"/>
          </a:p>
        </p:txBody>
      </p:sp>
      <p:sp>
        <p:nvSpPr>
          <p:cNvPr id="17" name="ANS_175"/>
          <p:cNvSpPr/>
          <p:nvPr/>
        </p:nvSpPr>
        <p:spPr>
          <a:xfrm>
            <a:off x="7616952" y="4472788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8" name="ANS_176"/>
          <p:cNvSpPr txBox="1"/>
          <p:nvPr/>
        </p:nvSpPr>
        <p:spPr>
          <a:xfrm>
            <a:off x="7818120" y="4376014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拼起来：agrtm + hiol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字符串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单表代换加密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利用下面给定的字母映射表进行加密（上行明文，下行密文）。若 "encrypt" 被加密为 "tkzwsdf"，则 "algorithm" 被加密为：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962656"/>
            <a:ext cx="6309360" cy="773180"/>
          </a:xfrm>
          <a:prstGeom prst="roundRect">
            <a:avLst>
              <a:gd name="adj" fmla="val 946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962656"/>
            <a:ext cx="6035040" cy="77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88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 c d e f g h i j k l m n o p q r s t u v w x y z</a:t>
            </a:r>
            <a:endParaRPr lang="en-US" sz="1488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88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g z q t c o b m u h e l k p d a w x f y i v r s j</a:t>
            </a:r>
            <a:endParaRPr lang="en-US" sz="1488" dirty="0"/>
          </a:p>
        </p:txBody>
      </p:sp>
      <p:sp>
        <p:nvSpPr>
          <p:cNvPr id="9" name="ANS_177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10" name="ANS_178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11" name="ANS_179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neopwmfbl</a:t>
            </a:r>
            <a:endParaRPr lang="en-US" sz="3600" dirty="0"/>
          </a:p>
        </p:txBody>
      </p:sp>
      <p:sp>
        <p:nvSpPr>
          <p:cNvPr id="12" name="ANS_180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3" name="ANS_181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182"/>
          <p:cNvSpPr txBox="1"/>
          <p:nvPr/>
        </p:nvSpPr>
        <p:spPr>
          <a:xfrm>
            <a:off x="7818120" y="2651760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逐字母查表替换。</a:t>
            </a:r>
            <a:endParaRPr lang="en-US" sz="1700" dirty="0"/>
          </a:p>
        </p:txBody>
      </p:sp>
      <p:sp>
        <p:nvSpPr>
          <p:cNvPr id="15" name="ANS_183"/>
          <p:cNvSpPr/>
          <p:nvPr/>
        </p:nvSpPr>
        <p:spPr>
          <a:xfrm>
            <a:off x="7616952" y="3228289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ANS_184"/>
          <p:cNvSpPr txBox="1"/>
          <p:nvPr/>
        </p:nvSpPr>
        <p:spPr>
          <a:xfrm>
            <a:off x="7818120" y="3131515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验证：e→t, n→k, c→z, r→w, y→s, p→d, t→f，即 encrypt → tkzwsdf</a:t>
            </a:r>
            <a:endParaRPr lang="en-US" sz="1700" dirty="0"/>
          </a:p>
        </p:txBody>
      </p:sp>
      <p:sp>
        <p:nvSpPr>
          <p:cNvPr id="17" name="ANS_185"/>
          <p:cNvSpPr/>
          <p:nvPr/>
        </p:nvSpPr>
        <p:spPr>
          <a:xfrm>
            <a:off x="7616952" y="427802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8" name="ANS_186"/>
          <p:cNvSpPr txBox="1"/>
          <p:nvPr/>
        </p:nvSpPr>
        <p:spPr>
          <a:xfrm>
            <a:off x="7818120" y="4181246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a→n, l→e, g→o, o→p, r→w, i→m, t→f, h→b, m→l</a:t>
            </a:r>
            <a:endParaRPr lang="en-US" sz="1700" dirty="0"/>
          </a:p>
        </p:txBody>
      </p:sp>
      <p:sp>
        <p:nvSpPr>
          <p:cNvPr id="19" name="ANS_187"/>
          <p:cNvSpPr/>
          <p:nvPr/>
        </p:nvSpPr>
        <p:spPr>
          <a:xfrm>
            <a:off x="7616952" y="504276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0" name="ANS_188"/>
          <p:cNvSpPr txBox="1"/>
          <p:nvPr/>
        </p:nvSpPr>
        <p:spPr>
          <a:xfrm>
            <a:off x="7818120" y="4945990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algorithm → neopwmfbl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字符串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串运算表达式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 A = ""，B = "MULE"，C = "OLD"，D = "MY"。计算下列表达式（答案之间用空格隔开）：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627376"/>
            <a:ext cx="6309360" cy="1078992"/>
          </a:xfrm>
          <a:prstGeom prst="roundRect">
            <a:avLst>
              <a:gd name="adj" fmla="val 678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627376"/>
            <a:ext cx="6035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(1) D + C + B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(2) B.substr(3, 2)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(3) A.strlength()</a:t>
            </a:r>
            <a:endParaRPr lang="en-US" sz="1600" dirty="0"/>
          </a:p>
        </p:txBody>
      </p:sp>
      <p:sp>
        <p:nvSpPr>
          <p:cNvPr id="9" name="ANS_189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10" name="ANS_190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11" name="ANS_191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MYOLDMULE E 0</a:t>
            </a:r>
            <a:endParaRPr lang="en-US" sz="2600" dirty="0"/>
          </a:p>
        </p:txBody>
      </p:sp>
      <p:sp>
        <p:nvSpPr>
          <p:cNvPr id="12" name="ANS_192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3" name="ANS_193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194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(1) MY + OLD + MULE = MYOLDMULE</a:t>
            </a:r>
            <a:endParaRPr lang="en-US" sz="1700" dirty="0"/>
          </a:p>
        </p:txBody>
      </p:sp>
      <p:sp>
        <p:nvSpPr>
          <p:cNvPr id="15" name="ANS_195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ANS_196"/>
          <p:cNvSpPr txBox="1"/>
          <p:nvPr/>
        </p:nvSpPr>
        <p:spPr>
          <a:xfrm>
            <a:off x="7818120" y="3416503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(2) 从下标 3 起取 2 个，但 MULE 从下标 3 起只剩 E</a:t>
            </a:r>
            <a:endParaRPr lang="en-US" sz="1700" dirty="0"/>
          </a:p>
        </p:txBody>
      </p:sp>
      <p:sp>
        <p:nvSpPr>
          <p:cNvPr id="17" name="ANS_197"/>
          <p:cNvSpPr/>
          <p:nvPr/>
        </p:nvSpPr>
        <p:spPr>
          <a:xfrm>
            <a:off x="7616952" y="427802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8" name="ANS_198"/>
          <p:cNvSpPr txBox="1"/>
          <p:nvPr/>
        </p:nvSpPr>
        <p:spPr>
          <a:xfrm>
            <a:off x="7818120" y="4181246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(3) 空串长度为 0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字符串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子串个数（algorithm）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若字符串 s = "algorithm"，则其子串个数为：</a:t>
            </a:r>
            <a:endParaRPr lang="en-US" sz="2000" dirty="0"/>
          </a:p>
        </p:txBody>
      </p:sp>
      <p:sp>
        <p:nvSpPr>
          <p:cNvPr id="7" name="ANS_199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200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201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endParaRPr lang="en-US" sz="4400" dirty="0"/>
          </a:p>
        </p:txBody>
      </p:sp>
      <p:sp>
        <p:nvSpPr>
          <p:cNvPr id="10" name="ANS_202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203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204"/>
          <p:cNvSpPr txBox="1"/>
          <p:nvPr/>
        </p:nvSpPr>
        <p:spPr>
          <a:xfrm>
            <a:off x="7818120" y="2651760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个字符两两不同，非空子串 9 + 8 + … + 1 = 9×10/2 = 45 个。</a:t>
            </a:r>
            <a:endParaRPr lang="en-US" sz="1700" dirty="0"/>
          </a:p>
        </p:txBody>
      </p:sp>
      <p:sp>
        <p:nvSpPr>
          <p:cNvPr id="13" name="ANS_205"/>
          <p:cNvSpPr/>
          <p:nvPr/>
        </p:nvSpPr>
        <p:spPr>
          <a:xfrm>
            <a:off x="7616952" y="3798265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206"/>
          <p:cNvSpPr txBox="1"/>
          <p:nvPr/>
        </p:nvSpPr>
        <p:spPr>
          <a:xfrm>
            <a:off x="7818120" y="3701491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再加上空串：45 + 1 = 46。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字符串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子串个数（software）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若字符串 s = "software"，则其子串个数为：</a:t>
            </a:r>
            <a:endParaRPr lang="en-US" sz="2000" dirty="0"/>
          </a:p>
        </p:txBody>
      </p:sp>
      <p:sp>
        <p:nvSpPr>
          <p:cNvPr id="7" name="ANS_207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208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209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4400" dirty="0"/>
          </a:p>
        </p:txBody>
      </p:sp>
      <p:sp>
        <p:nvSpPr>
          <p:cNvPr id="10" name="ANS_210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211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212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个字符两两不同：8×9/2 + 1 = 37。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 MOOC Quiz CH03-04</dc:title>
  <dc:subject>PptxGenJS Presentation</dc:subject>
  <dc:creator>Hongfei Yan</dc:creator>
  <cp:lastModifiedBy>Hongfei Yan</cp:lastModifiedBy>
  <cp:revision>1</cp:revision>
  <dcterms:created xsi:type="dcterms:W3CDTF">2026-10-28T16:27:37Z</dcterms:created>
  <dcterms:modified xsi:type="dcterms:W3CDTF">2026-10-28T16:27:37Z</dcterms:modified>
</cp:coreProperties>
</file>