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栈与队列（6 题） · 第四章 字符串（13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6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中缀表达式转后缀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中缀表达式 E = ((100−4)/3 + 3*(36−7))*2，与 E 等价的后缀表达式是？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((100 4 - ) 3 / 3 (36 7 - ) * + ) 2 *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+ / - 100 4 3 * 3 - 36 7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4 - 3 / 3 36 7 - * + 2 *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7914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( + / ( - 100 4 ) 3 * 3 ( - 36 7 ) ) 2</a:t>
            </a:r>
            <a:endParaRPr lang="en-US" sz="2000" dirty="0"/>
          </a:p>
        </p:txBody>
      </p:sp>
      <p:sp>
        <p:nvSpPr>
          <p:cNvPr id="19" name="ANS_0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后缀式没有括号，运算符紧跟在两个操作数之后（A、D 带括号 ✗，B 是前缀式 ✗）。</a:t>
            </a:r>
            <a:endParaRPr lang="en-US" sz="1700" dirty="0"/>
          </a:p>
        </p:txBody>
      </p:sp>
      <p:sp>
        <p:nvSpPr>
          <p:cNvPr id="26" name="ANS_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8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4 - 3 /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 (100−4)/3</a:t>
            </a:r>
            <a:endParaRPr lang="en-US" sz="1700" dirty="0"/>
          </a:p>
        </p:txBody>
      </p:sp>
      <p:sp>
        <p:nvSpPr>
          <p:cNvPr id="28" name="ANS_9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0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36 7 - *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 3*(36−7)，两者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700" dirty="0"/>
          </a:p>
        </p:txBody>
      </p:sp>
      <p:sp>
        <p:nvSpPr>
          <p:cNvPr id="30" name="ANS_1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2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*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栈的最小容量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S、队列 Q 初始为空。e1…e6 依次进栈 S，出栈的元素立即进队 Q。若出队序列为 e2, e4, e3, e6, e5, e1，栈 S 的容量至少是？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5" name="ANS_13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ANS_1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队列不改变次序：出队序列就是出栈序列。</a:t>
            </a:r>
            <a:endParaRPr lang="en-US" sz="1700" dirty="0"/>
          </a:p>
        </p:txBody>
      </p:sp>
      <p:sp>
        <p:nvSpPr>
          <p:cNvPr id="22" name="ANS_2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1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e1、e2 进，e2 出 → 栈中 [e1]</a:t>
            </a:r>
            <a:endParaRPr lang="en-US" sz="1700" dirty="0"/>
          </a:p>
        </p:txBody>
      </p:sp>
      <p:sp>
        <p:nvSpPr>
          <p:cNvPr id="24" name="ANS_22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3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e3、e4 进 → [e1, e3, e4]，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700" dirty="0"/>
          </a:p>
        </p:txBody>
      </p:sp>
      <p:sp>
        <p:nvSpPr>
          <p:cNvPr id="26" name="ANS_24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5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e4、e3 出；e5、e6 进 → 又是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700" dirty="0"/>
          </a:p>
        </p:txBody>
      </p:sp>
      <p:sp>
        <p:nvSpPr>
          <p:cNvPr id="28" name="ANS_26"/>
          <p:cNvSpPr/>
          <p:nvPr/>
        </p:nvSpPr>
        <p:spPr>
          <a:xfrm>
            <a:off x="7616952" y="552251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7"/>
          <p:cNvSpPr txBox="1"/>
          <p:nvPr/>
        </p:nvSpPr>
        <p:spPr>
          <a:xfrm>
            <a:off x="7818120" y="542574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e6、e5、e1 出。全程最多 3 个元素。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循环队列能存几个元素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以下循环队列的实现方式中，长度为 n 的队列，所能容纳的元素个数也为 n 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front 和 rear 两个指针标记队头和队尾，两个指针均为实指。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7063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06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51739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front、rear 标记队头和队尾，并用整型变量 len 记录元素个数。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5963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596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07408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front、rear 标记队头和队尾，并用布尔变量 empty 记录队列是否为空。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97424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front 和 rear 两个指针标记队头和队尾，两个指针均为虚指。</a:t>
            </a:r>
            <a:endParaRPr lang="en-US" sz="2000" dirty="0"/>
          </a:p>
        </p:txBody>
      </p:sp>
      <p:sp>
        <p:nvSpPr>
          <p:cNvPr id="19" name="ANS_28"/>
          <p:cNvSpPr/>
          <p:nvPr/>
        </p:nvSpPr>
        <p:spPr>
          <a:xfrm>
            <a:off x="457200" y="348081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29"/>
          <p:cNvSpPr/>
          <p:nvPr/>
        </p:nvSpPr>
        <p:spPr>
          <a:xfrm>
            <a:off x="457200" y="4370832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3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3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3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</a:t>
            </a:r>
            <a:endParaRPr lang="en-US" sz="4400" dirty="0"/>
          </a:p>
        </p:txBody>
      </p:sp>
      <p:sp>
        <p:nvSpPr>
          <p:cNvPr id="24" name="ANS_3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3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5"/>
          <p:cNvSpPr txBox="1"/>
          <p:nvPr/>
        </p:nvSpPr>
        <p:spPr>
          <a:xfrm>
            <a:off x="7818120" y="2651760"/>
            <a:ext cx="3520440" cy="1479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front、rear 两个下标（模 n）时，二者的相对位置只有 n 种，却要区分长度 0…n 共 n+1 种状态 → 最多存 n−1 个（A、D ✗）。</a:t>
            </a:r>
            <a:endParaRPr lang="en-US" sz="1700" dirty="0"/>
          </a:p>
        </p:txBody>
      </p:sp>
      <p:sp>
        <p:nvSpPr>
          <p:cNvPr id="27" name="ANS_36"/>
          <p:cNvSpPr/>
          <p:nvPr/>
        </p:nvSpPr>
        <p:spPr>
          <a:xfrm>
            <a:off x="7616952" y="436824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7"/>
          <p:cNvSpPr txBox="1"/>
          <p:nvPr/>
        </p:nvSpPr>
        <p:spPr>
          <a:xfrm>
            <a:off x="7818120" y="4271467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用 len、C 用 empty 标志，都能区分「空」与「满」→ 可存满 n 个。</a:t>
            </a:r>
            <a:endParaRPr lang="en-US" sz="1700" dirty="0"/>
          </a:p>
        </p:txBody>
      </p:sp>
      <p:sp>
        <p:nvSpPr>
          <p:cNvPr id="29" name="ANS_38"/>
          <p:cNvSpPr/>
          <p:nvPr/>
        </p:nvSpPr>
        <p:spPr>
          <a:xfrm>
            <a:off x="7616952" y="541797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39"/>
          <p:cNvSpPr txBox="1"/>
          <p:nvPr/>
        </p:nvSpPr>
        <p:spPr>
          <a:xfrm>
            <a:off x="7818120" y="532119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B、D，是把「虚指」理解成一直递增、用时才取模的计数器。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队列的特点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队列的特点包括：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 Last-in first-out (LIFO)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先进后出 First-in last-out (FILO)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 First-in first-out (FIFO)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40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0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后进后出 Last-in last-out (LILO)</a:t>
            </a:r>
            <a:endParaRPr lang="en-US" sz="2000" dirty="0"/>
          </a:p>
        </p:txBody>
      </p:sp>
      <p:sp>
        <p:nvSpPr>
          <p:cNvPr id="19" name="ANS_40"/>
          <p:cNvSpPr/>
          <p:nvPr/>
        </p:nvSpPr>
        <p:spPr>
          <a:xfrm>
            <a:off x="457200" y="357225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41"/>
          <p:cNvSpPr/>
          <p:nvPr/>
        </p:nvSpPr>
        <p:spPr>
          <a:xfrm>
            <a:off x="457200" y="423062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4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4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4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</a:t>
            </a:r>
            <a:endParaRPr lang="en-US" sz="4400" dirty="0"/>
          </a:p>
        </p:txBody>
      </p:sp>
      <p:sp>
        <p:nvSpPr>
          <p:cNvPr id="24" name="ANS_4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4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4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队列在队尾插入、在队头删除：先进先出。</a:t>
            </a:r>
            <a:endParaRPr lang="en-US" sz="1700" dirty="0"/>
          </a:p>
        </p:txBody>
      </p:sp>
      <p:sp>
        <p:nvSpPr>
          <p:cNvPr id="27" name="ANS_4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4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「后进后出」是同一性质的另一种说法。</a:t>
            </a:r>
            <a:endParaRPr lang="en-US" sz="1700" dirty="0"/>
          </a:p>
        </p:txBody>
      </p:sp>
      <p:sp>
        <p:nvSpPr>
          <p:cNvPr id="29" name="ANS_5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51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 描述的是栈。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双端队列的输出排列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双端队列可以在队列的两端进行插入和删除操作。现有 4 个不同的元素依次从任一端全部入队，再从固定一端依次出队，可以得到 ____ 种不同的排列。</a:t>
            </a:r>
            <a:endParaRPr lang="en-US" sz="2000" dirty="0"/>
          </a:p>
        </p:txBody>
      </p:sp>
      <p:sp>
        <p:nvSpPr>
          <p:cNvPr id="7" name="ANS_5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5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5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4400" dirty="0"/>
          </a:p>
        </p:txBody>
      </p:sp>
      <p:sp>
        <p:nvSpPr>
          <p:cNvPr id="10" name="ANS_5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5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57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本题限定：先全部入队，再从固定一端依次出队；入队、出队不交错。</a:t>
            </a:r>
            <a:endParaRPr lang="en-US" sz="1700" dirty="0"/>
          </a:p>
        </p:txBody>
      </p:sp>
      <p:sp>
        <p:nvSpPr>
          <p:cNvPr id="13" name="ANS_58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9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个元素进哪端都一样，后 3 个各有 2 种选择：2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8。</a:t>
            </a:r>
            <a:endParaRPr lang="en-US" sz="1700" dirty="0"/>
          </a:p>
        </p:txBody>
      </p:sp>
      <p:sp>
        <p:nvSpPr>
          <p:cNvPr id="15" name="ANS_60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1"/>
          <p:cNvSpPr txBox="1"/>
          <p:nvPr/>
        </p:nvSpPr>
        <p:spPr>
          <a:xfrm>
            <a:off x="7818120" y="4466234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若入队、出队可以交错：两端都能进出时 24 种排列全能得到；只限一端输入或一端输出时 22 种；普通栈 14 种。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卡特兰数：列车进出站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编号为 1, 2, 3, 4 的四辆列车，顺序开进一个栈式结构的站台，则开出车站的顺序有 ____ 种可能。</a:t>
            </a:r>
            <a:endParaRPr lang="en-US" sz="2000" dirty="0"/>
          </a:p>
        </p:txBody>
      </p:sp>
      <p:sp>
        <p:nvSpPr>
          <p:cNvPr id="7" name="ANS_6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ANS_6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6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进站 = 入栈，出站 = 出栈；合法出栈序列数是卡特兰数 C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3" name="ANS_6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C(8, 4) / (4 + 1) = 70 / 5 = 14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13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特征向量 next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求字符串 "BAAABBBAA" 的特征向量（next 数组）：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0, 0, 0, 1, 2}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0, 1, 1, 1, 2}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0, 0, 1, 1, 2}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1, 1, 1, 1, 2}</a:t>
            </a:r>
            <a:endParaRPr lang="en-US" sz="2000" dirty="0"/>
          </a:p>
        </p:txBody>
      </p:sp>
      <p:sp>
        <p:nvSpPr>
          <p:cNvPr id="19" name="ANS_70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7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next[i] = P[0..i−1] 最长的相等真前缀、真后缀的长度；next[0] = −1。</a:t>
            </a:r>
            <a:endParaRPr lang="en-US" sz="1700" dirty="0"/>
          </a:p>
        </p:txBody>
      </p:sp>
      <p:sp>
        <p:nvSpPr>
          <p:cNvPr id="26" name="ANS_7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78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1…4：B、BA、BAA、BAAA 没有相等前后缀 → 0</a:t>
            </a:r>
            <a:endParaRPr lang="en-US" sz="1700" dirty="0"/>
          </a:p>
        </p:txBody>
      </p:sp>
      <p:sp>
        <p:nvSpPr>
          <p:cNvPr id="28" name="ANS_7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80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5、6、7：BAAAB、BAAABB、BAAABBB 以 B 结尾，与开头 B 相等 → 1</a:t>
            </a:r>
            <a:endParaRPr lang="en-US" sz="1700" dirty="0"/>
          </a:p>
        </p:txBody>
      </p:sp>
      <p:sp>
        <p:nvSpPr>
          <p:cNvPr id="30" name="ANS_81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82"/>
          <p:cNvSpPr txBox="1"/>
          <p:nvPr/>
        </p:nvSpPr>
        <p:spPr>
          <a:xfrm>
            <a:off x="7818120" y="551596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8：BAAABBBA 以 BA 结尾 →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串的基本概念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下面关于串的叙述中，哪一个是不正确的？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串是字符的有限序列。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模式匹配是串的一种重要运算。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串是一种数据对象和操作都特殊的线性表。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40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0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空串是由空格构成的串。</a:t>
            </a:r>
            <a:endParaRPr lang="en-US" sz="2000" dirty="0"/>
          </a:p>
        </p:txBody>
      </p:sp>
      <p:sp>
        <p:nvSpPr>
          <p:cNvPr id="19" name="ANS_83"/>
          <p:cNvSpPr/>
          <p:nvPr/>
        </p:nvSpPr>
        <p:spPr>
          <a:xfrm>
            <a:off x="457200" y="423062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8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8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8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23" name="ANS_8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8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89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空串长度为 0。</a:t>
            </a:r>
            <a:endParaRPr lang="en-US" sz="1700" dirty="0"/>
          </a:p>
        </p:txBody>
      </p:sp>
      <p:sp>
        <p:nvSpPr>
          <p:cNvPr id="26" name="ANS_90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91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由空格组成的串叫空白串（blank string），长度不为 0。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串运算组合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S1 = 'ABCDEFG'，S2 = '9898'，S3 = '###'，S4 = '012345'，求下式的值（substr(S, i, j) 从下标 i 起取 j 个字符，下标从 0 开始）：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705538"/>
          </a:xfrm>
          <a:prstGeom prst="roundRect">
            <a:avLst>
              <a:gd name="adj" fmla="val 103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705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8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concat(replace(S1, substr(S1, length(S2), length(S3)), S3),</a:t>
            </a:r>
            <a:endParaRPr lang="en-US" sz="128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8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substr(S4, index(S2, '8'), length(S2)))</a:t>
            </a:r>
            <a:endParaRPr lang="en-US" sz="1286" dirty="0"/>
          </a:p>
        </p:txBody>
      </p:sp>
      <p:sp>
        <p:nvSpPr>
          <p:cNvPr id="9" name="Shape 7"/>
          <p:cNvSpPr/>
          <p:nvPr/>
        </p:nvSpPr>
        <p:spPr>
          <a:xfrm>
            <a:off x="548640" y="399737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973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2422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ABC###G0123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65574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557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8259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ABCD###2345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53141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3141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24096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ABCD###1234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597248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9724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589933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ABC###G2345</a:t>
            </a:r>
            <a:endParaRPr lang="en-US" sz="2000" dirty="0"/>
          </a:p>
        </p:txBody>
      </p:sp>
      <p:sp>
        <p:nvSpPr>
          <p:cNvPr id="21" name="ANS_92"/>
          <p:cNvSpPr/>
          <p:nvPr/>
        </p:nvSpPr>
        <p:spPr>
          <a:xfrm>
            <a:off x="457200" y="520438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5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9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substr(S1, 4, 3) = 'EFG'</a:t>
            </a:r>
            <a:endParaRPr lang="en-US" sz="1700" dirty="0"/>
          </a:p>
        </p:txBody>
      </p:sp>
      <p:sp>
        <p:nvSpPr>
          <p:cNvPr id="28" name="ANS_9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00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replace(S1, 'EFG', '###') = 'ABCD###'</a:t>
            </a:r>
            <a:endParaRPr lang="en-US" sz="1700" dirty="0"/>
          </a:p>
        </p:txBody>
      </p:sp>
      <p:sp>
        <p:nvSpPr>
          <p:cNvPr id="30" name="ANS_10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0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index(S2, '8') = 1，substr(S4, 1, 4) = '1234'</a:t>
            </a:r>
            <a:endParaRPr lang="en-US" sz="1700" dirty="0"/>
          </a:p>
        </p:txBody>
      </p:sp>
      <p:sp>
        <p:nvSpPr>
          <p:cNvPr id="32" name="ANS_103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04"/>
          <p:cNvSpPr txBox="1"/>
          <p:nvPr/>
        </p:nvSpPr>
        <p:spPr>
          <a:xfrm>
            <a:off x="7818120" y="466100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concat → 'ABCD###1234'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空串就是空白串。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空串是任意字符串的子串。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串只可以采用顺序存储，不可以采用链式存储。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456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6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标准中，</a:t>
            </a:r>
            <a:r>
              <a:rPr lang="en-US" sz="2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S[M]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最多能表示长度为 M 的字符串。</a:t>
            </a:r>
            <a:endParaRPr lang="en-US" sz="2000" dirty="0"/>
          </a:p>
        </p:txBody>
      </p:sp>
      <p:sp>
        <p:nvSpPr>
          <p:cNvPr id="19" name="ANS_105"/>
          <p:cNvSpPr/>
          <p:nvPr/>
        </p:nvSpPr>
        <p:spPr>
          <a:xfrm>
            <a:off x="457200" y="291388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0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0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0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10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1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1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✗ 空串长度为 0，空白串由空格组成。</a:t>
            </a:r>
            <a:endParaRPr lang="en-US" sz="1700" dirty="0"/>
          </a:p>
        </p:txBody>
      </p:sp>
      <p:sp>
        <p:nvSpPr>
          <p:cNvPr id="26" name="ANS_11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1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串也可以链式存储（如块链）。</a:t>
            </a:r>
            <a:endParaRPr lang="en-US" sz="1700" dirty="0"/>
          </a:p>
        </p:txBody>
      </p:sp>
      <p:sp>
        <p:nvSpPr>
          <p:cNvPr id="28" name="ANS_11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15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末尾要留一个位置放 '\0'，最多表示长度 M−1 的串。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设有两个串 p 和 q，其中 q 是 p 的子串，求 q 在 p 中首次出现的位置的算法称为：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求子串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联接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求串长</a:t>
            </a:r>
            <a:endParaRPr lang="en-US" sz="2000" dirty="0"/>
          </a:p>
        </p:txBody>
      </p:sp>
      <p:sp>
        <p:nvSpPr>
          <p:cNvPr id="15" name="ANS_116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1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1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1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12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2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2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在主串中找模式串首次出现的位置就是模式匹配，如朴素匹配、KMP。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互补回文串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DNA 序列由 A、C、G、T 组成，A–T、C–G 互补。若一个串的互补串反转后等于它自身，称为互补回文串（如 ATCATGAT 的互补串 TAGTACTA 反转后即原串）。下列是互补回文串的有：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2979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CTGATCAG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97480" y="329793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97480" y="32979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AATTAATT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846320" y="329793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32979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TGCAACGT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5805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5805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CATGGTAC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697480" y="425805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697480" y="425805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GTACGTAC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846320" y="425805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46320" y="425805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AGCTAGCT</a:t>
            </a:r>
            <a:endParaRPr lang="en-US" sz="2000" dirty="0"/>
          </a:p>
        </p:txBody>
      </p:sp>
      <p:sp>
        <p:nvSpPr>
          <p:cNvPr id="19" name="ANS_123"/>
          <p:cNvSpPr/>
          <p:nvPr/>
        </p:nvSpPr>
        <p:spPr>
          <a:xfrm>
            <a:off x="548640" y="329793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24"/>
          <p:cNvSpPr/>
          <p:nvPr/>
        </p:nvSpPr>
        <p:spPr>
          <a:xfrm>
            <a:off x="2697480" y="329793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125"/>
          <p:cNvSpPr/>
          <p:nvPr/>
        </p:nvSpPr>
        <p:spPr>
          <a:xfrm>
            <a:off x="2697480" y="425805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126"/>
          <p:cNvSpPr/>
          <p:nvPr/>
        </p:nvSpPr>
        <p:spPr>
          <a:xfrm>
            <a:off x="4846320" y="425805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2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4" name="ANS_12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5" name="ANS_12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A、B、E、F</a:t>
            </a:r>
            <a:endParaRPr lang="en-US" sz="3600" dirty="0"/>
          </a:p>
        </p:txBody>
      </p:sp>
      <p:sp>
        <p:nvSpPr>
          <p:cNvPr id="26" name="ANS_13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7" name="ANS_13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13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做法：先取互补串，再反转，看是否等于原串。</a:t>
            </a:r>
            <a:endParaRPr lang="en-US" sz="1700" dirty="0"/>
          </a:p>
        </p:txBody>
      </p:sp>
      <p:sp>
        <p:nvSpPr>
          <p:cNvPr id="29" name="ANS_13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13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A：CTGATCAG → GACTAGTC → 反转 CTGATCAG ✓</a:t>
            </a:r>
            <a:endParaRPr lang="en-US" sz="1700" dirty="0"/>
          </a:p>
        </p:txBody>
      </p:sp>
      <p:sp>
        <p:nvSpPr>
          <p:cNvPr id="31" name="ANS_13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136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C：TGCAACGT → 反转互补 ACGTTGCA ✗</a:t>
            </a:r>
            <a:endParaRPr lang="en-US" sz="1700" dirty="0"/>
          </a:p>
        </p:txBody>
      </p:sp>
      <p:sp>
        <p:nvSpPr>
          <p:cNvPr id="33" name="ANS_137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138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D：CATGGTAC → 反转互补 GTACCATG ✗</a:t>
            </a:r>
            <a:endParaRPr lang="en-US" sz="1700" dirty="0"/>
          </a:p>
        </p:txBody>
      </p:sp>
      <p:sp>
        <p:nvSpPr>
          <p:cNvPr id="35" name="ANS_139"/>
          <p:cNvSpPr/>
          <p:nvPr/>
        </p:nvSpPr>
        <p:spPr>
          <a:xfrm>
            <a:off x="7616952" y="580750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140"/>
          <p:cNvSpPr txBox="1"/>
          <p:nvPr/>
        </p:nvSpPr>
        <p:spPr>
          <a:xfrm>
            <a:off x="7818120" y="571073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B、E、F 同理成立。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匹配的比较次数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P = "BAAABBBAA" 与目标 T = "BAAABBBCDDDCCHHHHBBBAAABBBAADD" 进行匹配，至少需要多少次字符比较？（利用优化后的 next 数组）</a:t>
            </a:r>
            <a:endParaRPr lang="en-US" sz="2000" dirty="0"/>
          </a:p>
        </p:txBody>
      </p:sp>
      <p:sp>
        <p:nvSpPr>
          <p:cNvPr id="7" name="ANS_14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4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4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4400" dirty="0"/>
          </a:p>
        </p:txBody>
      </p:sp>
      <p:sp>
        <p:nvSpPr>
          <p:cNvPr id="10" name="ANS_14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4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4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优化后的 nextval = [−1, 0, 0, 0, −1, 1, 1, 0, 0]</a:t>
            </a:r>
            <a:endParaRPr lang="en-US" sz="1700" dirty="0"/>
          </a:p>
        </p:txBody>
      </p:sp>
      <p:sp>
        <p:nvSpPr>
          <p:cNvPr id="13" name="ANS_14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48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失配时 P 右滑到 nextval 所指位置；值为 −1 时 T 的指针前进一位。</a:t>
            </a:r>
            <a:endParaRPr lang="en-US" sz="1700" dirty="0"/>
          </a:p>
        </p:txBody>
      </p:sp>
      <p:sp>
        <p:nvSpPr>
          <p:cNvPr id="15" name="ANS_14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50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T 的下标 19 处匹配成功，累计比较 31 次（用未优化的 next 要 32 次）。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判断对称串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下列程序判断串 s 是否对称，对称返回 1，否则返回 0。如 f("abba") 返回 1，f("abab") 返回 0。填空（三个答案用空格分隔）：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1883664"/>
          </a:xfrm>
          <a:prstGeom prst="roundRect">
            <a:avLst>
              <a:gd name="adj" fmla="val 38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f(char s[]) {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i=0, j=0;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while(s[j]) (1)__++;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for(j--; i &lt; j &amp;&amp; s[i] == s[j]; i++, j--);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return((2)__&gt;=(3)__);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ANS_1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5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i j</a:t>
            </a:r>
            <a:endParaRPr lang="en-US" sz="4400" dirty="0"/>
          </a:p>
        </p:txBody>
      </p:sp>
      <p:sp>
        <p:nvSpPr>
          <p:cNvPr id="12" name="ANS_15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5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5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j++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：j 走到串尾的 '\0'</a:t>
            </a:r>
            <a:endParaRPr lang="en-US" sz="1700" dirty="0"/>
          </a:p>
        </p:txBody>
      </p:sp>
      <p:sp>
        <p:nvSpPr>
          <p:cNvPr id="15" name="ANS_15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58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j--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 j 指向最后一个字符，i、j 相向比较。</a:t>
            </a:r>
            <a:endParaRPr lang="en-US" sz="1700" dirty="0"/>
          </a:p>
        </p:txBody>
      </p:sp>
      <p:sp>
        <p:nvSpPr>
          <p:cNvPr id="17" name="ANS_159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60"/>
          <p:cNvSpPr txBox="1"/>
          <p:nvPr/>
        </p:nvSpPr>
        <p:spPr>
          <a:xfrm>
            <a:off x="7818120" y="389625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对称时循环因 i &gt;= j 结束；不对称时因 s[i] != s[j] 提前退出（此时 i &lt; j）。</a:t>
            </a:r>
            <a:endParaRPr lang="en-US" sz="1700" dirty="0"/>
          </a:p>
        </p:txBody>
      </p:sp>
      <p:sp>
        <p:nvSpPr>
          <p:cNvPr id="19" name="ANS_16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62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所以返回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&gt;= j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奇偶位重排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"S1S2…Sn" 存放在数组中，改造为：奇数位字符按下标从小到大放在前半部分，偶数位字符按下标从大到小放在后半部分。例如 'ABCDEFGHIJKL' 改造后为 'ACEGIKLJHFDB'。则 'algorithm' 改造后为：</a:t>
            </a:r>
            <a:endParaRPr lang="en-US" sz="2000" dirty="0"/>
          </a:p>
        </p:txBody>
      </p:sp>
      <p:sp>
        <p:nvSpPr>
          <p:cNvPr id="7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agrtmhiol</a:t>
            </a:r>
            <a:endParaRPr lang="en-US" sz="3600" dirty="0"/>
          </a:p>
        </p:txBody>
      </p:sp>
      <p:sp>
        <p:nvSpPr>
          <p:cNvPr id="10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6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位置从 1 开始数。</a:t>
            </a:r>
            <a:endParaRPr lang="en-US" sz="1700" dirty="0"/>
          </a:p>
        </p:txBody>
      </p:sp>
      <p:sp>
        <p:nvSpPr>
          <p:cNvPr id="13" name="ANS_16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70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奇数位 a g r t m，按原顺序 → agrtm</a:t>
            </a:r>
            <a:endParaRPr lang="en-US" sz="1700" dirty="0"/>
          </a:p>
        </p:txBody>
      </p:sp>
      <p:sp>
        <p:nvSpPr>
          <p:cNvPr id="15" name="ANS_17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72"/>
          <p:cNvSpPr txBox="1"/>
          <p:nvPr/>
        </p:nvSpPr>
        <p:spPr>
          <a:xfrm>
            <a:off x="7818120" y="389625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偶数位 l o i h，倒序 → hiol</a:t>
            </a:r>
            <a:endParaRPr lang="en-US" sz="1700" dirty="0"/>
          </a:p>
        </p:txBody>
      </p:sp>
      <p:sp>
        <p:nvSpPr>
          <p:cNvPr id="17" name="ANS_173"/>
          <p:cNvSpPr/>
          <p:nvPr/>
        </p:nvSpPr>
        <p:spPr>
          <a:xfrm>
            <a:off x="7616952" y="447278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74"/>
          <p:cNvSpPr txBox="1"/>
          <p:nvPr/>
        </p:nvSpPr>
        <p:spPr>
          <a:xfrm>
            <a:off x="7818120" y="437601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拼起来：agrtm + hiol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单表代换加密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利用下面给定的字母映射表进行加密（上行明文，下行密文）。若 "encrypt" 被加密为 "tkzwsdf"，则 "algorithm" 被加密为：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773180"/>
          </a:xfrm>
          <a:prstGeom prst="roundRect">
            <a:avLst>
              <a:gd name="adj" fmla="val 94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773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8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 g h i j k l m n o p q r s t u v w x y z</a:t>
            </a:r>
            <a:endParaRPr lang="en-US" sz="148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8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g z q t c o b m u h e l k p d a w x f y i v r s j</a:t>
            </a:r>
            <a:endParaRPr lang="en-US" sz="1488" dirty="0"/>
          </a:p>
        </p:txBody>
      </p:sp>
      <p:sp>
        <p:nvSpPr>
          <p:cNvPr id="9" name="ANS_1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7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neopwmfbl</a:t>
            </a:r>
            <a:endParaRPr lang="en-US" sz="3600" dirty="0"/>
          </a:p>
        </p:txBody>
      </p:sp>
      <p:sp>
        <p:nvSpPr>
          <p:cNvPr id="12" name="ANS_17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7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80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逐字母查表替换。</a:t>
            </a:r>
            <a:endParaRPr lang="en-US" sz="1700" dirty="0"/>
          </a:p>
        </p:txBody>
      </p:sp>
      <p:sp>
        <p:nvSpPr>
          <p:cNvPr id="15" name="ANS_181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82"/>
          <p:cNvSpPr txBox="1"/>
          <p:nvPr/>
        </p:nvSpPr>
        <p:spPr>
          <a:xfrm>
            <a:off x="7818120" y="3131515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验证：e→t, n→k, c→z, r→w, y→s, p→d, t→f，即 encrypt → tkzwsdf</a:t>
            </a:r>
            <a:endParaRPr lang="en-US" sz="1700" dirty="0"/>
          </a:p>
        </p:txBody>
      </p:sp>
      <p:sp>
        <p:nvSpPr>
          <p:cNvPr id="17" name="ANS_18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8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a→n, l→e, g→o, o→p, r→w, i→m, t→f, h→b, m→l</a:t>
            </a:r>
            <a:endParaRPr lang="en-US" sz="1700" dirty="0"/>
          </a:p>
        </p:txBody>
      </p:sp>
      <p:sp>
        <p:nvSpPr>
          <p:cNvPr id="19" name="ANS_18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86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algorithm → neopwmfbl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串运算表达式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A = ""，B = "MULE"，C = "OLD"，D = "MY"。计算下列表达式（答案之间用空格隔开）：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(1) D + C +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(2) B.substr(3, 2)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 A.strlength()</a:t>
            </a:r>
            <a:endParaRPr lang="en-US" sz="1600" dirty="0"/>
          </a:p>
        </p:txBody>
      </p:sp>
      <p:sp>
        <p:nvSpPr>
          <p:cNvPr id="9" name="ANS_18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8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8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MYOLDMULE E 0</a:t>
            </a:r>
            <a:endParaRPr lang="en-US" sz="2600" dirty="0"/>
          </a:p>
        </p:txBody>
      </p:sp>
      <p:sp>
        <p:nvSpPr>
          <p:cNvPr id="12" name="ANS_19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9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MY + OLD + MULE = MYOLDMULE</a:t>
            </a:r>
            <a:endParaRPr lang="en-US" sz="1700" dirty="0"/>
          </a:p>
        </p:txBody>
      </p:sp>
      <p:sp>
        <p:nvSpPr>
          <p:cNvPr id="15" name="ANS_19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从下标 3 起取 2 个，但 MULE 从下标 3 起只剩 E</a:t>
            </a:r>
            <a:endParaRPr lang="en-US" sz="1700" dirty="0"/>
          </a:p>
        </p:txBody>
      </p:sp>
      <p:sp>
        <p:nvSpPr>
          <p:cNvPr id="17" name="ANS_19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96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空串长度为 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子串个数（algorithm）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若字符串 s = "algorithm"，则其子串个数为：</a:t>
            </a:r>
            <a:endParaRPr lang="en-US" sz="2000" dirty="0"/>
          </a:p>
        </p:txBody>
      </p:sp>
      <p:sp>
        <p:nvSpPr>
          <p:cNvPr id="7" name="ANS_19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4400" dirty="0"/>
          </a:p>
        </p:txBody>
      </p:sp>
      <p:sp>
        <p:nvSpPr>
          <p:cNvPr id="10" name="ANS_20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0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个字符两两不同，非空子串 9 + 8 + … + 1 = 9×10/2 = 45 个。</a:t>
            </a:r>
            <a:endParaRPr lang="en-US" sz="1700" dirty="0"/>
          </a:p>
        </p:txBody>
      </p:sp>
      <p:sp>
        <p:nvSpPr>
          <p:cNvPr id="13" name="ANS_20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4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再加上空串：45 + 1 = 46。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子串个数（software）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若字符串 s = "software"，则其子串个数为：</a:t>
            </a:r>
            <a:endParaRPr lang="en-US" sz="2000" dirty="0"/>
          </a:p>
        </p:txBody>
      </p:sp>
      <p:sp>
        <p:nvSpPr>
          <p:cNvPr id="7" name="ANS_20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0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0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4400" dirty="0"/>
          </a:p>
        </p:txBody>
      </p:sp>
      <p:sp>
        <p:nvSpPr>
          <p:cNvPr id="10" name="ANS_20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0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1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个字符两两不同：8×9/2 + 1 = 37。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CH03-04</dc:title>
  <dc:subject>PptxGenJS Presentation</dc:subject>
  <dc:creator>Hongfei Yan</dc:creator>
  <cp:lastModifiedBy>Hongfei Yan</cp:lastModifiedBy>
  <cp:revision>1</cp:revision>
  <dcterms:created xsi:type="dcterms:W3CDTF">2026-10-28T12:16:16Z</dcterms:created>
  <dcterms:modified xsi:type="dcterms:W3CDTF">2026-10-28T12:16:16Z</dcterms:modified>
</cp:coreProperties>
</file>