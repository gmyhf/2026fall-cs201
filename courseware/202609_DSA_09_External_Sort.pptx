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(k−1) / log₂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(k-1)/log2 k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</c:v>
                  </c:pt>
                  <c:pt idx="1">
                    <c:v>4</c:v>
                  </c:pt>
                  <c:pt idx="2">
                    <c:v>8</c:v>
                  </c:pt>
                  <c:pt idx="3">
                    <c:v>16</c:v>
                  </c:pt>
                  <c:pt idx="4">
                    <c:v>32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1.5</c:v>
                </c:pt>
                <c:pt idx="2">
                  <c:v>2.33</c:v>
                </c:pt>
                <c:pt idx="3">
                  <c:v>3.75</c:v>
                </c:pt>
                <c:pt idx="4">
                  <c:v>6.2</c:v>
                </c:pt>
              </c:numCache>
            </c:numRef>
          </c:val>
        </c:ser>
        <c:dLbls>
          <c:numFmt formatCode="0.##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k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 文件管理与外部排序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数据大到内存装不下：数页 I/O，而不是数比较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主存与外存 · 按页存取 · 页 I/O 成本模型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文件组织：顺序 / 散列 / 索引 / 倒排 · 记录装页 · C++ 流文件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外排序两阶段：顺串生成 + 归并 · 置换选择（平均 2M）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二路归并趟数 · 多路归并 · 赢者树 / 败者树 · 稳定性与常见错误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内存装不下的数据，怎么排序？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先切成若干内部有序的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，再反复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，直到只剩一条。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怎样让初始顺串更长？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：用最小堆，平均能把顺串做到约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 M。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路归并里，怎样快速选出最小？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（赢者树 / 败者树）：每次只沿叶到根重赛，代价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k)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外排序的瓶颈是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磁盘读写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。归并趟数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⌈log_k m⌉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：要么减少顺串数 m，要么增加归并路数 k。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存储器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 vs 外存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按页存取与缓冲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I/O 成本模型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9.1 三个缓冲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6032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9748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记录、逻辑文件与物理文件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四种组织方式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记录怎样装进页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 C++ 流文件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顺串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趟数 ⌈log_k m⌉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置换选择：逐步演算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置换选择代码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76656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0372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归并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为什么要选择树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/ 败者树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四路归并演算与代码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 · 常见错误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 + 败者树：demo.cpp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 input{50, 49, 35, 45, 30, 25, 15, 60, 16, 27, 1};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runs = dsa::external_sort::replacement_selection(input, 7);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"工作区 M=7，得到 " &lt;&lt; runs.size() &lt;&lt; " 个顺串\n";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 runs.size();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"顺串 " &lt;&lt; index + 1 &lt;&lt; "（长度 " &lt;&lt; runs[index].size() &lt;&lt; "）:";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runs[index])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dsa::external_sort::LoserTree tree({20, 6, 8, 9, 11});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"败者树当前冠军: " &lt;&lt; *tree.winner()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tree.replace(1, 15);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"替换后冠军: " &lt;&lt; *tree.winner()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-Icode/ch09/external_sort code/ch09/external_sort/demo.cpp -o /tmp/extsort-demo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/tmp/extsort-demo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读懂输出：顺串比内存长；败者树只重赛一条路径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453542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工作区 M=7，得到 2 个顺串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顺串 1（长度 8）: 15 25 30 35 45 49 50 60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顺串 2（长度 3）: 1 16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败者树当前冠军: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替换后冠军: 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4754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置换选择（M = 7）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081528"/>
            <a:ext cx="4535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第一顺串长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&gt;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：读入的 60 不小于刚输出的 15，补进了当前顺串。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16、27、1 依次遇到刚输出的 25、30、35，都比它小，被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，另成第二顺串。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两条顺串 8 + 3 = 11 条，恰好是全部输入：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记录守恒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40680" y="96012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515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550408" y="1344168"/>
            <a:ext cx="30266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路当前值 20 6 8 9 11：冠军是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（下标 1）。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replace(1, 15)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：该路补入 15，只沿「选手 1 → 根」重赛，冠军变为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40680" y="3063240"/>
            <a:ext cx="32461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31546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改一个数试试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447288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 改成 11（装得下全部输入）：只得到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整表有序的顺串——置换选择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退化为堆排序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，正是「内存够用」的边界。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9.1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主存储器和外存储器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外存慢在「定位」 · 按页存取与缓冲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先建立成本模型：数页 I/O，不数比较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两种存储器：快而小 vs 慢而大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前面各章的结构基本都在内存里（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内部数据结构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）。内存容量有限、程序结束数据就没了；大规模数据必须放到外存上，排序也就变成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多次内存与外存之间的交换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RAM、cache、显存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48840"/>
            <a:ext cx="3703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在主板上，按单元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连续编址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直接访问，一次存取可看成很小的常数（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快、贵、容量相对小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断电就丢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硬盘、磁带、U 盘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148840"/>
            <a:ext cx="3703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便宜、容量大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断电不丢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，有的还能随身带走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一次存取以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毫秒甚至秒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比内存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慢几个数量级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对外排序来说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目标首先是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减少读写次数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，而不是减少内存里的比较——一次磁盘 I/O 往往比一次比较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贵几个数量级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外存为什么慢：每次访问都要先定位再读写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一次磁盘访问 = 定位 + 传输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1508760"/>
            <a:ext cx="5669280" cy="292608"/>
          </a:xfrm>
          <a:prstGeom prst="rect">
            <a:avLst/>
          </a:prstGeom>
          <a:solidFill>
            <a:srgbClr val="F2B8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63040" y="1508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磁头移到目标磁道 → 等扇区转到磁头下：几毫秒到几十毫秒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965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0" y="1965960"/>
            <a:ext cx="822960" cy="292608"/>
          </a:xfrm>
          <a:prstGeom prst="rect">
            <a:avLst/>
          </a:prstGeom>
          <a:solidFill>
            <a:srgbClr val="9ED4B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9184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真正把数据读出来的时间，远比定位短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77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示意图，长度不按比例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0632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081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按页块存取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固定大小的页块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存取：一次定位读写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，把定位次数摊薄。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292608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92040" y="30632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3081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配合缓冲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顺序扫描时一次读入一页或几页到内存，后面的访问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尽量打在缓冲区里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 · 成本模型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先建立成本模型：不能再只数比较次数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设文件有 N 个记录，每页可放 B 个记录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顺序扫描一遍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417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⌈N/B⌉ 页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读一遍再写回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2⌈N/B⌉ 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377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内存中多做几次比较，通常远比多一次整文件读写便宜。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0584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68680"/>
                <a:gridCol w="20574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访问单位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本章关心的性质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 cache / 主存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字或 cache line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可随机访问，比较和交换在这里完成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SSD / 磁盘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定位与传输有固定成本，应顺序、批量读写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磁带等顺序介质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随机定位尤其昂贵，归并比原地交换合适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亿条 × 16 字节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1.6 GB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MB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338328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任何「把全部记录放进数组再排序」的内部排序都不成立。外排序必须让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大部分记录始终留在外存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，内存里只保存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少量缓冲页和当前候选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随机挑两个磁道，平均相距约 N/3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把磁道号看成 [0, N] 上独立均匀的两点 x、y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E|x − y| = (1/N²) ∬ |x − y| dx dy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18745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(2/N²) ∫₀ᴺ ∫₀ˣ (x − y) dy dx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286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(2/N²) ∫₀ᴺ x²/2 dx = N/3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离散版：E|X − Y| = (N² − 1)/(3N) ≈ N/3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92040" y="960120"/>
            <a:ext cx="37947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0" y="10241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直观：0 到 N 的一条数轴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2011680"/>
            <a:ext cx="3200400" cy="0"/>
          </a:xfrm>
          <a:prstGeom prst="line">
            <a:avLst/>
          </a:prstGeom>
          <a:noFill/>
          <a:ln w="25400">
            <a:solidFill>
              <a:srgbClr val="1E3D3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1920240"/>
            <a:ext cx="0" cy="18288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1488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81928" y="1920240"/>
            <a:ext cx="0" cy="18288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16168" y="21488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N/3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42632" y="1920240"/>
            <a:ext cx="0" cy="18288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76872" y="21488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2N/3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12480" y="1920240"/>
            <a:ext cx="0" cy="18288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0" y="21488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0" y="1645920"/>
            <a:ext cx="1069848" cy="0"/>
          </a:xfrm>
          <a:prstGeom prst="line">
            <a:avLst/>
          </a:prstGeom>
          <a:noFill/>
          <a:ln w="38100">
            <a:solidFill>
              <a:srgbClr val="C0392B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212080" y="1371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平均一次寻道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514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两点都在中间时近，一头一尾时远；平均下来是全程的三分之一。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这对外排序意味着什么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37673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读一页，平均要扫过三分之一个盘面再等转动——这是「定位」那一大段红条的来源。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读下一页，磁头几乎不动；所以外排序要把访问组织成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成批的顺序读写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，算法里数的是页 I/O 和趟数，不是比较次数。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9.1：输入缓冲、内存工作区、输出缓冲分开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9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11761"/>
            <a:ext cx="7498080" cy="13255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626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9626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965960" y="29260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空了才整页补入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198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34198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965960" y="33832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（置换选择里就是一个最小堆）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8770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输出缓冲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965960" y="38404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满了才整页写回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0" y="2880360"/>
            <a:ext cx="320040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62356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记住这一句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623560" y="3264408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工作区处理的是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，真正与设备交换的是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。两个粒度不一样，正是外排序所有设计的出发点。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9.2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文件的组织和管理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记录与文件 · 逻辑文件 vs 物理文件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四种组织方式 · 记录怎样装进页 · C++ 流文件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文件的组织和管理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文件：外存上的数据结构，由大量性质相同的记录组成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：有独立逻辑意义的一块数据——简单可以是一串字符，复杂则由若干字段组成。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操作系统文件常是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连续字符流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，结构不明显；数据库文件是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有结构的记录集合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，每条记录由若干不可再分的数据项组成。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例：学生登记表——姓名、学号、性别、出生年月。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分类角度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 / 不定长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定长更好处理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关键码个数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单关键码 / 多关键码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多关键码文件除主码外还可以有若干次码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以记录为单位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顺序读、追加、按条件修改或删除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 / 批量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实时要求很快应答；批量允许较长反馈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06440" y="2377440"/>
            <a:ext cx="288036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 vs 物理文件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16168" y="2761488"/>
            <a:ext cx="266090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：用户看见的记录顺序与字段——顺序定长、顺序变长、按关键码存取。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：系统实际读写的页、块和地址。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文件的组织和管理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常见的物理文件：顺序、索引、散列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顺序文件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4884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记录按逻辑次序放进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连续物理块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，物理顺序与逻辑顺序一致。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顺序扫描很快；按关键码插入、删除要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搬很多块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索引文件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3776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章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主文件之外另造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，先查索引再读记录。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索引保存「关键码 → 页/槽」的映射。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散列文件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2668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2668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用散列函数把关键码映射到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桶或块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闭散列思想可以搬到外存，但冲突处理要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按块设计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本章只抽出两件事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不实现页缓存和文件句柄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，只抽出外排序里两件与文件组织无关、却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 I/O 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的事：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如何生成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更长的初始顺串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；② 如何在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里选出当前最小。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文件组织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四种组织方式：第 9–11 章的共同骨架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468880"/>
                <a:gridCol w="4663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保留的核心取舍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当代说明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连续扫描快，按中间位置更新贵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日志、列式批处理和外排序的顺串都利用这种顺序 I/O；原则仍适用于顺序读写 SSD、云对象和网络流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按键定位快，范围扫描与有序输出差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不直接把内存散列表搬到磁盘；冲突、页满和缓存未命中都必须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按页处理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（第 10 章）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用较小目录把键映射到记录位置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现代数据库常用 B+ 树、LSM 等页级索引；第 11 章用页模拟讲 B+ 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倒排文件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用属性值反查记录集合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搜索系统仍以它为核心，只是词典、压缩和分片复杂得多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今天谁来实现？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这些组织方式今天通常由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文件系统、数据库或对象存储系统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实现，而不是由业务程序直接搬动磁盘扇区。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文件组织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一个必须澄清的说法：「物理顺序与逻辑顺序一致」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不能理解成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文件一定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连续占用磁盘扇区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现代文件系统可能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重排块位置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、使用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写时复制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，或放在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远端对象存储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EAF4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本章真正要守的是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读者可以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顺序消费页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写者可以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批量产生页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3774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比大量随机交换更适合外排序的原因。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5120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用「第 i 条在第几页」直接定位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槽目录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：把稳定的槽号映射到会移动的页内偏移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806440" y="32918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3383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67588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立即压紧 → 扫描紧凑；留墓碑 → 写入更快但积累空洞。今天仍是同一种权衡，只是实现者多半是存储引擎。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记录怎样装进页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定长算得出，变长靠槽目录；删除有两种代价模型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69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一页（P 字节）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417320"/>
            <a:ext cx="11887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417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74520" y="1417320"/>
            <a:ext cx="7315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74520" y="14173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06040" y="1417320"/>
            <a:ext cx="13716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0604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1828800"/>
            <a:ext cx="3520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85800" y="18288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空闲空间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488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346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04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0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页尾槽目录：偏移 + 长度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154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外部引用用「页号 + 槽号」：记录在页内移动，引用不失效。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0058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定长记录：页大小 P、记录长 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一页最多 ⌊P/R⌋ 条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剩余空间是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内部碎片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40280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777240"/>
                <a:gridCol w="2331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删除策略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立即压紧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扫描紧凑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可能搬动大量记录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留下墓碑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写入便宜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查询要跳过空洞；积累到一定程度仍要重组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4709160" y="340156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章闭散列的墓碑是同一种矛盾，只是搬动单位从数组槽变成了</a:t>
            </a:r>
            <a:r>
              <a:rPr lang="en-US" sz="9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页块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逻辑顺序与物理位置分开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是后面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章节的入口：索引保存「关键码 → 页/槽」的映射，主文件不必为每次插入整体移动。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外排序则反过来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：趁批处理窗口一次性重写主文件，用顺序 I/O 换取之后更快的扫描。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记录怎样装进页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算一算：2048 字节的块能放几条 68 字节的记录？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 P = 2048 字节；记录 R = 68 字节（数据 64 + 关键码 4）；磁盘指针 4 字节。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46888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块里存什么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不等式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最多几条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只放记录（顺序文件的一页）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68n ≤ 2048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⌊2048/68⌋ = 30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 + 1 个「下一块」指针（链接的块）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68n + 4 ≤ 2048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30（2044 ≤ 2048）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每条记录带 1 个指针（如散列溢出链）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72n ≤ 2048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树结点：n 条记录 + n+1 个子指针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68n + 4(n+1) ≤ 2048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28（第 11 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读题先问「块里还要放什么」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587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MOOC 题的标准答案是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：块内只放记录，或只多一个块尾指针都不改变结果。题目里给了「磁盘指针」，是在提醒你：组织方式不同，同一块的容量就不同。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347472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97880" y="3566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向下取整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97880" y="38587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记录不能跨块（定长记录的通常约定），剩下的 8 字节浪费掉；变长记录才需要上一页的槽目录。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 C++ 的流文件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概念仍然成立，接口已是历史写法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仍然成立的概念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：持久化的数据对象。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：程序在某一时刻对它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的通道，通常配有用户态缓冲。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读写位置决定下一次操作从哪里开始。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现代写法（C++17）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&lt;fstream.h&gt;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不是标准头 →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&lt;fstream&gt;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std::filesystem::path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std::streamoff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std::streampos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离开作用域自动关闭（RAII）。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737360"/>
                <a:gridCol w="5166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原书操作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今天仍保留的意思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现代接口与边界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 / close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取得或结束文件访问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构造时打开或调 open()；用流状态检查失败，RAII 负责通常的关闭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/ write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在当前位置传输字节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不能把含指针、虚函数表或依赖字节序的对象直接写入文件；定义稳定的字段格式或序列化协议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seekg / seekp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移动读 / 写位置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只适用于支持随机访问的底层对象；管道、终端和许多网络流不能任意定位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external_sort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故意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以容器模拟输入与输出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：验证顺串、归并与选择树的算法不变量；打开失败、短读短写、字节序、原子替换、崩溃恢复留给真正的文件层。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9.3 / 9.3.1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外排序：顺串生成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 · 归并趟数 ⌈log_k m⌉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置换选择：用最小堆把顺串做到平均 2M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外排序：数据在外存文件中，内存一次处理不完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按内存大小把外存中的数据文件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划分成若干段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，每次读入一段用内排序排好；这些已排序的段称为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（run），写回外存等待将来处理，让出的内存继续处理其他段。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输入文件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97864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99032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20240" y="2468880"/>
            <a:ext cx="50292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46888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46888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顺串生成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21762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切成若干内部有序的段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R1 有序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23360" y="214884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23360" y="21488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R2 有序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23360" y="251460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23360" y="2514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R3 有序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023360" y="288036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3360" y="2880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R4 有序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49240" y="2468880"/>
            <a:ext cx="50292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97880" y="18288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97880" y="18288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归并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21762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反复合并，直到只剩一条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132320" y="2057400"/>
            <a:ext cx="1417320" cy="822960"/>
          </a:xfrm>
          <a:prstGeom prst="rect">
            <a:avLst/>
          </a:prstGeom>
          <a:solidFill>
            <a:srgbClr val="CDEBD9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32320" y="20574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覆盖全文件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的一条顺串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外排序的时间由三部分组成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内部排序时间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19456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9456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外存读 / 写时间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93192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93192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内部归并时间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外存读 / 写比内存慢得多——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减少外存读 / 写次数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是提高外排序效率的关键。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读写次数由归并趟数决定：⌈log_k m⌉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个初始顺串，每次归并 k 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归并趟数 = ⌈log_k m⌉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每一趟都要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读完整文件再写完整文件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为了减少趟数，从两个方向着手：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146304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减少初始顺串数 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057400"/>
            <a:ext cx="365760" cy="36576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0916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增加归并路数 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011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多路归并（选择树）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1752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普通分批排序（内存放 M 条）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初始顺串长度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每批读满内存、排好、写出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 = ⌈N/M⌉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一个也少不了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路归并趟数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⌈log_k r⌉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每趟读 + 写整文件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减少一趟省下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≈ 2N/B 次页 I/O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而不是几个比较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置换选择：在堆排序的基础上演化而来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朴素做法：每批 M 条排成一条长 M 的顺串 → 顺串数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⌈N/M⌉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置换选择：工作区是一个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。输出堆顶后读入下一条：</a:t>
            </a:r>
            <a:endParaRPr lang="en-US" sz="12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不小于刚输出的值 → 还能进入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当前顺串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（入堆）；</a:t>
            </a:r>
            <a:endParaRPr lang="en-US" sz="12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，留到下一趟。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当前堆空了，把冻结区建成新堆，开始下一条顺串。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0" y="960120"/>
            <a:ext cx="32004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0" y="109728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0972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输入缓冲：incoming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86600" y="1444752"/>
            <a:ext cx="0" cy="27432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72200" y="1737360"/>
            <a:ext cx="1828800" cy="640080"/>
          </a:xfrm>
          <a:prstGeom prst="diamond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22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incoming ≥ emitted ?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 flipH="1">
            <a:off x="5852160" y="2057400"/>
            <a:ext cx="320040" cy="68580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001000" y="2057400"/>
            <a:ext cx="320040" cy="68580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577840" y="21031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1031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23560" y="27889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23560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60920" y="27889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60920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弹出堆顶 = 当前顺串的下一条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200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等下一条顺串再建堆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273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584448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顺串长度不相等，但平均可形成长度为 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的顺串——顺串数约减半；每减半一次，归并趟数就可能少一趟，省下的是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一整轮完整的读写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0" y="384048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23560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2356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堆里只放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记录；冻结的记录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不参加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当前比赛。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逐步演算（原书图 9.2）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50 49 35 45 30 25 15 60 16 27 1，M =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60120"/>
                <a:gridCol w="868680"/>
                <a:gridCol w="1234440"/>
                <a:gridCol w="1691640"/>
                <a:gridCol w="19202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输出后读入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活跃堆（数组层序）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 7 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15 30 25 45 49 50 35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 ≥ 15，活跃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25 30 35 45 49 50 60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&lt; 25，冻结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30 45 35 60 49 50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 &lt; 30，冻结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35 45 50 60 49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35，冻结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45 49 50 60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15 25 30 35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16 27 1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5–8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45,49,50,60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输入耗尽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排空活跃堆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15 25 30 35 45 49 50 60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16 27 1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1,16,27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冻结区重新建堆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1 27 16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1 16 27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「输出后读入」= 先弹出最小值，再从输入缓冲补一条。活跃堆一列按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heap_from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heap_pop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heap_push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的数组层序逐步核对过。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" y="4279392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427939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第一顺串 15 25 30 35 45 49 50 60，长度 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&gt; M = 7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；剩下的 1 16 27 构成第二顺串。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两条守门不变量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8016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8308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308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8892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9476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051560"/>
            <a:ext cx="50292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80160" y="1554480"/>
            <a:ext cx="3520440" cy="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651760" y="157276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7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10515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≥ 15，补进了当前顺串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19202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2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8016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8016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78308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78308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28600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28600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19202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读入时分别小于刚输出的 25、30、35，被冻结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26060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27157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每条顺串内部非递减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34290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归并可以工作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。冻结的记录若继续和当前堆比赛，当前顺串就会倒序。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09160" y="26060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41" name="Shape 39"/>
          <p:cNvSpPr/>
          <p:nvPr/>
        </p:nvSpPr>
        <p:spPr>
          <a:xfrm>
            <a:off x="4892040" y="27432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920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394960" y="27157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全部顺串拼在一起，包含输入的每条记录且恰好一次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92040" y="34290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防止冻结时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重复输出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输入次序决定顺串长度（M = 3 的小例子）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789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单调递增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1 2 … 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70048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70048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4096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54096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38144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38144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22192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22192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06240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06240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90288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90288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74336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58384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58384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742432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742432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每条都能补进活跃堆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长顺串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2103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21762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单调递减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10 9 …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0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86000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596896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96896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0779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0779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28416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28416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63931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63931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95020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95020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37083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37083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68172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68172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992624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992624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41324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1324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每次读入都冻结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 3,3,3,1：恰好 M（末条可更短）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57200" y="32004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3273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随机排列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2286000" y="32004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在常见独立分布假设下，平均顺串长约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平均结论，不是最坏保证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两个小例子由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replacement_selection(input, 3)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同一逻辑逐步复算。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上机题：比较 M = 4, 8, 16 时产生的顺串个数——核对记录守恒与各顺串有序，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不要把随机趋势当定理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课堂例题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3，输入 4 1 3 2 5 0：列出所有顺串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"/>
                <a:gridCol w="777240"/>
                <a:gridCol w="1143000"/>
                <a:gridCol w="1005840"/>
                <a:gridCol w="105156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活跃堆（数组）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4 1 3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1 4 3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≥ 1，活跃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2 4 3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≥ 2，活跃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3 4 5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&lt; 3，冻结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输入耗尽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1 2 3 4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1 2 3 4 5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冻结区建堆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64808" y="1344168"/>
            <a:ext cx="211226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1：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1 2 3 4 5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（长 5 &gt; M）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2：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再用二路归并即可合成最终结果。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29260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反例：冻结记录立即放回堆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218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入堆会马上成为堆顶被输出：当前顺串变成 1 2 3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不再非递减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，归并阶段就读到逆序记录。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069080"/>
            <a:ext cx="56692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同理可练：数据 10 20 2 5 15 8 26 4 11 7 13 16 21 14 6、堆大小 5 → 三个顺串（见本章习题页）。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 ≠ 堆排序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把整份输入推进一个堆再依次弹出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得到的是一条完全有序序列——那是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，要求内存容纳整个文件，已经退回内部排序。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现在的接口返回若干顺串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replacement_selection(input, memory)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，并用原书图 9.2 这组数据守门：必须得到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+ 3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两条顺串。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00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旧实现的教训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49300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旧实现曾经把整份输入推进一个堆；测试只断言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{3,1,2} → {1,2,3}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堆排序也能过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。只看「最后输出是否有序」的测试，守不住外排序。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06440" y="3108960"/>
            <a:ext cx="28803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0" y="3200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边界：M ≥ 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 改成 11（装得下全部输入）只得到一个顺串，内容整表有序——置换选择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退化为堆排序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，正是「内存够用」的边界。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参数检查与首次建堆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算法9.1：置换选择。memory 是内存工作区能容纳的记录数 M。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返回若干顺串：每个顺串内部有序，第一趟的平均长度约为 2M，而不是 M。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不属于当前顺串的新记录被冻结，等当前堆耗尽后再建下一趟。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std::vector&lt;std::vector&lt;int&gt;&gt; replacement_selection(const std::vector&lt;int&gt;&amp; input,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std::size_t memory)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(memory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std::invalid_argument("replacement selection memory must be positive");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next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heap.reserve(memory);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(next &lt; input.size() &amp;&amp; heap.size() &lt; memory)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heap.push_back(input[next++]);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detail::heap_from(heap);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std::vector&lt;std::vector&lt;int&gt;&gt; runs;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current_run;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frozen;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== 0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 → 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input.empty()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可预期的空输入 → 返回空列表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首次建堆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至多读入 memory 条，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heap_from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自底向上建最小堆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当前堆空了：收尾一条顺串，冻结区解冻成新堆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(!heap.empty() || next &lt; input.size() || !frozen.empty())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(heap.empty())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(!current_run.empty())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runs.push_back(std::move(current_run));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current_run = {};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 = std::move(frozen);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frozen = {};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(next &lt; input.size() &amp;&amp; heap.size() &lt; memory)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heap.push_back(input[next++]);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detail::heap_from(heap);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(heap.empty())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循环条件：三者任一非空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1344168"/>
            <a:ext cx="238658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活跃堆还有记录；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输入还没读完；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冻结区还有记录。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2423160"/>
            <a:ext cx="2606040" cy="224028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14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换顺串的四步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807208"/>
            <a:ext cx="238658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当前顺串非空 → 推入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 = std::move(frozen)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：冻结区整体变成新工作区；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若还有输入，补满到 memory 条；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重新建堆，开始下一趟。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394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冻结区的大小 + 活跃堆的大小始终 ≤ memory：每冻结一条，堆就少一条——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内存工作区不超过 M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弹出堆顶，按「incoming &gt;= emitted」分流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emitted = detail::heap_pop(heap);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current_run.push_back(emitted);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(next == input.size())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incoming = input[next++];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(incoming &gt;= emitted)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detail::heap_push(heap, incoming);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frozen.push_back(incoming);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(!current_run.empty())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runs.push_back(std::move(current_run));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runs;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分流是整个算法的核心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1344168"/>
            <a:ext cx="238658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：等于刚输出的值也能留在当前顺串（非递减）。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冻结的记录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不入堆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，不会和当前堆比赛。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输入耗尽后只弹不补：把活跃堆排空。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3246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版同一逻辑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630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modern.py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&lt; smallest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frozen.append(nxt)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_heap_push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；工作区空了就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heap, frozen = frozen, []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5394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循环退出后，最后一条非空的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current_run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也要收进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9.3.2 / 9.3.3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归并：二路与多路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二路外排序与趟数 · 为什么要选择树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· 败者树 · 四路归并演算 · 稳定性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归并两条顺串：至少三个缓冲页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234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A 当前页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0" y="1234440"/>
            <a:ext cx="1828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 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03320" y="1417320"/>
            <a:ext cx="68580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40080" y="2148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B 当前页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0" y="2148840"/>
            <a:ext cx="1828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 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03320" y="2331720"/>
            <a:ext cx="68580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828800" y="1645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页耗尽 → 读该顺串下一页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页耗尽 → 读该顺串下一页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34840" y="1463040"/>
            <a:ext cx="1097280" cy="1097280"/>
          </a:xfrm>
          <a:prstGeom prst="ellipse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34840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比较两个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77840" y="201168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35040" y="1828800"/>
            <a:ext cx="1188720" cy="365760"/>
          </a:xfrm>
          <a:prstGeom prst="rect">
            <a:avLst/>
          </a:prstGeom>
          <a:solidFill>
            <a:srgbClr val="F7E3B5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输出缓冲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69480" y="201168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7266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页满 → 整页写回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较小者移入输出缓冲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474720"/>
            <a:ext cx="53035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比较两个输入缓冲的队首，把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移入输出缓冲。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某个输入页耗尽，就读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该顺串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的下一页；输出页满，则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整页写回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每个输入页恰好读一次，每个输出页恰好写一次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807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趟数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个顺串两两归并，趟数是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m⌉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。置换选择把初始顺串变长，就是为了减小 m。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 · 图 9.3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3000 条记录，10 条初始顺串：要归并几趟？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9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8236" y="1005840"/>
            <a:ext cx="4507528" cy="1737360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5760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05840"/>
                <a:gridCol w="1828800"/>
                <a:gridCol w="1005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输入顺串数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合并方式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输出顺串数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每条典型长度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两对归并，1 条轮空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1200, 1200, 600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一对归并，1 条轮空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2400, 600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最后归并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0" y="288036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537960" y="2971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3264408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确实需要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10⌉ = 4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趟。每页 100 条、共 30 页：各趟读 30、24、24、30 页，合计读/写各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——轮空不复制，不是 4 × 30 = 120。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两笔账：省一趟值多少？路数越多越好吗？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置换选择省下一整趟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544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条顺串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1600200"/>
            <a:ext cx="2011680" cy="274320"/>
          </a:xfrm>
          <a:prstGeom prst="rect">
            <a:avLst/>
          </a:prstGeom>
          <a:solidFill>
            <a:srgbClr val="9AA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4904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10⌉ = 4 趟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103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条顺串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91640" y="2148840"/>
            <a:ext cx="1508760" cy="2743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4612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5⌉ = 3 趟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651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初始顺串数从 10 降到 5，直接省掉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一次完整读写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（读/写各 108 → 24+24+30 = 78 页）。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「增加归并路数总会更快」不成立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508760"/>
            <a:ext cx="3749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越大，趟数越少；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但至少要为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每一路留一个输入缓冲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，还要有输出缓冲；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内存固定时，每路缓冲变小，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补页更频繁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k 是一种折中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7947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「少趟数」和「每路有足够缓冲」之间的折中。而且 k 变大后，从 k 个队首里挑最小也会变贵——下一页先算这笔账。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先算一笔账：直接比较时，内部归并随 k 变贵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k（k &gt; 2）路归并：在 k 个队首中找最小，要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次两两比较。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得到含 u 个记录的归并段：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 − 1)(u − 1)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n 个记录的文件，内部归并的总比较次数：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042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⌈log_k m⌉·(k−1)·(n−1)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⌈log₂ m / log₂ k⌉ · (k−1)·(n−1)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429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削减了增大 k 的好处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72160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不变时，随着 k 增大，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(k−1) / log₂ 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也增大：内部归并的时间随之增大，某种程度上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削减了由于增大 k 而减少归并趟数带来的好处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669280" y="960120"/>
          <a:ext cx="30175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选择树正是用来消掉这一项的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选择树从 k 个关键码中找出最小值，比较次数是树高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k⌉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。于是内部归并的总比较次数变为：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⌈log_k m⌉·⌈log₂ k⌉·(n−1) = ⌈log₂ m / log₂ k⌉·⌈log₂ k⌉·(n−1) ≈ log₂ m·(n−1)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65960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内部比较次数（主项）与 k 无关，不随 k 增加而增加——选择树存在的全部理由。（原书写「= ⌈log₂ m⌉·(n−1)」，两次取整不能抵消，如 m=5、k=4：4 ≠ 3）</a:t>
            </a:r>
            <a:endParaRPr lang="en-US" sz="10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53949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783080"/>
                <a:gridCol w="1691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 ⌈log_k 256⌉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直接比较：趟数 × (k−1)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选择树：趟数 × ⌈log₂ k⌉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表中数字 × (n−1) 即内部归并总比较次数（m = 256 个初始顺串，取整后恰好整除）。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035040" y="25603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7220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直观理解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44768" y="2944368"/>
            <a:ext cx="24323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第一次建树要 k−1 次比较；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只替换获胜顺串的队首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，沿高度 ⌈log₂ k⌉ 的路径重赛；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N 条记录：选择代价由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O(Nk)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降为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k)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选择树（竞赛树）：一系列「淘汰赛」的结果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，通常顺序存储；有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名选手 → n 个外部结点、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个内部结点；每个内部结点记录其左右子结点那场比赛的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从最底层开始两两比赛，输者淘汰、赢者向上，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树根记录整个比赛的胜者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。最小赢者树中分数小的获胜。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数组存储：选手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L[1…n]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，内部结点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B[1…n−1]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中存的是 L 的索引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每个「选手」代表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一条顺串的当前记录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9" name="Image 0" descr="fig-9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321" y="1051560"/>
            <a:ext cx="2494598" cy="2468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06440" y="352044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9.4  含有 5 个选手的赢者树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何时值得用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内存内一般的「取最小」任务直接用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二叉堆或优先队列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；只有需要反复从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固定的多路输入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中选冠军时，才值得维护选择树——它是外排序多路归并的专用优化。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 L[i] 挂在哪个内部结点 B[p] 下？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148840"/>
          </a:xfrm>
          <a:prstGeom prst="roundRect">
            <a:avLst>
              <a:gd name="adj" fmla="val 3404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515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最底层最左内部结点编号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0515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2^s，s = ⌊log₂(n−1)⌋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356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最底层外部结点数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1435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LowExt = 2(n − 2^s)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819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最底层外部结点之上的结点数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81965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offset = 2^(s+1) − 1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⌊(i + offset) / 2⌋            i ≤ LowExt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⌊(i − LowExt + n − 1) / 2⌋    i &gt; LowExt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例：n = 5 → s = 2，2^s = 4，LowExt = 2，offset = 7（整数除法）</a:t>
            </a:r>
            <a:endParaRPr lang="en-US" sz="11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48463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41248"/>
                <a:gridCol w="841248"/>
                <a:gridCol w="841248"/>
                <a:gridCol w="841248"/>
                <a:gridCol w="841248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L[i]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L[1]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L[2]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L[5]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(1+7)/2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(2+7)/2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(3−2+4)/2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(4−2+4)/2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B[p]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B[2]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532120" y="96012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9" name="Image 0" descr="fig-9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2867" y="1024128"/>
            <a:ext cx="2633186" cy="26060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532120" y="379476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669280" y="3886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9.4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69280" y="41788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L[1]、L[2] 挂在 B[4]，L[3] 挂在 B[2]，L[4]、L[5] 挂在 B[3]。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赢者树 · 课堂例题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六路归并：首键 22 6 12 84 10 9，n 不是 2 的幂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 = ⌊log₂(n−1)⌋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2，最底层最左内部结点 B[4]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LowExt = 2(n − 2^s)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4：L[1]～L[4] 在最底层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offset = 2^(s+1) − 1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411480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576072"/>
                <a:gridCol w="576072"/>
                <a:gridCol w="576072"/>
                <a:gridCol w="576072"/>
                <a:gridCol w="576072"/>
                <a:gridCol w="57607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挂在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B[5]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B[5]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L[1..4]：p = ⌊(i + 7)/2⌋；L[5..6]：p = ⌊(i − 4 + 5)/2⌋</a:t>
            </a:r>
            <a:endParaRPr lang="en-US" sz="950" dirty="0"/>
          </a:p>
        </p:txBody>
      </p:sp>
      <p:graphicFrame>
        <p:nvGraphicFramePr>
          <p:cNvPr id="12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4114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胜者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L1(22) vs L2(6)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B[5]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L3(12) vs L4(84)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L5(10) vs L6(9)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B[2]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B4→2(6) vs B5→3(12)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B[1]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B2→2(6) vs B3→6(9)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4800600" y="96012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12" name="Shape 7"/>
          <p:cNvSpPr/>
          <p:nvPr/>
        </p:nvSpPr>
        <p:spPr>
          <a:xfrm flipH="1">
            <a:off x="6035040" y="1463040"/>
            <a:ext cx="914400" cy="5029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949440" y="1463040"/>
            <a:ext cx="914400" cy="5029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H="1">
            <a:off x="5532120" y="1965960"/>
            <a:ext cx="502920" cy="5029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035040" y="1965960"/>
            <a:ext cx="502920" cy="5029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 flipH="1">
            <a:off x="7543800" y="1965960"/>
            <a:ext cx="320040" cy="5029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863840" y="1965960"/>
            <a:ext cx="320040" cy="5029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 flipH="1">
            <a:off x="5257800" y="2468880"/>
            <a:ext cx="274320" cy="54864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32120" y="2468880"/>
            <a:ext cx="274320" cy="54864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flipH="1">
            <a:off x="6263640" y="2468880"/>
            <a:ext cx="274320" cy="54864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37960" y="2468880"/>
            <a:ext cx="274320" cy="54864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66560" y="1280160"/>
            <a:ext cx="365760" cy="365760"/>
          </a:xfrm>
          <a:prstGeom prst="ellipse">
            <a:avLst/>
          </a:prstGeom>
          <a:solidFill>
            <a:srgbClr val="FFF6E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748272" y="131673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6629400" y="1078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B[1]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5852160" y="1783080"/>
            <a:ext cx="365760" cy="36576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833872" y="18196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5715000" y="1581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B[2]</a:t>
            </a:r>
            <a:endParaRPr lang="en-US" sz="750" dirty="0"/>
          </a:p>
        </p:txBody>
      </p:sp>
      <p:sp>
        <p:nvSpPr>
          <p:cNvPr id="28" name="Shape 23"/>
          <p:cNvSpPr/>
          <p:nvPr/>
        </p:nvSpPr>
        <p:spPr>
          <a:xfrm>
            <a:off x="7680960" y="1783080"/>
            <a:ext cx="365760" cy="36576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662672" y="18196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7543800" y="15819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B[3]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5349240" y="2286000"/>
            <a:ext cx="365760" cy="36576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330952" y="232257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212080" y="208483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B[4]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6355080" y="2286000"/>
            <a:ext cx="365760" cy="36576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232257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6217920" y="208483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B[5]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7342632" y="2322576"/>
            <a:ext cx="402336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342632" y="232257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7223760" y="26243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L[5]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7982712" y="2322576"/>
            <a:ext cx="402336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982712" y="232257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7863840" y="26243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L[6]</a:t>
            </a:r>
            <a:endParaRPr lang="en-US" sz="750" dirty="0"/>
          </a:p>
        </p:txBody>
      </p:sp>
      <p:sp>
        <p:nvSpPr>
          <p:cNvPr id="43" name="Shape 38"/>
          <p:cNvSpPr/>
          <p:nvPr/>
        </p:nvSpPr>
        <p:spPr>
          <a:xfrm>
            <a:off x="5056632" y="2871216"/>
            <a:ext cx="402336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056632" y="28712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4937760" y="31729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L[1]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5605272" y="2871216"/>
            <a:ext cx="402336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5605272" y="28712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486400" y="31729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L[2]</a:t>
            </a:r>
            <a:endParaRPr lang="en-US" sz="750" dirty="0"/>
          </a:p>
        </p:txBody>
      </p:sp>
      <p:sp>
        <p:nvSpPr>
          <p:cNvPr id="49" name="Shape 44"/>
          <p:cNvSpPr/>
          <p:nvPr/>
        </p:nvSpPr>
        <p:spPr>
          <a:xfrm>
            <a:off x="6062472" y="2871216"/>
            <a:ext cx="402336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6062472" y="28712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5943600" y="31729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L[3]</a:t>
            </a:r>
            <a:endParaRPr lang="en-US" sz="750" dirty="0"/>
          </a:p>
        </p:txBody>
      </p:sp>
      <p:sp>
        <p:nvSpPr>
          <p:cNvPr id="52" name="Shape 47"/>
          <p:cNvSpPr/>
          <p:nvPr/>
        </p:nvSpPr>
        <p:spPr>
          <a:xfrm>
            <a:off x="6611112" y="2871216"/>
            <a:ext cx="402336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6611112" y="28712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6492240" y="31729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L[4]</a:t>
            </a:r>
            <a:endParaRPr lang="en-US" sz="750" dirty="0"/>
          </a:p>
        </p:txBody>
      </p:sp>
      <p:sp>
        <p:nvSpPr>
          <p:cNvPr id="55" name="Text 50"/>
          <p:cNvSpPr txBox="1"/>
          <p:nvPr/>
        </p:nvSpPr>
        <p:spPr>
          <a:xfrm>
            <a:off x="4892040" y="345643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圆：内部结点（写胜者的顺串号）；方：外部结点（首键）</a:t>
            </a:r>
            <a:endParaRPr lang="en-US" sz="850" dirty="0"/>
          </a:p>
        </p:txBody>
      </p:sp>
      <p:sp>
        <p:nvSpPr>
          <p:cNvPr id="56" name="Shape 51"/>
          <p:cNvSpPr/>
          <p:nvPr/>
        </p:nvSpPr>
        <p:spPr>
          <a:xfrm>
            <a:off x="4800600" y="3840480"/>
            <a:ext cx="38862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49377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广度优先读内部结点 B[1..5]：</a:t>
            </a:r>
            <a:endParaRPr lang="en-US" sz="1050" dirty="0"/>
          </a:p>
        </p:txBody>
      </p:sp>
      <p:sp>
        <p:nvSpPr>
          <p:cNvPr id="58" name="Text 53"/>
          <p:cNvSpPr txBox="1"/>
          <p:nvPr/>
        </p:nvSpPr>
        <p:spPr>
          <a:xfrm>
            <a:off x="493776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2  2  6  2  3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路归并：输出冠军后只沿一条路径重赛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9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945" y="978408"/>
            <a:ext cx="3713871" cy="2194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00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9.5  冠军 L[3] = 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932688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9-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04" y="978408"/>
            <a:ext cx="3501433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200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9.6  R[3] 补入 11 后重构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4864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B[5]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L[3]=11 vs L[4]=20 → 3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33172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242316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B[2]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L[2]=9 vs L[3]=11 → 2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20624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9768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B[1]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29768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L[2]=9 vs L[6]=8 → 6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4343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其余比赛结果不变。修改次数在 0 ~ log₂ n 之间：路径上某场结果没变，祖先就不必再赛。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72200" y="36118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09360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赢者树要「取兄弟」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309360" y="39959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父结点记的是胜者，重赛 B[p] 时要读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的胜者：沿途每层都要去看对手（兄弟）是谁。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四路归并 · 手工演算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每一步只替换刚获胜的那一路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822960"/>
                <a:gridCol w="731520"/>
                <a:gridCol w="100584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比赛中的 4 个当前值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冠军路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该路补入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2, 4, 1, 6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2, 4, 11, 6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12, 4, 11, 6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12, 25, 11, 30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12, 25, 18, 30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20, 25, 18, 30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20, 25,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+∞, 25,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+∞, +∞,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715000" y="932688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788152" y="978408"/>
            <a:ext cx="28254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R0:  2 12 20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R1:  4  9 25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R2:  1 11 18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R3:  6  8 30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715000" y="20116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52160" y="2103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39572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1 2 4 6 8 9 11 12 18 20 25 30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715000" y="2907792"/>
            <a:ext cx="297180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52160" y="29992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一路耗尽：用 +∞ 参赛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3291840"/>
            <a:ext cx="2752344" cy="1298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耗尽的路以「正无穷」参加余下比赛，就不会再次获胜。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但若关键码允许取最大整数，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INT_MAX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与合法数据冲突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更稳妥：额外保存「该路是否耗尽」的状态。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败者树：内部结点记败者，另设 B[0] 记冠军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48056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内部结点记录的是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的下标；另加结点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记录整个比赛的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某选手 L[i] 的分数改变时，同样只沿 L[i] 到根的路径修改：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新进入的结点与父结点比赛，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败者下标存放在父结点中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再与上一级父结点比较，沿路径一直到根。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父结点里存的就是这一路的对手，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不必再去取兄弟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——败者树比赢者树少一次「取兄弟」访问，也是外排序实现里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更常见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120640" y="96012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9" name="Image 0" descr="fig-9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243627"/>
            <a:ext cx="3383280" cy="245050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12064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9.7  8 路归并的败者树（冠军 B[0] = 3）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8 个关键码 10 9 6 20 12 8 15 16：B[4]=1（10 输给 9）、B[5]=4（20 输给 6）、B[2]=2（9 输给 6）、B[1]=6（8 输给 6）。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输出冠军 L[3]=6、R[3] 补入 11：新值与路径上的败者依次比较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8" name="Image 0" descr="fig-9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4023"/>
            <a:ext cx="3657600" cy="26468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9.8  替换一路记录后重构败者树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26280" y="111556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98348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B[5]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1005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vs L[4]=20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307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输 → B[5] = 4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307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11（L[3]）上行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26280" y="188366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26280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98348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B[2]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623560" y="17739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vs 存着的败者 L[2]=9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2075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输 → B[2] = 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2075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9（L[2]）上行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26280" y="26517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26280" y="2651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983480" y="25420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B[1]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623560" y="25420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vs 存着的败者 L[6]=8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98348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输 → B[1] = 2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8（L[6]）上行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26280" y="3419856"/>
            <a:ext cx="347472" cy="347472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26280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983480" y="33101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B[0]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623560" y="33101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到根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 = 6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685800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下一个输出 8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41148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94360" y="42062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对照赢者树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49884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3 场比赛，但每场的对手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就存在父结点里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：B[2] 里是 2（L[2]），B[1] 里是 6（L[6]），不必再去读兄弟子树的胜者。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本书实现 · demo 里的败者树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LoserTree({20, 6, 8, 9, 11})：leaf_base = 8，结点里写败者下标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29260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686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7830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6974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36118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1508760"/>
            <a:ext cx="0" cy="41148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1325880"/>
            <a:ext cx="365760" cy="36576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8600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1371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304288" y="175564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304288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011680" y="173736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38988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8988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1868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1868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9326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26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8470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8470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5544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7614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7614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24688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6758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6758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3832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949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49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949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1521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1521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1521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6093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6093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6093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0665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0665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20665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5237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237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25237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9809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9809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29809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4381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4381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34381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8953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8953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38953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663440" y="9601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0060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replace(1, 15) 后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 flipH="1">
            <a:off x="5760720" y="1920240"/>
            <a:ext cx="914400" cy="5029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67512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H="1">
            <a:off x="5303520" y="2423160"/>
            <a:ext cx="457200" cy="5029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607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H="1">
            <a:off x="71323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895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H="1">
            <a:off x="50749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303520" y="2926080"/>
            <a:ext cx="228600" cy="45720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59893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179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69037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1323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78181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67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675120" y="1508760"/>
            <a:ext cx="0" cy="41148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492240" y="1325880"/>
            <a:ext cx="365760" cy="36576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49224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91" name="Text 89"/>
          <p:cNvSpPr txBox="1"/>
          <p:nvPr/>
        </p:nvSpPr>
        <p:spPr>
          <a:xfrm>
            <a:off x="6903720" y="1371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6510528" y="175564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10528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6217920" y="173736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5596128" y="225856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59612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 txBox="1"/>
          <p:nvPr/>
        </p:nvSpPr>
        <p:spPr>
          <a:xfrm>
            <a:off x="530352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42492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2492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713232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5138928" y="276148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1389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48463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60533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60533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57607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69677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69677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09" name="Text 107"/>
          <p:cNvSpPr txBox="1"/>
          <p:nvPr/>
        </p:nvSpPr>
        <p:spPr>
          <a:xfrm>
            <a:off x="66751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8821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8821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75895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49011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9011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15" name="Text 113"/>
          <p:cNvSpPr txBox="1"/>
          <p:nvPr/>
        </p:nvSpPr>
        <p:spPr>
          <a:xfrm>
            <a:off x="49011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5358384" y="3364992"/>
            <a:ext cx="34747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3583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8" name="Text 116"/>
          <p:cNvSpPr txBox="1"/>
          <p:nvPr/>
        </p:nvSpPr>
        <p:spPr>
          <a:xfrm>
            <a:off x="53583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58155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8155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58155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62727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2727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2727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67299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7299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127" name="Text 125"/>
          <p:cNvSpPr txBox="1"/>
          <p:nvPr/>
        </p:nvSpPr>
        <p:spPr>
          <a:xfrm>
            <a:off x="67299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>
            <a:off x="71871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71871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0" name="Text 128"/>
          <p:cNvSpPr txBox="1"/>
          <p:nvPr/>
        </p:nvSpPr>
        <p:spPr>
          <a:xfrm>
            <a:off x="71871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76443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76443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3" name="Text 131"/>
          <p:cNvSpPr txBox="1"/>
          <p:nvPr/>
        </p:nvSpPr>
        <p:spPr>
          <a:xfrm>
            <a:off x="76443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81015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81015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81015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457200" y="3959352"/>
            <a:ext cx="8229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方框下的数字是选手下标；圆圈里是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败者下标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，「—」表示该场有一方是空位（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no_player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，直接轮空）。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建树：冠军是下标 1（值 6）。替换后重赛结点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→ 2 →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：15 在结点 2 输给 8，冠军变为下标 2（值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）——与 demo 输出一致。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vs 败者树：区别在重赛时保存了什么信息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赢者树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败者树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两子树比赛的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胜者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该场比赛的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败者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全局冠军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B[1]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另设冠军槽 B[0]（本书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champion_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重赛时的对手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要去找沿途的对手（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取兄弟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直接与父结点里留下的败者比较（替换冠军时）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替换一名选手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沿叶到根，⌈log₂ k⌉ 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沿叶到根，⌈log₂ k⌉ 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本书存储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tree_（2·leaf_base）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loser_ + subtree_winner_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渐近复杂度相同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k)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；区别只在重赛时保存了什么信息。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相等关键码的决胜规则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必须规定稳定的规则：本书让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下标较小的路获胜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），测试用两个值为 1 的选手固定这条规则。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选择树 · modern.hpp · detail::TournamentOps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better / worse：一次比较，两个结果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TournamentOps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constexpr std::size_t no_player = static_cast&lt;std::size_t&gt;(-1);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better(const std::vector&lt;int&gt;&amp; players, std::size_t left,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std::size_t right)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(right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players[left] &lt;= players[right] ? left :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worse(const std::vector&lt;int&gt;&amp; players, std::size_t left,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std::size_t right)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(right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players[left] &lt;= players[right] ? right :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&lt;= 决定平局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值相等时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胜：下标小的路获胜，比赛结果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46520" y="2286000"/>
            <a:ext cx="2240280" cy="237744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377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no_player：空位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56248" y="2670048"/>
            <a:ext cx="202082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叶数补到 2 的幂（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next_power_of_two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），多出的叶是空位。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：空位直接让对方胜。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：有空位时败者记为空位（「轮空」）。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9.2 · WinnerTree（上）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建树：叶放选手下标，内部结点自底向上写 better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代码9.2：赢者树。内部结点保存两名选手比较后的胜者下标，根是全局最小。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WinnerTree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WinnerTree(std::vector&lt;int&gt; players) : players_(std::move(players))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leaf_base_ = detail::TournamentOps::next_power_of_two(players_.size());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tree_.assign(leaf_base_ * 2, detail::TournamentOps::no_player);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players_.size(); ++index)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tree_[leaf_base_ + index] = index;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leaf_base_ - 1; node &gt; 0; --node)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tree_[node] = detail::TournamentOps::better(players_, tree_[node * 2],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tree_[node * 2 + 1]);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winner_index()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 || tree_[1] == detail::TournamentOps::no_player)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tree_[1];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winner()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index = winner_index();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 ? std::optional&lt;int&gt;(players_[*index]) :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完全二叉树数组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1 是根；结点 i 的孩子是 2i、2i+1。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开始：选手 j 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 + j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 1 逐个结点比赛，自底向上。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33756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72160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没有选手时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winner()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9.2 · WinnerTree（下）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replace：从叶爬到根，每层重写一次 better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replace(std::size_t player,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 &gt;= players_.size())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std::out_of_range("tournament player");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players_[player]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node = leaf_base_ +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tree_[node] =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&gt; 1)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/=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tree_[node] = detail::TournamentOps::better(players_, tree_[node * 2],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tree_[node * 2 + 1]);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players_;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tree_;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leaf_base_{0};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要读两个孩子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better(tree_[node*2], tree_[node*2+1])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：重算一个结点就要看它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的赢家——这就是「取兄弟」。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1089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越界是调用方的错误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4930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 &gt;= size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out_of_range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989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上机题：随机替换选手，每次与「扫描 k 路取最小」（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std::min_element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）对拍冠军的值和下标。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两个数组：loser_ 记败者，subtree_winner_ 记子树胜者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代码9.3：败者树。内部结点保存败者下标，另用 champion_ 记录全局胜者。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替换一名选手时只需沿叶到根重赛，不必访问兄弟子树的内部结构。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LoserTree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LoserTree(std::vector&lt;int&gt; players) : players_(std::move(players))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leaf_base_ = detail::TournamentOps::next_power_of_two(players_.size());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loser_.assign(leaf_base_, detail::TournamentOps::no_player);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subtree_winner_.assign(leaf_base_ * 2, detail::TournamentOps::no_player);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players_.size();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subtree_winner_[leaf_base_ + index]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leaf_base_ - 1; node &gt; 0; --node)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replay_node(node);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champion_ = subtree_winner_[1];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winner_index()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 || champion_ == detail::TournamentOps::no_player)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champion_;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数组大小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loser_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：leaf_base 个，结点 1…leaf_base−1 有效（0 不用）。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subtree_winner_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：2·leaf_base 个，叶与内部结点都有。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champion_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B[0]。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自底向上对每个内部结点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，最后冠军 = 根的子树胜者。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loser_at 与 replace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winner()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index = winner_index();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 ? std::optional&lt;int&gt;(players_[*index]) :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loser_at(std::size_t node)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0 || node &gt;= loser_.size() ||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loser_[node] == detail::TournamentOps::no_player)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loser_[node];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replace(std::size_t player,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 &gt;= players_.size())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std::out_of_range("tournament player");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players_[player]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subtree_winner_[leaf_base_ + player] =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(leaf_base_ + player) / 2; node &gt; 0; node /= 2)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replay_node(node);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champion_ = subtree_winner_[1];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loser_at(node)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「这一路是在哪一层、被谁淘汰的」。结点 0、越界、轮空都返回空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78892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172968"/>
            <a:ext cx="1737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叶写回自己的下标，从父结点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(leaf_base_+player)/2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开始逐层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replay_node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，最后更新冠军。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62272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tree.replace(1, 15)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重赛结点 4、2、1，冠军变为 8。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replay_node：一场比赛同时写下败者和胜者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replay_node(std::size_t node)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 = subtree_winner_[node * 2];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right = subtree_winner_[node * 2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loser_[node] = detail::TournamentOps::worse(players_, 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subtree_winner_[node] = detail::TournamentOps::better(players_, 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players_;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loser_;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subtree_winner_;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leaf_base_{0};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champion_{detail::TournamentOps::no_player};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为什么两个数组都要维护？（modern.py 的注释）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1304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只留输家数组的写法看着更省，但那样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只有「替换冠军」这一种用法是对的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路归并恰好只用那一种，于是错误可以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长期不被发现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subtree_winner_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loser_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，替换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一片叶子都成立——这里不取那条捷径。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96012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34416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测试里赢者树和败者树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：同一组输入，输出序列必须完全相同。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稳定性和重复关键码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关键码相等，不代表记录相同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外排序处理的通常是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。若要求稳定排序，比较器必须把「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原始先后次序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」作为第二关键码：</a:t>
            </a:r>
            <a:endParaRPr lang="en-US" sz="12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同一顺串内：先出现的先输出；</a:t>
            </a:r>
            <a:endParaRPr lang="en-US" sz="12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不同顺串之间：用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初始顺串号 + 顺串内位置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决胜。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只比较整数值，虽然仍能得到非递减关键码，却可能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打乱同关键码记录的先后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WinnerTree / LoserTree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461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值相等时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下标较小的选手获胜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：保证比赛结果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，但它只等价于「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路号优先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28803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≠ 全文件稳定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172968"/>
            <a:ext cx="370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若初始顺串本身由稳定排序生成，还要证明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路号顺序与原始文件顺序一致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；否则应把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原始序号随记录一起参与比较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 · 三个常见错误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三个常见错误，以及测试该查什么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把所有输入一次放进堆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要求内存容纳整个文件，已经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退回内部堆排序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341071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1071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6791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冻结后仍与当前堆比赛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1071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小于刚输出值的记录会让当前顺串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，破坏归并前提。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8" name="Shape 16"/>
          <p:cNvSpPr/>
          <p:nvPr/>
        </p:nvSpPr>
        <p:spPr>
          <a:xfrm>
            <a:off x="619963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9963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5683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一路耗尽就停止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正确做法：让该路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退出比赛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，继续归并其余顺串，直到所有路都耗尽。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检查外排序程序，不能只看「最后输出是否有序」——还要分别检查：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记录守恒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121408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121408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每条初始顺串有序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85616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785616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工作区不超过 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49824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49824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耗尽一路后仍能继续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14032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14032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相等关键码的决胜规则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偷偷做整表排序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的实现也会交出正确终值，却完全没有实现外排序。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 · 代价小结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设文件 N 条记录、内存装 M 条、k 路归并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  <a:gridCol w="2834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谁来优化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生成顺串（置换选择）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顺串平均长 2M，段数约 N / 2M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置换选择：减少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段数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⌈log_k (N/2M)⌉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多路归并：减少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每趟外存访问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读一遍 + 写一遍整文件（约 2N/B 页）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趟数少一趟，省一整轮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每步挑最小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 O(k)；选择树 O(log k)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选择树：内部比较与 k 无关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每路缓冲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内存固定时，k 越大每路缓冲越小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的选择是折中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优化的两个方向：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减少段数，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多路归并 + 选择树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减少趟数且不让内部比较变贵。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习题精选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几道代表性习题（答案已核对）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33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正文习题 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014984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50 49 35 45 30 25 15 60 16 27 1、M = 7，写出置换选择的顺串并指出冻结的键。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1417320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15 25 30 35 45 49 50 60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1 16 27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；16、27、1 被冻结。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课程作业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947672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10 20 2 5 15 8 26 4 11 7 13 16 21 14 6，堆大小 5，求置换选择的顺串。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2350008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2 5 8 10 11 15 20 26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4 7 13 14 16 21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：第一顺串长 8 &gt; 5。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8986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880360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个初始归并段：(1) 3 趟完成，至少几路？(2) 同时可用文件 ≤ 15，至少几趟？此趟数下最低路数？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3282696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答：(1) k³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5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；(2) 含输出文件 k ≤ 14，14²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趟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；k²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9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8313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3813048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个顺串首键 14 22 24 15 16 11 100 18，第二键 26 38 30 26 50 28 110 40：画 8 路败者树并重构一次。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215384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答：冠军 11（第 6 路）；该路换 28，只沿其叶到根重赛，下一冠军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成本模型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外存按页存取，一次 I/O 比一次比较贵几个数量级：外排序数的是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，不是比较次数。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文件组织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 vs 物理文件；顺序 / 散列 / 索引 / 倒排。读者顺序消费页，写者批量产生页。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先生成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，再逐趟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；趟数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⌈log_k m⌉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——减小 m 或增大 k。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incoming &gt;= emitted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才进当前顺串；平均长约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（平均，不是保证）。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赢者树记胜者、败者树记败者另设冠军；替换只沿叶到根重赛，内部比较（主项）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k 无关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第九章 文件管理与外部排序</dc:title>
  <dc:subject>PptxGenJS Presentation</dc:subject>
  <dc:creator>Hongfei Yan</dc:creator>
  <cp:lastModifiedBy>Hongfei Yan</cp:lastModifiedBy>
  <cp:revision>1</cp:revision>
  <dcterms:created xsi:type="dcterms:W3CDTF">2026-10-28T11:12:20Z</dcterms:created>
  <dcterms:modified xsi:type="dcterms:W3CDTF">2026-10-28T11:12:20Z</dcterms:modified>
</cp:coreProperties>
</file>