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notesMasterIdLst>
    <p:notesMasterId r:id="rId7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第10章  检索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Search：比较着找，还是直接算出地址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平均检索长度 ASL · 顺序检索与监视哨 · 二分检索（半开区间）与决策树 · 分块检索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集合的数学特性 · IntSet 接口 · 位向量求交并差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散列函数：除余 / 乘余取整 / 平方取中 / 折叠 / ELFhash · 开散列（拉链）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闭散列：线性 / 二次 / 随机 / 双散列探查 · 墓碑删除 · 负载因子与效率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Updated 2026-10-28 · github.com/GMyhf/dsa-modernization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不排序、排序、分块，检索的代价各是多少？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基于线性表的检索：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 O(n)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 O(log n)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、分块介于二者之间。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「在不在里面」这个问题怎么问？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 集合：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erase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，全集小时用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位向量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一次按位运算求交。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能不能不比较，直接算出地址？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散列：散列函数定位槽位，冲突时继续探查，删除要留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墓碑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05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散列法的平均检索长度</a:t>
            </a: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不依赖于表中结点的个数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，而是随</a:t>
            </a: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负载因子 α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的增大而增加。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 线性表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37360"/>
            <a:ext cx="237744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检索与平均检索长度 ASL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10.1.1 顺序检索、监视哨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10.1.2 二分检索：半开区间、trace、决策树、代价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10.1.3 分块检索（索引检索）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教学版 teaching.hpp 总览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  集合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737360"/>
            <a:ext cx="237744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10.2.1 集合的数学特性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接口口径：可预期的失败返回 bool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10.2.2 计算机中的集合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IntSet：顺序检索上的交与包含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有限全集上的位向量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 散列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737360"/>
            <a:ext cx="237744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散列的思想、冲突、负载因子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10.3.1 七种散列函数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10.3.2 开散列（拉链法）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10.3.3 闭散列：四种探查、墓碑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10.3.4 HashTable 实现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10.3.5 效率分析 · 10.3.6 应用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 · demo.cpp（上）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用教学版 HashTable 观察线性探测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6035040" cy="3749040"/>
          </a:xfrm>
          <a:prstGeom prst="roundRect">
            <a:avLst>
              <a:gd name="adj" fmla="val 19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888736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第 10 章「先跑一遍」：用教学版 HashTable 观察线性探测与墓碑删除。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编译运行：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g++ -std=c++17 -I code/ch10/search_hash code/ch10/search_hash/demo.cpp -o demo &amp;&amp; ./demo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"teaching.hpp"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HashTable table(5);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(!table.insert(1) || !table.insert(6) || !table.insert(11))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std::cout &lt;&lt; "插入 1、6、11 失败\n";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"插入 1、6、11 后:\n";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index = 0; index &lt; table.capacity(); ++index)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auto slot = table.slot_at(index);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std::cout &lt;&lt; "  槽 " &lt;&lt; index &lt;&lt; ": ";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(slot.state == HashTable::SlotState::used)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std::cout &lt;&lt; slot.key &lt;&lt; '\n';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if (slot.state == HashTable::SlotState::tombstone)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std::cout &lt;&lt; "墓碑\n";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std::cout &lt;&lt; "空\n";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675120" y="9601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8484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784848" y="1216152"/>
            <a:ext cx="179222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插入 1、6、11 后: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槽 0: 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槽 1: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槽 2: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槽 3: 11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槽 4: 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2788920"/>
            <a:ext cx="2011680" cy="1874520"/>
          </a:xfrm>
          <a:prstGeom prst="roundRect">
            <a:avLst>
              <a:gd name="adj" fmla="val 3902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1228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看到了什么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784848" y="3172968"/>
            <a:ext cx="1792224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表长 5，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home(k) = k % 5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：1、6、11 的基地址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都是 1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住进槽 1；6 冲突，探测到 2；11 连续冲突，落到 3。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线性探测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：被占就往后一格。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 · demo.cpp（下）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删掉 1 之后：墓碑让 6 仍然找得到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6035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888736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(!table.erase(1))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std::cout &lt;&lt; "删除 1 失败\n";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"删除 1 后仍能找到 6? " &lt;&lt; (table.contains(6) ? "是" : "否") &lt;&lt; '\n';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(!table.insert(16))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std::cout &lt;&lt; "插入 16 失败\n";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"插入 16 后槽 1 是 "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&lt;&lt; table.slot_at(1).key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&lt;&lt; "（复用了墓碑）\n";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4838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685032"/>
            <a:ext cx="58155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删除 1 后仍能找到 6? 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插入 16 后槽 1 是 16（复用了墓碑）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79392"/>
            <a:ext cx="6035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-std=c++17 -Wall -Wextra -Werror -Icode/ch10/search_hash \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code/ch10/search_hash/demo.cpp -o /tmp/hash-demo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675120" y="960120"/>
            <a:ext cx="2011680" cy="2514600"/>
          </a:xfrm>
          <a:prstGeom prst="roundRect">
            <a:avLst>
              <a:gd name="adj" fmla="val 3636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12280" y="1051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看到了什么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784848" y="1344168"/>
            <a:ext cx="1792224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 1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不把槽 1 标空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，而是标成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墓碑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 6：从槽 1 出发，越过墓碑，在槽 2 命中。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 16：记住首个墓碑，确认后面没有 16，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回头复用槽 1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361188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DF0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1228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如果标空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39959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第二行会变成「否」——测试里有两条具名断言守住这件事。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 · 基本概念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检索与平均检索长度 ASL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8463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：在一组记录里定位关键码等于给定值的那一条，或属性满足条件的那些条。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：至少找到一条；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：没有。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精确匹配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查单个值，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范围查询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查一个区间。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主要操作是关键码的比较。平均比较次数称为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平均检索长度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（ASL），是衡量检索算法的时间标准，也是元素总数 n 的函数。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32120" y="96012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0" y="1051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ASL = Σ Pᵢ · Cᵢ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6276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Pᵢ：检索第 i 个元素的概率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Cᵢ：找到它所需的比较次数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2423160"/>
          <a:ext cx="315468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731520"/>
                <a:gridCol w="96012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元素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Cᵢ（顺序）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Pᵢ·Cᵢ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532120" y="38862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原书例：(a,b,c) 平均要比较 2.1 次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324612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436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检索的四类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3630168"/>
            <a:ext cx="462686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基于线性表 · 按关键码直接访问（含散列）——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树形索引（第 5、11、12 章）· 基于属性的倒排（第 11 章）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已知各元素检索概率的分布时，ASL 能准确反映平均时间性能；此外还要看存储量、算法复杂性。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基于线性表的检索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数据放在数组或链表里，逐个与给定值 K 比较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顺序检索 · 二分检索（含 Python bisect） · 分块检索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线性表 · 顺序检索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顺序检索：从头比到尾，对数据没有任何要求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84632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逐个比较记录的关键码和给定值：相等则成功，走完仍未找到则失败。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表中各元素可以任意排列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——唯一的、也是最宝贵的优点：不要求有序，链表和数组都能用。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最好：目标在第一个位置，比较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次；最坏：目标不在表里，比较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等概率假设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Pᵢ = 1/n 下：ASL = (1 + 2 + ⋯ + n)/n =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(n+1)/2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532120" y="960120"/>
            <a:ext cx="315468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0" y="1024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例：{8, 3, 8, 1}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371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 8：第 1 次比较命中下标 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1783080"/>
            <a:ext cx="457200" cy="38404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0" y="17830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2167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17830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167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58000" y="178308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0" y="17830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167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0" y="178308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0" y="17830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2167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5715000" y="1399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72200" y="1600200"/>
            <a:ext cx="0" cy="164592"/>
          </a:xfrm>
          <a:prstGeom prst="line">
            <a:avLst/>
          </a:prstGeom>
          <a:noFill/>
          <a:ln w="1905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669280" y="24688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 7：依次比较 8、3、8、1 → 失败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0" y="2834640"/>
            <a:ext cx="457200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0" y="28346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32186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00800" y="2834640"/>
            <a:ext cx="457200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0" y="28346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32186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58000" y="2834640"/>
            <a:ext cx="457200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0" y="28346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32186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315200" y="2834640"/>
            <a:ext cx="457200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0" y="28346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315200" y="32186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0" y="34015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走完整张表才知道不在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7490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94360" y="38404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重复关键码返回哪一个？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94360" y="413308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本书接口返回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匹配位置。这不是顺序检索自动保证的抽象性质，而是「从左向右、命中即停」这份实现的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明确约定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线性表 · 顺序检索 · teaching.hpp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sequential_search：找到返回下标，没找到返回空 optional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874520"/>
          </a:xfrm>
          <a:prstGeom prst="roundRect">
            <a:avLst>
              <a:gd name="adj" fmla="val 390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【算法10.2】顺序检索：从头比到尾。找到返回下标，没找到返回空 optional。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代价 O(n)。它对数据没有任何要求——这是它唯一的优点，也是全部优点。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std::optional&lt;std::size_t&gt; sequential_search(const std::vector&lt;int&gt;&amp; values, int key)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index = 0; index &lt; values.size(); ++index)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(values[index] == key)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index;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std::nullopt;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3017520"/>
            <a:ext cx="3831336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sequential_search(values, key):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i, value in enumerate(values):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value == key: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i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None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224528"/>
            <a:ext cx="39776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版（modern.py）：同一逻辑，失败返回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297180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30632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接口口径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18888" y="3355848"/>
            <a:ext cx="3758184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「没找到」是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可预期的结果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，不是错误 → 返回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std::nullopt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，不抛异常、不打印。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循环里每轮要测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两个条件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&lt; size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values[index] == key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线性表 · 顺序检索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监视哨：让循环只测一个条件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原书把位置 0 空出来做监视哨：检索前先 </a:t>
            </a:r>
            <a:r>
              <a:rPr lang="en-US" sz="12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dataList[0]-&gt;setKey(K)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从后往前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比较，循环条件只写「当前元素是否等于目标」。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 K = 7（不在表中）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331720"/>
            <a:ext cx="457200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331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715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371600" y="233172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71600" y="2331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715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0" y="233172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828800" y="2331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2715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86000" y="233172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86000" y="2331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286000" y="2715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0" y="233172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43200" y="2331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743200" y="2715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1947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监视哨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43000" y="2148840"/>
            <a:ext cx="0" cy="164592"/>
          </a:xfrm>
          <a:prstGeom prst="line">
            <a:avLst/>
          </a:prstGeom>
          <a:noFill/>
          <a:ln w="19050">
            <a:solidFill>
              <a:srgbClr val="A06A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1188720" y="3017520"/>
            <a:ext cx="173736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从 n 往 0 走，走到 0 时 key 恰好等于 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60020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EAF4E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9204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作用：保证 while 一定终止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2011680"/>
            <a:ext cx="37490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检索不成功时 i 会走到 0，此时终止条件「被迫」成立。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所以不必把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&gt; 0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写进循环条件。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停在原表范围内 = 成功；停在哨兵槽 = 失败。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65760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94360" y="37490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「加速」原理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404164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当一个循环需要测试两个或多个条件时，应尽量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减少测试条件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——比较次数的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会小一点，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阶不变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365760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DF0E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846320" y="37490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什么时候不该用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846320" y="404164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只读输入、并发共享数组、没有额外槽时，不应为省一个边界判断去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改数据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。本书的顺序检索不写输入。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线性表 · 二分检索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有序表：先确定范围，再逐步缩小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5720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有序表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：所有元素按关键码不增或不降排列——一种特殊的线性表。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查英语字典：b 打头靠前翻、z 打头翻到后面；当前页的词在待查词之前就往后翻，反之往前翻。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体现的思想：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先确定待查目标所在的范围，然后逐步缩小范围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，直到找到或找不到。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960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一次比较、三种结果（以递增为例）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0" y="1325880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F1F4F2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0" y="144475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94960" y="144475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a[mid] == 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13258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检索成功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0" y="1984248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F1F4F2"/>
          </a:solidFill>
          <a:ln/>
        </p:spPr>
      </p:sp>
      <p:sp>
        <p:nvSpPr>
          <p:cNvPr id="14" name="Shape 12"/>
          <p:cNvSpPr/>
          <p:nvPr/>
        </p:nvSpPr>
        <p:spPr>
          <a:xfrm>
            <a:off x="5394960" y="210312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394960" y="210312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a[mid] &gt; K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98424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若在表中，一定在它之前 → 丢右半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0" y="2642616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5394960" y="276148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394960" y="276148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a[mid] &lt; K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264261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若在表中，一定在它之后 → 丢左半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FF6E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35204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两条前提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3813048"/>
            <a:ext cx="3758184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表必须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按关键码有序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按下标随机访问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适合数组，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不适合链表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342900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CFE0D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46320" y="35204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813048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区间长度每次至少减半，比较次数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O(log n)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。二分检索是比较典型的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分治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算法，也可以改用递归实现。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线性表 · 二分检索 · teaching.hpp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binary_search：半开区间 [first, last)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651760"/>
          </a:xfrm>
          <a:prstGeom prst="roundRect">
            <a:avLst>
              <a:gd name="adj" fmla="val 275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std::optional&lt;std::size_t&gt; binary_search(const std::vector&lt;int&gt;&amp; sorted_values, int key)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first = 0;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last = sorted_values.size();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(first &lt; last)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写成 first + (last - first) / 2 而不是 (first + last) / 2：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后者在两个下标都很大时会溢出。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std::size_t middle = first + (last - first) / 2;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(sorted_values[middle] == key)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middle;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(sorted_values[middle] &lt; key)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first = middle + 1; 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目标在右半边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last = middle;      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目标在左半边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std::nullopt;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last 指向「最后一个候选的下一个」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0416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初值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= size()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，循环条件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&lt; last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，区间空了就返回空。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3703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55848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只写 last = middle，永不减 1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355848" y="40416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闭区间要写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= mid - 1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 == 0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无符号下标下溢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成天文数字。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3703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44768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中点防溢出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40416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+ (last - first) / 2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，而不是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(first + last) / 2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线性表 · 二分检索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为什么用半开区间：不写 middle − 1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FDF0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闭区间 [low, high]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417320"/>
            <a:ext cx="37490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初值是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 - 1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：空表时就已下溢。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没找到走左半要写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= mid - 1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下标是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std::size_t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 == 0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0 - 1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变成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2⁶⁴ − 1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 bug 在有符号下标上永远暴露不出来。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EAF4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半开区间 [first, last)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417320"/>
            <a:ext cx="37490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= size()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：空表时区间 [0, 0) 直接为空。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走左半：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= middle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；走右半：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= middle + 1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永远不减 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，无符号下标不会下溢。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区间长度 =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- first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，一目了然。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循环不变量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85876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每轮都维持：</a:t>
            </a: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若目标存在，它一定还在 [first, last) 里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。更新边界时必须把已经比较过、不可能命中的中点</a:t>
            </a: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——这就是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= middle + 1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里 +1 的来由，也是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= middle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不必 −1 的原因。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线性表 · 二分检索 · 手算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 trace：在 {1,3,7,8,12,15,18,21} 中查 18 与 14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50292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234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6184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25880" y="1234440"/>
            <a:ext cx="50292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25880" y="1234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16184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0" y="1234440"/>
            <a:ext cx="50292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8800" y="1234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16184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31720" y="1234440"/>
            <a:ext cx="50292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31720" y="1234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16184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834640" y="1234440"/>
            <a:ext cx="502920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34640" y="1234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834640" y="16184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337560" y="1234440"/>
            <a:ext cx="50292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37560" y="1234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337560" y="16184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840480" y="1234440"/>
            <a:ext cx="502920" cy="38404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40480" y="1234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840480" y="16184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343400" y="1234440"/>
            <a:ext cx="50292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43400" y="1234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343400" y="16184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2628900" y="850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第1轮 mid=4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086100" y="1051560"/>
            <a:ext cx="0" cy="164592"/>
          </a:xfrm>
          <a:prstGeom prst="line">
            <a:avLst/>
          </a:prstGeom>
          <a:noFill/>
          <a:ln w="19050">
            <a:solidFill>
              <a:srgbClr val="A06A00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3634740" y="850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第2轮 mid=6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091940" y="1051560"/>
            <a:ext cx="0" cy="164592"/>
          </a:xfrm>
          <a:prstGeom prst="line">
            <a:avLst/>
          </a:prstGeom>
          <a:noFill/>
          <a:ln w="1905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5120640" y="914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 18（命中）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207008"/>
          <a:ext cx="356616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822960"/>
                <a:gridCol w="594360"/>
                <a:gridCol w="502920"/>
                <a:gridCol w="132588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[first,last)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middle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中值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[0,8)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&lt; 18，first = 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[5,8)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命中下标 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37" name="Text 34"/>
          <p:cNvSpPr txBox="1"/>
          <p:nvPr/>
        </p:nvSpPr>
        <p:spPr>
          <a:xfrm>
            <a:off x="45720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 14（失败）</a:t>
            </a:r>
            <a:endParaRPr lang="en-US" sz="12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41448"/>
          <a:ext cx="49377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005840"/>
                <a:gridCol w="731520"/>
                <a:gridCol w="640080"/>
                <a:gridCol w="21945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[first,last)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middle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[0,8)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&lt; 14，first = 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[5,8)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 &gt; 14，last = 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[5,6)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 &gt; 14，last = 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[5,5)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区间为空 → 返回空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39" name="Shape 35"/>
          <p:cNvSpPr/>
          <p:nvPr/>
        </p:nvSpPr>
        <p:spPr>
          <a:xfrm>
            <a:off x="5623560" y="2148840"/>
            <a:ext cx="3063240" cy="2514600"/>
          </a:xfrm>
          <a:prstGeom prst="roundRect">
            <a:avLst>
              <a:gd name="adj" fmla="val 2909"/>
            </a:avLst>
          </a:prstGeom>
          <a:solidFill>
            <a:srgbClr val="FFF6E0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5760720" y="22402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读这两张表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5733288" y="2532888"/>
            <a:ext cx="2843784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每轮比较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，区间长度 8 → 3 → 1 → 0。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失败时并不是「比到最后一个」，而是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区间变空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 14 比较 3 次，不超过 ⌈log₂(8+1)⌉ = 4。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线性表 · 二分检索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10.1　原书例：在 (15,17,18,22,35,51,60,88,93) 中查 18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1F4F2"/>
          </a:solidFill>
          <a:ln/>
        </p:spPr>
      </p:sp>
      <p:pic>
        <p:nvPicPr>
          <p:cNvPr id="8" name="Image 0" descr="fig-10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7611" y="1005840"/>
            <a:ext cx="6228779" cy="19202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0449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原书：闭区间 [low,high]，下标从 1 起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19272"/>
          <a:ext cx="39776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777240"/>
                <a:gridCol w="457200"/>
                <a:gridCol w="502920"/>
                <a:gridCol w="192024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[low,high]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mid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中值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[1,9]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 &gt; 18，high = 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[1,4]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 &lt; 18，low = 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[3,4]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命中（第 3 项）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709160" y="30449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本书：半开区间 [first,last)，下标从 0 起</a:t>
            </a:r>
            <a:endParaRPr lang="en-US" sz="11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319272"/>
          <a:ext cx="39776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868680"/>
                <a:gridCol w="548640"/>
                <a:gridCol w="457200"/>
                <a:gridCol w="178308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[first,last)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middle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中值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[0,9)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 &gt; 18，last = 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[0,4)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命中下标 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4709160" y="406908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中点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(low+high)/2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，走左半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= mid - 1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4370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同一张表、同一个 18：原书比 </a:t>
            </a: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en-US" sz="11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次，本书 </a:t>
            </a: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en-US" sz="11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次就停。两种写法都对，但</a:t>
            </a: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中点落点不同</a:t>
            </a:r>
            <a:r>
              <a:rPr lang="en-US" sz="11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，手算时别混用。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线性表 · 二分检索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10.2　决策树：把所有比较路径同时展开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206240" cy="3017520"/>
          </a:xfrm>
          <a:prstGeom prst="roundRect">
            <a:avLst>
              <a:gd name="adj" fmla="val 2424"/>
            </a:avLst>
          </a:prstGeom>
          <a:solidFill>
            <a:srgbClr val="F1F4F2"/>
          </a:solidFill>
          <a:ln/>
        </p:spPr>
      </p:sp>
      <p:pic>
        <p:nvPicPr>
          <p:cNvPr id="8" name="Image 0" descr="fig-10-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87395"/>
            <a:ext cx="3931920" cy="276297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4023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个元素的决策树；结点旁数字是下标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960120"/>
            <a:ext cx="379476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这棵决策树其实就是一棵 BST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：检索某个值正好走一条从根到对应结点的路径。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比较次数 = 该结点所在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层数 + 1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；最多不超过树的高度。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对同一长度的有序数组，决策树形状是固定的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——与元素的数值无关，只由下标决定。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92040" y="3520440"/>
            <a:ext cx="3794760" cy="777240"/>
          </a:xfrm>
          <a:prstGeom prst="roundRect">
            <a:avLst>
              <a:gd name="adj" fmla="val 9412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0" y="3611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图中查 18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0" y="39044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→ 17 → 18：比较 3 次，18 在第 3 层（根为第 1 层）。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图10.1把一次查找画成区间逐步缩小；图10.2把所有可能的路径同时展开。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线性表 · 二分检索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代价的代数推导：最大检索长度 ⌈log₂(n+1)⌉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3108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比较次数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成功检索的结点数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= 2⁰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= 2¹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= 2²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2ʲ⁻¹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3794760" y="1005840"/>
            <a:ext cx="48920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= 2⁰ + 2¹ + ⋯ + 2ʲ⁻¹ =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2ʲ − 1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时，最大检索长度为 j；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2ʲ − 1 &lt; n ≤ 2ʲ⁺¹ − 1 时为 j + 1；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总的来说：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最大检索长度 = ⌈log₂(n+1)⌉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794760" y="2514600"/>
            <a:ext cx="4892040" cy="1051560"/>
          </a:xfrm>
          <a:prstGeom prst="roundRect">
            <a:avLst>
              <a:gd name="adj" fmla="val 6957"/>
            </a:avLst>
          </a:prstGeom>
          <a:solidFill>
            <a:srgbClr val="1E3D3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977640" y="2578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等概率、n = 2ʲ − 1 时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977640" y="28346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ASL = (1/n) Σ i·2ⁱ⁻¹ = (1/n)(j·2ʲ − 2ʲ + 1)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≈ ((n+1)/n)·log₂(n+1) − 1</a:t>
            </a:r>
            <a:endParaRPr lang="en-US" sz="12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3108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11480"/>
                <a:gridCol w="411480"/>
                <a:gridCol w="411480"/>
                <a:gridCol w="6858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⌈log₂(n+1)⌉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6E0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94360" y="3794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94360" y="4087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较大时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ASL ≈ log₂(n+1) − 1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：平均检索长度与最大检索长度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相近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，因而效率较高。图 10.2 有 9 个结点、4 层，最多比较 4 次。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线性表 · 二分检索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两条硬约束：什么时候才值得用二分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135331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1612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要求事先按关键码排好序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5087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排序本身是一种很费时的操作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。只查一两次的话，排序的代价远大于省下的比较。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2542032"/>
            <a:ext cx="457200" cy="457200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3500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只适用于顺序存储结构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26974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要随机访问中点，所以得是数组；而在顺序结构中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插入和删除都比较困难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（要移动大量元素）。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1E3D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9136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二分检索特别适用于那种</a:t>
            </a: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一经建立就很少改动、而又需要经常检索</a:t>
            </a: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的线性表。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线性表 · 二分检索 · Python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bisect：标准库里的二分，也是半开区间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bisect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3, 3, 3, 7, 9]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bisect.bisect_left(a, 3)  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1：第一个 &gt;= 3 的位置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bisect.bisect_right(a, 3) 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4：第一个 &gt;  3 的位置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bisect.bisect_left(a, 4)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4：不存在时就是插入点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出现了几次：右界 − 左界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bisect.bisect_right(a, 3) - bisect.bisect_left(a, 3)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查找 x 是否存在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contains(a, x):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bisect.bisect_left(a, x)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 &lt; len(a) and a[i] == x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bisect.insort(a, 5)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保持有序地插入：找位置 O(log n)，挪动 O(n)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4297680"/>
            <a:ext cx="457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42976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43000" y="4297680"/>
            <a:ext cx="457200" cy="29260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42976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00200" y="4297680"/>
            <a:ext cx="457200" cy="29260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00200" y="42976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57400" y="4297680"/>
            <a:ext cx="457200" cy="29260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057400" y="42976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14600" y="4297680"/>
            <a:ext cx="457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14600" y="42976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71800" y="4297680"/>
            <a:ext cx="457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71800" y="42976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4005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left = 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2578608" y="4005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right = 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520440" y="4297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[left, right) 正是所有 3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960120"/>
          <a:ext cx="265176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7315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C++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bisect_left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lower_bound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第一个 ≥ x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bisect_right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upper_bound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第一个 &gt; x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6035040" y="21031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CFE0D8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17220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binary_search 同一不变量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172200" y="248716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搜索区间都是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[lo, hi)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，循环结束时 lo == hi 就是答案位置；找不到时它就是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插入点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，不需要再写 −1 的特判。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035040" y="36118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17220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二分答案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172200" y="39959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OJ 里常把「答案 x 是否可行」写成单调的判定函数，再对 x 二分——要求的仍是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单调性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这一条硬约束。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线性表 · 分块检索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分块检索（索引检索）：块间有序，块内无序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pic>
        <p:nvPicPr>
          <p:cNvPr id="8" name="Image 0" descr="fig-10-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1632" y="1005840"/>
            <a:ext cx="4780735" cy="17373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880360"/>
            <a:ext cx="51206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n 个元素分成 b 块：后一块的最小关键码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不小于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前一块的最大关键码；块内部可以无序。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另造一张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块索引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：每项记下该块的最大关键码（Key）、起始位置（link），以及当前记录数（count）。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10.3 中每块后留了空位（下标 5、11）供块内插入，块起点为 0、6、12；块不必填满，所以要记 count。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06440" y="2880360"/>
            <a:ext cx="2880360" cy="1783080"/>
          </a:xfrm>
          <a:prstGeom prst="roundRect">
            <a:avLst>
              <a:gd name="adj" fmla="val 4103"/>
            </a:avLst>
          </a:prstGeom>
          <a:solidFill>
            <a:srgbClr val="FFF6E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0" y="2971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两个阶段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16168" y="3264408"/>
            <a:ext cx="2660904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确定所在的块：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顺序或二分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都行；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块内检索：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只能顺序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（块内无序）。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线性表 · 分块检索 · 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10.3 的主表：查 44 与查 23，块间有序只负责排除别的块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591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14400" y="1207008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1591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371600" y="1207008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7160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1591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0" y="1207008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82880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1591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86000" y="1207008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8600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286000" y="1591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0" y="1207008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43200" y="1591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0" y="1207008"/>
            <a:ext cx="457200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0040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200400" y="1591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0" y="1207008"/>
            <a:ext cx="457200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5760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0" y="1591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114800" y="1207008"/>
            <a:ext cx="457200" cy="38404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1480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114800" y="1591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1207008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0" y="1591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029200" y="1207008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02920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0" y="1591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86400" y="1207008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0" y="1591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943600" y="1207008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4360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943600" y="1591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00800" y="1207008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0080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0" y="1591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858000" y="1207008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85800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858000" y="1591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315200" y="1207008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31520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7315200" y="1591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772400" y="1207008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77240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86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7772400" y="1591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229600" y="1207008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22960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8229600" y="1591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457200" y="9418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 0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3200400" y="9418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 1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5943600" y="9418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 2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274320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548640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3840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索引项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块 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块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块 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link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" name="Text 62"/>
          <p:cNvSpPr txBox="1"/>
          <p:nvPr/>
        </p:nvSpPr>
        <p:spPr>
          <a:xfrm>
            <a:off x="4526280" y="1847088"/>
            <a:ext cx="41605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每块后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留一个空位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（下标 5、11），供块内插入用；所以块起点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0、6、12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是块内最大关键码；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记该块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有几个元素。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457200" y="292608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EAF4EF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640080" y="2990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 44 → 成功</a:t>
            </a:r>
            <a:endParaRPr lang="en-US" sz="1300" dirty="0"/>
          </a:p>
        </p:txBody>
      </p:sp>
      <p:sp>
        <p:nvSpPr>
          <p:cNvPr id="68" name="Text 65"/>
          <p:cNvSpPr txBox="1"/>
          <p:nvPr/>
        </p:nvSpPr>
        <p:spPr>
          <a:xfrm>
            <a:off x="594360" y="3310128"/>
            <a:ext cx="374904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索引：比较 22（44 更大）、48（44 ≤ 48）→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只能在块 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 = 6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起顺序比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5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个：33、42、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命中。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4709160" y="292608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DF0EE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4892040" y="2990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 23 → 失败</a:t>
            </a:r>
            <a:endParaRPr lang="en-US" sz="1300" dirty="0"/>
          </a:p>
        </p:txBody>
      </p:sp>
      <p:sp>
        <p:nvSpPr>
          <p:cNvPr id="71" name="Text 68"/>
          <p:cNvSpPr txBox="1"/>
          <p:nvPr/>
        </p:nvSpPr>
        <p:spPr>
          <a:xfrm>
            <a:off x="4846320" y="3310128"/>
            <a:ext cx="374904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同样落到块 1（22 &lt; 23 ≤ 48）。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块内扫完 5 个都不等 → 失败。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不能因为 23 小于块最大值 48 就断言存在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：块内仍然无序。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线性表 · 分块检索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分块的 ASL：两个阶段之和，s = √n 时最小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个元素均分成 b 块、每块 s 个（n = s × b），等概率：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第一阶段用二分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ASL ≈ log₂(n/s + 1) + (s − 1)/2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第一阶段用顺序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7373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ASL = (b+1)/2 + (s+1)/2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(n + s²)/(2s) + 1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= √n 时，顺序分块的 ASL 取最小值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√n + 1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。原书对照：n = 10000，分 100 块、每块 100 个——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4572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平均比较次数（n = 10000）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顺序检索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5000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分块检索（100 × 100）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二分检索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最多 14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257800" y="310896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CFE0D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394960" y="32004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394960" y="3493008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≈ √n 只是「索引顺序查、每块等长」这个成本模型下的选择；索引改用二分后最优块数会变化。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不是定义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线性表 · 分块检索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分块的优缺点 &amp; 线性表三种检索对比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CFE0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515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优点：插入删除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344168"/>
            <a:ext cx="3758184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只要找到结点应属的块，在块内插删即可。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插入可以放在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块尾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；删除时把本块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最后一个记录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移到被删位置，不必移动大量结点。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DF0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0515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代价与风险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18888" y="1344168"/>
            <a:ext cx="3758184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多一个辅助索引数组；要先把表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分块排序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大量插删使块中结点分布很不均匀时，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检索速度下降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外存上常以一次 I/O 读取的一页作为一块。</a:t>
            </a:r>
            <a:endParaRPr lang="en-US" sz="10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03120"/>
                <a:gridCol w="219456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顺序检索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二分检索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分块检索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对表的要求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无，可任意排列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有序 + 顺序存储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块间有序，块内任意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时间（平均/最差）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Θ(n)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Θ(log n)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介于二者之间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插入删除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困难（移动元素）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较容易（块内）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效率最低，限制最少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效率最高，限制较多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介于二者之间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教学版 · teaching.hpp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本章四件东西放在同一个文件里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13385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113385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033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sequential_search / binary_search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12984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线性表上的两种检索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664208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179222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179222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IntSet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19568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不重复整数集合与集合运算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322576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" y="245059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6928" y="245059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10.3.1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2350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elf_hash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2615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ELF 散列函数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980944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F1F4F2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310896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31089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10.3.3–4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30083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HashTable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32735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线性探测的闭散列表，含「墓碑」删除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806440" y="1005840"/>
            <a:ext cx="2880360" cy="146304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3600" y="1097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与工程版 modern.hpp 的分工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0" y="138988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教学版把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noexcept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和压成一行的 if 分支全部展开，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其余逻辑一模一样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06440" y="2606040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CFE0D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943600" y="2697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没有三法则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0" y="299008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这一章没有手写存储管理——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std::vector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在这里只是「一块连续的槽位」，不是被替换掉的教学内容。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749040"/>
            <a:ext cx="51206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源码：code/ch10/search_hash/ —— teaching.hpp · modern.hpp · modern.py · demo.cpp · test.cpp。后面各节就是把它拆开逐段讲。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集合的检索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集合只关心一个元素在不在里面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数学特性 · IntSet 接口 · 位向量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 集合 · 数学特性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集合：确定的、相异的对象，次序无关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2062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集合由若干个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确定的、相异的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对象构成；一个集合中不包含两个完全相同的元素。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{1,4} 和 {4,1} 是同一个集合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——元素的次序无关紧要。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元素多时用 </a:t>
            </a: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{x | x 应满足的条件}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，条件是一个谓词。元素个数为零的是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空集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∅。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960120"/>
          <a:ext cx="37947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5603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 / 运算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成员 x ∈ A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 是 A 的元素（最基本）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子集 A ⊆ B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的每个元素都在 B 中；B 是 A 的超集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 A ∪ B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至少属于 A、B 之一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 A ∩ B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A、B 的共同元素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 A − B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属于 A 但不属于 B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幂集 P(A)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的所有子集的全体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154680"/>
            <a:ext cx="4206240" cy="1508760"/>
          </a:xfrm>
          <a:prstGeom prst="roundRect">
            <a:avLst>
              <a:gd name="adj" fmla="val 4848"/>
            </a:avLst>
          </a:prstGeom>
          <a:solidFill>
            <a:srgbClr val="F1F4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32186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例：A = {1,2,a,b,c}，B = {1,3,b,d}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5204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∪ B = {1,2,3,a,b,c,d}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∩ B = {1,b}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− B = {2,a,c}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{a,b,c} 时 P(A) 有 8 个元素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352044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每个集合都是其本身的子集；空集是任何集合的子集。A ⊆ B 且 A ≠ B 才是真子集。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 集合 · 接口口径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「x 属于 S」是一个命题，不是一个位置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2148840"/>
          </a:xfrm>
          <a:prstGeom prst="roundRect">
            <a:avLst>
              <a:gd name="adj" fmla="val 340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可预期的失败 → 返回 bool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71600"/>
            <a:ext cx="374904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插入一个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已经在里面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的键 →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删除一个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不在里面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的键 →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都是正常、可预期的失败：返回「没做成」，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不抛异常、不打印一行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3977640" cy="2148840"/>
          </a:xfrm>
          <a:prstGeom prst="roundRect">
            <a:avLst>
              <a:gd name="adj" fmla="val 3404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空集的两个方向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371600"/>
            <a:ext cx="374904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对任意元素都有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∉ ∅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但子集关系方向不同：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任何集合都包含空集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，空集也包含自身。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可拿来测试的代数性质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611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∩ B = B ∩ 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21408" y="361188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121408" y="3611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∩ A = 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85616" y="361188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785616" y="3611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∩ ∅ = 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49824" y="361188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49824" y="3611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⊇ 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14032" y="361188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14032" y="3611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⊇ ∅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示例测试不只核对一次结果，还要用这些性质防止实现「碰巧对一组输入」。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 集合 · 计算机中的集合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基类型、幂集，以及同一接口下的不同结构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0241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计算机所支持的集合，其</a:t>
            </a: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基类型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一般是有限、顺序类型。集合类型的值集是其基类型值集的</a:t>
            </a: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幂集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，集合类型的每个值是幂集的一个子集。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91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给全集每个元素分配一个二进制位，一个集合就正好是一个</a:t>
            </a:r>
            <a:r>
              <a:rPr lang="en-US" sz="11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位串</a:t>
            </a:r>
            <a:r>
              <a:rPr lang="en-US" sz="1150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（后面的位向量）。</a:t>
            </a:r>
            <a:endParaRPr lang="en-US" sz="11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53035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18872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底层结构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contains 代价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线性表 + 顺序检索（本章 IntSet）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很小的集合，实现简单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有序表 + 二分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O(log n)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少改动、常查询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二叉搜索树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与树高相关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需要有序遍历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散列表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期望 O(1)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规模大、精确查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位向量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全集固定而且不大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989320" y="23317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6E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126480" y="2423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先把接口钉死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2715768"/>
            <a:ext cx="2423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erase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只回答在不在，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intersection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用检索组合出来。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换成散列表时，调用方不用改。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 集合 · teaching.hpp · IntSet（上）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insert / erase / contains：都落到顺序检索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760720" cy="3749040"/>
          </a:xfrm>
          <a:prstGeom prst="roundRect">
            <a:avLst>
              <a:gd name="adj" fmla="val 19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614416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IntSet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插入。已经有了就返回 false——集合不含重复元素，这是可预期状态，不是错误。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insert(int value)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(contains(value))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values_.push_back(value);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erase(int value)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std::optional&lt;std::size_t&gt; found = sequential_search(values_, value);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(!found)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values_.erase(values_.begin() + static_cast&lt;std::ptrdiff_t&gt;(*found));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contains(int value) const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sequential_search(values_, value).has_value();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46520" y="960120"/>
            <a:ext cx="2240280" cy="2331720"/>
          </a:xfrm>
          <a:prstGeom prst="roundRect">
            <a:avLst>
              <a:gd name="adj" fmla="val 3265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051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三个运算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56248" y="1344168"/>
            <a:ext cx="2020824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：先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查重，没有才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push_back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erase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：用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sequential_search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拿到下标，再从 vector 里删掉。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：顺序检索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has_value()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342900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35204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813048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每个运算都是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——瓶颈全在「查一个元素在不在」。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 集合 · teaching.hpp · IntSet（下）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intersection / includes：用 contains 组合出来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00" cy="3749040"/>
          </a:xfrm>
          <a:prstGeom prst="roundRect">
            <a:avLst>
              <a:gd name="adj" fmla="val 19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340096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交集：本集合里凡是对方也有的，都收进结果。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IntSet intersection(const IntSet&amp; other) const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IntSet result;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value : values_)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(other.contains(value))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(void)result.insert(value);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result;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包含：对方的每个元素本集合都得有。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includes(const IntSet&amp; other) const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value : other.values_)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(!contains(value))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false;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size() const { return values_.size();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std::vector&lt;int&gt; values_;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172200" y="96012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1E3D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024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交集的代价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325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O(n·m)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次循环 × 每次 O(m) 的 contains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256032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2651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节的伏笔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94436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散列就是来把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 压成 O(1)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的——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接口一个字都不用改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384048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CFE0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09360" y="3931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(void)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42245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交集里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不会失败（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values_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无重复），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(void)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表明有意忽略返回值。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 集合 · 位向量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有限全集上的位表示：交并差 = 按位与 / 或 / A &amp; ~B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全集 </a:t>
            </a: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{a,b,c,d,e,f,g,h}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从低位到高位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依次对应这 8 个元素（位串右端是 a）：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2984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127248" y="12984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511296" y="12984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895344" y="12984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279392" y="12984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2984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47488" y="12984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31536" y="12984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{a,c,f}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0" y="15544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43200" y="1554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27248" y="15544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27248" y="1554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11296" y="1554480"/>
            <a:ext cx="384048" cy="365760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11296" y="1554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95344" y="15544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95344" y="1554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79392" y="15544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79392" y="1554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1554480"/>
            <a:ext cx="384048" cy="365760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63440" y="1554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47488" y="15544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47488" y="1554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31536" y="1554480"/>
            <a:ext cx="384048" cy="365760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31536" y="1554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= {b,c,f,g}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743200" y="20116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743200" y="20116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127248" y="2011680"/>
            <a:ext cx="384048" cy="365760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127248" y="20116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511296" y="2011680"/>
            <a:ext cx="384048" cy="365760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511296" y="20116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895344" y="20116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895344" y="20116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279392" y="20116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279392" y="20116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63440" y="2011680"/>
            <a:ext cx="384048" cy="365760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663440" y="20116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047488" y="2011680"/>
            <a:ext cx="384048" cy="365760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047488" y="20116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431536" y="20116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431536" y="20116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∩ B = {c,f}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2743200" y="24688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743200" y="24688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127248" y="24688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127248" y="24688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511296" y="2468880"/>
            <a:ext cx="384048" cy="365760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511296" y="24688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895344" y="24688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895344" y="24688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279392" y="24688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279392" y="24688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663440" y="2468880"/>
            <a:ext cx="384048" cy="365760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663440" y="24688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047488" y="24688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047488" y="24688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431536" y="24688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431536" y="24688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5952744" y="2468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&amp; B</a:t>
            </a:r>
            <a:endParaRPr 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45720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∪ B = {a,b,c,f,g}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2743200" y="29260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2743200" y="29260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3127248" y="2926080"/>
            <a:ext cx="384048" cy="365760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127248" y="29260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511296" y="2926080"/>
            <a:ext cx="384048" cy="365760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3511296" y="29260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3895344" y="29260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3895344" y="29260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4279392" y="29260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4279392" y="29260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4663440" y="2926080"/>
            <a:ext cx="384048" cy="365760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663440" y="29260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5047488" y="2926080"/>
            <a:ext cx="384048" cy="365760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5047488" y="29260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5431536" y="2926080"/>
            <a:ext cx="384048" cy="365760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5431536" y="29260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5952744" y="2926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| B</a:t>
            </a:r>
            <a:endParaRPr lang="en-US" sz="1100" dirty="0"/>
          </a:p>
        </p:txBody>
      </p:sp>
      <p:sp>
        <p:nvSpPr>
          <p:cNvPr id="86" name="Text 84"/>
          <p:cNvSpPr txBox="1"/>
          <p:nvPr/>
        </p:nvSpPr>
        <p:spPr>
          <a:xfrm>
            <a:off x="45720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\ B = {a}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2743200" y="33832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2743200" y="33832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3127248" y="33832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3127248" y="33832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3511296" y="33832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3511296" y="33832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3895344" y="33832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3895344" y="33832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4279392" y="33832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4279392" y="33832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4663440" y="33832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4663440" y="33832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5047488" y="3383280"/>
            <a:ext cx="3840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5047488" y="33832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5431536" y="3383280"/>
            <a:ext cx="384048" cy="365760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5431536" y="33832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5952744" y="3383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&amp; ~B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6629400" y="1298448"/>
            <a:ext cx="2057400" cy="2194560"/>
          </a:xfrm>
          <a:prstGeom prst="roundRect">
            <a:avLst>
              <a:gd name="adj" fmla="val 3556"/>
            </a:avLst>
          </a:prstGeom>
          <a:solidFill>
            <a:srgbClr val="FFF6E0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6766560" y="13898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位向量（bitmap）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6739128" y="1682496"/>
            <a:ext cx="1837944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一次机器指令并行处理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或 64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个元素。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「属于」只需检查对应位；并交差只改比特位，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不移动数据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07" name="Text 105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集合比数组的操作更加便捷：数组的插入删除要大量移动数据，而集合的并、交、差只需修改相应比特位。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 集合 · 位向量 · 例 10.1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0～15 之间的奇素数：一次按位与完成求交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位向量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从右到左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表示自然数 0～15（最右一位是 0）：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3258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13258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310128" y="13258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13258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968496" y="13258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13258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13258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956048" y="13258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285232" y="13258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5614416" y="13258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13258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272784" y="13258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13258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931152" y="13258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7260336" y="13258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132588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1600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素数 {13,11,7,5,3,2}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51760" y="1600200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51760" y="1600200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80944" y="1600200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980944" y="1600200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10128" y="1600200"/>
            <a:ext cx="329184" cy="38404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10128" y="1600200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39312" y="1600200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39312" y="1600200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968496" y="1600200"/>
            <a:ext cx="329184" cy="38404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68496" y="1600200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97680" y="1600200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97680" y="1600200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26864" y="1600200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26864" y="1600200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56048" y="1600200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956048" y="1600200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285232" y="1600200"/>
            <a:ext cx="329184" cy="38404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285232" y="1600200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614416" y="1600200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614416" y="1600200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43600" y="1600200"/>
            <a:ext cx="329184" cy="38404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943600" y="1600200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72784" y="1600200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272784" y="1600200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01968" y="1600200"/>
            <a:ext cx="329184" cy="38404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601968" y="1600200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931152" y="1600200"/>
            <a:ext cx="329184" cy="38404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931152" y="1600200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260336" y="1600200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260336" y="1600200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589520" y="1600200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589520" y="1600200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21671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奇数 {15,13,…,3,1}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651760" y="2167128"/>
            <a:ext cx="329184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651760" y="216712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980944" y="2167128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980944" y="216712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310128" y="2167128"/>
            <a:ext cx="329184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310128" y="216712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639312" y="2167128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639312" y="216712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968496" y="2167128"/>
            <a:ext cx="329184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3968496" y="216712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297680" y="2167128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297680" y="216712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626864" y="2167128"/>
            <a:ext cx="329184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626864" y="216712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956048" y="2167128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4956048" y="216712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285232" y="2167128"/>
            <a:ext cx="329184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285232" y="216712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5614416" y="2167128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5614416" y="216712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943600" y="2167128"/>
            <a:ext cx="329184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5943600" y="216712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272784" y="2167128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6272784" y="216712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6601968" y="2167128"/>
            <a:ext cx="329184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6601968" y="216712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6931152" y="2167128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6931152" y="216712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7260336" y="2167128"/>
            <a:ext cx="329184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7260336" y="216712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7589520" y="2167128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7589520" y="216712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457200" y="27340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按位与 = 奇素数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2651760" y="2734056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2651760" y="2734056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2980944" y="2734056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2980944" y="2734056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310128" y="2734056"/>
            <a:ext cx="329184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3310128" y="2734056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3639312" y="2734056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3639312" y="2734056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3968496" y="2734056"/>
            <a:ext cx="329184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3968496" y="2734056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4297680" y="2734056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4297680" y="2734056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4626864" y="2734056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4626864" y="2734056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4956048" y="2734056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4956048" y="2734056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5285232" y="2734056"/>
            <a:ext cx="329184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5285232" y="2734056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5614416" y="2734056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5614416" y="2734056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5943600" y="2734056"/>
            <a:ext cx="329184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5943600" y="2734056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6272784" y="2734056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6272784" y="2734056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6601968" y="2734056"/>
            <a:ext cx="329184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6601968" y="2734056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6931152" y="2734056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6931152" y="2734056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7260336" y="2734056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7260336" y="2734056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7589520" y="2734056"/>
            <a:ext cx="3291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7589520" y="2734056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457200" y="342900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1E3D34"/>
          </a:solidFill>
          <a:ln/>
        </p:spPr>
      </p:sp>
      <p:sp>
        <p:nvSpPr>
          <p:cNvPr id="124" name="Text 122"/>
          <p:cNvSpPr txBox="1"/>
          <p:nvPr/>
        </p:nvSpPr>
        <p:spPr>
          <a:xfrm>
            <a:off x="640080" y="3493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100" dirty="0"/>
          </a:p>
        </p:txBody>
      </p:sp>
      <p:sp>
        <p:nvSpPr>
          <p:cNvPr id="125" name="Text 123"/>
          <p:cNvSpPr txBox="1"/>
          <p:nvPr/>
        </p:nvSpPr>
        <p:spPr>
          <a:xfrm>
            <a:off x="640080" y="3794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{13, 11, 7, 5, 3}</a:t>
            </a:r>
            <a:endParaRPr lang="en-US" sz="2400" dirty="0"/>
          </a:p>
        </p:txBody>
      </p:sp>
      <p:sp>
        <p:nvSpPr>
          <p:cNvPr id="126" name="Shape 124"/>
          <p:cNvSpPr/>
          <p:nvPr/>
        </p:nvSpPr>
        <p:spPr>
          <a:xfrm>
            <a:off x="4709160" y="342900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FF6E0"/>
          </a:solidFill>
          <a:ln/>
        </p:spPr>
      </p:sp>
      <p:sp>
        <p:nvSpPr>
          <p:cNvPr id="127" name="Text 125"/>
          <p:cNvSpPr txBox="1"/>
          <p:nvPr/>
        </p:nvSpPr>
        <p:spPr>
          <a:xfrm>
            <a:off x="4846320" y="35204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代价与前提</a:t>
            </a:r>
            <a:endParaRPr lang="en-US" sz="1200" dirty="0"/>
          </a:p>
        </p:txBody>
      </p:sp>
      <p:sp>
        <p:nvSpPr>
          <p:cNvPr id="128" name="Text 126"/>
          <p:cNvSpPr txBox="1"/>
          <p:nvPr/>
        </p:nvSpPr>
        <p:spPr>
          <a:xfrm>
            <a:off x="4818888" y="3813048"/>
            <a:ext cx="3758184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空间与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全集大小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成正比：十亿个可能值只出现几十个时很浪费，改用散列或树。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要先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固定「元素 → 位号」映射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，否则同样的位串可能代表不同集合。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散列方法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不比较，直接根据关键码算出存储地址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散列函数 · 开散列 · 闭散列与墓碑 · 效率分析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补充：手算造表 · 扩表再散列 · OJ 17968 / 17975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基本思想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能不能不比较，直接算出地址？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84632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前面的检索都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基于关键码比较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：顺序、分块靠「等于 / 不等于」，二分、树形靠「大于 / 等于 / 小于」。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这些方法的平均检索长度都与 n 有关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，n 很大时用户可能无法忍受。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启发：读数组元素 </a:t>
            </a: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a[i]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是由起始地址和下标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直接算出来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的，Θ(1)，与 n 无关。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96012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0" y="11430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0" y="1143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 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03720" y="1325880"/>
            <a:ext cx="365760" cy="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0" y="11430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0" y="1143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h(K)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09560" y="1554480"/>
            <a:ext cx="0" cy="36576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806440" y="2011680"/>
            <a:ext cx="411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06440" y="23774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217920" y="2011680"/>
            <a:ext cx="411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23774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629400" y="2011680"/>
            <a:ext cx="411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9400" y="23774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040880" y="2011680"/>
            <a:ext cx="411480" cy="365760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40880" y="20116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23774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452360" y="2011680"/>
            <a:ext cx="411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52360" y="23774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863840" y="2011680"/>
            <a:ext cx="411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0" y="23774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557784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散列表：每个位置叫一个槽（slot）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38328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FF6E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34747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散列方法的主要思想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376732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以关键码 K 为自变量，通过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散列函数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h(K) 算出函数值，解释为结点的存储地址，把关键码和属性一起存进去；检索时用同样的方法算地址，到那个单元里取。按这种方式构造的存储结构叫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散列表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（hash table）。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例 10.2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冲突是怎么来的：14 个关键字放进 26 个槽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5120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h₁(K) = K[0] − 'a'：(and, array)、(else, end)、(while, with)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三对冲突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。改成首尾字母序号的平均值：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h₂(K) = (K[0] + K[last] − 2×'a') / 2</a:t>
            </a:r>
            <a:endParaRPr lang="en-US" sz="12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2514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02920"/>
                <a:gridCol w="868680"/>
                <a:gridCol w="50292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首+尾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a+d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(0+3)/2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array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a+y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(0+24)/2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begin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b+n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(1+13)/2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d+o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(3+14)/2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else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e+e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(4+4)/2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e+d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(4+3)/2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f+r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(5+17)/2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63240" y="1920240"/>
          <a:ext cx="2514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02920"/>
                <a:gridCol w="868680"/>
                <a:gridCol w="50292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首+尾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g+o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(6+14)/2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i+f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(8+5)/2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repeat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r+t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(17+19)/2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then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t+n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(19+13)/2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until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u+l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(20+11)/2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while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w+e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(22+4)/2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with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w+h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(22+7)/2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57200" y="4114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整数除法向下取整；14 个值两两不同 → 无冲突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806440" y="932688"/>
            <a:ext cx="2880360" cy="3063240"/>
          </a:xfrm>
          <a:prstGeom prst="roundRect">
            <a:avLst>
              <a:gd name="adj" fmla="val 2540"/>
            </a:avLst>
          </a:prstGeom>
          <a:solidFill>
            <a:srgbClr val="F1F4F2"/>
          </a:solidFill>
          <a:ln/>
        </p:spPr>
      </p:sp>
      <p:pic>
        <p:nvPicPr>
          <p:cNvPr id="13" name="Image 0" descr="fig-10-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176782"/>
            <a:ext cx="2697480" cy="25476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806440" y="40416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10.5　26 个槽装 14 个关键码，空槽是有意留的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术语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负载因子、冲突与同义词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24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负载因子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325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= N / M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202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M：表的空间大小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N：填入的结点数（又称装填因子）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960120"/>
            <a:ext cx="539496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一般情况下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散列表的空间必须比结点的集合大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：浪费一些空间，换取检索效率。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散列函数对不相等的关键码算出相同地址叫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（collision），这两个关键码称为该散列函数的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同义词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实际应用中很少有不产生冲突的散列函数，必须考虑冲突时怎么办。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采用散列技术时的两个首要问题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3977640" cy="731520"/>
          </a:xfrm>
          <a:prstGeom prst="roundRect">
            <a:avLst>
              <a:gd name="adj" fmla="val 10000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2461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如何构造使结点「分布均匀」的散列函数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639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10.3.1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3246120"/>
            <a:ext cx="3977640" cy="731520"/>
          </a:xfrm>
          <a:prstGeom prst="roundRect">
            <a:avLst>
              <a:gd name="adj" fmla="val 10000"/>
            </a:avLst>
          </a:prstGeom>
          <a:solidFill>
            <a:srgbClr val="F1F4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46320" y="32461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一旦发生冲突，用什么方法解决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3639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10.3.2–10.3.3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代价：散列</a:t>
            </a: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不保持键的次序</a:t>
            </a:r>
            <a:r>
              <a:rPr lang="en-US" sz="11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，不能按范围遍历；装载因子过高或散列不均匀时冲突变多，会退化成接近线性。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散列函数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三条原则 · 1. 除余法 h(x) = x mod 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960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运算尽可能简单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46120" y="960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值域必须在散列表范围内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96012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35040" y="960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尽可能使结点均匀分布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150876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FDF0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挑不好会怎样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1901952"/>
            <a:ext cx="374904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为偶数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：x 偶则 h(x) 偶、x 奇则 h(x) 奇；偶数键多就不匀。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= 2ᵏ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：h(x) 只是 x 二进制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最右 k 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= 10ᵏ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：只是最右 k 个十进制位。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它们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 x 的全部比特位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，不合要求。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50876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EAF4E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通常选一个质数作 M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1901952"/>
            <a:ext cx="374904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mod M 就依赖于 x 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，增大均匀分布的可能。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优点：实现简单；M 可运行时确定；常数时间。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要选与数据规律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无公因子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的素数。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8404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潜在缺点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413308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连续的关键码映射成连续的散列值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：能保证连续键不冲突，但要占据连续的数组单元，在某些实现中可能降低检索性能。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散列函数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乘余取整法 · 3. 平方取中法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乘余取整法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hash(K) = ⌊ n × (A × K mod 1) ⌋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828800"/>
            <a:ext cx="37490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乘常数 A（0 &lt; A &lt; 1），取乘积的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小数部分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，再乘整数 n 向下取整。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n 的选择无关紧要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。地址空间 p 位时取 n = 2ᵖ，地址就是 A×K 小数点后最左 p 位。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Knuth：A 可取任何值，最佳选择与数据特征有关；一般取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黄金分割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 = (√5 − 1)/2 ≈ 0.6180339 最理想。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397764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平方取中法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417320"/>
            <a:ext cx="374904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整数相除通常比相乘慢——有意避开除余法的除法可以提高运行速度。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做法：先求关键码的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以扩大相近数的差别，再根据表长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取中间几位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（往往取二进制位）。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为什么均匀：乘积的中间几位与乘数的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每一数位都相关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931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平方取中和折叠都试图把关键码不同位置的信息</a:t>
            </a: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混在一起</a:t>
            </a: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散列函数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数字分析法 · 5. 基数转换法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数字分析法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371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个 d 位数，每位可能有 r 种符号；选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各种符号分布均匀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的若干位作地址。均匀度：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λₖ = Σᵢ (αᵢᵏ − n/r)²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23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αᵢᵏ：第 i 个符号在第 k 位出现的次数；</a:t>
            </a:r>
            <a:r>
              <a:rPr lang="en-US" sz="10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λₖ 越小越均匀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 10.5 学号形态（n = 8，r = 10，n/r = 0.8）：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127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992148 991269 990527 991630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991805 991558 992047 990001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393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λ₁ = λ₂ = 57.6，λ₃ = 17.6，λ₄ = λ₅ = λ₆ = 5.6 → 3 位地址取第</a:t>
            </a: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④⑤⑥位</a:t>
            </a:r>
            <a:r>
              <a:rPr lang="en-US" sz="10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；取前三位等于把记录</a:t>
            </a: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挤进少数几个槽</a:t>
            </a:r>
            <a:r>
              <a:rPr lang="en-US" sz="10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只适用于事先知道全部关键码各位分布的情况。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960120"/>
            <a:ext cx="397764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基数转换法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把关键码看成另一种进制的数，再转换成原来进制，选其中几位作地址。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19202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210485₁₃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2×13⁵ + 1×13⁴ + 0×13³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+ 4×13² + 8×13 + 5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742586 + 28561 + 0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+ 676 + 104 + 5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771932₁₀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表长 10000 → 取低 4 位 </a:t>
            </a:r>
            <a:r>
              <a:rPr lang="en-US" sz="11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1932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3886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通常要求两个基数</a:t>
            </a: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互素</a:t>
            </a: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，且新基数比原基数大。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散列函数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折叠法：ISBN 0-442-20586-4 → 4 位地址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5720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关键码位数很多、平方取中太复杂时：把关键码分割成位数相同的几部分（最后一部分可以不同），取叠加和（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舍去进位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）。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馆藏书不到 10000 种时，用 10 位 ISBN 构造 4 位散列函数：从低位起分成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5864 | 4220 | 04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57800" y="96012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pic>
        <p:nvPicPr>
          <p:cNvPr id="9" name="Image 0" descr="fig-10-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072064"/>
            <a:ext cx="3246120" cy="1458609"/>
          </a:xfrm>
          <a:prstGeom prst="rect">
            <a:avLst/>
          </a:prstGeom>
        </p:spPr>
      </p:pic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40233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移位叠加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分界叠加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各段直接按位相加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相邻段反向后再加（4220 → 0224）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5864 + 4220 + 04 = [1]0088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5864 + 0224 + 04 = 6092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h(K)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0088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6092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比喻：分界叠加是把数字写在透明纸上、从低位</a:t>
            </a:r>
            <a:r>
              <a:rPr lang="en-US" sz="10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折起来</a:t>
            </a: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再相加；移位叠加是沿折缝</a:t>
            </a:r>
            <a:r>
              <a:rPr lang="en-US" sz="10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裁开</a:t>
            </a: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再相加。无论哪种，最后仍要对表长取模。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散列函数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ELFhash：UNIX System V R4 的字符串散列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 ELF（executable and linking format）文件格式。结果 h 初始为 0，对每个字符：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1F4F2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463040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14630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左移加字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1920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(h &lt;&lt; 4) + 当前字符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77440" y="1938528"/>
            <a:ext cx="182880" cy="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60320" y="13716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1F4F2"/>
          </a:solidFill>
          <a:ln/>
        </p:spPr>
      </p:sp>
      <p:sp>
        <p:nvSpPr>
          <p:cNvPr id="15" name="Shape 13"/>
          <p:cNvSpPr/>
          <p:nvPr/>
        </p:nvSpPr>
        <p:spPr>
          <a:xfrm>
            <a:off x="2670048" y="1463040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670048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14630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取高 4 位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670048" y="1920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h &amp; 0xF0000000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80560" y="1938528"/>
            <a:ext cx="182880" cy="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663440" y="13716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1F4F2"/>
          </a:solidFill>
          <a:ln/>
        </p:spPr>
      </p:sp>
      <p:sp>
        <p:nvSpPr>
          <p:cNvPr id="21" name="Shape 19"/>
          <p:cNvSpPr/>
          <p:nvPr/>
        </p:nvSpPr>
        <p:spPr>
          <a:xfrm>
            <a:off x="4773168" y="1463040"/>
            <a:ext cx="329184" cy="329184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73168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14630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折回低位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773168" y="1920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若 g ≠ 0：h ^= g &gt;&gt; 24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0" y="1938528"/>
            <a:ext cx="182880" cy="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766560" y="13716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1F4F2"/>
          </a:solidFill>
          <a:ln/>
        </p:spPr>
      </p:sp>
      <p:sp>
        <p:nvSpPr>
          <p:cNvPr id="27" name="Shape 25"/>
          <p:cNvSpPr/>
          <p:nvPr/>
        </p:nvSpPr>
        <p:spPr>
          <a:xfrm>
            <a:off x="6876288" y="1463040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76288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269480" y="14630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清高 4 位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76288" y="1920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&amp;= ~g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最后得到的长整数 h 对散列表长取余，就是在表中的位置。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306324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FF6E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94360" y="31546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为什么好用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3447288"/>
            <a:ext cx="3758184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对长字符串和短字符串都很有效。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字符串中每个字符都有同样的作用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能比较均匀地把字符串分布在散列表中。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306324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DF0E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846320" y="31546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它不是什么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846320" y="344728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ELFHash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不是密码学散列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：只求快和够匀，不抗碰撞、不抗逆向，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不能拿它保存密码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teaching.hpp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elf_hash：逐字节读 unsigned char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697480"/>
          </a:xfrm>
          <a:prstGeom prst="roundRect">
            <a:avLst>
              <a:gd name="adj" fmla="val 271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【算法10.8】ELF 散列：把字符串搅成一个整数。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逐字节读的是 `unsigned char` 而不是 `char`——`char` 在多数平台上是有符号的，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中文等非 ASCII 字节会变成负数，一进位运算就带出符号扩展，散列值随平台而变。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中间值用 32 位的 `std::uint32_t`：ELF 散列是按 32 位定义的。若用 64 位的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`std::size_t`，`hash &lt;&lt; 4` 再加一个字节可能进位到第 32 位，下面只清第 28–31 位，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那一位就永远留着，结果与经典 ELF 散列不同。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std::size_t elf_hash(const std::string&amp; text)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std::uint32_t hash =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(unsigned char character : text)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hash = (hash &lt;&lt; 4U) + character;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左移 4 位，腾出位置放新字节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std::uint32_t high_bits = hash &amp; 0xF0000000U;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溢出到高 4 位的那部分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(high_bits != 0)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hash ^= high_bits &gt;&gt; 24U;   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折回低位，别让它白白丢掉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hash &amp;= ~high_bits;             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再把高 4 位清掉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hash;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30752"/>
          <a:ext cx="44805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92608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字节（UTF-8「中」）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 的变化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 &lt;&lt; 4 + 0xE4 = 0xE4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0xE40 + 0xB8 = 0xEF8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0xEF80 + 0xAD = 0xF02D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120640" y="3730752"/>
            <a:ext cx="3566160" cy="978408"/>
          </a:xfrm>
          <a:prstGeom prst="roundRect">
            <a:avLst>
              <a:gd name="adj" fmla="val 7477"/>
            </a:avLst>
          </a:prstGeom>
          <a:solidFill>
            <a:srgbClr val="FFF6E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257800" y="3822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测试守着的一条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257800" y="4114800"/>
            <a:ext cx="3291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按无符号读得到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0xF02D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；按有符号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读会被符号扩展，得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0x0FFF00DD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（32 位中间值，本机实测）。两者天差地别，这一条能把两种写法分开。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散列函数 · Python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字符串散列：从「字符相加」到 ELFhash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0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34009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sum_hash(s, m):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sum(ord(c) for c in s) % m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weighted_hash(s, m):                </a:t>
            </a:r>
            <a:r>
              <a:rPr lang="en-US" sz="86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位置当权重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sum((i + 1) * ord(c) for i, c in enumerate(s)) % m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elf_hash(s):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 = 0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 in s: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 = (h &lt;&lt; 4) + ord(c)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= h &amp; 0xF0000000      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取最高 4 位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x: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 ^= x &gt;&gt; 24        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折回低位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 &amp;= ~x                         </a:t>
            </a:r>
            <a:r>
              <a:rPr lang="en-US" sz="86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清掉最高 4 位：结果 &lt; 2^28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print(sum_hash("abba", 11), sum_hash("baba", 11))  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 5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print(weighted_hash("abba", 11), weighted_hash("baba", 11))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7 6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print(elf_hash("Hello World"))                      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18131988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6126480" y="9601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异序词全撞车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3441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字符相加与次序无关：abba、baba、aabb 永远同址。乘上位置权重，次序就进了散列值。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23317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不用 uint32 也对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7157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每步都清掉第 28–31 位，h 始终 &lt; 2²⁸，左移 4 位也到不了第 32 位——与 C++ 的 32 位版结果相同。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370332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DF0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讲义里的输出写错了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40873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春季讲义注释写 186219373；实测（Python 与 32 位 C 版一致）是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18131988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散列函数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怎样评价一个散列函数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4300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143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00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同一键必须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得到同一地址。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1F4F2"/>
          </a:solidFill>
          <a:ln/>
        </p:spPr>
      </p:sp>
      <p:sp>
        <p:nvSpPr>
          <p:cNvPr id="12" name="Shape 10"/>
          <p:cNvSpPr/>
          <p:nvPr/>
        </p:nvSpPr>
        <p:spPr>
          <a:xfrm>
            <a:off x="3429000" y="114300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1143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便宜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600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计算成本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不能比检索本身还贵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1F4F2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14300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1143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600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实际键分布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上应尽量均匀——不能只拿一两个键试。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6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2743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关键码本身有规律时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03580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例如学号末两位大量重复，直接取末位会把数据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挤进少数槽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。除留余数法常把表长选成与数据规律无公因子的素数；平方取中和折叠则试图把关键码不同位置的信息混在一起。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06440" y="2651760"/>
            <a:ext cx="2880360" cy="2011680"/>
          </a:xfrm>
          <a:prstGeom prst="roundRect">
            <a:avLst>
              <a:gd name="adj" fmla="val 3636"/>
            </a:avLst>
          </a:prstGeom>
          <a:solidFill>
            <a:srgbClr val="FDF0E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0" y="2743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安全目标是另一回事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3035808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密码学散列还要求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抗碰撞、抗逆向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。本章散列表不承担这些目标。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开散列（拉链法）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开散列：冲突的关键码存到主表之外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10896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pic>
        <p:nvPicPr>
          <p:cNvPr id="8" name="Image 0" descr="fig-10-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89191"/>
            <a:ext cx="2926080" cy="2475914"/>
          </a:xfrm>
          <a:prstGeom prst="rect">
            <a:avLst/>
          </a:prstGeom>
        </p:spPr>
      </p:pic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31089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20040"/>
                <a:gridCol w="274320"/>
                <a:gridCol w="365760"/>
                <a:gridCol w="320040"/>
                <a:gridCol w="320040"/>
                <a:gridCol w="320040"/>
                <a:gridCol w="36576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 mod 11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3794760" y="960120"/>
            <a:ext cx="48920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两类冲突解决：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开散列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把冲突键存在主表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之外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闭散列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存在表中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另一个槽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开散列 = 拉链法 = 分离链接（separate chaining）；这里的「开」指冲突元素移到槽外的链或桶中，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并非开放地址法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每个槽挂一条链表，同址键串在这条链上。插入：算地址接到链上；查找、删除只在那一条链上走。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删一个结点不影响别的链，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不存在「探测序列被截断」的问题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794760" y="374904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CFE0D8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3931920" y="38404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10.7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931920" y="413308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个槽、h(K) = K mod 11，依次插入 77、7、110、95、14、75、62：第 0 槽 2 个、第 3 槽 1 个、第 7 槽 3 个、第 9 槽 1 个。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开散列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链长、α &gt; 1，以及外存上的桶式散列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2062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装载因子 α = n/m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可以大于 1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，链只是变长。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链内无序时：成功查询平均看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半条链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 + α/2），失败查询看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整条链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实现简单；空间上每个结点多一个指针。本章主实现是闭散列，开散列不另写一份。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3840480" cy="1874520"/>
          </a:xfrm>
          <a:prstGeom prst="roundRect">
            <a:avLst>
              <a:gd name="adj" fmla="val 3902"/>
            </a:avLst>
          </a:prstGeom>
          <a:solidFill>
            <a:srgbClr val="F1F4F2"/>
          </a:solidFill>
          <a:ln/>
        </p:spPr>
      </p:sp>
      <p:pic>
        <p:nvPicPr>
          <p:cNvPr id="9" name="Image 0" descr="fig-10-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74661"/>
            <a:ext cx="3657600" cy="16362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846320" y="2880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10.8　B 个存储桶的散列文件组织：h(K) 算出的是</a:t>
            </a:r>
            <a:r>
              <a:rPr lang="en-US" sz="9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桶号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；目录表存 B 个指针，桶由页块串成。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306324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FFF6E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" y="3154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桶式散列的代价按访外次数计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447288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一次访外读目录表，再逐块查桶；平均访外次数约为桶内页块数的一半——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理想是每个桶只有一个页块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。文件增长后要重新组织、改散列函数并加长目录表。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347472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DF0E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98348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拉链法的风险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983480" y="38587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从「表满」变成「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某条链过长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」：分布不均或攻击者构造同址键时，单链退化成长度 n，查找回到 O(n)。工程库会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随机化散列种子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，或链过长时改用平衡树。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开散列 · 手算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例：12 个关键码、H(key) = key mod 13，拉链法造表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 (19, 14, 23, 1, 68, 20, 84, 27, 55, 11, 10, 79)，新结点接在链尾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4114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3E7C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2801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536192"/>
            <a:ext cx="411480" cy="256032"/>
          </a:xfrm>
          <a:prstGeom prst="rect">
            <a:avLst/>
          </a:prstGeom>
          <a:solidFill>
            <a:srgbClr val="CFE0D8"/>
          </a:solidFill>
          <a:ln w="9525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5361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60120" y="1664208"/>
            <a:ext cx="256032" cy="0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234440" y="1554480"/>
            <a:ext cx="4572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1E3D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34440" y="15544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91640" y="1664208"/>
            <a:ext cx="256032" cy="0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965960" y="1554480"/>
            <a:ext cx="4572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1E3D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965960" y="15544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23160" y="1664208"/>
            <a:ext cx="256032" cy="0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697480" y="1554480"/>
            <a:ext cx="4572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1E3D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97480" y="15544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54680" y="1664208"/>
            <a:ext cx="256032" cy="0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429000" y="1554480"/>
            <a:ext cx="4572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1E3D3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29000" y="15544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1792224"/>
            <a:ext cx="4114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3E7C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179222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2048256"/>
            <a:ext cx="411480" cy="256032"/>
          </a:xfrm>
          <a:prstGeom prst="rect">
            <a:avLst/>
          </a:prstGeom>
          <a:solidFill>
            <a:srgbClr val="CFE0D8"/>
          </a:solidFill>
          <a:ln w="9525">
            <a:solidFill>
              <a:srgbClr val="3E7C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204825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60120" y="2176272"/>
            <a:ext cx="256032" cy="0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234440" y="2066544"/>
            <a:ext cx="4572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1E3D3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234440" y="206654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691640" y="2176272"/>
            <a:ext cx="256032" cy="0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965960" y="2066544"/>
            <a:ext cx="4572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1E3D3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965960" y="206654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2304288"/>
            <a:ext cx="4114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230428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2560320"/>
            <a:ext cx="4114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3E7C6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25603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2816352"/>
            <a:ext cx="411480" cy="256032"/>
          </a:xfrm>
          <a:prstGeom prst="rect">
            <a:avLst/>
          </a:prstGeom>
          <a:solidFill>
            <a:srgbClr val="CFE0D8"/>
          </a:solidFill>
          <a:ln w="9525">
            <a:solidFill>
              <a:srgbClr val="3E7C6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8640" y="28163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60120" y="2944368"/>
            <a:ext cx="256032" cy="0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234440" y="2834640"/>
            <a:ext cx="4572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1E3D3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234440" y="28346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91640" y="2944368"/>
            <a:ext cx="256032" cy="0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965960" y="2834640"/>
            <a:ext cx="4572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1E3D3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965960" y="28346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8640" y="3072384"/>
            <a:ext cx="411480" cy="256032"/>
          </a:xfrm>
          <a:prstGeom prst="rect">
            <a:avLst/>
          </a:prstGeom>
          <a:solidFill>
            <a:srgbClr val="CFE0D8"/>
          </a:solidFill>
          <a:ln w="9525">
            <a:solidFill>
              <a:srgbClr val="3E7C6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48640" y="30723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60120" y="3200400"/>
            <a:ext cx="256032" cy="0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234440" y="3090672"/>
            <a:ext cx="4572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1E3D3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234440" y="30906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48640" y="3328416"/>
            <a:ext cx="4114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3E7C6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48640" y="33284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48640" y="3584448"/>
            <a:ext cx="4114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3E7C6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48640" y="35844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8640" y="3840480"/>
            <a:ext cx="411480" cy="256032"/>
          </a:xfrm>
          <a:prstGeom prst="rect">
            <a:avLst/>
          </a:prstGeom>
          <a:solidFill>
            <a:srgbClr val="CFE0D8"/>
          </a:solidFill>
          <a:ln w="9525">
            <a:solidFill>
              <a:srgbClr val="3E7C6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48640" y="38404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60120" y="3968496"/>
            <a:ext cx="256032" cy="0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1234440" y="3858768"/>
            <a:ext cx="4572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1E3D34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234440" y="38587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691640" y="3968496"/>
            <a:ext cx="256032" cy="0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1965960" y="3858768"/>
            <a:ext cx="4572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1E3D34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965960" y="38587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48640" y="4096512"/>
            <a:ext cx="411480" cy="256032"/>
          </a:xfrm>
          <a:prstGeom prst="rect">
            <a:avLst/>
          </a:prstGeom>
          <a:solidFill>
            <a:srgbClr val="CFE0D8"/>
          </a:solidFill>
          <a:ln w="9525">
            <a:solidFill>
              <a:srgbClr val="3E7C68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48640" y="40965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60120" y="4224528"/>
            <a:ext cx="256032" cy="0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1234440" y="4114800"/>
            <a:ext cx="4572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1E3D3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234440" y="4114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48640" y="4352544"/>
            <a:ext cx="4114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3E7C6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48640" y="435254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731520"/>
                <a:gridCol w="731520"/>
                <a:gridCol w="7315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第几个结点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结点数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1" name="Shape 68"/>
          <p:cNvSpPr/>
          <p:nvPr/>
        </p:nvSpPr>
        <p:spPr>
          <a:xfrm>
            <a:off x="4572000" y="201168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E3D34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470916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成功检索 ASL（等概率）</a:t>
            </a:r>
            <a:endParaRPr lang="en-US" sz="1050" dirty="0"/>
          </a:p>
        </p:txBody>
      </p:sp>
      <p:sp>
        <p:nvSpPr>
          <p:cNvPr id="73" name="Text 70"/>
          <p:cNvSpPr txBox="1"/>
          <p:nvPr/>
        </p:nvSpPr>
        <p:spPr>
          <a:xfrm>
            <a:off x="4709160" y="23774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(1×6 + 2×4 + 3×1 + 4×1) / 12 = 21/12 = 1.75</a:t>
            </a:r>
            <a:endParaRPr lang="en-US" sz="1250" dirty="0"/>
          </a:p>
        </p:txBody>
      </p:sp>
      <p:sp>
        <p:nvSpPr>
          <p:cNvPr id="74" name="Shape 71"/>
          <p:cNvSpPr/>
          <p:nvPr/>
        </p:nvSpPr>
        <p:spPr>
          <a:xfrm>
            <a:off x="4572000" y="32004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CFE0D8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470916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不成功检索</a:t>
            </a:r>
            <a:endParaRPr lang="en-US" sz="1200" dirty="0"/>
          </a:p>
        </p:txBody>
      </p:sp>
      <p:sp>
        <p:nvSpPr>
          <p:cNvPr id="76" name="Text 73"/>
          <p:cNvSpPr txBox="1"/>
          <p:nvPr/>
        </p:nvSpPr>
        <p:spPr>
          <a:xfrm>
            <a:off x="4709160" y="3584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13 个地址等概率，要比到链尾：(4+2+2+1+2+1)/13 =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12/13 ≈ 0.92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次（空链 0 次）。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4572000" y="4114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同义词都挂在自己的链上，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不会挤占别人的地址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——这就是拉链法没有聚集的原因。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闭散列（开地址法）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闭散列：所有记录都住在表里，靠探查序列找空位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每个关键码 K 有一个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基位置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d₀ = h(K)；被占了就沿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探查序列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找下一个：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325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dᵢ = (d₀ + p(K, i)) mod M，   i = 1, 2, …        p(K, i)：探查函数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945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103120"/>
            <a:ext cx="7269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依次探查，把找到的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第一个开放空闲位置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作为存储位置；所有后继地址都不空 → 表满、报告溢出。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61488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76148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2670048"/>
            <a:ext cx="7269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沿同样的序列找；成功返回该位置。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遇到开放的空闲地址，说明表中没有待查关键码。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328416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32841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236976"/>
            <a:ext cx="7269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按同样的序列找到后，对该结点加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删除标记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（而不是标空）。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CFE0D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931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42245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对闭散列表来说，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构造后继散列地址序列的方法，也就是处理冲突的方法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。现代资料多称「开放地址法」（open addressing）。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闭散列 · 探查方法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线性探查 p(K, i) = i，以及它的毛病：聚集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把表看成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环形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：在 d 冲突就依次探查 d+1, d+2, …, M−1, 0, 1, …, d−1；回到 d 则插入和检索都失败。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214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280160" y="173736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80160" y="1737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1214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737360" y="173736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37360" y="1737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21214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194560" y="173736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94560" y="1737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21214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651760" y="173736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51760" y="1737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651760" y="21214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08960" y="173736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108960" y="1737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108960" y="21214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566160" y="173736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66160" y="21214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023360" y="173736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023360" y="21214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480560" y="173736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80560" y="1737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480560" y="21214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937760" y="173736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37760" y="21214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280160" y="2395728"/>
            <a:ext cx="228600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457200" y="2468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一段连续被占的槽：基地址落在 1～5 中任何一处的新键，最后都落到槽 6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3017520"/>
            <a:ext cx="49377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基地址不同的结点争夺相同的后继地址，称为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聚集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（堆积），也叫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基本聚集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（primary clustering）。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原因：散列函数选择不当，或负载因子过大。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小的聚集可能汇合成大的聚集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，导致很长的探查序列。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23560" y="1737360"/>
            <a:ext cx="3063240" cy="2926080"/>
          </a:xfrm>
          <a:prstGeom prst="roundRect">
            <a:avLst>
              <a:gd name="adj" fmla="val 2500"/>
            </a:avLst>
          </a:prstGeom>
          <a:solidFill>
            <a:srgbClr val="FFF6E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760720" y="18288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原书例 10.7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760720" y="2121408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理想情况下每个空槽接收下一条记录的机会应该相等。但在那张表里：下一条记录放在第 11 槽的概率是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2/15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，放到第 7 槽的概率却是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11/15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闭散列 · 探查方法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改进线性探查 · 2. 二次探查 · 3. 随机探查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2606040" cy="370332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24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每次跳 c 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2331720" cy="411480"/>
          </a:xfrm>
          <a:prstGeom prst="roundRect">
            <a:avLst>
              <a:gd name="adj" fmla="val 17778"/>
            </a:avLst>
          </a:prstGeom>
          <a:solidFill>
            <a:srgbClr val="1E3D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417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p(K,i) = i·c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965960"/>
            <a:ext cx="2423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必须与 M 互素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：c = 2 且 M 为偶数时，偶数基位置只能走遍偶数槽。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仍然纠缠：h(k₁)=3、h(k₂)=5 时序列是 3,5,7,9,… 和 5,7,9,…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960120"/>
            <a:ext cx="2606040" cy="370332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83280" y="1024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二次探查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83280" y="1417320"/>
            <a:ext cx="2331720" cy="411480"/>
          </a:xfrm>
          <a:prstGeom prst="roundRect">
            <a:avLst>
              <a:gd name="adj" fmla="val 17778"/>
            </a:avLst>
          </a:prstGeom>
          <a:solidFill>
            <a:srgbClr val="1E3D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83280" y="1417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1², −1², 2², −2², …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1965960"/>
            <a:ext cx="2423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后继地址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跳跃式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，为后续数据留空间，减少聚集。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同义词来回散列在第一个地址的两端。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不易探查到整个表的所有位置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960120"/>
            <a:ext cx="2606040" cy="370332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72200" y="1024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随机探查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1417320"/>
            <a:ext cx="2331720" cy="411480"/>
          </a:xfrm>
          <a:prstGeom prst="roundRect">
            <a:avLst>
              <a:gd name="adj" fmla="val 17778"/>
            </a:avLst>
          </a:prstGeom>
          <a:solidFill>
            <a:srgbClr val="1E3D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1417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(h(K) + rᵢ) mod M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1965960"/>
            <a:ext cx="242316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不能真随机：检索时必须能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重建同样的序列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rᵢ 是 1～M−1 的伪随机数序列，所有插入和检索用同一串。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要避免产生 0 或 M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：否则重复探查基地址。</a:t>
            </a:r>
            <a:endParaRPr lang="en-US" sz="10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闭散列 · 探查方法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双散列探查：让步长也由关键码决定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为避免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二级聚集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，探查序列应当是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关键码值的函数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，而不只是基位置的函数：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325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dᵢ = (d + i · h₂(K)) mod M，  d = h₁(K)，  1 ≤ h₂(K) ≤ M−1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03120"/>
            <a:ext cx="438912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h₂(K) 作为线性探查的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常数项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：不同关键码即使基地址相同，步长也不同。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h₂(K) 应尽量与 M 互素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，否则同义词地址循环计算，表未满就溢出。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探查序列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跳跃式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散布在整个存储区；优点不易产生聚集，缺点计算量稍大。</a:t>
            </a:r>
            <a:endParaRPr lang="en-US" sz="115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 的取法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h₂ 的取法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 为素数，h₁ = K mod 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 mod (M−2) + 1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或 ⌊K/M⌋ mod (M−2) + 1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 = 2ᵐ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返回 1～2ᵐ−1 之间的奇数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 任意，h₁ = K mod p（p：小于 M 的最大素数）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 mod q + 1（q：小于 p 的最大素数）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029200" y="4160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最后一种不能保证 h₂(K) 与 M 互素，但还是常被采用。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闭散列 · 探查方法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四种探查怎么选：看聚集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920240"/>
                <a:gridCol w="1280160"/>
                <a:gridCol w="1463040"/>
                <a:gridCol w="21945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探查方法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探查函数 p(K, i)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基本聚集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二级聚集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线性探查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最简单（本书实现）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二次探查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±1², ±2², …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不易探遍全表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随机探查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rᵢ（伪随机）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序列要可重建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双散列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 · h₂(K)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解决得较好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计算量稍大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2461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3375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二级聚集从哪来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630168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两个关键码散列到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同一个基地址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，若探查序列也相同就是二级聚集。二次、伪随机探查的序列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只是基地址的函数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，所以消不掉它。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32461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46320" y="33375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好的探查函数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818888" y="3630168"/>
            <a:ext cx="3758184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能够探查散列表中的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所有槽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两个关键码的基地址或中间序列偶然会合时，最终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也能岔开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闭散列 · 手算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 38，三种探查各放到哪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表长 11，H(key) = key mod 11；表中已有 60（地址 5）、17（6）、29（7）。插入 38：H(38) =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，冲突。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325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325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1325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325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325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1325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1325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1325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1325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1325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1325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15727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线性探查 dᵢ = 1, 2, 3 …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1883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→ 6 → 7 → </a:t>
            </a:r>
            <a:r>
              <a:rPr lang="en-US" sz="9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：连撞两次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1618488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1618488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1618488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618488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1618488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0" y="1618488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77840" y="1618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1618488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35040" y="1618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92240" y="1618488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0" y="1618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49440" y="1618488"/>
            <a:ext cx="457200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49440" y="1618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406640" y="1618488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63840" y="1618488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22311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二次探查 dᵢ = 1², −1², 2² …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→ 6 → </a:t>
            </a:r>
            <a:r>
              <a:rPr lang="en-US" sz="9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：第二次就找到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91840" y="2276856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49040" y="2276856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06240" y="2276856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2276856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20640" y="2276856"/>
            <a:ext cx="457200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120640" y="22768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577840" y="2276856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577840" y="22768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035040" y="2276856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035040" y="22768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92240" y="2276856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92240" y="22768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949440" y="2276856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06640" y="2276856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63840" y="2276856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57200" y="28895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伪随机探查（设 d₁ = 9）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45720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(5 + 9) mod 11 = </a:t>
            </a:r>
            <a:r>
              <a:rPr lang="en-US" sz="9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91840" y="2935224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49040" y="2935224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06240" y="2935224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63440" y="2935224"/>
            <a:ext cx="457200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663440" y="29352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120640" y="2935224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577840" y="2935224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577840" y="29352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035040" y="2935224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035040" y="29352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492240" y="2935224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492240" y="29352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949440" y="2935224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06640" y="2935224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863840" y="2935224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7200" y="361188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594360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线性探查的毛病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594360" y="39502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5、6、7 连成一片后，基地址落在 5～8 的关键码都要排到 8 去——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聚集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越滚越大。二次与随机探查一下跳开，不往这一片里挤。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709160" y="361188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4846320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笔试题：双散列查 38 要比较几次？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4846320" y="39502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= key mod 13，步长 H2 = key mod 3。表：0:26 1:38 4:17 7:33 9:48 12:25。h(38) = 12 → 25，比 1 次；步长 2，(12+2) mod 13 = 1 → 38，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2 次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闭散列 · 删除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删除是闭散列的难点：不能把槽直接标成空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删除是这里唯一的难点。直接把槽位标成「空」是**错的**：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假设 A 和 B 的基地址都是 3，A 占了 3，B 探测一格住进 4。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现在删掉 A，把 3 标成空。再查 B：从 3 开始，看到「空」就认定 B 不在表里——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可 B 明明就在 4 号槽。**探测链被这个空格截断了。**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所以删除只能把槽位标成**墓碑**(tombstone)：查找路过它继续往下走，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插入则可以覆盖它。三种状态因此缺一不可。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表长 5，1、6、11 基地址都是 1：删掉 1 后若标空——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5669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2461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3016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389888" y="3246120"/>
            <a:ext cx="566928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89888" y="32461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89888" y="363016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56816" y="3246120"/>
            <a:ext cx="56692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956816" y="32461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956816" y="363016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23744" y="3246120"/>
            <a:ext cx="56692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23744" y="32461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523744" y="363016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090672" y="3246120"/>
            <a:ext cx="5669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90672" y="32461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090672" y="363016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216152" y="28620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 6 从这里开始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73352" y="3063240"/>
            <a:ext cx="0" cy="164592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457200" y="3886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看到「空」就停 → 误判「从未插入过 6」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206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原书图 10.9：41、15 都散列到槽 2，15 放在槽 3；删 41 后槽 2 失去了对 15 的「探查导引作用」，</a:t>
            </a:r>
            <a:r>
              <a:rPr lang="en-US" sz="10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被漏检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256032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DF0E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166360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把后面的记录前移？也不行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166360" y="2944368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有人想把探查序列之后的记录逐步前移，或把序列最后一个记录填进空位——都不可取：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一个单元可能不只处于一个探查序列中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（聚集），会挪动其他同义词表中的记录。</a:t>
            </a:r>
            <a:endParaRPr lang="en-US" sz="10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闭散列 · 墓碑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三种状态：空 / 占用 / 墓碑——完整状态变化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685800"/>
                <a:gridCol w="685800"/>
                <a:gridCol w="685800"/>
                <a:gridCol w="685800"/>
                <a:gridCol w="685800"/>
                <a:gridCol w="37947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槽 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槽 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槽 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槽 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槽 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 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home(1) = 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 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冲突，探测到 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 11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连续冲突，探测到 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 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墓碑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6A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探测链不能截断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查找 11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墓碑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6A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越过墓碑，在 3 命中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 16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记住首个墓碑，确认无重复后复用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931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墓碑的语义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2245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「这里曾经有元素，被删掉了，但探测链还要继续往下走」。检索时可把墓碑看成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不等于任何关键码的特殊值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——检索算法几乎不用改。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闭散列 · 墓碑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插入：回收墓碑，但不能一看到墓碑就停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FDF0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碰到墓碑就立刻写入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表长 7：3 在槽 3、10 被挤到槽 4；删 3 后再插 10——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2148840"/>
            <a:ext cx="43891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5328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353312" y="2148840"/>
            <a:ext cx="43891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53312" y="25328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792224" y="2148840"/>
            <a:ext cx="43891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92224" y="25328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31136" y="2148840"/>
            <a:ext cx="438912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31136" y="214884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231136" y="25328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670048" y="2148840"/>
            <a:ext cx="438912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70048" y="214884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670048" y="25328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08960" y="2148840"/>
            <a:ext cx="43891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108960" y="25328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547872" y="2148840"/>
            <a:ext cx="43891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47872" y="25328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同一个键被插了两遍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96012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EAF4E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89204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记住首个墓碑，继续走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1371600"/>
            <a:ext cx="374904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沿探查序列一直走到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真正的空槽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找到同键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为止。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发现同键 → 插入失败（返回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走到空槽 → 回头在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第一个墓碑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处插入。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47472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CFE0D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94360" y="35661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为什么要回收墓碑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385876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删除后释放的槽应能为将来的插入使用。不回收的话，表用久了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探测链只会越来越长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347472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846320" y="35661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加入删除后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846320" y="385876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闭散列的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插入操作需要修改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，检索操作几乎可以不修改：遇到墓碑顺着序列继续，直到找到关键码或遇到空单元。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闭散列表的算法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字典：用散列实现的「(关键码, 属性值)」集合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57200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字典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是一种特殊的集合，元素是（关键码，属性值）二元组，同一字典内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关键码互不相同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又称联合内存 / 联合数组：依据关键码存储和析取值，可组织简单的数据库。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实现方式很多（有序线性表、字符树……），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用散列实现的字典检索性能非常高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57800" y="96012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94960" y="1024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 hashdict  →  本书 HashTable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hashInsert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766560" y="1527048"/>
            <a:ext cx="32004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717804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hashSearch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66560" y="1938528"/>
            <a:ext cx="32004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17804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hashDelete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66560" y="2350008"/>
            <a:ext cx="32004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717804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erase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66560" y="2761488"/>
            <a:ext cx="32004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717804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33832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封装的好处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367588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散列函数 h 和探查函数 p 放在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里：用户可以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替换散列函数和探查函数，调用方不必改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2918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DF0E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46320" y="33832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原书算法的一个前提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67588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插入和检索都假定每个探查序列中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至少有一个槽是空的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，否则检索不成功时会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无限循环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。本书改为：探测最多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capacity()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步，满表插入返回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teaching.hpp · HashTable（一）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三种槽状态、构造与 insert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760720" cy="3749040"/>
          </a:xfrm>
          <a:prstGeom prst="roundRect">
            <a:avLst>
              <a:gd name="adj" fmla="val 19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614416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HashTable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enum class SlotState { empty, used, tombstone };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SlotView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key;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SlotState state;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explicit HashTable(std::size_t capacity) : slots_(capacity), size_(0)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(capacity == 0)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std::invalid_argument("HashTable: 容量必须为正");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插入。键已存在返回 false；表满且没有墓碑可用也返回 false。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insert(int key)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std::optional&lt;std::size_t&gt; target = insertion_slot(key);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(!target)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false;                  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表满，插不进去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(slots_[*target].state == SlotState::used)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false;                  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键已经在表里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slots_[*target].key = key;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slots_[*target].state = SlotState::used;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++size_;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0" y="96012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051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SlotState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1344168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三种状态缺一不可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让查找停下；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tombstone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让查找继续、插入可复用；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才是真有元素。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2487168"/>
            <a:ext cx="2286000" cy="1325880"/>
          </a:xfrm>
          <a:prstGeom prst="roundRect">
            <a:avLst>
              <a:gd name="adj" fmla="val 5517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insert 的两种 false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2871216"/>
            <a:ext cx="2066544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insertion_slot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返回空 →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表满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9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返回的槽是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键已存在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都是可预期的失败，不抛异常。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0" y="39319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DF0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 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315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抛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invalid_argument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：否则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0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是除零。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teaching.hpp · HashTable（二）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erase 标墓碑；slot_at 让测试看见每一格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760720" cy="3749040"/>
          </a:xfrm>
          <a:prstGeom prst="roundRect">
            <a:avLst>
              <a:gd name="adj" fmla="val 19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614416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contains(int key) const { return find_slot(key).has_value();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删除：**标墓碑，不标空**。理由见上面类注释里那三行推演。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erase(int key)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std::optional&lt;std::size_t&gt; found = find_slot(key);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(!found)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slots_[*found].state = SlotState::tombstone;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--size_;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size() const { return size_;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capacity() const { return slots_.size();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让调用方（和测试）能看到每一格的状态，方便观察探测过程。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SlotView slot_at(std::size_t index) const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(index &gt;= slots_.size())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std::out_of_range("HashTable::slot_at: 下标越界");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SlotView{slots_[index].key, slots_[index].state};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Slot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key = 0;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SlotState state = SlotState::empty;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0" y="960120"/>
            <a:ext cx="2286000" cy="2011680"/>
          </a:xfrm>
          <a:prstGeom prst="roundRect">
            <a:avLst>
              <a:gd name="adj" fmla="val 3636"/>
            </a:avLst>
          </a:prstGeom>
          <a:solidFill>
            <a:srgbClr val="FDF0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051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erase 只改一行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1344168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= tombstone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留着也无妨——状态说了算。把这一行改成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，「删掉 3 之后 10 还找不找得到」的断言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立刻变红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3108960"/>
            <a:ext cx="2286000" cy="1600200"/>
          </a:xfrm>
          <a:prstGeom prst="roundRect">
            <a:avLst>
              <a:gd name="adj" fmla="val 4571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size 不数墓碑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493008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只计有效元素。墓碑占着槽却不计入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size()/capacity()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——这一点在效率分析里还会回来。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teaching.hpp · HashTable（三）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home 与 find_slot：遇空停，遇墓碑走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6035040" cy="3291840"/>
          </a:xfrm>
          <a:prstGeom prst="roundRect">
            <a:avLst>
              <a:gd name="adj" fmla="val 222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888736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基地址：key 取绝对值再对表长取模。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先转成 long long 再取绝对值，是因为 INT_MIN 的相反数在 int 里放不下。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home(int key) const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long long magnitude = (key &gt;= 0) ? key : -static_cast&lt;long long&gt;(key);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static_cast&lt;std::size_t&gt;(magnitude) % slots_.size();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查找：从基地址起一格一格往后走。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碰到「空」  → 探测链到头了，键不在表里；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碰到「墓碑」→ 继续走（这正是墓碑存在的意义）；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碰到「占用」且键相同 → 找到了。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std::optional&lt;std::size_t&gt; find_slot(int key) const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step = 0; step &lt; slots_.size(); ++step)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std::size_t index = (home(key) + step) % slots_.size();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(slots_[index].state == SlotState::empty)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std::nullopt;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(slots_[index].state == SlotState::used &amp;&amp; slots_[index].key == key)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index;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std::nullopt;               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走遍全表也没有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675120" y="96012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12280" y="1051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负键也能进表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1344168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先取绝对值再取模。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-INT_MIN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里溢出，所以先转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long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75120" y="269748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1228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最多走 capacity 步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308152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&lt; slots_.size()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：满表时查找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不会死循环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，走遍全表返回空。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墓碑既不是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</a:t>
            </a: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也不满足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&amp;&amp; key == key</a:t>
            </a: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——两个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都不成立，循环自然继续：这就是「看成不等于任何关键码的特殊值」。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teaching.hpp · HashTable（四）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insertion_slot：记住路上第一个墓碑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6035040" cy="3246120"/>
          </a:xfrm>
          <a:prstGeom prst="roundRect">
            <a:avLst>
              <a:gd name="adj" fmla="val 225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888736" cy="3154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找插入位置。比查找多做一件事：**记住路上第一个墓碑**。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走到「空」时优先返回那个墓碑——回收墓碑，探测链才不会越来越长。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但必须先走到「空」或找到同键才能停，否则会把一个已存在的键插第二遍。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std::optional&lt;std::size_t&gt; insertion_slot(int key) const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std::optional&lt;std::size_t&gt; first_tombstone;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step = 0; step &lt; slots_.size(); ++step)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std::size_t index = (home(key) + step) % slots_.size();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(slots_[index].state == SlotState::used &amp;&amp; slots_[index].key == key)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index;              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键已存在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(slots_[index].state == SlotState::tombstone &amp;&amp; !first_tombstone)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first_tombstone = index;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(slots_[index].state == SlotState::empty)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first_tombstone ? first_tombstone : std::optional&lt;std::size_t&gt;(index);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first_tombstone;            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全表没有空格，只能指望墓碑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std::vector&lt;Slot&gt; slots_;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size_;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960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三种出口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129844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12984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同键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16276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返回它的下标 → insert 见 used，返回 false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75120" y="225856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22585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空槽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58775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有墓碑就返回首个墓碑，否则返回这个空槽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75120" y="321868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75120" y="32186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走遍全表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5478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没有空格：返回首个墓碑（可能为空 = 表满）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记「有没有见过墓碑」——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!first_tombstone</a:t>
            </a: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保证只记</a:t>
            </a: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</a:t>
            </a: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teaching_test.cpp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三条具名断言守住墓碑语义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8083296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test_erase_leaves_a_tombstone_not_a_hole()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HashTable table(7);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check(table.insert(3), "3 落在槽 3");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check(table.insert(10), "10 被挤到槽 4");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check(table.erase(3), "删掉 3");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check(!table.contains(3), "3 确实没了");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check(table.slot_at(3).state == HashTable::SlotState::tombstone,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"槽 3 是墓碑，不是空——探测链不能在这里断掉");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check(table.contains(10), "**10 仍然查得到**（查找路过墓碑要继续走）");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check(table.size() == 1, "长度减一");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test_tombstone_reuse_does_not_duplicate_keys()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HashTable table(7);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check(table.insert(3), "3 落在槽 3");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check(table.insert(10), "10 被挤到槽 4");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check(table.erase(3), "删掉 3，槽 3 成为墓碑");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check(!table.insert(10), "再插 10 必须返回 false——它就在槽 4，不能因为前面有墓碑就再插一遍");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check(table.size() == 1, "长度仍是 1");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4041648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0599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删除只能标墓碑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976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erase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改成标 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：「10 仍然查得到」立刻变红。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4041648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37560" y="40599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插入要回收墓碑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42976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 24（基地址也是 3）必须落回槽 3，而不是跑到后面去。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35040" y="4041648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26480" y="40599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回收时不能提前停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42976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碰到墓碑就返回 → 同一个 10 插两遍。最隐蔽，单列一个用例。</a:t>
            </a:r>
            <a:endParaRPr lang="en-US" sz="8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Python 算法轨 · modern.py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版 HashTable：None 是空，_TOMBSTONE 是墓碑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760720" cy="3749040"/>
          </a:xfrm>
          <a:prstGeom prst="roundRect">
            <a:avLst>
              <a:gd name="adj" fmla="val 19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614416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HashTable: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capacity):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capacity &lt;= 0: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ValueError("hash table capacity must be positive")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self._slots = [None] * capacity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self._size = 0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_home(self, key):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abs(key) % len(self._slots)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insert(self, key):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first_tombstone = None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step in range(len(self._slots)):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 = (self._home(key) + step) % len(self._slots)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self._slots[i] == key: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False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self._slots[i] is _TOMBSTONE and first_tombstone is None: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first_tombstone = i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self._slots[i] is None: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target = first_tombstone if first_tombstone is not None else i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self._slots[target] = key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self._size += 1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True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first_tombstone is None: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self._slots[first_tombstone] = key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self._size += 1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0" y="96012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051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三种状态的 Python 写法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344168"/>
            <a:ext cx="2066544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空：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；墓碑：哨兵对象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_TOMBSTONE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；占用：键本身。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比较哨兵，不会与任何键相等。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2926080"/>
            <a:ext cx="2286000" cy="1783080"/>
          </a:xfrm>
          <a:prstGeom prst="roundRect">
            <a:avLst>
              <a:gd name="adj" fmla="val 4103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不许偷懒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310128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版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或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代做集合与散列——这两个名字由本单元的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d025_forbidden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额外封住。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效率分析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衡量的是什么：成功检索 vs 不成功检索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2062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性能按完成一次插入、删除或检索所需的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记录访问次数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来衡量。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删除前必须先找到它 →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 = 一次成功检索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插入要找到探查序列的尾部（考虑删除时也要走到尾部查重）→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 = 一次不成功检索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表越满，记录越可能放到离基地址更远的地方 → 代价与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 = N/M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有关。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92040" y="960120"/>
            <a:ext cx="3794760" cy="1691640"/>
          </a:xfrm>
          <a:prstGeom prst="roundRect">
            <a:avLst>
              <a:gd name="adj" fmla="val 4324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0" y="1024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 / 不成功检索（随机探查序列）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+ Σ (N/M)ⁱ = 1/(1−α)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920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i 次冲突的可能性 N(N−1)⋯ / M(M−1)⋯，N、M 很大时近似 (N/M)ⁱ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92040" y="2788920"/>
            <a:ext cx="3794760" cy="1463040"/>
          </a:xfrm>
          <a:prstGeom prst="roundRect">
            <a:avLst>
              <a:gd name="adj" fmla="val 5000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0" y="28529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成功检索 = 插入它时代价的平均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3154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(1/α)·∫[0,α] dx/(1−x)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(1/α)·ln(1/(1−α))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3886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 从 0 增长到当前值，对所有插入代价积分求平均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8404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所以散列表的效率问题</a:t>
            </a: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实质上还是平均检索长度的问题</a:t>
            </a: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，而且要区别对待成功与不成功。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效率分析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 10.2：三种冲突解决策略的期望检索长度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</a:t>
            </a:r>
            <a:endParaRPr lang="en-US" sz="9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1206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冲突解决策略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成功检索（删除）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不成功检索（插入）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开散列法（拉链）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+ α/2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α + e^(−α)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双散列探查法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(1/α)·ln(1/(1−α))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1/(1−α)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线性探查法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½·(1 + 1/(1−α))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½·(1 + 1/(1−α)²)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260604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2697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开散列的效率最高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990088"/>
            <a:ext cx="4901184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实际系统中使用的散列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大多是开散列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：简单、不产生聚集、删除极为方便。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闭散列需要考虑的因素更多、更需精心设计；在不能动态分配空间等受限系统中有独到用途，精心设计后效率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比开散列稳定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06440" y="960120"/>
            <a:ext cx="2880360" cy="2971800"/>
          </a:xfrm>
          <a:prstGeom prst="roundRect">
            <a:avLst>
              <a:gd name="adj" fmla="val 2540"/>
            </a:avLst>
          </a:prstGeom>
          <a:solidFill>
            <a:srgbClr val="F1F4F2"/>
          </a:solidFill>
          <a:ln/>
        </p:spPr>
      </p:sp>
      <p:pic>
        <p:nvPicPr>
          <p:cNvPr id="12" name="Image 0" descr="fig-10-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297467"/>
            <a:ext cx="2697480" cy="228796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06440" y="39776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10.11　不同碰撞处理方法的 ASL：α 接近 1 时开放地址法曲线快速上扬；拉链法（曲线 1）平缓。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效率分析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 是一条经验阈值：α 一过，性能急剧下降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</a:t>
            </a:r>
            <a:endParaRPr lang="en-US" sz="9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45720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21031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线性探测成功查询 ASL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直观状态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1.17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大部分键在回家地址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冲突可控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2.17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聚集开始明显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应考虑扩表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5.50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少量空槽被长探测链隔开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10.50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已接近线性退化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337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½·(1 + 1/(1−α)) 计算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257800" y="96012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6E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394960" y="1051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扩表 = 重新散列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1344168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所有键的地址都依赖表长，扩表必须按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新表长重新散列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，不能原封不动复制槽位。实务上常在 α 为 0.5～0.7 时扩表；可按访问频率从高到低重插，让常用记录更靠近基位置。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257800" y="310896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DF0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94960" y="32004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墓碑也抬高成本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394960" y="3493008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墓碑不计入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size()/capacity()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。有效 α 只有 0.4、另有 0.4 是墓碑的表，失败查询仍可能走过 0.8 张表——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墓碑过多时即使未满也要重建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3657600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370332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散列法的重要特征：平均检索长度</a:t>
            </a: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不依赖于结点个数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，随 α 增大而增加；安排得好可以小于 1.5。</a:t>
            </a:r>
            <a:endParaRPr lang="en-US" sz="11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效率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 超过阈值就扩表：所有关键码重新散列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is_prime(x):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 &gt;= 2 and all(x % d for d in range(2, int(x ** 0.5) + 1))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Table: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m=7):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self.slots = [None] * m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self.count = 0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put(self, key):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(self.count + 1) / len(self.slots) &gt; 0.5: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self._grow()                </a:t>
            </a:r>
            <a:r>
              <a:rPr lang="en-US" sz="81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插入后 α 会超过 0.5：先扩表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 = key % len(self.slots)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self.slots[i] is not None and self.slots[i] != key: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 = (i + 1) % len(self.slots)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self.slots[i] is None: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self.count += 1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self.slots[i] = key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_grow(self):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 = 2 * len(self.slots) + 1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not is_prime(m):          </a:t>
            </a:r>
            <a:r>
              <a:rPr lang="en-US" sz="81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新表长取 &gt; 2m 的素数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 += 1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old = [k for k in self.slots if k is not None]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self.slots, self.count = [None] * m, 0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k in old:                   </a:t>
            </a:r>
            <a:r>
              <a:rPr lang="en-US" sz="81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地址随表长变：全部重新散列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self.put(k)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6035040" y="9601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4476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1216152"/>
            <a:ext cx="24323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插 17 60 29：表长 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插 38：α 将到 4/7 → 扩到 17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17→0 60→9 29→12 38→4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21488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为什么不能只把数组变长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5328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地址是 key mod m，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一变，每个关键码的位置都变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；墓碑也在这一步被清掉。单次 O(n)，但表长翻倍，摊到每次插入仍是 O(1)。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36576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另一种：公共溢出区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40416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基本表放不下的同义词统统放进一张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溢出表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，查找时基本表没找到再顺序扫它。实现简单，溢出多了就退化。</a:t>
            </a:r>
            <a:endParaRPr lang="en-US" sz="9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应用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散列方法的应用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1005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搜索引擎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3533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关键词字典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96012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70048" y="1005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13533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域名 ↔ IP 地址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73168" y="1005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773168" y="13533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命令路径下的可执行程序名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96012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1F4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76288" y="1005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编译器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76288" y="13533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4572000" cy="2651760"/>
          </a:xfrm>
          <a:prstGeom prst="roundRect">
            <a:avLst>
              <a:gd name="adj" fmla="val 2759"/>
            </a:avLst>
          </a:prstGeom>
          <a:solidFill>
            <a:srgbClr val="FFF6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2103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能亲手验证：C Shell 的命令散列表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2395728"/>
            <a:ext cx="4352544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登录时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下所有可执行程序被散列到命令表。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新加程序后不更新散列表 → 换个目录直接敲名字报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not found.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rehash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更新；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hashstat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看统计；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unhash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解除散列、逐目录尝试。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57800" y="201168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DF0E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394960" y="2103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散列作指纹：另一回事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2395728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MD5（Rivest，90 年代）把文件压成 128 位摘要，内容一改摘要就变。但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MD5 已不能用于安全目的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：抗碰撞性早被攻破。口令存储应使用 bcrypt、scrypt、Argon2 等并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加盐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10.3.6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应用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选择结构时先问操作：什么时候不该用散列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</a:t>
            </a:r>
            <a:endParaRPr lang="en-US" sz="9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377440"/>
                <a:gridCol w="32918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适合的结构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不选散列的原因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精确查一个键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散列表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正是它的长项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按键从小到大遍历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有序表 / 搜索树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散列槽位没有关键码顺序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 [low, high] 范围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B+ 树 / 有序数组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散列不能定位相邻键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数据很少且更新不频繁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实现和内存开销更小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需要最坏 O(log n)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平衡搜索树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普通散列只保证期望代价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749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散列值不能代替关键码相等判断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04164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缓存还要处理容量淘汰；去重还要保存原始键，以确认「散列值相同但键不同」的碰撞。散列值只是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候选地址或摘要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散列 · 上机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OJ 17968 线性探查 · OJ 17975 二次探查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069080" cy="260604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3922776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17968 整型关键字的散列映射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sys.stdin.read().split()    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输入可能跨行：整体读入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n, m = int(data[0]), int(data[1])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= [None] * m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[]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key in map(int, data[2:2 + n]):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key % m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table[i] is not None and table[i] != key: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 = (i + 1) % m            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线性探查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table[i] = key                      </a:t>
            </a:r>
            <a:r>
              <a:rPr lang="en-US" sz="8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重复关键字：返回同一位置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out.append(i)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print(*out)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17720" y="960120"/>
            <a:ext cx="406908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90872" y="1005840"/>
            <a:ext cx="392277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17975 用二次探查法建立散列表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offsets(m):                         </a:t>
            </a:r>
            <a:r>
              <a:rPr lang="en-US" sz="7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0, 1, -1, 4, -4, ...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yield 0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 in range(1, m // 2 + 1):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k * k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-k * k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sys.stdin.read().split()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n, m = int(data[0]), int(data[1])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= [None] * m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[]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key in map(int, data[2:2 + n]):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 = key % m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d in offsets(m):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 = (base + d) % m              </a:t>
            </a:r>
            <a:r>
              <a:rPr lang="en-US" sz="76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负数取模仍非负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table[i] is None or table[i] == key: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table[i] = key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out.append(i)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print(*out)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4069080" cy="566928"/>
          </a:xfrm>
          <a:prstGeom prst="roundRect">
            <a:avLst>
              <a:gd name="adj" fmla="val 12903"/>
            </a:avLst>
          </a:prstGeom>
          <a:solidFill>
            <a:srgbClr val="1B2B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3712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913632"/>
            <a:ext cx="3849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17968：4 5 / 24 13 66 77 → 4 3 1 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17975：5 11 / 24 13 35 15 14 → 2 3 1 4 7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27939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两题都要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sys.stdin.read()</a:t>
            </a:r>
            <a:r>
              <a:rPr lang="en-US" sz="9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整体读：OJ 数据不一定按题面分行。重复关键字要给出</a:t>
            </a:r>
            <a:r>
              <a:rPr lang="en-US" sz="9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同一个位置</a:t>
            </a:r>
            <a:r>
              <a:rPr lang="en-US" sz="9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课后练习 · 选讲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几道代表性习题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069848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069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0698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 trace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5087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{8, 13, 17, 26, 44, 56, 88, 97} 用二分检索 88，写出每一步的 first、mid、last。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22199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提示：半开区间：[0,8) mid=4 (44&lt;88) → [5,8) mid=6 命中。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1069848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46320" y="1069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10698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ASL 三种检索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15087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有序表 A[25] 等概率，分别求顺序、二分、分块（5 块 × 5 个）的平均查找长度。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22199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提示：顺序 (n+1)/2；分块用两阶段之和。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2944368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9443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线性探查造表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3832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HT[13]、h(K)=K mod 13，线性探查插入 12、23、45、57、20、03、78、31、15、36，求成功与不成功 ASL。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09651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提示：逐个算基地址，冲突就往后。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83464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sp>
        <p:nvSpPr>
          <p:cNvPr id="26" name="Shape 24"/>
          <p:cNvSpPr/>
          <p:nvPr/>
        </p:nvSpPr>
        <p:spPr>
          <a:xfrm>
            <a:off x="4846320" y="2944368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46320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29443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墓碑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33832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表长 5 依次插入 1、6、11；删除 1 后若标空，查找 6 会怎样？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892040" y="409651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提示：在槽 1 看到空就停 → 误判不在。</a:t>
            </a:r>
            <a:endParaRPr lang="en-US" sz="9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ASL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平均检索长度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ASL = Σ PᵢCᵢ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；等概率时顺序检索为 (n+1)/2。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线性表检索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限制最少、效率最低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；二分 ⌈log₂(n+1)⌉，适合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少改动、常检索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；分块介于二者之间。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集合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只关心「在不在」：可预期的失败返回 </a:t>
            </a:r>
            <a:r>
              <a:rPr lang="en-US" sz="1200" b="1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；全集小时用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位向量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，交并差 = 按位运算。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散列与冲突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散列函数 + 冲突解决是核心；开散列拉链，闭散列靠探查序列，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删除必须留墓碑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ASL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 n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，随负载因子 α 增大而增加；α 超过 0.5 左右就该扩表、重新散列。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 第10章 检索</dc:title>
  <dc:subject>PptxGenJS Presentation</dc:subject>
  <dc:creator>Hongfei Yan</dc:creator>
  <cp:lastModifiedBy>Hongfei Yan</cp:lastModifiedBy>
  <cp:revision>1</cp:revision>
  <dcterms:created xsi:type="dcterms:W3CDTF">2026-10-28T11:18:55Z</dcterms:created>
  <dcterms:modified xsi:type="dcterms:W3CDTF">2026-10-28T11:18:55Z</dcterms:modified>
</cp:coreProperties>
</file>