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
队列只规定“先进先出”的逻辑关系，不涉及如何存放。
双链表、数组、顺序表描述的是数据在内存中的组织方式，属于存储结构。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答案：D
图中结点之间是多对多关系，是典型的非线性结构。
队列、向量中元素一个接一个排列，属于线性结构。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答案：A、D
B ✗ 有穷性：指令条数和执行步骤都必须有限。
C ✗ 确定性：每一步之后执行哪一步必须是确定的。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答案：A、B、C
内层执行 n−1−i 次，总次数 = n(n−1)/2 = Θ(n2)。
Θ 同时给出上界和下界：O(n2) 与 Ω(n2) 都成立。
A ✓ Ω(n) 成立，但只是松下界（紧下界是 Ω(n2)）。
B ✓ O(n2) 是紧上界；C ✓ Θ(n2) 最精确。
D ✗ n2 增长快于 n，O(n) 不成立。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答案：A、B
A ✓ 传递性：f ≤ c1g ≤ c1c2h。
B ✓ f + g ≤ (c1c2 + c2)·h。
C ✗ loga n = logb n / logb a，只差常数倍，二者互为大 O。
D ✗ 反例：f = n，g = n2，不存在常数 a 使 n2 = O(a·n)。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答案：20
i=1：j 从 2 到 9，8 次
i=2：j 从 4 到 9，6 次
i=3：j 从 6 到 9，4 次
i=4：j 从 8 到 9，2 次
i≥5：2i &gt; 9，不执行
m = 8 + 6 + 4 + 2 =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答案：(5)(1)(2)(4)(3)
双重指数 &gt; 指数 &gt; 多项式 &gt; 对数多项式
22ⁿ &gt; 2n &gt; n2.5 &gt; 5n2 &gt; n(log5 n)4
注意：5n2 中常数 5 不影响阶；(log n)4 比任何 nε 增长都慢。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答案：A、D
关键：p-&gt;next 被改写之前，必须先用它找到原后继。
B ✗ p-&gt;next=s 之后再执行 s-&gt;next=p-&gt;next，s 指向了自己。
C ✗ p-&gt;next=s 之后 p-&gt;next-&gt;prev=s 改的是 s 自己，原后继的 prev 没更新。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答案：C、D
顺序存储支持随机存取，按下标查找 O(1)，与 i 无关。
链式存储需从头结点走 i 步，查找为 O(i)；插入第 i 个元素要先定位第 i−1 个结点，同样与 i 成正比。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答案：A、C、D
顺序存储要求物理连续；插入、删除需移动大量元素，不方便（B ✗）。
链接存储靠指针相连，不要求连续；插入、删除只需改指针。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答案：p1
循环链表首尾相接：
最后一个结点 pn 的 next 指针重新指向第一个结点 p1。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答案：(1)(n)
① 已知 *p：只需常数次指针操作，O(1)。
② 给定值 x：必须先从头遍历查找值为 x 的结点，最坏比较 n 次，O(n)。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课堂提问：MOOC 习题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概论（7 题） · 第二章 线性表（5 题）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每页先出题，请同学作答；单击显示答案与解析，再单击进入下一题。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7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逻辑结构与存储结构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以下哪种结构是逻辑结构，而与存储和运算无关？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3001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30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(queue)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3804"/>
            <a:ext cx="5760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双链表 (doubly linked list)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8051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805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00500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(array)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73430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34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54296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 (sequential list)</a:t>
            </a:r>
            <a:endParaRPr lang="en-US" sz="2000" dirty="0"/>
          </a:p>
        </p:txBody>
      </p:sp>
      <p:sp>
        <p:nvSpPr>
          <p:cNvPr id="19" name="ANS_hl0"/>
          <p:cNvSpPr/>
          <p:nvPr/>
        </p:nvSpPr>
        <p:spPr>
          <a:xfrm>
            <a:off x="457200" y="2313432"/>
            <a:ext cx="6492240" cy="617220"/>
          </a:xfrm>
          <a:prstGeom prst="roundRect">
            <a:avLst>
              <a:gd name="adj" fmla="val 14815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队列只规定“先进先出”的逻辑关系，不涉及如何存放。</a:t>
            </a:r>
            <a:endParaRPr lang="en-US" sz="1700" dirty="0"/>
          </a:p>
        </p:txBody>
      </p:sp>
      <p:sp>
        <p:nvSpPr>
          <p:cNvPr id="26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exp1"/>
          <p:cNvSpPr txBox="1"/>
          <p:nvPr/>
        </p:nvSpPr>
        <p:spPr>
          <a:xfrm>
            <a:off x="7818120" y="3395980"/>
            <a:ext cx="352044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双链表、数组、顺序表描述的是数据在内存中的组织方式，属于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线性结构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下列不属于线性结构的是？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3001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30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(queue)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8381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838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3804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散列表 (hash table)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73761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376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57600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(vector)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39140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914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311396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(graph)</a:t>
            </a:r>
            <a:endParaRPr lang="en-US" sz="2000" dirty="0"/>
          </a:p>
        </p:txBody>
      </p:sp>
      <p:sp>
        <p:nvSpPr>
          <p:cNvPr id="19" name="ANS_hl0"/>
          <p:cNvSpPr/>
          <p:nvPr/>
        </p:nvSpPr>
        <p:spPr>
          <a:xfrm>
            <a:off x="457200" y="4274820"/>
            <a:ext cx="6492240" cy="617220"/>
          </a:xfrm>
          <a:prstGeom prst="roundRect">
            <a:avLst>
              <a:gd name="adj" fmla="val 14815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400" dirty="0"/>
          </a:p>
        </p:txBody>
      </p:sp>
      <p:sp>
        <p:nvSpPr>
          <p:cNvPr id="23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图中结点之间是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多对多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关系，是典型的非线性结构。</a:t>
            </a:r>
            <a:endParaRPr lang="en-US" sz="1700" dirty="0"/>
          </a:p>
        </p:txBody>
      </p:sp>
      <p:sp>
        <p:nvSpPr>
          <p:cNvPr id="26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exp1"/>
          <p:cNvSpPr txBox="1"/>
          <p:nvPr/>
        </p:nvSpPr>
        <p:spPr>
          <a:xfrm>
            <a:off x="7818120" y="339598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队列、向量中元素一个接一个排列，属于线性结构。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算法特性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关于算法特性描述正确的有：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3001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30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算法保证计算结果的正确性。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8381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838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3804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组成算法的指令可以有限也可能无限。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73761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376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57600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算法描述中下一步执行的步骤不确定。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39140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914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311396"/>
            <a:ext cx="5760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算法的有穷性指算法必须在有限步骤内结束。</a:t>
            </a:r>
            <a:endParaRPr lang="en-US" sz="2000" dirty="0"/>
          </a:p>
        </p:txBody>
      </p:sp>
      <p:sp>
        <p:nvSpPr>
          <p:cNvPr id="19" name="ANS_hl0"/>
          <p:cNvSpPr/>
          <p:nvPr/>
        </p:nvSpPr>
        <p:spPr>
          <a:xfrm>
            <a:off x="457200" y="2313432"/>
            <a:ext cx="6492240" cy="617220"/>
          </a:xfrm>
          <a:prstGeom prst="roundRect">
            <a:avLst>
              <a:gd name="adj" fmla="val 14815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hl1"/>
          <p:cNvSpPr/>
          <p:nvPr/>
        </p:nvSpPr>
        <p:spPr>
          <a:xfrm>
            <a:off x="457200" y="4274820"/>
            <a:ext cx="6492240" cy="617220"/>
          </a:xfrm>
          <a:prstGeom prst="roundRect">
            <a:avLst>
              <a:gd name="adj" fmla="val 14815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1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A、D</a:t>
            </a:r>
            <a:endParaRPr lang="en-US" sz="4400" dirty="0"/>
          </a:p>
        </p:txBody>
      </p:sp>
      <p:sp>
        <p:nvSpPr>
          <p:cNvPr id="24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有穷性：指令条数和执行步骤都必须有限。</a:t>
            </a:r>
            <a:endParaRPr lang="en-US" sz="1700" dirty="0"/>
          </a:p>
        </p:txBody>
      </p:sp>
      <p:sp>
        <p:nvSpPr>
          <p:cNvPr id="27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exp1"/>
          <p:cNvSpPr txBox="1"/>
          <p:nvPr/>
        </p:nvSpPr>
        <p:spPr>
          <a:xfrm>
            <a:off x="7818120" y="339598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确定性：每一步之后执行哪一步必须是确定的。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已知数组 a 的长度为 n，下面这段代码的时间复杂度为：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34056"/>
            <a:ext cx="6309360" cy="1336040"/>
          </a:xfrm>
          <a:prstGeom prst="roundRect">
            <a:avLst>
              <a:gd name="adj" fmla="val 54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34056"/>
            <a:ext cx="5943600" cy="133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(i=0, length=1; i &lt; n; i++)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i+1; j &lt; n; j++)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(length &lt; j - i + 1)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length = j - i + 1;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444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3444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Ω(n)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60270" y="43444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60270" y="43444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</a:t>
            </a: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71900" y="43444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71900" y="43444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</a:t>
            </a: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383530" y="434441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83530" y="434441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endParaRPr lang="en-US" sz="2000" dirty="0"/>
          </a:p>
        </p:txBody>
      </p:sp>
      <p:sp>
        <p:nvSpPr>
          <p:cNvPr id="17" name="ANS_hl0"/>
          <p:cNvSpPr/>
          <p:nvPr/>
        </p:nvSpPr>
        <p:spPr>
          <a:xfrm>
            <a:off x="548640" y="4344416"/>
            <a:ext cx="1474470" cy="822960"/>
          </a:xfrm>
          <a:prstGeom prst="roundRect">
            <a:avLst>
              <a:gd name="adj" fmla="val 11111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18" name="ANS_hl1"/>
          <p:cNvSpPr/>
          <p:nvPr/>
        </p:nvSpPr>
        <p:spPr>
          <a:xfrm>
            <a:off x="2160270" y="4344416"/>
            <a:ext cx="1474470" cy="822960"/>
          </a:xfrm>
          <a:prstGeom prst="roundRect">
            <a:avLst>
              <a:gd name="adj" fmla="val 11111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19" name="ANS_hl2"/>
          <p:cNvSpPr/>
          <p:nvPr/>
        </p:nvSpPr>
        <p:spPr>
          <a:xfrm>
            <a:off x="3771900" y="4344416"/>
            <a:ext cx="1474470" cy="822960"/>
          </a:xfrm>
          <a:prstGeom prst="roundRect">
            <a:avLst>
              <a:gd name="adj" fmla="val 11111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A、B、C</a:t>
            </a:r>
            <a:endParaRPr lang="en-US" sz="4400" dirty="0"/>
          </a:p>
        </p:txBody>
      </p:sp>
      <p:sp>
        <p:nvSpPr>
          <p:cNvPr id="23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内层执行 n−1−i 次，总次数 = n(n−1)/2 = Θ(n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)。</a:t>
            </a:r>
            <a:endParaRPr lang="en-US" sz="1700" dirty="0"/>
          </a:p>
        </p:txBody>
      </p:sp>
      <p:sp>
        <p:nvSpPr>
          <p:cNvPr id="26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exp1"/>
          <p:cNvSpPr txBox="1"/>
          <p:nvPr/>
        </p:nvSpPr>
        <p:spPr>
          <a:xfrm>
            <a:off x="7818120" y="339598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 同时给出上界和下界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：O(n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与 Ω(n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都成立。</a:t>
            </a:r>
            <a:endParaRPr lang="en-US" sz="1700" dirty="0"/>
          </a:p>
        </p:txBody>
      </p:sp>
      <p:sp>
        <p:nvSpPr>
          <p:cNvPr id="28" name="ANS_dot2"/>
          <p:cNvSpPr/>
          <p:nvPr/>
        </p:nvSpPr>
        <p:spPr>
          <a:xfrm>
            <a:off x="7616952" y="425907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exp2"/>
          <p:cNvSpPr txBox="1"/>
          <p:nvPr/>
        </p:nvSpPr>
        <p:spPr>
          <a:xfrm>
            <a:off x="7818120" y="414020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Ω(n) 成立，但只是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松下界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（紧下界是 Ω(n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)）。</a:t>
            </a:r>
            <a:endParaRPr lang="en-US" sz="1700" dirty="0"/>
          </a:p>
        </p:txBody>
      </p:sp>
      <p:sp>
        <p:nvSpPr>
          <p:cNvPr id="30" name="ANS_dot3"/>
          <p:cNvSpPr/>
          <p:nvPr/>
        </p:nvSpPr>
        <p:spPr>
          <a:xfrm>
            <a:off x="7616952" y="50032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exp3"/>
          <p:cNvSpPr txBox="1"/>
          <p:nvPr/>
        </p:nvSpPr>
        <p:spPr>
          <a:xfrm>
            <a:off x="7818120" y="488442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✓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O(n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是紧上界；</a:t>
            </a:r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✓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Θ(n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最精确。</a:t>
            </a:r>
            <a:endParaRPr lang="en-US" sz="1700" dirty="0"/>
          </a:p>
        </p:txBody>
      </p:sp>
      <p:sp>
        <p:nvSpPr>
          <p:cNvPr id="32" name="ANS_dot4"/>
          <p:cNvSpPr/>
          <p:nvPr/>
        </p:nvSpPr>
        <p:spPr>
          <a:xfrm>
            <a:off x="7616952" y="574751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3" name="ANS_exp4"/>
          <p:cNvSpPr txBox="1"/>
          <p:nvPr/>
        </p:nvSpPr>
        <p:spPr>
          <a:xfrm>
            <a:off x="7818120" y="562864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增长快于 n，O(n) 不成立。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表示法性质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下列说法正确的是：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5743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57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f(n) 是 O(g(n))，g(n) 是 O(h(n))，那么 f(n) 是 O(h(n))。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40989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409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75254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f(n) 是 O(g(n))，g(n) 是 O(h(n))，那么 f(n)+g(n) 是 O(h(n))。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94823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948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00500"/>
            <a:ext cx="5760720" cy="972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a&gt;b&gt;1，log</a:t>
            </a:r>
            <a:pPr indent="0" marL="0">
              <a:buNone/>
            </a:pPr>
            <a:r>
              <a:rPr lang="en-US" sz="15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 是 O(log</a:t>
            </a:r>
            <a:pPr indent="0" marL="0">
              <a:buNone/>
            </a:pPr>
            <a:r>
              <a:rPr lang="en-US" sz="15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n)，但 log</a:t>
            </a:r>
            <a:pPr indent="0" marL="0">
              <a:buNone/>
            </a:pPr>
            <a:r>
              <a:rPr lang="en-US" sz="15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 不一定是 O(log</a:t>
            </a:r>
            <a:pPr indent="0" marL="0">
              <a:buNone/>
            </a:pPr>
            <a:r>
              <a:rPr lang="en-US" sz="15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n)。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82921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 是 O(g(n))，当常数 a 足够大时，一定有 g(n) 是 O(a·f(n))。</a:t>
            </a:r>
            <a:endParaRPr lang="en-US" sz="1500" dirty="0"/>
          </a:p>
        </p:txBody>
      </p:sp>
      <p:sp>
        <p:nvSpPr>
          <p:cNvPr id="19" name="ANS_hl0"/>
          <p:cNvSpPr/>
          <p:nvPr/>
        </p:nvSpPr>
        <p:spPr>
          <a:xfrm>
            <a:off x="457200" y="2313432"/>
            <a:ext cx="6492240" cy="788670"/>
          </a:xfrm>
          <a:prstGeom prst="roundRect">
            <a:avLst>
              <a:gd name="adj" fmla="val 11594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hl1"/>
          <p:cNvSpPr/>
          <p:nvPr/>
        </p:nvSpPr>
        <p:spPr>
          <a:xfrm>
            <a:off x="457200" y="3138678"/>
            <a:ext cx="6492240" cy="788670"/>
          </a:xfrm>
          <a:prstGeom prst="roundRect">
            <a:avLst>
              <a:gd name="adj" fmla="val 11594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1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A、B</a:t>
            </a:r>
            <a:endParaRPr lang="en-US" sz="4400" dirty="0"/>
          </a:p>
        </p:txBody>
      </p:sp>
      <p:sp>
        <p:nvSpPr>
          <p:cNvPr id="24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exp0"/>
          <p:cNvSpPr txBox="1"/>
          <p:nvPr/>
        </p:nvSpPr>
        <p:spPr>
          <a:xfrm>
            <a:off x="7818120" y="265176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传递性：f ≤ c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≤ c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h。</a:t>
            </a:r>
            <a:endParaRPr lang="en-US" sz="1700" dirty="0"/>
          </a:p>
        </p:txBody>
      </p:sp>
      <p:sp>
        <p:nvSpPr>
          <p:cNvPr id="27" name="ANS_dot1"/>
          <p:cNvSpPr/>
          <p:nvPr/>
        </p:nvSpPr>
        <p:spPr>
          <a:xfrm>
            <a:off x="7616952" y="323418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exp1"/>
          <p:cNvSpPr txBox="1"/>
          <p:nvPr/>
        </p:nvSpPr>
        <p:spPr>
          <a:xfrm>
            <a:off x="7818120" y="311531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✓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f + g ≤ (c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c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)·h。</a:t>
            </a:r>
            <a:endParaRPr lang="en-US" sz="1700" dirty="0"/>
          </a:p>
        </p:txBody>
      </p:sp>
      <p:sp>
        <p:nvSpPr>
          <p:cNvPr id="29" name="ANS_dot2"/>
          <p:cNvSpPr/>
          <p:nvPr/>
        </p:nvSpPr>
        <p:spPr>
          <a:xfrm>
            <a:off x="7616952" y="36977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exp2"/>
          <p:cNvSpPr txBox="1"/>
          <p:nvPr/>
        </p:nvSpPr>
        <p:spPr>
          <a:xfrm>
            <a:off x="7818120" y="35788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log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 = log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 / log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a，只差常数倍，二者互为大 O。</a:t>
            </a:r>
            <a:endParaRPr lang="en-US" sz="1700" dirty="0"/>
          </a:p>
        </p:txBody>
      </p:sp>
      <p:sp>
        <p:nvSpPr>
          <p:cNvPr id="31" name="ANS_dot3"/>
          <p:cNvSpPr/>
          <p:nvPr/>
        </p:nvSpPr>
        <p:spPr>
          <a:xfrm>
            <a:off x="7616952" y="44419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exp3"/>
          <p:cNvSpPr txBox="1"/>
          <p:nvPr/>
        </p:nvSpPr>
        <p:spPr>
          <a:xfrm>
            <a:off x="7818120" y="432308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反例：f = n，g = 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，不存在常数 a 使 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O(a·n)。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循环计数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运行下列程序段后，m 的值为多少？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6309360" cy="1336040"/>
          </a:xfrm>
          <a:prstGeom prst="roundRect">
            <a:avLst>
              <a:gd name="adj" fmla="val 54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350008"/>
            <a:ext cx="5943600" cy="133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9; m = 0;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(i=1; i&lt;=n; i++)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2*i; j&lt;=n; j++)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= m+1;</a:t>
            </a:r>
            <a:endParaRPr lang="en-US" sz="1600" dirty="0"/>
          </a:p>
        </p:txBody>
      </p:sp>
      <p:sp>
        <p:nvSpPr>
          <p:cNvPr id="9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400" dirty="0"/>
          </a:p>
        </p:txBody>
      </p:sp>
      <p:sp>
        <p:nvSpPr>
          <p:cNvPr id="12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exp0"/>
          <p:cNvSpPr txBox="1"/>
          <p:nvPr/>
        </p:nvSpPr>
        <p:spPr>
          <a:xfrm>
            <a:off x="7818120" y="265176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i=1：j 从 2 到 9，8 次</a:t>
            </a:r>
            <a:endParaRPr lang="en-US" sz="1700" dirty="0"/>
          </a:p>
        </p:txBody>
      </p:sp>
      <p:sp>
        <p:nvSpPr>
          <p:cNvPr id="15" name="ANS_dot1"/>
          <p:cNvSpPr/>
          <p:nvPr/>
        </p:nvSpPr>
        <p:spPr>
          <a:xfrm>
            <a:off x="7616952" y="323418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exp1"/>
          <p:cNvSpPr txBox="1"/>
          <p:nvPr/>
        </p:nvSpPr>
        <p:spPr>
          <a:xfrm>
            <a:off x="7818120" y="311531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i=2：j 从 4 到 9，6 次</a:t>
            </a:r>
            <a:endParaRPr lang="en-US" sz="1700" dirty="0"/>
          </a:p>
        </p:txBody>
      </p:sp>
      <p:sp>
        <p:nvSpPr>
          <p:cNvPr id="17" name="ANS_dot2"/>
          <p:cNvSpPr/>
          <p:nvPr/>
        </p:nvSpPr>
        <p:spPr>
          <a:xfrm>
            <a:off x="7616952" y="36977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exp2"/>
          <p:cNvSpPr txBox="1"/>
          <p:nvPr/>
        </p:nvSpPr>
        <p:spPr>
          <a:xfrm>
            <a:off x="7818120" y="357886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i=3：j 从 6 到 9，4 次</a:t>
            </a:r>
            <a:endParaRPr lang="en-US" sz="1700" dirty="0"/>
          </a:p>
        </p:txBody>
      </p:sp>
      <p:sp>
        <p:nvSpPr>
          <p:cNvPr id="19" name="ANS_dot3"/>
          <p:cNvSpPr/>
          <p:nvPr/>
        </p:nvSpPr>
        <p:spPr>
          <a:xfrm>
            <a:off x="7616952" y="416128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ANS_exp3"/>
          <p:cNvSpPr txBox="1"/>
          <p:nvPr/>
        </p:nvSpPr>
        <p:spPr>
          <a:xfrm>
            <a:off x="7818120" y="404241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i=4：j 从 8 到 9，2 次</a:t>
            </a:r>
            <a:endParaRPr lang="en-US" sz="1700" dirty="0"/>
          </a:p>
        </p:txBody>
      </p:sp>
      <p:sp>
        <p:nvSpPr>
          <p:cNvPr id="21" name="ANS_dot4"/>
          <p:cNvSpPr/>
          <p:nvPr/>
        </p:nvSpPr>
        <p:spPr>
          <a:xfrm>
            <a:off x="7616952" y="46248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ANS_exp4"/>
          <p:cNvSpPr txBox="1"/>
          <p:nvPr/>
        </p:nvSpPr>
        <p:spPr>
          <a:xfrm>
            <a:off x="7818120" y="450596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i≥5：2i &gt; 9，不执行</a:t>
            </a:r>
            <a:endParaRPr lang="en-US" sz="1700" dirty="0"/>
          </a:p>
        </p:txBody>
      </p:sp>
      <p:sp>
        <p:nvSpPr>
          <p:cNvPr id="23" name="ANS_dot5"/>
          <p:cNvSpPr/>
          <p:nvPr/>
        </p:nvSpPr>
        <p:spPr>
          <a:xfrm>
            <a:off x="7616952" y="508838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ANS_exp5"/>
          <p:cNvSpPr txBox="1"/>
          <p:nvPr/>
        </p:nvSpPr>
        <p:spPr>
          <a:xfrm>
            <a:off x="7818120" y="496951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8 + 6 + 4 + 2 = 20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概论  ·  排序题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复杂度增长快慢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由大到小写出以下时间复杂度的序列（直接写标号，如 (1)(2)(3)(4)(5)，不含空格）：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34056"/>
            <a:ext cx="1152144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34056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  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algn="ctr" indent="0" marL="0">
              <a:buNone/>
            </a:pPr>
            <a:r>
              <a:rPr lang="en-US" sz="15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37944" y="2734056"/>
            <a:ext cx="1152144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7944" y="2734056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  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pPr algn="ctr" indent="0" marL="0">
              <a:buNone/>
            </a:pPr>
            <a:r>
              <a:rPr lang="en-US" sz="15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27248" y="2734056"/>
            <a:ext cx="1152144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27248" y="2734056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  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n(log</a:t>
            </a:r>
            <a:pPr algn="ctr" indent="0" marL="0">
              <a:buNone/>
            </a:pPr>
            <a:r>
              <a:rPr lang="en-US" sz="15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n)</a:t>
            </a:r>
            <a:pPr algn="ctr" indent="0" marL="0">
              <a:buNone/>
            </a:pPr>
            <a:r>
              <a:rPr lang="en-US" sz="15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16552" y="2734056"/>
            <a:ext cx="1152144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16552" y="2734056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(4)  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5n</a:t>
            </a:r>
            <a:pPr algn="ctr" indent="0" marL="0">
              <a:buNone/>
            </a:pPr>
            <a:r>
              <a:rPr lang="en-US" sz="15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05856" y="2734056"/>
            <a:ext cx="1152144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05856" y="2734056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(5)  </a:t>
            </a:r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algn="ctr" indent="0" marL="0">
              <a:buNone/>
            </a:pPr>
            <a:r>
              <a:rPr lang="en-US" sz="15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2ⁿ</a:t>
            </a:r>
            <a:endParaRPr lang="en-US" sz="1500" dirty="0"/>
          </a:p>
        </p:txBody>
      </p:sp>
      <p:sp>
        <p:nvSpPr>
          <p:cNvPr id="17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8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9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(5)(1)(2)(4)(3)</a:t>
            </a:r>
            <a:endParaRPr lang="en-US" sz="3000" dirty="0"/>
          </a:p>
        </p:txBody>
      </p:sp>
      <p:sp>
        <p:nvSpPr>
          <p:cNvPr id="20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1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双重指数 &gt; 指数 &gt; 多项式 &gt; 对数多项式</a:t>
            </a:r>
            <a:endParaRPr lang="en-US" sz="1700" dirty="0"/>
          </a:p>
        </p:txBody>
      </p:sp>
      <p:sp>
        <p:nvSpPr>
          <p:cNvPr id="23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ANS_exp1"/>
          <p:cNvSpPr txBox="1"/>
          <p:nvPr/>
        </p:nvSpPr>
        <p:spPr>
          <a:xfrm>
            <a:off x="7818120" y="339598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2ⁿ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2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5n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n(log</a:t>
            </a:r>
            <a:pPr indent="0" marL="0">
              <a:buNone/>
            </a:pP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n)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ANS_dot2"/>
          <p:cNvSpPr/>
          <p:nvPr/>
        </p:nvSpPr>
        <p:spPr>
          <a:xfrm>
            <a:off x="7616952" y="425907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exp2"/>
          <p:cNvSpPr txBox="1"/>
          <p:nvPr/>
        </p:nvSpPr>
        <p:spPr>
          <a:xfrm>
            <a:off x="7818120" y="414020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注意：5n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中常数 5 不影响阶；(log n)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比任何 n</a:t>
            </a:r>
            <a:pPr indent="0" marL="0">
              <a:buNone/>
            </a:pP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ε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增长都慢。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线性表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5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线性表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双循环链表插入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在双循环链表结点 p 之后插入 s 的操作为：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p-&gt;next-&gt;prev=s; s-&gt;prev=p;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s-&gt;next=p-&gt;next; p-&gt;next=s;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09544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p-&gt;next-&gt;prev=s; p-&gt;next=s;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s-&gt;prev=p; s-&gt;next=p-&gt;next;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6908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s-&gt;prev=p; s-&gt;next=p-&gt;next;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p-&gt;next=s; p-&gt;next-&gt;prev=s;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28616"/>
            <a:ext cx="5760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s-&gt;next=p-&gt;next; p-&gt;next-&gt;prev=s;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s-&gt;prev=p; p-&gt;next=s;</a:t>
            </a:r>
            <a:endParaRPr lang="en-US" sz="1600" dirty="0"/>
          </a:p>
        </p:txBody>
      </p:sp>
      <p:sp>
        <p:nvSpPr>
          <p:cNvPr id="19" name="ANS_hl0"/>
          <p:cNvSpPr/>
          <p:nvPr/>
        </p:nvSpPr>
        <p:spPr>
          <a:xfrm>
            <a:off x="457200" y="2313432"/>
            <a:ext cx="6492240" cy="822960"/>
          </a:xfrm>
          <a:prstGeom prst="roundRect">
            <a:avLst>
              <a:gd name="adj" fmla="val 11111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hl1"/>
          <p:cNvSpPr/>
          <p:nvPr/>
        </p:nvSpPr>
        <p:spPr>
          <a:xfrm>
            <a:off x="457200" y="4892040"/>
            <a:ext cx="6492240" cy="1097280"/>
          </a:xfrm>
          <a:prstGeom prst="roundRect">
            <a:avLst>
              <a:gd name="adj" fmla="val 8333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1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A、D</a:t>
            </a:r>
            <a:endParaRPr lang="en-US" sz="4400" dirty="0"/>
          </a:p>
        </p:txBody>
      </p:sp>
      <p:sp>
        <p:nvSpPr>
          <p:cNvPr id="24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被改写之前，必须先用它找到原后继。</a:t>
            </a:r>
            <a:endParaRPr lang="en-US" sz="1700" dirty="0"/>
          </a:p>
        </p:txBody>
      </p:sp>
      <p:sp>
        <p:nvSpPr>
          <p:cNvPr id="27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exp1"/>
          <p:cNvSpPr txBox="1"/>
          <p:nvPr/>
        </p:nvSpPr>
        <p:spPr>
          <a:xfrm>
            <a:off x="7818120" y="339598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p-&gt;next=s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之后再执行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s-&gt;next=p-&gt;next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，s 指向了自己。</a:t>
            </a:r>
            <a:endParaRPr lang="en-US" sz="1700" dirty="0"/>
          </a:p>
        </p:txBody>
      </p:sp>
      <p:sp>
        <p:nvSpPr>
          <p:cNvPr id="29" name="ANS_dot2"/>
          <p:cNvSpPr/>
          <p:nvPr/>
        </p:nvSpPr>
        <p:spPr>
          <a:xfrm>
            <a:off x="7616952" y="425907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exp2"/>
          <p:cNvSpPr txBox="1"/>
          <p:nvPr/>
        </p:nvSpPr>
        <p:spPr>
          <a:xfrm>
            <a:off x="7818120" y="4140200"/>
            <a:ext cx="352044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p-&gt;next=s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p-&gt;next-&gt;prev=s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改的是 s 自己，原后继的 prev 没更新。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线性表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线性表存储性质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下面的叙述中正确的是：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5743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57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线性表在链式存储时，查找第 i 个元素的时间与 i 的数值无关。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40989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409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75254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线性表在顺序存储时，查找第 i 个元素的时间与 i 的数值成正比。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6235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6623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00500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线性表在顺序存储时，查找第 i 个元素的时间与 i 的数值无关。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91481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914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25746"/>
            <a:ext cx="5760720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线性表在链式存储时，插入第 i 个元素的时间与 i 的数值成正比。</a:t>
            </a:r>
            <a:endParaRPr lang="en-US" sz="1500" dirty="0"/>
          </a:p>
        </p:txBody>
      </p:sp>
      <p:sp>
        <p:nvSpPr>
          <p:cNvPr id="19" name="ANS_hl0"/>
          <p:cNvSpPr/>
          <p:nvPr/>
        </p:nvSpPr>
        <p:spPr>
          <a:xfrm>
            <a:off x="457200" y="3963924"/>
            <a:ext cx="6492240" cy="788670"/>
          </a:xfrm>
          <a:prstGeom prst="roundRect">
            <a:avLst>
              <a:gd name="adj" fmla="val 11594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hl1"/>
          <p:cNvSpPr/>
          <p:nvPr/>
        </p:nvSpPr>
        <p:spPr>
          <a:xfrm>
            <a:off x="457200" y="4789170"/>
            <a:ext cx="6492240" cy="788670"/>
          </a:xfrm>
          <a:prstGeom prst="roundRect">
            <a:avLst>
              <a:gd name="adj" fmla="val 11594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1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C、D</a:t>
            </a:r>
            <a:endParaRPr lang="en-US" sz="4400" dirty="0"/>
          </a:p>
        </p:txBody>
      </p:sp>
      <p:sp>
        <p:nvSpPr>
          <p:cNvPr id="24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支持随机存取，按下标查找 O(1)，与 i 无关。</a:t>
            </a:r>
            <a:endParaRPr lang="en-US" sz="1700" dirty="0"/>
          </a:p>
        </p:txBody>
      </p:sp>
      <p:sp>
        <p:nvSpPr>
          <p:cNvPr id="27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exp1"/>
          <p:cNvSpPr txBox="1"/>
          <p:nvPr/>
        </p:nvSpPr>
        <p:spPr>
          <a:xfrm>
            <a:off x="7818120" y="3395980"/>
            <a:ext cx="352044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链式存储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需从头结点走 i 步，查找为 O(i)；插入第 i 个元素要先定位第 i−1 个结点，同样与 i 成正比。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线性表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 vs 链接存储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下面关于线性表的叙述中，正确的是哪些？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线性表采用顺序存储，必须占用一片连续的存储单元。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2209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2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6265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线性表采用顺序存储，便于进行插入和删除操作。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3474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347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7530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线性表采用链接存储，不必占用一片连续的存储单元。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4738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473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8795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线性表采用链接存储，便于插入和删除操作。</a:t>
            </a:r>
            <a:endParaRPr lang="en-US" sz="1600" dirty="0"/>
          </a:p>
        </p:txBody>
      </p:sp>
      <p:sp>
        <p:nvSpPr>
          <p:cNvPr id="19" name="ANS_hl0"/>
          <p:cNvSpPr/>
          <p:nvPr/>
        </p:nvSpPr>
        <p:spPr>
          <a:xfrm>
            <a:off x="457200" y="2313432"/>
            <a:ext cx="6492240" cy="576072"/>
          </a:xfrm>
          <a:prstGeom prst="roundRect">
            <a:avLst>
              <a:gd name="adj" fmla="val 15873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0" name="ANS_hl1"/>
          <p:cNvSpPr/>
          <p:nvPr/>
        </p:nvSpPr>
        <p:spPr>
          <a:xfrm>
            <a:off x="457200" y="3538728"/>
            <a:ext cx="6492240" cy="576072"/>
          </a:xfrm>
          <a:prstGeom prst="roundRect">
            <a:avLst>
              <a:gd name="adj" fmla="val 15873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1" name="ANS_hl2"/>
          <p:cNvSpPr/>
          <p:nvPr/>
        </p:nvSpPr>
        <p:spPr>
          <a:xfrm>
            <a:off x="457200" y="4151376"/>
            <a:ext cx="6492240" cy="576072"/>
          </a:xfrm>
          <a:prstGeom prst="roundRect">
            <a:avLst>
              <a:gd name="adj" fmla="val 15873"/>
            </a:avLst>
          </a:prstGeom>
          <a:ln w="38100">
            <a:solidFill>
              <a:srgbClr val="2E9E6B"/>
            </a:solidFill>
            <a:prstDash val="solid"/>
          </a:ln>
        </p:spPr>
      </p:sp>
      <p:sp>
        <p:nvSpPr>
          <p:cNvPr id="22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3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4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A、C、D</a:t>
            </a:r>
            <a:endParaRPr lang="en-US" sz="4400" dirty="0"/>
          </a:p>
        </p:txBody>
      </p:sp>
      <p:sp>
        <p:nvSpPr>
          <p:cNvPr id="25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6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exp0"/>
          <p:cNvSpPr txBox="1"/>
          <p:nvPr/>
        </p:nvSpPr>
        <p:spPr>
          <a:xfrm>
            <a:off x="7818120" y="2651760"/>
            <a:ext cx="352044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顺序存储要求物理连续；插入、删除需移动大量元素，不方便（B ✗）。</a:t>
            </a:r>
            <a:endParaRPr lang="en-US" sz="1700" dirty="0"/>
          </a:p>
        </p:txBody>
      </p:sp>
      <p:sp>
        <p:nvSpPr>
          <p:cNvPr id="28" name="ANS_dot1"/>
          <p:cNvSpPr/>
          <p:nvPr/>
        </p:nvSpPr>
        <p:spPr>
          <a:xfrm>
            <a:off x="7616952" y="379552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exp1"/>
          <p:cNvSpPr txBox="1"/>
          <p:nvPr/>
        </p:nvSpPr>
        <p:spPr>
          <a:xfrm>
            <a:off x="7818120" y="367665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链接存储靠指针相连，不要求连续；插入、删除只需改指针。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线性表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循环链表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设某循环链表长度为 n，其中一结点为 p1，按链表顺序将后面的结点依次命名为 p2, p3, …, pn，那么：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6309360" cy="701040"/>
          </a:xfrm>
          <a:prstGeom prst="roundRect">
            <a:avLst>
              <a:gd name="adj" fmla="val 1043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118104"/>
            <a:ext cx="59436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pn.next = ____</a:t>
            </a:r>
            <a:endParaRPr lang="en-US" sz="2400" dirty="0"/>
          </a:p>
        </p:txBody>
      </p:sp>
      <p:sp>
        <p:nvSpPr>
          <p:cNvPr id="9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0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1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4400" dirty="0"/>
          </a:p>
        </p:txBody>
      </p:sp>
      <p:sp>
        <p:nvSpPr>
          <p:cNvPr id="12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3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exp0"/>
          <p:cNvSpPr txBox="1"/>
          <p:nvPr/>
        </p:nvSpPr>
        <p:spPr>
          <a:xfrm>
            <a:off x="7818120" y="2651760"/>
            <a:ext cx="3520440" cy="32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循环链表首尾相接：</a:t>
            </a:r>
            <a:endParaRPr lang="en-US" sz="1700" dirty="0"/>
          </a:p>
        </p:txBody>
      </p:sp>
      <p:sp>
        <p:nvSpPr>
          <p:cNvPr id="15" name="ANS_dot1"/>
          <p:cNvSpPr/>
          <p:nvPr/>
        </p:nvSpPr>
        <p:spPr>
          <a:xfrm>
            <a:off x="7616952" y="323418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exp1"/>
          <p:cNvSpPr txBox="1"/>
          <p:nvPr/>
        </p:nvSpPr>
        <p:spPr>
          <a:xfrm>
            <a:off x="7818120" y="311531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最后一个结点 pn 的 next 指针重新指向第一个结点 p1。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线性表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单链表插入复杂度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对于具有 n 个结点的单链表：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在已知结点 *p 后插入新结点的时间复杂度为 O(___)；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在值为 x 的结点后插入新结点的时间复杂度为 O(___)。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（格式为 (a)(b)，字母小写且不含空格）</a:t>
            </a:r>
            <a:endParaRPr lang="en-US" sz="2000" dirty="0"/>
          </a:p>
        </p:txBody>
      </p:sp>
      <p:sp>
        <p:nvSpPr>
          <p:cNvPr id="7" name="ANS_panel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label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value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(1)(n)</a:t>
            </a:r>
            <a:endParaRPr lang="en-US" sz="4400" dirty="0"/>
          </a:p>
        </p:txBody>
      </p:sp>
      <p:sp>
        <p:nvSpPr>
          <p:cNvPr id="10" name="ANS_label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dot0"/>
          <p:cNvSpPr/>
          <p:nvPr/>
        </p:nvSpPr>
        <p:spPr>
          <a:xfrm>
            <a:off x="7616952" y="27706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exp0"/>
          <p:cNvSpPr txBox="1"/>
          <p:nvPr/>
        </p:nvSpPr>
        <p:spPr>
          <a:xfrm>
            <a:off x="7818120" y="2651760"/>
            <a:ext cx="352044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已知 *p：只需常数次指针操作，O(1)。</a:t>
            </a:r>
            <a:endParaRPr lang="en-US" sz="1700" dirty="0"/>
          </a:p>
        </p:txBody>
      </p:sp>
      <p:sp>
        <p:nvSpPr>
          <p:cNvPr id="13" name="ANS_dot1"/>
          <p:cNvSpPr/>
          <p:nvPr/>
        </p:nvSpPr>
        <p:spPr>
          <a:xfrm>
            <a:off x="7616952" y="351485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exp1"/>
          <p:cNvSpPr txBox="1"/>
          <p:nvPr/>
        </p:nvSpPr>
        <p:spPr>
          <a:xfrm>
            <a:off x="7818120" y="3395980"/>
            <a:ext cx="352044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给定值 x：必须先从头遍历查找值为 x 的结点，最坏比较 n 次，O(n)。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MOOC 课堂提问：第一章 概论 &amp; 第二章 线性表</dc:title>
  <dc:subject>PptxGenJS Presentation</dc:subject>
  <dc:creator>PptxGenJS</dc:creator>
  <cp:lastModifiedBy>PptxGenJS</cp:lastModifiedBy>
  <cp:revision>1</cp:revision>
  <dcterms:created xsi:type="dcterms:W3CDTF">2026-09-17T11:47:13Z</dcterms:created>
  <dcterms:modified xsi:type="dcterms:W3CDTF">2026-09-17T11:47:13Z</dcterms:modified>
</cp:coreProperties>
</file>