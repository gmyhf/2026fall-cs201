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讲法：先定树形，再定插入顺序。
1. 深度下限：3 层最多 1+2+4 = 7 个结点，放不下 10 个；4 层最多 15 个，够。要深度 4，根的左、右子树各最多 3 层，即各最多 7 个结点。
2. 选根：按大小排名次 6(1) 9(2) 12(3) 14(4) 29(5) 32(6) 47(7) 63(8) 78(9) 81(10)。名次为 r 的根，左子树 r−1 个、右子树 10−r 个，都 ≤ 7 → 3 ≤ r ≤ 8。根是第一个插入的，要尽量小 → r = 3，根为 12。
   反例：以 6 为根，右子树 9 个；以 9 为根，右子树 8 个，都超过 7，深度至少 5。
3. 子树形状：
   · 左子树 {6, 9} 只有 2 个结点，6 或 9 当根都行。
   · 右子树 {14, 29, 32, 47, 63, 78, 81} 恰好 7 个，必须是 3 层满树，每层取中位数：根 47；左边 {14, 29, 32} 以 29 为根；右边 {63, 78, 81} 以 78 为根。
4. 插入顺序：唯一约束是祖先先于后代。每步插入「当前可插入的元素」中最小的：
   12 → {6/9, 47} 选 6 → {9, 47} 选 9 → 47 → {29, 78} 选 29 → {14, 32, 78} 选 14 → 32 → 78 → {63, 81} 选 63 → 81。
   得 12 6 9 47 29 14 32 78 63 81。
最终的树（可在白板画出）：
          12
        /    \
       6      47
        \    /   \
         9  29    78
           / \   /  \
          14 32 63  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讲法：先看树长什么样，再数每个关键码的比较次数，最后取平均。
1. 树退化成链：设 k1 &lt; k2 &lt; … &lt; kn，按此顺序插入。k1 成为根；k2 比 k1 大，挂在 k1 右边；k3 比已有的都大，一路向右，挂在 k2 右边……每个新关键码都走到最右端，得到只有右孩子的斜链，深度为 n：
   k1
     \
      k2
        \
         k3
           \
            …
              \
               kn
2. 比较次数：查找从根开始，每经过一个结点比较一次。ki 在第 i 层，要经过 k1, k2, …, ki，所以查 ki 比较 i 次。
3. 取平均：每个关键码被查的概率都是 1/n，
   ASL = (1/n)·(1 + 2 + … + n) = (1/n)·n(n+1)/2 = (n+1)/2。
   验证 n = 3：比较 1、2、3 次，平均 2 = (3+1)/2。
4. 对比（引出平衡树）：同样 n 个结点，若树接近平衡，深度约 log₂n，平均比较 O(log n)；递增插入使 BST 退化为链表，平均比较 O(n)，与顺序查找相同。这正是后面讲 AVL 树、红黑树的动机。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讲法：这段代码就是把递归遍历手工展开，每个结点会被「碰到」三次。
1. 对照递归写法：
   void traverse(node) {
       // ① 刚进入：前序在这里访问
       traverse(node-&gt;left);
       // ② 左子树回来：中序在这里访问
       traverse(node-&gt;right);
       // ③ 右子树也回来：后序在这里访问
   }
   非递归代码里，栈和 tag 一起记住「这个结点走到哪一步了」：
   · 1 号：结点第一次遇到，以 tag = Left 入栈，接着往左走 → ① → 前序。
   · 2 号：弹出时 tag 是 Left，左子树刚处理完；改成 Right 重新入栈，转向右子树 → ② → 中序。
   · 3 号：弹出时 tag 是 Right，右子树也处理完；这次弹出后不再入栈 → ③ → 后序。
2. tag 的作用：后序的难点是一个结点会从栈顶弹出两次（左子树完、右子树完各一次），只有第二次才能访问。tag 用来区分这两次：Left 表示左边刚回来，Right 表示右边也回来了。
   为什么 3 号一定在右子树全部处理完之后：2 号把结点以 Right 重新压栈后才转去右孩子，右子树的结点都压在它上面，要全部出栈后它才会再回到栈顶。
   3 号里的 pointer = NULL 让下一轮跳过「向左走」的内层循环，直接弹出父结点，不会重新往下走。
3. 小例子（白板演示）：A 为根，B、C 分别是左、右孩子。栈从底到顶：
   压入 A        A(L)         1 号：A
   压入 B        A(L) B(L)    1 号：B
   弹出 B(L)，重压  A(L) B(R)    2 号：B
   弹出 B(R)     A(L)         3 号：B
   弹出 A(L)，重压，转向 C  A(R)  2 号：A
   压入 C        A(R) C(L)    1 号：C
   弹出 C(L)，重压  A(R) C(R)    2 号：C
   弹出 C(R)     A(R)         3 号：C
   弹出 A(R)     空           3 号：A
   各访问点触发顺序：1 号 A B C（前序），2 号 B A C（中序），3 号 B C A（后序）。
后面 Q13、Q14 问同一段代码做中序、前序的访问点（答案 2、1），可以用这张表一起讲。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讲法：先说为什么要补虚叶子，再合并，最后用两种方法算 WPL，并和「不补」对比。
1. 为什么补 0：三叉树每合并一次，3 个结点变 1 个，结点数减 2。要最后只剩 1 个根，需要 (n−1) mod (k−1) = 0。
   n = 10：(10−1) mod 2 = 1，不整除；补 1 个权为 0 的叶子，变成 11 个，(11−1) mod 2 = 0。
   直观：10 个叶子凑不满每个内部结点都有 3 个孩子的三叉树，必然空出一个孩子位置。这个空位要放在最深的一层（第一次合并就用掉），不能留到最后让根只有两个孩子。权 0 的虚叶子就是在第一次合并时占掉这个空位，它对 WPL 没有贡献。
2. 每次合并最小的三个（剩余结点）：
   0 + 1 + 4 = 5        剩 5, 9, 16, 25, 36, 49, 64, 81, 100
   5 + 9 + 16 = 30      剩 25, 30, 36, 49, 64, 81, 100
   25 + 30 + 36 = 91    剩 49, 64, 81, 91, 100
   49 + 64 + 81 = 194   剩 91, 100, 194
   91 + 100 + 194 = 385 根
   树（白板画）：385 的孩子是 91、100、194；91 的孩子是 25、30、36；194 的孩子是 49、64、81；30 的孩子是 5、9、16；5 的孩子是 0、1、4。
3. 算 WPL：
   方法一（幻灯片）：内部结点权之和 5 + 30 + 91 + 194 + 385 = 705。
   原因：每个叶子的权在它的每个祖先（内部结点）里都被加了一次，祖先个数就是深度，所以内部结点权之和 = Σ 叶子权 × 深度。
   方法二（验证）：按深度直接算
   深度 1：100 × 1 = 100
   深度 2：(25 + 36 + 49 + 64 + 81) × 2 = 255 × 2 = 510
   深度 3：(9 + 16) × 3 = 75
   深度 4：(0 + 1 + 4) × 4 = 20
   合计 100 + 510 + 75 + 20 = 705。
4. 对比（不补 0 直接合并最小的三个）：
   1 + 4 + 9 = 14，14 + 16 + 25 = 55，36 + 49 + 55 = 140，64 + 81 + 100 = 245，最后只剩 140、245 两个，根只有两个孩子：140 + 245 = 385。
   WPL = 14 + 55 + 140 + 245 + 385 = 839 &gt; 705。
   空位留在根上，相当于让所有叶子都多付代价；放在最底层，只影响权最小的几个叶子。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讲法：先数层数，再数每层最多几个结点，最后等比数列求和。
1. 层数：题目约定独根树深度为 0，根在第 0 层。深度为 h 的树有第 0, 1, …, h 层，共 h+1 层。
2. 每层最多结点数：每个结点最多 k 个孩子，下一层最多是上一层的 k 倍：
   第 0 层 1，第 1 层 k，第 2 层 k²，……，第 h 层 k^h。
3. 求和：1 + k + k² + … + k^h = (k^(h+1) − 1)/(k − 1)，选 C。
   验证：k = 2，h = 2：1 + 2 + 4 = 7 = (2³ − 1)/(2 − 1)。
         k = 3，h = 1：根加 3 个孩子共 4 个 = (3² − 1)/(3 − 1)。
4. 其他选项：
   · D (k^h − 1)/(k − 1) 只有 h 层，是「独根树深度为 1」约定下的答案，最典型的陷阱。做这类题先看深度从 0 还是从 1 算。
   · B k^h 只是第 h 层（叶子层）的最多结点数，正是下一题 Q3「满 k 叉树的叶结点数」的答案，两题可以一起讲。
   · A k^(h−1) 层数和求和都不对。
5. 为什么说「最多」：教材里的满 k 叉树指每个内部结点都恰好有 k 个孩子，不要求叶子都在同一层，所以同样深度的满 k 叉树结点数可以不同；所有叶子都在第 h 层、每层填满时才取到最大值。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讲法：先用叶子数定层数，再逐种情况数非叶结点，最后说明 5、6 为什么不行。
1. 2-3 树的两条性质：每个非叶结点有 2 或 3 个孩子；所有叶子在同一层（关键约束）。
2. 定层数：设叶子在第 d 层（根在第 0 层），每层结点数是上一层的 2～3 倍，所以 2^d ≤ 9 ≤ 3^d。
   d = 1 最多 3 个叶子，不够；d = 2 叶子 4～9 个，可以；d = 3 叶子 8～27 个，可以；d = 4 至少 16 个，太多。
   只有 d = 2、d = 3 两种。
3. d = 2：根有 2 个孩子时最多挂 2 × 3 = 6 个叶子，不够，所以根有 3 个孩子，每个各挂 3 个叶子。
   非叶结点 = 1 + 3 = 4（A）。
4. d = 3：设第 1 层 a 个结点，第 2 层（叶子上一层）b 个结点。
   定 b：b 个结点挂 9 个叶子，每个 2～3 个，2b ≤ 9 ≤ 3b → b = 3 或 4。
   定 a：a 个结点挂 b 个结点，每个 2～3 个，2a ≤ b ≤ 3a，且根至少 2 个孩子（a ≥ 2）。
   · b = 3：3 个结点分不成每组至少 2 个的 2 组，只能 a = 1，不行。（幻灯片省略了这一句，讲时补上。）
   · b = 4：a = 2，分成 2 + 2。
   叶子按 3 + 2 + 2 + 2 分配。非叶结点 = 1 + 2 + 4 = 7（D）。
   白板画：根 → 2 个结点 → 各 2 个结点 → 叶子 3、2、2、2。
5. 为什么凑不出 5、6：只用「每个非叶结点 2～3 个孩子」推，设非叶结点 I 个，总结点 I + 9，边数 I + 8，边数又等于孩子数之和，在 2I～3I 之间：2I ≤ I + 8 ≤ 3I → 4 ≤ I ≤ 8。
   一般树里 5、6 都可能；把它们排除掉的是「所有叶子在同一层」，它把树限定为上面两种结构，非叶结点只能是 4 或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讲法：先讲两个标记的含义，再用「给有孩子的结点依次分组」还原树，最后后根遍历。
1. 标记含义：ltag = 0 有孩子，= 1 没孩子（叶子）；rtag = 0 后面还有右兄弟，= 1 是最后一个兄弟。
   表格按行从左往右读，层次序列为：A01 B00 C00 E10 F01 G11 D01 I11 H11。（按列读会得到 A B E C F D …，完全不同。）
2. 还原方法：层次序列里，同一结点的孩子连续出现，各组孩子的先后与父结点的先后一致。
   第一个结点是根；ltag = 0 的结点按序列顺序排队：A、B、C、F、D；从根后面往后读，依次给队里每个结点分一组孩子，每组读到 rtag = 1 为止。
   A：B(r0) C(r0) E(r0) F(r1) → B、C、E、F
   B：G(r1) → G
   C：D(r1) → D
   F：I(r1) → I
   D：H(r1) → H
   E、G、I、H 的 ltag = 1，没有孩子；所有结点正好分完，没有矛盾。
3. 树（白板画）：A 的孩子 B、C、E、F；B 下 G；C 下 D，D 下 H；F 下 I。
   反查：层次序 A | B C E F | G D I | H，与题目一致。
4. 后根遍历（先子树后根），带度数：
   B 子树 G0 B1；C 子树 H0 D1 C1；E 子树 E0；F 子树 I0 F1；最后根 A4。
   答案：G0 B1 H0 D1 C1 E0 I0 F1 A4。
5. 用题目例子验证方法：A01 B00 C01 D10 G01 E01 H11 F10 I11，有孩子的结点依次 A、B、C、G、E：
   A：B、C；B：D、G；C：E；G：H；E：F、I。后根 D0 H0 G1 B2 F0 I0 E2 C1 A2，与题目给出的一致。
易错点：表格按行读；ltag 决定谁进「父结点队列」，rtag 决定一组孩子在哪里结束；A 有 4 个孩子，是 A4。
下一题 Q12 方法相同：A：B、E；B：C、D、G；E：F、I；C：H。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讲法：先强调「先找根再合并」，然后按下表逐步更新数组（白板上写 par[0..9]，每步只改一格）。
规则：par[i] 是 i 的父结点，根的父结点是自己，初始 par[i] = i。处理 a-b：先分别找根 ra、rb（沿父指针向上），同根则跳过；否则结点数少的根指向结点数多的根，一样大时 b 的根指向 a 的根。不做路径压缩。
逐步表（括号里是树的结点数）：
   等价对  a 的根        b 的根        操作           par[0..9]
   8-9    8(1)          9(1)          等大，9→8      0 1 2 3 4 5 6 7 8 8
   3-2    3(1)          2(1)          等大，2→3      0 1 3 3 4 5 6 7 8 8
   7-4    7(1)          4(1)          等大，4→7      0 1 3 3 7 5 6 7 8 8
   5-9    5(1)          8(2)          5 小，5→8      0 1 3 3 7 8 6 7 8 8
   6-1    6(1)          1(1)          等大，1→6      0 6 3 3 7 8 6 7 8 8
   8-6    8(3)          6(2)          6 小，6→8      0 6 3 3 7 8 8 7 8 8
   7-3    7(2)          3(2)          等大，3→7      0 6 3 7 7 8 8 7 8 8
   2-5    2→3→7，7(4)   5→8，8(5)     7 小，7→8      0 6 3 7 7 8 8 8 8 8
   8-0    8(9)          0(1)          0 小，0→8      8 6 3 7 7 8 8 8 8 8
   答案：8 6 3 7 7 8 8 8 8 8
关键一步 2-5：合并的是根而不是 2、5 本身。2 沿 2→3→7 找到根 7，树 {7,4,3,2} 共 4 个；5 沿 5→8 找到根 8，树 {8,9,5,6,1} 共 5 个，所以 7→8。
最终的树（白板画）：8 的孩子 9、5、6、7、0；6 下 1；7 下 4、3；3 下 2。
要点：大小指结点数，不是树高；等大时 b 的根指向 a 的根，本题多数合并都是等大。不做路径压缩，所以 par[2] = 3、par[3] = 7，2 离根 8 有三层。
对比：若做路径压缩，2-5 那一步 find(2) 会把 2 直接改指 7，答案变为 8 6 7 7 7 8 8 8 8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讲法：规则同上题，按下表逐步更新数组。
规则：par[i] 是 i 的父结点，根的父结点是自己，初始 par[i] = i。处理 a-b：先分别找根 ra、rb（沿父指针向上），同根则跳过；否则结点数少的根指向结点数多的根，一样大时 b 的根指向 a 的根。不做路径压缩。
逐步表（括号里是树的结点数）：
   等价对  a 的根          b 的根          操作           par[0..9]
   4-0    4(1)            0(1)            等大，0→4      4 1 2 3 4 5 6 7 8 9
   6-2    6(1)            2(1)            等大，2→6      4 1 6 3 4 5 6 7 8 9
   8-4    8(1)            4(2)            8 小，8→4      4 1 6 3 4 5 6 7 4 9
   9-4    9(1)            4(3)            9 小，9→4      4 1 6 3 4 5 6 7 4 4
   3-5    3(1)            5(1)            等大，5→3      4 1 6 3 4 3 6 7 4 4
   9-5    9→4，4(4)       5→3，3(2)       3 小，3→4      4 1 6 4 4 3 6 7 4 4
   5-2    5→3→4，4(6)     2→6，6(2)       6 小，6→4      4 1 6 4 4 3 4 7 4 4
   1-2    1(1)            2→6→4，4(8)     1 小，1→4      4 4 6 4 4 3 4 7 4 4
   7-1    7(1)            1→4，4(9)       7 小，7→4      4 4 6 4 4 3 4 4 4 4
   答案：4 4 6 4 4 3 4 4 4 4
最终的树（白板画）：4 的孩子 0、8、9、3、6、1、7；3 下 5；6 下 2。
要点：9-5、5-2 都要先找根再合并。不做路径压缩，所以 2 仍指向 6，5 仍指向 3。
对比：若做路径压缩，5-2 时 find(5) 把 5 改指 4，1-2 时 find(2) 把 2 改指 4，答案全为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D34"/>
        </a:solidFill>
      </p:bgPr>
    </p:bg>
    <p:spTree>
      <p:nvGrpSpPr>
        <p:cNvPr id="1" name=""/>
        <p:cNvGrpSpPr/>
        <p:nvPr/>
      </p:nvGrpSpPr>
      <p:grpSpPr>
        <a:xfrm>
          <a:off x="0" y="0"/>
          <a:ext cx="0" cy="0"/>
          <a:chOff x="0" y="0"/>
          <a:chExt cx="0" cy="0"/>
        </a:xfrm>
      </p:grpSpPr>
      <p:sp>
        <p:nvSpPr>
          <p:cNvPr id="2" name="Shape 0"/>
          <p:cNvSpPr/>
          <p:nvPr/>
        </p:nvSpPr>
        <p:spPr>
          <a:xfrm>
            <a:off x="8412480" y="-1097280"/>
            <a:ext cx="5029200" cy="5029200"/>
          </a:xfrm>
          <a:prstGeom prst="ellipse">
            <a:avLst/>
          </a:prstGeom>
          <a:solidFill>
            <a:srgbClr val="3E7C68">
              <a:alpha val="45000"/>
            </a:srgbClr>
          </a:solidFill>
          <a:ln/>
        </p:spPr>
      </p:sp>
      <p:sp>
        <p:nvSpPr>
          <p:cNvPr id="3" name="Shape 1"/>
          <p:cNvSpPr/>
          <p:nvPr/>
        </p:nvSpPr>
        <p:spPr>
          <a:xfrm>
            <a:off x="9692640" y="3931920"/>
            <a:ext cx="2926080" cy="2926080"/>
          </a:xfrm>
          <a:prstGeom prst="ellipse">
            <a:avLst/>
          </a:prstGeom>
          <a:solidFill>
            <a:srgbClr val="F2B134">
              <a:alpha val="30000"/>
            </a:srgbClr>
          </a:solidFill>
          <a:ln/>
        </p:spPr>
      </p:sp>
      <p:sp>
        <p:nvSpPr>
          <p:cNvPr id="4" name="Text 2"/>
          <p:cNvSpPr txBox="1"/>
          <p:nvPr/>
        </p:nvSpPr>
        <p:spPr>
          <a:xfrm>
            <a:off x="731520" y="1737360"/>
            <a:ext cx="8229600" cy="548640"/>
          </a:xfrm>
          <a:prstGeom prst="rect">
            <a:avLst/>
          </a:prstGeom>
          <a:noFill/>
          <a:ln/>
        </p:spPr>
        <p:txBody>
          <a:bodyPr wrap="square" lIns="0" tIns="0" rIns="0" bIns="0" rtlCol="0" anchor="ctr"/>
          <a:lstStyle/>
          <a:p>
            <a:pPr algn="l" indent="0" marL="0">
              <a:buNone/>
            </a:pPr>
            <a:r>
              <a:rPr lang="en-US" sz="2000" b="1" dirty="0">
                <a:solidFill>
                  <a:srgbClr val="F2B134"/>
                </a:solidFill>
                <a:latin typeface="Microsoft YaHei" pitchFamily="34" charset="0"/>
                <a:ea typeface="Microsoft YaHei" pitchFamily="34" charset="-122"/>
                <a:cs typeface="Microsoft YaHei" pitchFamily="34" charset="-120"/>
              </a:rPr>
              <a:t>数据结构与算法 · 2026 Fall</a:t>
            </a:r>
            <a:endParaRPr lang="en-US" sz="2000" dirty="0"/>
          </a:p>
        </p:txBody>
      </p:sp>
      <p:sp>
        <p:nvSpPr>
          <p:cNvPr id="5" name="Text 3"/>
          <p:cNvSpPr txBox="1"/>
          <p:nvPr/>
        </p:nvSpPr>
        <p:spPr>
          <a:xfrm>
            <a:off x="731520" y="2377440"/>
            <a:ext cx="9144000" cy="1463040"/>
          </a:xfrm>
          <a:prstGeom prst="rect">
            <a:avLst/>
          </a:prstGeom>
          <a:noFill/>
          <a:ln/>
        </p:spPr>
        <p:txBody>
          <a:bodyPr wrap="square" lIns="0" tIns="0" rIns="0" bIns="0" rtlCol="0" anchor="t"/>
          <a:lstStyle/>
          <a:p>
            <a:pPr algn="l" indent="0" marL="0">
              <a:buNone/>
            </a:pPr>
            <a:r>
              <a:rPr lang="en-US" sz="4800" b="1" dirty="0">
                <a:solidFill>
                  <a:srgbClr val="FFFFFF"/>
                </a:solidFill>
                <a:latin typeface="Microsoft YaHei" pitchFamily="34" charset="0"/>
                <a:ea typeface="Microsoft YaHei" pitchFamily="34" charset="-122"/>
                <a:cs typeface="Microsoft YaHei" pitchFamily="34" charset="-120"/>
              </a:rPr>
              <a:t>课堂提问：MOOC 习题</a:t>
            </a:r>
            <a:endParaRPr lang="en-US" sz="4800" dirty="0"/>
          </a:p>
        </p:txBody>
      </p:sp>
      <p:sp>
        <p:nvSpPr>
          <p:cNvPr id="6" name="Text 4"/>
          <p:cNvSpPr txBox="1"/>
          <p:nvPr/>
        </p:nvSpPr>
        <p:spPr>
          <a:xfrm>
            <a:off x="731520" y="4114800"/>
            <a:ext cx="8229600" cy="1097280"/>
          </a:xfrm>
          <a:prstGeom prst="rect">
            <a:avLst/>
          </a:prstGeom>
          <a:noFill/>
          <a:ln/>
        </p:spPr>
        <p:txBody>
          <a:bodyPr wrap="square" lIns="0" tIns="0" rIns="0" bIns="0" rtlCol="0" anchor="t"/>
          <a:lstStyle/>
          <a:p>
            <a:pPr algn="l" indent="0" marL="0">
              <a:buNone/>
            </a:pPr>
            <a:r>
              <a:rPr lang="en-US" sz="1800" dirty="0">
                <a:solidFill>
                  <a:srgbClr val="CFE0D8"/>
                </a:solidFill>
                <a:latin typeface="Microsoft YaHei" pitchFamily="34" charset="0"/>
                <a:ea typeface="Microsoft YaHei" pitchFamily="34" charset="-122"/>
                <a:cs typeface="Microsoft YaHei" pitchFamily="34" charset="-120"/>
              </a:rPr>
              <a:t>第五章 二叉树（上）（10 题） · 第五章 二叉树（下）（16 题） · 第六章 树（19 题）</a:t>
            </a:r>
            <a:endParaRPr lang="en-US" sz="1800" dirty="0"/>
          </a:p>
          <a:p>
            <a:pPr algn="l" indent="0" marL="0">
              <a:buNone/>
            </a:pPr>
            <a:r>
              <a:rPr lang="en-US" sz="1800" dirty="0">
                <a:solidFill>
                  <a:srgbClr val="CFE0D8"/>
                </a:solidFill>
                <a:latin typeface="Microsoft YaHei" pitchFamily="34" charset="0"/>
                <a:ea typeface="Microsoft YaHei" pitchFamily="34" charset="-122"/>
                <a:cs typeface="Microsoft YaHei" pitchFamily="34" charset="-120"/>
              </a:rPr>
              <a:t>每页先出题，请同学作答；单击显示答案与解析，再单击进入下一题。</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3D34"/>
        </a:solidFill>
      </p:bgPr>
    </p:bg>
    <p:spTree>
      <p:nvGrpSpPr>
        <p:cNvPr id="1" name=""/>
        <p:cNvGrpSpPr/>
        <p:nvPr/>
      </p:nvGrpSpPr>
      <p:grpSpPr>
        <a:xfrm>
          <a:off x="0" y="0"/>
          <a:ext cx="0" cy="0"/>
          <a:chOff x="0" y="0"/>
          <a:chExt cx="0" cy="0"/>
        </a:xfrm>
      </p:grpSpPr>
      <p:sp>
        <p:nvSpPr>
          <p:cNvPr id="2" name="Shape 0"/>
          <p:cNvSpPr/>
          <p:nvPr/>
        </p:nvSpPr>
        <p:spPr>
          <a:xfrm>
            <a:off x="8412480" y="-1097280"/>
            <a:ext cx="5029200" cy="5029200"/>
          </a:xfrm>
          <a:prstGeom prst="ellipse">
            <a:avLst/>
          </a:prstGeom>
          <a:solidFill>
            <a:srgbClr val="3E7C68">
              <a:alpha val="45000"/>
            </a:srgbClr>
          </a:solidFill>
          <a:ln/>
        </p:spPr>
      </p:sp>
      <p:sp>
        <p:nvSpPr>
          <p:cNvPr id="3" name="Shape 1"/>
          <p:cNvSpPr/>
          <p:nvPr/>
        </p:nvSpPr>
        <p:spPr>
          <a:xfrm>
            <a:off x="9692640" y="3931920"/>
            <a:ext cx="2926080" cy="2926080"/>
          </a:xfrm>
          <a:prstGeom prst="ellipse">
            <a:avLst/>
          </a:prstGeom>
          <a:solidFill>
            <a:srgbClr val="F2B134">
              <a:alpha val="30000"/>
            </a:srgbClr>
          </a:solidFill>
          <a:ln/>
        </p:spPr>
      </p:sp>
      <p:sp>
        <p:nvSpPr>
          <p:cNvPr id="4" name="Text 2"/>
          <p:cNvSpPr txBox="1"/>
          <p:nvPr/>
        </p:nvSpPr>
        <p:spPr>
          <a:xfrm>
            <a:off x="731520" y="1737360"/>
            <a:ext cx="8229600" cy="548640"/>
          </a:xfrm>
          <a:prstGeom prst="rect">
            <a:avLst/>
          </a:prstGeom>
          <a:noFill/>
          <a:ln/>
        </p:spPr>
        <p:txBody>
          <a:bodyPr wrap="square" lIns="0" tIns="0" rIns="0" bIns="0" rtlCol="0" anchor="ctr"/>
          <a:lstStyle/>
          <a:p>
            <a:pPr algn="l" indent="0" marL="0">
              <a:buNone/>
            </a:pPr>
            <a:r>
              <a:rPr lang="en-US" sz="2000" b="1" dirty="0">
                <a:solidFill>
                  <a:srgbClr val="F2B134"/>
                </a:solidFill>
                <a:latin typeface="Microsoft YaHei" pitchFamily="34" charset="0"/>
                <a:ea typeface="Microsoft YaHei" pitchFamily="34" charset="-122"/>
                <a:cs typeface="Microsoft YaHei" pitchFamily="34" charset="-120"/>
              </a:rPr>
              <a:t>Chapter 5 · 上</a:t>
            </a:r>
            <a:endParaRPr lang="en-US" sz="2000" dirty="0"/>
          </a:p>
        </p:txBody>
      </p:sp>
      <p:sp>
        <p:nvSpPr>
          <p:cNvPr id="5" name="Text 3"/>
          <p:cNvSpPr txBox="1"/>
          <p:nvPr/>
        </p:nvSpPr>
        <p:spPr>
          <a:xfrm>
            <a:off x="731520" y="2377440"/>
            <a:ext cx="9144000" cy="1463040"/>
          </a:xfrm>
          <a:prstGeom prst="rect">
            <a:avLst/>
          </a:prstGeom>
          <a:noFill/>
          <a:ln/>
        </p:spPr>
        <p:txBody>
          <a:bodyPr wrap="square" lIns="0" tIns="0" rIns="0" bIns="0" rtlCol="0" anchor="t"/>
          <a:lstStyle/>
          <a:p>
            <a:pPr algn="l" indent="0" marL="0">
              <a:buNone/>
            </a:pPr>
            <a:r>
              <a:rPr lang="en-US" sz="4800" b="1" dirty="0">
                <a:solidFill>
                  <a:srgbClr val="FFFFFF"/>
                </a:solidFill>
                <a:latin typeface="Microsoft YaHei" pitchFamily="34" charset="0"/>
                <a:ea typeface="Microsoft YaHei" pitchFamily="34" charset="-122"/>
                <a:cs typeface="Microsoft YaHei" pitchFamily="34" charset="-120"/>
              </a:rPr>
              <a:t>第五章 二叉树（上）</a:t>
            </a:r>
            <a:endParaRPr lang="en-US" sz="4800" dirty="0"/>
          </a:p>
        </p:txBody>
      </p:sp>
      <p:sp>
        <p:nvSpPr>
          <p:cNvPr id="6" name="Text 4"/>
          <p:cNvSpPr txBox="1"/>
          <p:nvPr/>
        </p:nvSpPr>
        <p:spPr>
          <a:xfrm>
            <a:off x="731520" y="4114800"/>
            <a:ext cx="8229600" cy="1097280"/>
          </a:xfrm>
          <a:prstGeom prst="rect">
            <a:avLst/>
          </a:prstGeom>
          <a:noFill/>
          <a:ln/>
        </p:spPr>
        <p:txBody>
          <a:bodyPr wrap="square" lIns="0" tIns="0" rIns="0" bIns="0" rtlCol="0" anchor="t"/>
          <a:lstStyle/>
          <a:p>
            <a:pPr algn="l" indent="0" marL="0">
              <a:buNone/>
            </a:pPr>
            <a:r>
              <a:rPr lang="en-US" sz="1800" dirty="0">
                <a:solidFill>
                  <a:srgbClr val="CFE0D8"/>
                </a:solidFill>
                <a:latin typeface="Microsoft YaHei" pitchFamily="34" charset="0"/>
                <a:ea typeface="Microsoft YaHei" pitchFamily="34" charset="-122"/>
                <a:cs typeface="Microsoft YaHei" pitchFamily="34" charset="-120"/>
              </a:rPr>
              <a:t>共 10 题 · 准备好了吗？</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二叉树（上）  ·  多选题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遍历序列何时相同</a:t>
            </a:r>
            <a:endParaRPr lang="en-US" sz="2800" dirty="0"/>
          </a:p>
        </p:txBody>
      </p:sp>
      <p:sp>
        <p:nvSpPr>
          <p:cNvPr id="6" name="Text 4"/>
          <p:cNvSpPr txBox="1"/>
          <p:nvPr/>
        </p:nvSpPr>
        <p:spPr>
          <a:xfrm>
            <a:off x="548640" y="1645920"/>
            <a:ext cx="6309360" cy="256032"/>
          </a:xfrm>
          <a:prstGeom prst="rect">
            <a:avLst/>
          </a:prstGeom>
          <a:noFill/>
          <a:ln/>
        </p:spPr>
        <p:txBody>
          <a:bodyPr wrap="square" lIns="0" tIns="0" rIns="0" bIns="0" rtlCol="0" anchor="t"/>
          <a:lstStyle/>
          <a:p>
            <a:pPr algn="l" indent="0" marL="0">
              <a:buNone/>
            </a:pPr>
            <a:r>
              <a:rPr lang="en-US" sz="1200" dirty="0">
                <a:solidFill>
                  <a:srgbClr val="222222"/>
                </a:solidFill>
                <a:latin typeface="Microsoft YaHei" pitchFamily="34" charset="0"/>
                <a:ea typeface="Microsoft YaHei" pitchFamily="34" charset="-122"/>
                <a:cs typeface="Microsoft YaHei" pitchFamily="34" charset="-120"/>
              </a:rPr>
              <a:t>设结点标识互不相同，下列关于二叉树遍历的说法正确的有：</a:t>
            </a:r>
            <a:endParaRPr lang="en-US" sz="1200" dirty="0"/>
          </a:p>
        </p:txBody>
      </p:sp>
      <p:sp>
        <p:nvSpPr>
          <p:cNvPr id="7" name="Shape 5"/>
          <p:cNvSpPr/>
          <p:nvPr/>
        </p:nvSpPr>
        <p:spPr>
          <a:xfrm>
            <a:off x="548640" y="2086661"/>
            <a:ext cx="285293" cy="285293"/>
          </a:xfrm>
          <a:prstGeom prst="ellipse">
            <a:avLst/>
          </a:prstGeom>
          <a:solidFill>
            <a:srgbClr val="3E7C68"/>
          </a:solidFill>
          <a:ln/>
        </p:spPr>
      </p:sp>
      <p:sp>
        <p:nvSpPr>
          <p:cNvPr id="8" name="Text 6"/>
          <p:cNvSpPr txBox="1"/>
          <p:nvPr/>
        </p:nvSpPr>
        <p:spPr>
          <a:xfrm>
            <a:off x="548640" y="2086661"/>
            <a:ext cx="285293" cy="285293"/>
          </a:xfrm>
          <a:prstGeom prst="rect">
            <a:avLst/>
          </a:prstGeom>
          <a:noFill/>
          <a:ln/>
        </p:spPr>
        <p:txBody>
          <a:bodyPr wrap="square" lIns="0" tIns="0" rIns="0" bIns="0" rtlCol="0" anchor="ctr"/>
          <a:lstStyle/>
          <a:p>
            <a:pPr algn="ctr" indent="0" marL="0">
              <a:buNone/>
            </a:pPr>
            <a:r>
              <a:rPr lang="en-US" sz="980" b="1" dirty="0">
                <a:solidFill>
                  <a:srgbClr val="FFFFFF"/>
                </a:solidFill>
                <a:latin typeface="Microsoft YaHei" pitchFamily="34" charset="0"/>
                <a:ea typeface="Microsoft YaHei" pitchFamily="34" charset="-122"/>
                <a:cs typeface="Microsoft YaHei" pitchFamily="34" charset="-120"/>
              </a:rPr>
              <a:t>A</a:t>
            </a:r>
            <a:endParaRPr lang="en-US" sz="980" dirty="0"/>
          </a:p>
        </p:txBody>
      </p:sp>
      <p:sp>
        <p:nvSpPr>
          <p:cNvPr id="9" name="Text 7"/>
          <p:cNvSpPr txBox="1"/>
          <p:nvPr/>
        </p:nvSpPr>
        <p:spPr>
          <a:xfrm>
            <a:off x="1097280" y="2055571"/>
            <a:ext cx="5760720" cy="347472"/>
          </a:xfrm>
          <a:prstGeom prst="rect">
            <a:avLst/>
          </a:prstGeom>
          <a:noFill/>
          <a:ln/>
        </p:spPr>
        <p:txBody>
          <a:bodyPr wrap="square" lIns="0" tIns="0" rIns="0" bIns="0" rtlCol="0" anchor="ctr"/>
          <a:lstStyle/>
          <a:p>
            <a:pPr algn="l" indent="0" marL="0">
              <a:buNone/>
            </a:pPr>
            <a:r>
              <a:rPr lang="en-US" sz="1200" dirty="0">
                <a:solidFill>
                  <a:srgbClr val="222222"/>
                </a:solidFill>
                <a:latin typeface="Microsoft YaHei" pitchFamily="34" charset="0"/>
                <a:ea typeface="Microsoft YaHei" pitchFamily="34" charset="-122"/>
                <a:cs typeface="Microsoft YaHei" pitchFamily="34" charset="-120"/>
              </a:rPr>
              <a:t>前序与中序相同的二叉树，只能是空树或独根树。</a:t>
            </a:r>
            <a:endParaRPr lang="en-US" sz="1200" dirty="0"/>
          </a:p>
        </p:txBody>
      </p:sp>
      <p:sp>
        <p:nvSpPr>
          <p:cNvPr id="10" name="Shape 8"/>
          <p:cNvSpPr/>
          <p:nvPr/>
        </p:nvSpPr>
        <p:spPr>
          <a:xfrm>
            <a:off x="548640" y="2510942"/>
            <a:ext cx="285293" cy="285293"/>
          </a:xfrm>
          <a:prstGeom prst="ellipse">
            <a:avLst/>
          </a:prstGeom>
          <a:solidFill>
            <a:srgbClr val="3E7C68"/>
          </a:solidFill>
          <a:ln/>
        </p:spPr>
      </p:sp>
      <p:sp>
        <p:nvSpPr>
          <p:cNvPr id="11" name="Text 9"/>
          <p:cNvSpPr txBox="1"/>
          <p:nvPr/>
        </p:nvSpPr>
        <p:spPr>
          <a:xfrm>
            <a:off x="548640" y="2510942"/>
            <a:ext cx="285293" cy="285293"/>
          </a:xfrm>
          <a:prstGeom prst="rect">
            <a:avLst/>
          </a:prstGeom>
          <a:noFill/>
          <a:ln/>
        </p:spPr>
        <p:txBody>
          <a:bodyPr wrap="square" lIns="0" tIns="0" rIns="0" bIns="0" rtlCol="0" anchor="ctr"/>
          <a:lstStyle/>
          <a:p>
            <a:pPr algn="ctr" indent="0" marL="0">
              <a:buNone/>
            </a:pPr>
            <a:r>
              <a:rPr lang="en-US" sz="980" b="1" dirty="0">
                <a:solidFill>
                  <a:srgbClr val="FFFFFF"/>
                </a:solidFill>
                <a:latin typeface="Microsoft YaHei" pitchFamily="34" charset="0"/>
                <a:ea typeface="Microsoft YaHei" pitchFamily="34" charset="-122"/>
                <a:cs typeface="Microsoft YaHei" pitchFamily="34" charset="-120"/>
              </a:rPr>
              <a:t>B</a:t>
            </a:r>
            <a:endParaRPr lang="en-US" sz="980" dirty="0"/>
          </a:p>
        </p:txBody>
      </p:sp>
      <p:sp>
        <p:nvSpPr>
          <p:cNvPr id="12" name="Text 10"/>
          <p:cNvSpPr txBox="1"/>
          <p:nvPr/>
        </p:nvSpPr>
        <p:spPr>
          <a:xfrm>
            <a:off x="1097280" y="2479853"/>
            <a:ext cx="5760720" cy="347472"/>
          </a:xfrm>
          <a:prstGeom prst="rect">
            <a:avLst/>
          </a:prstGeom>
          <a:noFill/>
          <a:ln/>
        </p:spPr>
        <p:txBody>
          <a:bodyPr wrap="square" lIns="0" tIns="0" rIns="0" bIns="0" rtlCol="0" anchor="ctr"/>
          <a:lstStyle/>
          <a:p>
            <a:pPr algn="l" indent="0" marL="0">
              <a:buNone/>
            </a:pPr>
            <a:r>
              <a:rPr lang="en-US" sz="1200" dirty="0">
                <a:solidFill>
                  <a:srgbClr val="222222"/>
                </a:solidFill>
                <a:latin typeface="Microsoft YaHei" pitchFamily="34" charset="0"/>
                <a:ea typeface="Microsoft YaHei" pitchFamily="34" charset="-122"/>
                <a:cs typeface="Microsoft YaHei" pitchFamily="34" charset="-120"/>
              </a:rPr>
              <a:t>所有结点左子树为空的二叉树，前序与中序相同。</a:t>
            </a:r>
            <a:endParaRPr lang="en-US" sz="1200" dirty="0"/>
          </a:p>
        </p:txBody>
      </p:sp>
      <p:sp>
        <p:nvSpPr>
          <p:cNvPr id="13" name="Shape 11"/>
          <p:cNvSpPr/>
          <p:nvPr/>
        </p:nvSpPr>
        <p:spPr>
          <a:xfrm>
            <a:off x="548640" y="2935224"/>
            <a:ext cx="285293" cy="285293"/>
          </a:xfrm>
          <a:prstGeom prst="ellipse">
            <a:avLst/>
          </a:prstGeom>
          <a:solidFill>
            <a:srgbClr val="3E7C68"/>
          </a:solidFill>
          <a:ln/>
        </p:spPr>
      </p:sp>
      <p:sp>
        <p:nvSpPr>
          <p:cNvPr id="14" name="Text 12"/>
          <p:cNvSpPr txBox="1"/>
          <p:nvPr/>
        </p:nvSpPr>
        <p:spPr>
          <a:xfrm>
            <a:off x="548640" y="2935224"/>
            <a:ext cx="285293" cy="285293"/>
          </a:xfrm>
          <a:prstGeom prst="rect">
            <a:avLst/>
          </a:prstGeom>
          <a:noFill/>
          <a:ln/>
        </p:spPr>
        <p:txBody>
          <a:bodyPr wrap="square" lIns="0" tIns="0" rIns="0" bIns="0" rtlCol="0" anchor="ctr"/>
          <a:lstStyle/>
          <a:p>
            <a:pPr algn="ctr" indent="0" marL="0">
              <a:buNone/>
            </a:pPr>
            <a:r>
              <a:rPr lang="en-US" sz="980" b="1" dirty="0">
                <a:solidFill>
                  <a:srgbClr val="FFFFFF"/>
                </a:solidFill>
                <a:latin typeface="Microsoft YaHei" pitchFamily="34" charset="0"/>
                <a:ea typeface="Microsoft YaHei" pitchFamily="34" charset="-122"/>
                <a:cs typeface="Microsoft YaHei" pitchFamily="34" charset="-120"/>
              </a:rPr>
              <a:t>C</a:t>
            </a:r>
            <a:endParaRPr lang="en-US" sz="980" dirty="0"/>
          </a:p>
        </p:txBody>
      </p:sp>
      <p:sp>
        <p:nvSpPr>
          <p:cNvPr id="15" name="Text 13"/>
          <p:cNvSpPr txBox="1"/>
          <p:nvPr/>
        </p:nvSpPr>
        <p:spPr>
          <a:xfrm>
            <a:off x="1097280" y="2904134"/>
            <a:ext cx="5760720" cy="347472"/>
          </a:xfrm>
          <a:prstGeom prst="rect">
            <a:avLst/>
          </a:prstGeom>
          <a:noFill/>
          <a:ln/>
        </p:spPr>
        <p:txBody>
          <a:bodyPr wrap="square" lIns="0" tIns="0" rIns="0" bIns="0" rtlCol="0" anchor="ctr"/>
          <a:lstStyle/>
          <a:p>
            <a:pPr algn="l" indent="0" marL="0">
              <a:buNone/>
            </a:pPr>
            <a:r>
              <a:rPr lang="en-US" sz="1200" dirty="0">
                <a:solidFill>
                  <a:srgbClr val="222222"/>
                </a:solidFill>
                <a:latin typeface="Microsoft YaHei" pitchFamily="34" charset="0"/>
                <a:ea typeface="Microsoft YaHei" pitchFamily="34" charset="-122"/>
                <a:cs typeface="Microsoft YaHei" pitchFamily="34" charset="-120"/>
              </a:rPr>
              <a:t>所有结点右子树为空的二叉树，前序与中序相同。</a:t>
            </a:r>
            <a:endParaRPr lang="en-US" sz="1200" dirty="0"/>
          </a:p>
        </p:txBody>
      </p:sp>
      <p:sp>
        <p:nvSpPr>
          <p:cNvPr id="16" name="Shape 14"/>
          <p:cNvSpPr/>
          <p:nvPr/>
        </p:nvSpPr>
        <p:spPr>
          <a:xfrm>
            <a:off x="548640" y="3359506"/>
            <a:ext cx="285293" cy="285293"/>
          </a:xfrm>
          <a:prstGeom prst="ellipse">
            <a:avLst/>
          </a:prstGeom>
          <a:solidFill>
            <a:srgbClr val="3E7C68"/>
          </a:solidFill>
          <a:ln/>
        </p:spPr>
      </p:sp>
      <p:sp>
        <p:nvSpPr>
          <p:cNvPr id="17" name="Text 15"/>
          <p:cNvSpPr txBox="1"/>
          <p:nvPr/>
        </p:nvSpPr>
        <p:spPr>
          <a:xfrm>
            <a:off x="548640" y="3359506"/>
            <a:ext cx="285293" cy="285293"/>
          </a:xfrm>
          <a:prstGeom prst="rect">
            <a:avLst/>
          </a:prstGeom>
          <a:noFill/>
          <a:ln/>
        </p:spPr>
        <p:txBody>
          <a:bodyPr wrap="square" lIns="0" tIns="0" rIns="0" bIns="0" rtlCol="0" anchor="ctr"/>
          <a:lstStyle/>
          <a:p>
            <a:pPr algn="ctr" indent="0" marL="0">
              <a:buNone/>
            </a:pPr>
            <a:r>
              <a:rPr lang="en-US" sz="980" b="1" dirty="0">
                <a:solidFill>
                  <a:srgbClr val="FFFFFF"/>
                </a:solidFill>
                <a:latin typeface="Microsoft YaHei" pitchFamily="34" charset="0"/>
                <a:ea typeface="Microsoft YaHei" pitchFamily="34" charset="-122"/>
                <a:cs typeface="Microsoft YaHei" pitchFamily="34" charset="-120"/>
              </a:rPr>
              <a:t>D</a:t>
            </a:r>
            <a:endParaRPr lang="en-US" sz="980" dirty="0"/>
          </a:p>
        </p:txBody>
      </p:sp>
      <p:sp>
        <p:nvSpPr>
          <p:cNvPr id="18" name="Text 16"/>
          <p:cNvSpPr txBox="1"/>
          <p:nvPr/>
        </p:nvSpPr>
        <p:spPr>
          <a:xfrm>
            <a:off x="1097280" y="3328416"/>
            <a:ext cx="5760720" cy="347472"/>
          </a:xfrm>
          <a:prstGeom prst="rect">
            <a:avLst/>
          </a:prstGeom>
          <a:noFill/>
          <a:ln/>
        </p:spPr>
        <p:txBody>
          <a:bodyPr wrap="square" lIns="0" tIns="0" rIns="0" bIns="0" rtlCol="0" anchor="ctr"/>
          <a:lstStyle/>
          <a:p>
            <a:pPr algn="l" indent="0" marL="0">
              <a:buNone/>
            </a:pPr>
            <a:r>
              <a:rPr lang="en-US" sz="1200" dirty="0">
                <a:solidFill>
                  <a:srgbClr val="222222"/>
                </a:solidFill>
                <a:latin typeface="Microsoft YaHei" pitchFamily="34" charset="0"/>
                <a:ea typeface="Microsoft YaHei" pitchFamily="34" charset="-122"/>
                <a:cs typeface="Microsoft YaHei" pitchFamily="34" charset="-120"/>
              </a:rPr>
              <a:t>只有空树和独根树的前序与后序相同。</a:t>
            </a:r>
            <a:endParaRPr lang="en-US" sz="1200" dirty="0"/>
          </a:p>
        </p:txBody>
      </p:sp>
      <p:sp>
        <p:nvSpPr>
          <p:cNvPr id="19" name="Shape 17"/>
          <p:cNvSpPr/>
          <p:nvPr/>
        </p:nvSpPr>
        <p:spPr>
          <a:xfrm>
            <a:off x="548640" y="3783787"/>
            <a:ext cx="285293" cy="285293"/>
          </a:xfrm>
          <a:prstGeom prst="ellipse">
            <a:avLst/>
          </a:prstGeom>
          <a:solidFill>
            <a:srgbClr val="3E7C68"/>
          </a:solidFill>
          <a:ln/>
        </p:spPr>
      </p:sp>
      <p:sp>
        <p:nvSpPr>
          <p:cNvPr id="20" name="Text 18"/>
          <p:cNvSpPr txBox="1"/>
          <p:nvPr/>
        </p:nvSpPr>
        <p:spPr>
          <a:xfrm>
            <a:off x="548640" y="3783787"/>
            <a:ext cx="285293" cy="285293"/>
          </a:xfrm>
          <a:prstGeom prst="rect">
            <a:avLst/>
          </a:prstGeom>
          <a:noFill/>
          <a:ln/>
        </p:spPr>
        <p:txBody>
          <a:bodyPr wrap="square" lIns="0" tIns="0" rIns="0" bIns="0" rtlCol="0" anchor="ctr"/>
          <a:lstStyle/>
          <a:p>
            <a:pPr algn="ctr" indent="0" marL="0">
              <a:buNone/>
            </a:pPr>
            <a:r>
              <a:rPr lang="en-US" sz="980" b="1" dirty="0">
                <a:solidFill>
                  <a:srgbClr val="FFFFFF"/>
                </a:solidFill>
                <a:latin typeface="Microsoft YaHei" pitchFamily="34" charset="0"/>
                <a:ea typeface="Microsoft YaHei" pitchFamily="34" charset="-122"/>
                <a:cs typeface="Microsoft YaHei" pitchFamily="34" charset="-120"/>
              </a:rPr>
              <a:t>E</a:t>
            </a:r>
            <a:endParaRPr lang="en-US" sz="980" dirty="0"/>
          </a:p>
        </p:txBody>
      </p:sp>
      <p:sp>
        <p:nvSpPr>
          <p:cNvPr id="21" name="Text 19"/>
          <p:cNvSpPr txBox="1"/>
          <p:nvPr/>
        </p:nvSpPr>
        <p:spPr>
          <a:xfrm>
            <a:off x="1097280" y="3752698"/>
            <a:ext cx="5760720" cy="347472"/>
          </a:xfrm>
          <a:prstGeom prst="rect">
            <a:avLst/>
          </a:prstGeom>
          <a:noFill/>
          <a:ln/>
        </p:spPr>
        <p:txBody>
          <a:bodyPr wrap="square" lIns="0" tIns="0" rIns="0" bIns="0" rtlCol="0" anchor="ctr"/>
          <a:lstStyle/>
          <a:p>
            <a:pPr algn="l" indent="0" marL="0">
              <a:buNone/>
            </a:pPr>
            <a:r>
              <a:rPr lang="en-US" sz="1200" dirty="0">
                <a:solidFill>
                  <a:srgbClr val="222222"/>
                </a:solidFill>
                <a:latin typeface="Microsoft YaHei" pitchFamily="34" charset="0"/>
                <a:ea typeface="Microsoft YaHei" pitchFamily="34" charset="-122"/>
                <a:cs typeface="Microsoft YaHei" pitchFamily="34" charset="-120"/>
              </a:rPr>
              <a:t>所有结点左子树为空的二叉树，前序与后序相同。</a:t>
            </a:r>
            <a:endParaRPr lang="en-US" sz="1200" dirty="0"/>
          </a:p>
        </p:txBody>
      </p:sp>
      <p:sp>
        <p:nvSpPr>
          <p:cNvPr id="22" name="Shape 20"/>
          <p:cNvSpPr/>
          <p:nvPr/>
        </p:nvSpPr>
        <p:spPr>
          <a:xfrm>
            <a:off x="548640" y="4208069"/>
            <a:ext cx="285293" cy="285293"/>
          </a:xfrm>
          <a:prstGeom prst="ellipse">
            <a:avLst/>
          </a:prstGeom>
          <a:solidFill>
            <a:srgbClr val="3E7C68"/>
          </a:solidFill>
          <a:ln/>
        </p:spPr>
      </p:sp>
      <p:sp>
        <p:nvSpPr>
          <p:cNvPr id="23" name="Text 21"/>
          <p:cNvSpPr txBox="1"/>
          <p:nvPr/>
        </p:nvSpPr>
        <p:spPr>
          <a:xfrm>
            <a:off x="548640" y="4208069"/>
            <a:ext cx="285293" cy="285293"/>
          </a:xfrm>
          <a:prstGeom prst="rect">
            <a:avLst/>
          </a:prstGeom>
          <a:noFill/>
          <a:ln/>
        </p:spPr>
        <p:txBody>
          <a:bodyPr wrap="square" lIns="0" tIns="0" rIns="0" bIns="0" rtlCol="0" anchor="ctr"/>
          <a:lstStyle/>
          <a:p>
            <a:pPr algn="ctr" indent="0" marL="0">
              <a:buNone/>
            </a:pPr>
            <a:r>
              <a:rPr lang="en-US" sz="980" b="1" dirty="0">
                <a:solidFill>
                  <a:srgbClr val="FFFFFF"/>
                </a:solidFill>
                <a:latin typeface="Microsoft YaHei" pitchFamily="34" charset="0"/>
                <a:ea typeface="Microsoft YaHei" pitchFamily="34" charset="-122"/>
                <a:cs typeface="Microsoft YaHei" pitchFamily="34" charset="-120"/>
              </a:rPr>
              <a:t>F</a:t>
            </a:r>
            <a:endParaRPr lang="en-US" sz="980" dirty="0"/>
          </a:p>
        </p:txBody>
      </p:sp>
      <p:sp>
        <p:nvSpPr>
          <p:cNvPr id="24" name="Text 22"/>
          <p:cNvSpPr txBox="1"/>
          <p:nvPr/>
        </p:nvSpPr>
        <p:spPr>
          <a:xfrm>
            <a:off x="1097280" y="4176979"/>
            <a:ext cx="5760720" cy="347472"/>
          </a:xfrm>
          <a:prstGeom prst="rect">
            <a:avLst/>
          </a:prstGeom>
          <a:noFill/>
          <a:ln/>
        </p:spPr>
        <p:txBody>
          <a:bodyPr wrap="square" lIns="0" tIns="0" rIns="0" bIns="0" rtlCol="0" anchor="ctr"/>
          <a:lstStyle/>
          <a:p>
            <a:pPr algn="l" indent="0" marL="0">
              <a:buNone/>
            </a:pPr>
            <a:r>
              <a:rPr lang="en-US" sz="1200" dirty="0">
                <a:solidFill>
                  <a:srgbClr val="222222"/>
                </a:solidFill>
                <a:latin typeface="Microsoft YaHei" pitchFamily="34" charset="0"/>
                <a:ea typeface="Microsoft YaHei" pitchFamily="34" charset="-122"/>
                <a:cs typeface="Microsoft YaHei" pitchFamily="34" charset="-120"/>
              </a:rPr>
              <a:t>所有结点右子树为空的二叉树，前序与后序相同。</a:t>
            </a:r>
            <a:endParaRPr lang="en-US" sz="1200" dirty="0"/>
          </a:p>
        </p:txBody>
      </p:sp>
      <p:sp>
        <p:nvSpPr>
          <p:cNvPr id="25" name="Shape 23"/>
          <p:cNvSpPr/>
          <p:nvPr/>
        </p:nvSpPr>
        <p:spPr>
          <a:xfrm>
            <a:off x="548640" y="4632350"/>
            <a:ext cx="285293" cy="285293"/>
          </a:xfrm>
          <a:prstGeom prst="ellipse">
            <a:avLst/>
          </a:prstGeom>
          <a:solidFill>
            <a:srgbClr val="3E7C68"/>
          </a:solidFill>
          <a:ln/>
        </p:spPr>
      </p:sp>
      <p:sp>
        <p:nvSpPr>
          <p:cNvPr id="26" name="Text 24"/>
          <p:cNvSpPr txBox="1"/>
          <p:nvPr/>
        </p:nvSpPr>
        <p:spPr>
          <a:xfrm>
            <a:off x="548640" y="4632350"/>
            <a:ext cx="285293" cy="285293"/>
          </a:xfrm>
          <a:prstGeom prst="rect">
            <a:avLst/>
          </a:prstGeom>
          <a:noFill/>
          <a:ln/>
        </p:spPr>
        <p:txBody>
          <a:bodyPr wrap="square" lIns="0" tIns="0" rIns="0" bIns="0" rtlCol="0" anchor="ctr"/>
          <a:lstStyle/>
          <a:p>
            <a:pPr algn="ctr" indent="0" marL="0">
              <a:buNone/>
            </a:pPr>
            <a:r>
              <a:rPr lang="en-US" sz="980" b="1" dirty="0">
                <a:solidFill>
                  <a:srgbClr val="FFFFFF"/>
                </a:solidFill>
                <a:latin typeface="Microsoft YaHei" pitchFamily="34" charset="0"/>
                <a:ea typeface="Microsoft YaHei" pitchFamily="34" charset="-122"/>
                <a:cs typeface="Microsoft YaHei" pitchFamily="34" charset="-120"/>
              </a:rPr>
              <a:t>G</a:t>
            </a:r>
            <a:endParaRPr lang="en-US" sz="980" dirty="0"/>
          </a:p>
        </p:txBody>
      </p:sp>
      <p:sp>
        <p:nvSpPr>
          <p:cNvPr id="27" name="Text 25"/>
          <p:cNvSpPr txBox="1"/>
          <p:nvPr/>
        </p:nvSpPr>
        <p:spPr>
          <a:xfrm>
            <a:off x="1097280" y="4601261"/>
            <a:ext cx="5760720" cy="347472"/>
          </a:xfrm>
          <a:prstGeom prst="rect">
            <a:avLst/>
          </a:prstGeom>
          <a:noFill/>
          <a:ln/>
        </p:spPr>
        <p:txBody>
          <a:bodyPr wrap="square" lIns="0" tIns="0" rIns="0" bIns="0" rtlCol="0" anchor="ctr"/>
          <a:lstStyle/>
          <a:p>
            <a:pPr algn="l" indent="0" marL="0">
              <a:buNone/>
            </a:pPr>
            <a:r>
              <a:rPr lang="en-US" sz="1200" dirty="0">
                <a:solidFill>
                  <a:srgbClr val="222222"/>
                </a:solidFill>
                <a:latin typeface="Microsoft YaHei" pitchFamily="34" charset="0"/>
                <a:ea typeface="Microsoft YaHei" pitchFamily="34" charset="-122"/>
                <a:cs typeface="Microsoft YaHei" pitchFamily="34" charset="-120"/>
              </a:rPr>
              <a:t>只有空树和独根树的中序与后序相同。</a:t>
            </a:r>
            <a:endParaRPr lang="en-US" sz="1200" dirty="0"/>
          </a:p>
        </p:txBody>
      </p:sp>
      <p:sp>
        <p:nvSpPr>
          <p:cNvPr id="28" name="Shape 26"/>
          <p:cNvSpPr/>
          <p:nvPr/>
        </p:nvSpPr>
        <p:spPr>
          <a:xfrm>
            <a:off x="548640" y="5056632"/>
            <a:ext cx="285293" cy="285293"/>
          </a:xfrm>
          <a:prstGeom prst="ellipse">
            <a:avLst/>
          </a:prstGeom>
          <a:solidFill>
            <a:srgbClr val="3E7C68"/>
          </a:solidFill>
          <a:ln/>
        </p:spPr>
      </p:sp>
      <p:sp>
        <p:nvSpPr>
          <p:cNvPr id="29" name="Text 27"/>
          <p:cNvSpPr txBox="1"/>
          <p:nvPr/>
        </p:nvSpPr>
        <p:spPr>
          <a:xfrm>
            <a:off x="548640" y="5056632"/>
            <a:ext cx="285293" cy="285293"/>
          </a:xfrm>
          <a:prstGeom prst="rect">
            <a:avLst/>
          </a:prstGeom>
          <a:noFill/>
          <a:ln/>
        </p:spPr>
        <p:txBody>
          <a:bodyPr wrap="square" lIns="0" tIns="0" rIns="0" bIns="0" rtlCol="0" anchor="ctr"/>
          <a:lstStyle/>
          <a:p>
            <a:pPr algn="ctr" indent="0" marL="0">
              <a:buNone/>
            </a:pPr>
            <a:r>
              <a:rPr lang="en-US" sz="980" b="1" dirty="0">
                <a:solidFill>
                  <a:srgbClr val="FFFFFF"/>
                </a:solidFill>
                <a:latin typeface="Microsoft YaHei" pitchFamily="34" charset="0"/>
                <a:ea typeface="Microsoft YaHei" pitchFamily="34" charset="-122"/>
                <a:cs typeface="Microsoft YaHei" pitchFamily="34" charset="-120"/>
              </a:rPr>
              <a:t>H</a:t>
            </a:r>
            <a:endParaRPr lang="en-US" sz="980" dirty="0"/>
          </a:p>
        </p:txBody>
      </p:sp>
      <p:sp>
        <p:nvSpPr>
          <p:cNvPr id="30" name="Text 28"/>
          <p:cNvSpPr txBox="1"/>
          <p:nvPr/>
        </p:nvSpPr>
        <p:spPr>
          <a:xfrm>
            <a:off x="1097280" y="5025542"/>
            <a:ext cx="5760720" cy="347472"/>
          </a:xfrm>
          <a:prstGeom prst="rect">
            <a:avLst/>
          </a:prstGeom>
          <a:noFill/>
          <a:ln/>
        </p:spPr>
        <p:txBody>
          <a:bodyPr wrap="square" lIns="0" tIns="0" rIns="0" bIns="0" rtlCol="0" anchor="ctr"/>
          <a:lstStyle/>
          <a:p>
            <a:pPr algn="l" indent="0" marL="0">
              <a:buNone/>
            </a:pPr>
            <a:r>
              <a:rPr lang="en-US" sz="1200" dirty="0">
                <a:solidFill>
                  <a:srgbClr val="222222"/>
                </a:solidFill>
                <a:latin typeface="Microsoft YaHei" pitchFamily="34" charset="0"/>
                <a:ea typeface="Microsoft YaHei" pitchFamily="34" charset="-122"/>
                <a:cs typeface="Microsoft YaHei" pitchFamily="34" charset="-120"/>
              </a:rPr>
              <a:t>所有结点左子树为空的二叉树，中序与后序相同。</a:t>
            </a:r>
            <a:endParaRPr lang="en-US" sz="1200" dirty="0"/>
          </a:p>
        </p:txBody>
      </p:sp>
      <p:sp>
        <p:nvSpPr>
          <p:cNvPr id="31" name="Shape 29"/>
          <p:cNvSpPr/>
          <p:nvPr/>
        </p:nvSpPr>
        <p:spPr>
          <a:xfrm>
            <a:off x="548640" y="5480914"/>
            <a:ext cx="285293" cy="285293"/>
          </a:xfrm>
          <a:prstGeom prst="ellipse">
            <a:avLst/>
          </a:prstGeom>
          <a:solidFill>
            <a:srgbClr val="3E7C68"/>
          </a:solidFill>
          <a:ln/>
        </p:spPr>
      </p:sp>
      <p:sp>
        <p:nvSpPr>
          <p:cNvPr id="32" name="Text 30"/>
          <p:cNvSpPr txBox="1"/>
          <p:nvPr/>
        </p:nvSpPr>
        <p:spPr>
          <a:xfrm>
            <a:off x="548640" y="5480914"/>
            <a:ext cx="285293" cy="285293"/>
          </a:xfrm>
          <a:prstGeom prst="rect">
            <a:avLst/>
          </a:prstGeom>
          <a:noFill/>
          <a:ln/>
        </p:spPr>
        <p:txBody>
          <a:bodyPr wrap="square" lIns="0" tIns="0" rIns="0" bIns="0" rtlCol="0" anchor="ctr"/>
          <a:lstStyle/>
          <a:p>
            <a:pPr algn="ctr" indent="0" marL="0">
              <a:buNone/>
            </a:pPr>
            <a:r>
              <a:rPr lang="en-US" sz="980" b="1" dirty="0">
                <a:solidFill>
                  <a:srgbClr val="FFFFFF"/>
                </a:solidFill>
                <a:latin typeface="Microsoft YaHei" pitchFamily="34" charset="0"/>
                <a:ea typeface="Microsoft YaHei" pitchFamily="34" charset="-122"/>
                <a:cs typeface="Microsoft YaHei" pitchFamily="34" charset="-120"/>
              </a:rPr>
              <a:t>I</a:t>
            </a:r>
            <a:endParaRPr lang="en-US" sz="980" dirty="0"/>
          </a:p>
        </p:txBody>
      </p:sp>
      <p:sp>
        <p:nvSpPr>
          <p:cNvPr id="33" name="Text 31"/>
          <p:cNvSpPr txBox="1"/>
          <p:nvPr/>
        </p:nvSpPr>
        <p:spPr>
          <a:xfrm>
            <a:off x="1097280" y="5449824"/>
            <a:ext cx="5760720" cy="347472"/>
          </a:xfrm>
          <a:prstGeom prst="rect">
            <a:avLst/>
          </a:prstGeom>
          <a:noFill/>
          <a:ln/>
        </p:spPr>
        <p:txBody>
          <a:bodyPr wrap="square" lIns="0" tIns="0" rIns="0" bIns="0" rtlCol="0" anchor="ctr"/>
          <a:lstStyle/>
          <a:p>
            <a:pPr algn="l" indent="0" marL="0">
              <a:buNone/>
            </a:pPr>
            <a:r>
              <a:rPr lang="en-US" sz="1200" dirty="0">
                <a:solidFill>
                  <a:srgbClr val="222222"/>
                </a:solidFill>
                <a:latin typeface="Microsoft YaHei" pitchFamily="34" charset="0"/>
                <a:ea typeface="Microsoft YaHei" pitchFamily="34" charset="-122"/>
                <a:cs typeface="Microsoft YaHei" pitchFamily="34" charset="-120"/>
              </a:rPr>
              <a:t>所有结点右子树为空的二叉树，中序与后序相同。</a:t>
            </a:r>
            <a:endParaRPr lang="en-US" sz="1200" dirty="0"/>
          </a:p>
        </p:txBody>
      </p:sp>
      <p:sp>
        <p:nvSpPr>
          <p:cNvPr id="34" name="Shape 32"/>
          <p:cNvSpPr/>
          <p:nvPr/>
        </p:nvSpPr>
        <p:spPr>
          <a:xfrm>
            <a:off x="548640" y="5905195"/>
            <a:ext cx="285293" cy="285293"/>
          </a:xfrm>
          <a:prstGeom prst="ellipse">
            <a:avLst/>
          </a:prstGeom>
          <a:solidFill>
            <a:srgbClr val="3E7C68"/>
          </a:solidFill>
          <a:ln/>
        </p:spPr>
      </p:sp>
      <p:sp>
        <p:nvSpPr>
          <p:cNvPr id="35" name="Text 33"/>
          <p:cNvSpPr txBox="1"/>
          <p:nvPr/>
        </p:nvSpPr>
        <p:spPr>
          <a:xfrm>
            <a:off x="548640" y="5905195"/>
            <a:ext cx="285293" cy="285293"/>
          </a:xfrm>
          <a:prstGeom prst="rect">
            <a:avLst/>
          </a:prstGeom>
          <a:noFill/>
          <a:ln/>
        </p:spPr>
        <p:txBody>
          <a:bodyPr wrap="square" lIns="0" tIns="0" rIns="0" bIns="0" rtlCol="0" anchor="ctr"/>
          <a:lstStyle/>
          <a:p>
            <a:pPr algn="ctr" indent="0" marL="0">
              <a:buNone/>
            </a:pPr>
            <a:r>
              <a:rPr lang="en-US" sz="980" b="1" dirty="0">
                <a:solidFill>
                  <a:srgbClr val="FFFFFF"/>
                </a:solidFill>
                <a:latin typeface="Microsoft YaHei" pitchFamily="34" charset="0"/>
                <a:ea typeface="Microsoft YaHei" pitchFamily="34" charset="-122"/>
                <a:cs typeface="Microsoft YaHei" pitchFamily="34" charset="-120"/>
              </a:rPr>
              <a:t>J</a:t>
            </a:r>
            <a:endParaRPr lang="en-US" sz="980" dirty="0"/>
          </a:p>
        </p:txBody>
      </p:sp>
      <p:sp>
        <p:nvSpPr>
          <p:cNvPr id="36" name="Text 34"/>
          <p:cNvSpPr txBox="1"/>
          <p:nvPr/>
        </p:nvSpPr>
        <p:spPr>
          <a:xfrm>
            <a:off x="1097280" y="5874106"/>
            <a:ext cx="5760720" cy="347472"/>
          </a:xfrm>
          <a:prstGeom prst="rect">
            <a:avLst/>
          </a:prstGeom>
          <a:noFill/>
          <a:ln/>
        </p:spPr>
        <p:txBody>
          <a:bodyPr wrap="square" lIns="0" tIns="0" rIns="0" bIns="0" rtlCol="0" anchor="ctr"/>
          <a:lstStyle/>
          <a:p>
            <a:pPr algn="l" indent="0" marL="0">
              <a:buNone/>
            </a:pPr>
            <a:r>
              <a:rPr lang="en-US" sz="1200" dirty="0">
                <a:solidFill>
                  <a:srgbClr val="222222"/>
                </a:solidFill>
                <a:latin typeface="Microsoft YaHei" pitchFamily="34" charset="0"/>
                <a:ea typeface="Microsoft YaHei" pitchFamily="34" charset="-122"/>
                <a:cs typeface="Microsoft YaHei" pitchFamily="34" charset="-120"/>
              </a:rPr>
              <a:t>存在一棵非空二叉树，它的前序、中序、后序都相同。</a:t>
            </a:r>
            <a:endParaRPr lang="en-US" sz="1200" dirty="0"/>
          </a:p>
        </p:txBody>
      </p:sp>
      <p:sp>
        <p:nvSpPr>
          <p:cNvPr id="37" name="ANS_0"/>
          <p:cNvSpPr/>
          <p:nvPr/>
        </p:nvSpPr>
        <p:spPr>
          <a:xfrm>
            <a:off x="457200" y="2443277"/>
            <a:ext cx="6492240" cy="420624"/>
          </a:xfrm>
          <a:prstGeom prst="roundRect">
            <a:avLst>
              <a:gd name="adj" fmla="val 21739"/>
            </a:avLst>
          </a:prstGeom>
          <a:noFill/>
          <a:ln w="38100">
            <a:solidFill>
              <a:srgbClr val="2E9E6B"/>
            </a:solidFill>
            <a:prstDash val="solid"/>
          </a:ln>
        </p:spPr>
      </p:sp>
      <p:sp>
        <p:nvSpPr>
          <p:cNvPr id="38" name="ANS_1"/>
          <p:cNvSpPr/>
          <p:nvPr/>
        </p:nvSpPr>
        <p:spPr>
          <a:xfrm>
            <a:off x="457200" y="3291840"/>
            <a:ext cx="6492240" cy="420624"/>
          </a:xfrm>
          <a:prstGeom prst="roundRect">
            <a:avLst>
              <a:gd name="adj" fmla="val 21739"/>
            </a:avLst>
          </a:prstGeom>
          <a:noFill/>
          <a:ln w="38100">
            <a:solidFill>
              <a:srgbClr val="2E9E6B"/>
            </a:solidFill>
            <a:prstDash val="solid"/>
          </a:ln>
        </p:spPr>
      </p:sp>
      <p:sp>
        <p:nvSpPr>
          <p:cNvPr id="39" name="ANS_2"/>
          <p:cNvSpPr/>
          <p:nvPr/>
        </p:nvSpPr>
        <p:spPr>
          <a:xfrm>
            <a:off x="457200" y="5413248"/>
            <a:ext cx="6492240" cy="420624"/>
          </a:xfrm>
          <a:prstGeom prst="roundRect">
            <a:avLst>
              <a:gd name="adj" fmla="val 21739"/>
            </a:avLst>
          </a:prstGeom>
          <a:noFill/>
          <a:ln w="38100">
            <a:solidFill>
              <a:srgbClr val="2E9E6B"/>
            </a:solidFill>
            <a:prstDash val="solid"/>
          </a:ln>
        </p:spPr>
      </p:sp>
      <p:sp>
        <p:nvSpPr>
          <p:cNvPr id="40" name="ANS_3"/>
          <p:cNvSpPr/>
          <p:nvPr/>
        </p:nvSpPr>
        <p:spPr>
          <a:xfrm>
            <a:off x="457200" y="5837530"/>
            <a:ext cx="6492240" cy="420624"/>
          </a:xfrm>
          <a:prstGeom prst="roundRect">
            <a:avLst>
              <a:gd name="adj" fmla="val 21739"/>
            </a:avLst>
          </a:prstGeom>
          <a:noFill/>
          <a:ln w="38100">
            <a:solidFill>
              <a:srgbClr val="2E9E6B"/>
            </a:solidFill>
            <a:prstDash val="solid"/>
          </a:ln>
        </p:spPr>
      </p:sp>
      <p:sp>
        <p:nvSpPr>
          <p:cNvPr id="41" name="ANS_4"/>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42" name="ANS_5"/>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43" name="ANS_6"/>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3600" b="1" dirty="0">
                <a:solidFill>
                  <a:srgbClr val="1E3D34"/>
                </a:solidFill>
                <a:latin typeface="Microsoft YaHei" pitchFamily="34" charset="0"/>
                <a:ea typeface="Microsoft YaHei" pitchFamily="34" charset="-122"/>
                <a:cs typeface="Microsoft YaHei" pitchFamily="34" charset="-120"/>
              </a:rPr>
              <a:t>B、D、I、J</a:t>
            </a:r>
            <a:endParaRPr lang="en-US" sz="3600" dirty="0"/>
          </a:p>
        </p:txBody>
      </p:sp>
      <p:sp>
        <p:nvSpPr>
          <p:cNvPr id="44" name="ANS_7"/>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45" name="ANS_8"/>
          <p:cNvSpPr/>
          <p:nvPr/>
        </p:nvSpPr>
        <p:spPr>
          <a:xfrm>
            <a:off x="7616952" y="2748534"/>
            <a:ext cx="91440" cy="91440"/>
          </a:xfrm>
          <a:prstGeom prst="ellipse">
            <a:avLst/>
          </a:prstGeom>
          <a:solidFill>
            <a:srgbClr val="F2B134"/>
          </a:solidFill>
          <a:ln/>
        </p:spPr>
      </p:sp>
      <p:sp>
        <p:nvSpPr>
          <p:cNvPr id="46" name="ANS_9"/>
          <p:cNvSpPr txBox="1"/>
          <p:nvPr/>
        </p:nvSpPr>
        <p:spPr>
          <a:xfrm>
            <a:off x="7818120" y="2651760"/>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左子树全空：前序 = 根,右…，中序 = 根,右… → 相同（B ✓，A ✗）。</a:t>
            </a:r>
            <a:endParaRPr lang="en-US" sz="1700" dirty="0"/>
          </a:p>
        </p:txBody>
      </p:sp>
      <p:sp>
        <p:nvSpPr>
          <p:cNvPr id="47" name="ANS_10"/>
          <p:cNvSpPr/>
          <p:nvPr/>
        </p:nvSpPr>
        <p:spPr>
          <a:xfrm>
            <a:off x="7616952" y="3798265"/>
            <a:ext cx="91440" cy="91440"/>
          </a:xfrm>
          <a:prstGeom prst="ellipse">
            <a:avLst/>
          </a:prstGeom>
          <a:solidFill>
            <a:srgbClr val="F2B134"/>
          </a:solidFill>
          <a:ln/>
        </p:spPr>
      </p:sp>
      <p:sp>
        <p:nvSpPr>
          <p:cNvPr id="48" name="ANS_11"/>
          <p:cNvSpPr txBox="1"/>
          <p:nvPr/>
        </p:nvSpPr>
        <p:spPr>
          <a:xfrm>
            <a:off x="7818120" y="3701491"/>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右子树全空：中序 = 左…,根，后序 = 左…,根 → 相同（I ✓，G ✗）。</a:t>
            </a:r>
            <a:endParaRPr lang="en-US" sz="1700" dirty="0"/>
          </a:p>
        </p:txBody>
      </p:sp>
      <p:sp>
        <p:nvSpPr>
          <p:cNvPr id="49" name="ANS_12"/>
          <p:cNvSpPr/>
          <p:nvPr/>
        </p:nvSpPr>
        <p:spPr>
          <a:xfrm>
            <a:off x="7616952" y="4847996"/>
            <a:ext cx="91440" cy="91440"/>
          </a:xfrm>
          <a:prstGeom prst="ellipse">
            <a:avLst/>
          </a:prstGeom>
          <a:solidFill>
            <a:srgbClr val="F2B134"/>
          </a:solidFill>
          <a:ln/>
        </p:spPr>
      </p:sp>
      <p:sp>
        <p:nvSpPr>
          <p:cNvPr id="50" name="ANS_13"/>
          <p:cNvSpPr txBox="1"/>
          <p:nvPr/>
        </p:nvSpPr>
        <p:spPr>
          <a:xfrm>
            <a:off x="7818120" y="4751222"/>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n ≥ 2 时根在前序第一、后序最后，二者必不同（D ✓，E、F ✗）。</a:t>
            </a:r>
            <a:endParaRPr lang="en-US" sz="1700" dirty="0"/>
          </a:p>
        </p:txBody>
      </p:sp>
      <p:sp>
        <p:nvSpPr>
          <p:cNvPr id="51" name="ANS_14"/>
          <p:cNvSpPr/>
          <p:nvPr/>
        </p:nvSpPr>
        <p:spPr>
          <a:xfrm>
            <a:off x="7616952" y="5897728"/>
            <a:ext cx="91440" cy="91440"/>
          </a:xfrm>
          <a:prstGeom prst="ellipse">
            <a:avLst/>
          </a:prstGeom>
          <a:solidFill>
            <a:srgbClr val="F2B134"/>
          </a:solidFill>
          <a:ln/>
        </p:spPr>
      </p:sp>
      <p:sp>
        <p:nvSpPr>
          <p:cNvPr id="52" name="ANS_15"/>
          <p:cNvSpPr txBox="1"/>
          <p:nvPr/>
        </p:nvSpPr>
        <p:spPr>
          <a:xfrm>
            <a:off x="7818120" y="5800954"/>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独根树三种序列都相同（J ✓）。</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400"/>
                                        <p:tgtEl>
                                          <p:spTgt spid="4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400"/>
                                        <p:tgtEl>
                                          <p:spTgt spid="4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400"/>
                                        <p:tgtEl>
                                          <p:spTgt spid="4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400"/>
                                        <p:tgtEl>
                                          <p:spTgt spid="4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400"/>
                                        <p:tgtEl>
                                          <p:spTgt spid="4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fade">
                                      <p:cBhvr>
                                        <p:cTn id="31" dur="400"/>
                                        <p:tgtEl>
                                          <p:spTgt spid="4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fade">
                                      <p:cBhvr>
                                        <p:cTn id="34" dur="400"/>
                                        <p:tgtEl>
                                          <p:spTgt spid="4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400"/>
                                        <p:tgtEl>
                                          <p:spTgt spid="4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fade">
                                      <p:cBhvr>
                                        <p:cTn id="40" dur="400"/>
                                        <p:tgtEl>
                                          <p:spTgt spid="4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fade">
                                      <p:cBhvr>
                                        <p:cTn id="43" dur="400"/>
                                        <p:tgtEl>
                                          <p:spTgt spid="4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400"/>
                                        <p:tgtEl>
                                          <p:spTgt spid="5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fade">
                                      <p:cBhvr>
                                        <p:cTn id="49" dur="400"/>
                                        <p:tgtEl>
                                          <p:spTgt spid="5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Q2</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二叉树（上）  ·  多选题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二叉树的性质</a:t>
            </a:r>
            <a:endParaRPr lang="en-US" sz="2800" dirty="0"/>
          </a:p>
        </p:txBody>
      </p:sp>
      <p:sp>
        <p:nvSpPr>
          <p:cNvPr id="6" name="Text 4"/>
          <p:cNvSpPr txBox="1"/>
          <p:nvPr/>
        </p:nvSpPr>
        <p:spPr>
          <a:xfrm>
            <a:off x="548640" y="1645920"/>
            <a:ext cx="6309360" cy="339852"/>
          </a:xfrm>
          <a:prstGeom prst="rect">
            <a:avLst/>
          </a:prstGeom>
          <a:noFill/>
          <a:ln/>
        </p:spPr>
        <p:txBody>
          <a:bodyPr wrap="square" lIns="0" tIns="0" rIns="0" bIns="0" rtlCol="0" anchor="t"/>
          <a:lstStyle/>
          <a:p>
            <a:pPr algn="l" indent="0" marL="0">
              <a:buNone/>
            </a:pPr>
            <a:r>
              <a:rPr lang="en-US" sz="1700" dirty="0">
                <a:solidFill>
                  <a:srgbClr val="222222"/>
                </a:solidFill>
                <a:latin typeface="Microsoft YaHei" pitchFamily="34" charset="0"/>
                <a:ea typeface="Microsoft YaHei" pitchFamily="34" charset="-122"/>
                <a:cs typeface="Microsoft YaHei" pitchFamily="34" charset="-120"/>
              </a:rPr>
              <a:t>下列关于二叉树性质的说法正确的有：</a:t>
            </a:r>
            <a:endParaRPr lang="en-US" sz="1700" dirty="0"/>
          </a:p>
        </p:txBody>
      </p:sp>
      <p:sp>
        <p:nvSpPr>
          <p:cNvPr id="7" name="Shape 5"/>
          <p:cNvSpPr/>
          <p:nvPr/>
        </p:nvSpPr>
        <p:spPr>
          <a:xfrm>
            <a:off x="548640" y="2243633"/>
            <a:ext cx="381305" cy="381305"/>
          </a:xfrm>
          <a:prstGeom prst="ellipse">
            <a:avLst/>
          </a:prstGeom>
          <a:solidFill>
            <a:srgbClr val="3E7C68"/>
          </a:solidFill>
          <a:ln/>
        </p:spPr>
      </p:sp>
      <p:sp>
        <p:nvSpPr>
          <p:cNvPr id="8" name="Text 6"/>
          <p:cNvSpPr txBox="1"/>
          <p:nvPr/>
        </p:nvSpPr>
        <p:spPr>
          <a:xfrm>
            <a:off x="548640" y="2243633"/>
            <a:ext cx="381305" cy="381305"/>
          </a:xfrm>
          <a:prstGeom prst="rect">
            <a:avLst/>
          </a:prstGeom>
          <a:noFill/>
          <a:ln/>
        </p:spPr>
        <p:txBody>
          <a:bodyPr wrap="square" lIns="0" tIns="0" rIns="0" bIns="0" rtlCol="0" anchor="ctr"/>
          <a:lstStyle/>
          <a:p>
            <a:pPr algn="ctr" indent="0" marL="0">
              <a:buNone/>
            </a:pPr>
            <a:r>
              <a:rPr lang="en-US" sz="1330" b="1" dirty="0">
                <a:solidFill>
                  <a:srgbClr val="FFFFFF"/>
                </a:solidFill>
                <a:latin typeface="Microsoft YaHei" pitchFamily="34" charset="0"/>
                <a:ea typeface="Microsoft YaHei" pitchFamily="34" charset="-122"/>
                <a:cs typeface="Microsoft YaHei" pitchFamily="34" charset="-120"/>
              </a:rPr>
              <a:t>A</a:t>
            </a:r>
            <a:endParaRPr lang="en-US" sz="1330" dirty="0"/>
          </a:p>
        </p:txBody>
      </p:sp>
      <p:sp>
        <p:nvSpPr>
          <p:cNvPr id="9" name="Text 7"/>
          <p:cNvSpPr txBox="1"/>
          <p:nvPr/>
        </p:nvSpPr>
        <p:spPr>
          <a:xfrm>
            <a:off x="1097280" y="2203399"/>
            <a:ext cx="5760720" cy="461772"/>
          </a:xfrm>
          <a:prstGeom prst="rect">
            <a:avLst/>
          </a:prstGeom>
          <a:noFill/>
          <a:ln/>
        </p:spPr>
        <p:txBody>
          <a:bodyPr wrap="square" lIns="0" tIns="0" rIns="0" bIns="0" rtlCol="0" anchor="ctr"/>
          <a:lstStyle/>
          <a:p>
            <a:pPr algn="l" indent="0" marL="0">
              <a:buNone/>
            </a:pPr>
            <a:r>
              <a:rPr lang="en-US" sz="1700" dirty="0">
                <a:solidFill>
                  <a:srgbClr val="222222"/>
                </a:solidFill>
                <a:latin typeface="Microsoft YaHei" pitchFamily="34" charset="0"/>
                <a:ea typeface="Microsoft YaHei" pitchFamily="34" charset="-122"/>
                <a:cs typeface="Microsoft YaHei" pitchFamily="34" charset="-120"/>
              </a:rPr>
              <a:t>非空满二叉树的结点个数一定为奇数个。</a:t>
            </a:r>
            <a:endParaRPr lang="en-US" sz="1700" dirty="0"/>
          </a:p>
        </p:txBody>
      </p:sp>
      <p:sp>
        <p:nvSpPr>
          <p:cNvPr id="10" name="Shape 8"/>
          <p:cNvSpPr/>
          <p:nvPr/>
        </p:nvSpPr>
        <p:spPr>
          <a:xfrm>
            <a:off x="548640" y="2914040"/>
            <a:ext cx="381305" cy="381305"/>
          </a:xfrm>
          <a:prstGeom prst="ellipse">
            <a:avLst/>
          </a:prstGeom>
          <a:solidFill>
            <a:srgbClr val="3E7C68"/>
          </a:solidFill>
          <a:ln/>
        </p:spPr>
      </p:sp>
      <p:sp>
        <p:nvSpPr>
          <p:cNvPr id="11" name="Text 9"/>
          <p:cNvSpPr txBox="1"/>
          <p:nvPr/>
        </p:nvSpPr>
        <p:spPr>
          <a:xfrm>
            <a:off x="548640" y="2914040"/>
            <a:ext cx="381305" cy="381305"/>
          </a:xfrm>
          <a:prstGeom prst="rect">
            <a:avLst/>
          </a:prstGeom>
          <a:noFill/>
          <a:ln/>
        </p:spPr>
        <p:txBody>
          <a:bodyPr wrap="square" lIns="0" tIns="0" rIns="0" bIns="0" rtlCol="0" anchor="ctr"/>
          <a:lstStyle/>
          <a:p>
            <a:pPr algn="ctr" indent="0" marL="0">
              <a:buNone/>
            </a:pPr>
            <a:r>
              <a:rPr lang="en-US" sz="1330" b="1" dirty="0">
                <a:solidFill>
                  <a:srgbClr val="FFFFFF"/>
                </a:solidFill>
                <a:latin typeface="Microsoft YaHei" pitchFamily="34" charset="0"/>
                <a:ea typeface="Microsoft YaHei" pitchFamily="34" charset="-122"/>
                <a:cs typeface="Microsoft YaHei" pitchFamily="34" charset="-120"/>
              </a:rPr>
              <a:t>B</a:t>
            </a:r>
            <a:endParaRPr lang="en-US" sz="1330" dirty="0"/>
          </a:p>
        </p:txBody>
      </p:sp>
      <p:sp>
        <p:nvSpPr>
          <p:cNvPr id="12" name="Text 10"/>
          <p:cNvSpPr txBox="1"/>
          <p:nvPr/>
        </p:nvSpPr>
        <p:spPr>
          <a:xfrm>
            <a:off x="1097280" y="2773985"/>
            <a:ext cx="5760720" cy="661416"/>
          </a:xfrm>
          <a:prstGeom prst="rect">
            <a:avLst/>
          </a:prstGeom>
          <a:noFill/>
          <a:ln/>
        </p:spPr>
        <p:txBody>
          <a:bodyPr wrap="square" lIns="0" tIns="0" rIns="0" bIns="0" rtlCol="0" anchor="ctr"/>
          <a:lstStyle/>
          <a:p>
            <a:pPr algn="l" indent="0" marL="0">
              <a:buNone/>
            </a:pPr>
            <a:r>
              <a:rPr lang="en-US" sz="1700" dirty="0">
                <a:solidFill>
                  <a:srgbClr val="222222"/>
                </a:solidFill>
                <a:latin typeface="Microsoft YaHei" pitchFamily="34" charset="0"/>
                <a:ea typeface="Microsoft YaHei" pitchFamily="34" charset="-122"/>
                <a:cs typeface="Microsoft YaHei" pitchFamily="34" charset="-120"/>
              </a:rPr>
              <a:t>非完全二叉树也可以按完全二叉树编号存入数组，缺失位置留空。</a:t>
            </a:r>
            <a:endParaRPr lang="en-US" sz="1700" dirty="0"/>
          </a:p>
        </p:txBody>
      </p:sp>
      <p:sp>
        <p:nvSpPr>
          <p:cNvPr id="13" name="Shape 11"/>
          <p:cNvSpPr/>
          <p:nvPr/>
        </p:nvSpPr>
        <p:spPr>
          <a:xfrm>
            <a:off x="548640" y="3684270"/>
            <a:ext cx="381305" cy="381305"/>
          </a:xfrm>
          <a:prstGeom prst="ellipse">
            <a:avLst/>
          </a:prstGeom>
          <a:solidFill>
            <a:srgbClr val="3E7C68"/>
          </a:solidFill>
          <a:ln/>
        </p:spPr>
      </p:sp>
      <p:sp>
        <p:nvSpPr>
          <p:cNvPr id="14" name="Text 12"/>
          <p:cNvSpPr txBox="1"/>
          <p:nvPr/>
        </p:nvSpPr>
        <p:spPr>
          <a:xfrm>
            <a:off x="548640" y="3684270"/>
            <a:ext cx="381305" cy="381305"/>
          </a:xfrm>
          <a:prstGeom prst="rect">
            <a:avLst/>
          </a:prstGeom>
          <a:noFill/>
          <a:ln/>
        </p:spPr>
        <p:txBody>
          <a:bodyPr wrap="square" lIns="0" tIns="0" rIns="0" bIns="0" rtlCol="0" anchor="ctr"/>
          <a:lstStyle/>
          <a:p>
            <a:pPr algn="ctr" indent="0" marL="0">
              <a:buNone/>
            </a:pPr>
            <a:r>
              <a:rPr lang="en-US" sz="1330" b="1" dirty="0">
                <a:solidFill>
                  <a:srgbClr val="FFFFFF"/>
                </a:solidFill>
                <a:latin typeface="Microsoft YaHei" pitchFamily="34" charset="0"/>
                <a:ea typeface="Microsoft YaHei" pitchFamily="34" charset="-122"/>
                <a:cs typeface="Microsoft YaHei" pitchFamily="34" charset="-120"/>
              </a:rPr>
              <a:t>C</a:t>
            </a:r>
            <a:endParaRPr lang="en-US" sz="1330" dirty="0"/>
          </a:p>
        </p:txBody>
      </p:sp>
      <p:sp>
        <p:nvSpPr>
          <p:cNvPr id="15" name="Text 13"/>
          <p:cNvSpPr txBox="1"/>
          <p:nvPr/>
        </p:nvSpPr>
        <p:spPr>
          <a:xfrm>
            <a:off x="1097280" y="3544214"/>
            <a:ext cx="5760720" cy="661416"/>
          </a:xfrm>
          <a:prstGeom prst="rect">
            <a:avLst/>
          </a:prstGeom>
          <a:noFill/>
          <a:ln/>
        </p:spPr>
        <p:txBody>
          <a:bodyPr wrap="square" lIns="0" tIns="0" rIns="0" bIns="0" rtlCol="0" anchor="ctr"/>
          <a:lstStyle/>
          <a:p>
            <a:pPr algn="l" indent="0" marL="0">
              <a:buNone/>
            </a:pPr>
            <a:r>
              <a:rPr lang="en-US" sz="1700" dirty="0">
                <a:solidFill>
                  <a:srgbClr val="222222"/>
                </a:solidFill>
                <a:latin typeface="Microsoft YaHei" pitchFamily="34" charset="0"/>
                <a:ea typeface="Microsoft YaHei" pitchFamily="34" charset="-122"/>
                <a:cs typeface="Microsoft YaHei" pitchFamily="34" charset="-120"/>
              </a:rPr>
              <a:t>当一棵完全二叉树是满二叉树时，叶子结点不一定集中在最下面一层。</a:t>
            </a:r>
            <a:endParaRPr lang="en-US" sz="1700" dirty="0"/>
          </a:p>
        </p:txBody>
      </p:sp>
      <p:sp>
        <p:nvSpPr>
          <p:cNvPr id="16" name="Shape 14"/>
          <p:cNvSpPr/>
          <p:nvPr/>
        </p:nvSpPr>
        <p:spPr>
          <a:xfrm>
            <a:off x="548640" y="4454500"/>
            <a:ext cx="381305" cy="381305"/>
          </a:xfrm>
          <a:prstGeom prst="ellipse">
            <a:avLst/>
          </a:prstGeom>
          <a:solidFill>
            <a:srgbClr val="3E7C68"/>
          </a:solidFill>
          <a:ln/>
        </p:spPr>
      </p:sp>
      <p:sp>
        <p:nvSpPr>
          <p:cNvPr id="17" name="Text 15"/>
          <p:cNvSpPr txBox="1"/>
          <p:nvPr/>
        </p:nvSpPr>
        <p:spPr>
          <a:xfrm>
            <a:off x="548640" y="4454500"/>
            <a:ext cx="381305" cy="381305"/>
          </a:xfrm>
          <a:prstGeom prst="rect">
            <a:avLst/>
          </a:prstGeom>
          <a:noFill/>
          <a:ln/>
        </p:spPr>
        <p:txBody>
          <a:bodyPr wrap="square" lIns="0" tIns="0" rIns="0" bIns="0" rtlCol="0" anchor="ctr"/>
          <a:lstStyle/>
          <a:p>
            <a:pPr algn="ctr" indent="0" marL="0">
              <a:buNone/>
            </a:pPr>
            <a:r>
              <a:rPr lang="en-US" sz="1330" b="1" dirty="0">
                <a:solidFill>
                  <a:srgbClr val="FFFFFF"/>
                </a:solidFill>
                <a:latin typeface="Microsoft YaHei" pitchFamily="34" charset="0"/>
                <a:ea typeface="Microsoft YaHei" pitchFamily="34" charset="-122"/>
                <a:cs typeface="Microsoft YaHei" pitchFamily="34" charset="-120"/>
              </a:rPr>
              <a:t>D</a:t>
            </a:r>
            <a:endParaRPr lang="en-US" sz="1330" dirty="0"/>
          </a:p>
        </p:txBody>
      </p:sp>
      <p:sp>
        <p:nvSpPr>
          <p:cNvPr id="18" name="Text 16"/>
          <p:cNvSpPr txBox="1"/>
          <p:nvPr/>
        </p:nvSpPr>
        <p:spPr>
          <a:xfrm>
            <a:off x="1097280" y="4314444"/>
            <a:ext cx="5760720" cy="661416"/>
          </a:xfrm>
          <a:prstGeom prst="rect">
            <a:avLst/>
          </a:prstGeom>
          <a:noFill/>
          <a:ln/>
        </p:spPr>
        <p:txBody>
          <a:bodyPr wrap="square" lIns="0" tIns="0" rIns="0" bIns="0" rtlCol="0" anchor="ctr"/>
          <a:lstStyle/>
          <a:p>
            <a:pPr algn="l" indent="0" marL="0">
              <a:buNone/>
            </a:pPr>
            <a:r>
              <a:rPr lang="en-US" sz="1700" dirty="0">
                <a:solidFill>
                  <a:srgbClr val="222222"/>
                </a:solidFill>
                <a:latin typeface="Microsoft YaHei" pitchFamily="34" charset="0"/>
                <a:ea typeface="Microsoft YaHei" pitchFamily="34" charset="-122"/>
                <a:cs typeface="Microsoft YaHei" pitchFamily="34" charset="-120"/>
              </a:rPr>
              <a:t>完全二叉树最多只有最下面的一层结点度数可以小于 2。</a:t>
            </a:r>
            <a:endParaRPr lang="en-US" sz="1700" dirty="0"/>
          </a:p>
        </p:txBody>
      </p:sp>
      <p:sp>
        <p:nvSpPr>
          <p:cNvPr id="19" name="Shape 17"/>
          <p:cNvSpPr/>
          <p:nvPr/>
        </p:nvSpPr>
        <p:spPr>
          <a:xfrm>
            <a:off x="548640" y="5224729"/>
            <a:ext cx="381305" cy="381305"/>
          </a:xfrm>
          <a:prstGeom prst="ellipse">
            <a:avLst/>
          </a:prstGeom>
          <a:solidFill>
            <a:srgbClr val="3E7C68"/>
          </a:solidFill>
          <a:ln/>
        </p:spPr>
      </p:sp>
      <p:sp>
        <p:nvSpPr>
          <p:cNvPr id="20" name="Text 18"/>
          <p:cNvSpPr txBox="1"/>
          <p:nvPr/>
        </p:nvSpPr>
        <p:spPr>
          <a:xfrm>
            <a:off x="548640" y="5224729"/>
            <a:ext cx="381305" cy="381305"/>
          </a:xfrm>
          <a:prstGeom prst="rect">
            <a:avLst/>
          </a:prstGeom>
          <a:noFill/>
          <a:ln/>
        </p:spPr>
        <p:txBody>
          <a:bodyPr wrap="square" lIns="0" tIns="0" rIns="0" bIns="0" rtlCol="0" anchor="ctr"/>
          <a:lstStyle/>
          <a:p>
            <a:pPr algn="ctr" indent="0" marL="0">
              <a:buNone/>
            </a:pPr>
            <a:r>
              <a:rPr lang="en-US" sz="1330" b="1" dirty="0">
                <a:solidFill>
                  <a:srgbClr val="FFFFFF"/>
                </a:solidFill>
                <a:latin typeface="Microsoft YaHei" pitchFamily="34" charset="0"/>
                <a:ea typeface="Microsoft YaHei" pitchFamily="34" charset="-122"/>
                <a:cs typeface="Microsoft YaHei" pitchFamily="34" charset="-120"/>
              </a:rPr>
              <a:t>E</a:t>
            </a:r>
            <a:endParaRPr lang="en-US" sz="1330" dirty="0"/>
          </a:p>
        </p:txBody>
      </p:sp>
      <p:sp>
        <p:nvSpPr>
          <p:cNvPr id="21" name="Text 19"/>
          <p:cNvSpPr txBox="1"/>
          <p:nvPr/>
        </p:nvSpPr>
        <p:spPr>
          <a:xfrm>
            <a:off x="1097280" y="5084674"/>
            <a:ext cx="5760720" cy="661416"/>
          </a:xfrm>
          <a:prstGeom prst="rect">
            <a:avLst/>
          </a:prstGeom>
          <a:noFill/>
          <a:ln/>
        </p:spPr>
        <p:txBody>
          <a:bodyPr wrap="square" lIns="0" tIns="0" rIns="0" bIns="0" rtlCol="0" anchor="ctr"/>
          <a:lstStyle/>
          <a:p>
            <a:pPr algn="l" indent="0" marL="0">
              <a:buNone/>
            </a:pPr>
            <a:r>
              <a:rPr lang="en-US" sz="1700" dirty="0">
                <a:solidFill>
                  <a:srgbClr val="222222"/>
                </a:solidFill>
                <a:latin typeface="Microsoft YaHei" pitchFamily="34" charset="0"/>
                <a:ea typeface="Microsoft YaHei" pitchFamily="34" charset="-122"/>
                <a:cs typeface="Microsoft YaHei" pitchFamily="34" charset="-120"/>
              </a:rPr>
              <a:t>一棵非空二叉树的空子树对应的外部结点数目等于其结点数加 1。</a:t>
            </a:r>
            <a:endParaRPr lang="en-US" sz="1700" dirty="0"/>
          </a:p>
        </p:txBody>
      </p:sp>
      <p:sp>
        <p:nvSpPr>
          <p:cNvPr id="22" name="Shape 20"/>
          <p:cNvSpPr/>
          <p:nvPr/>
        </p:nvSpPr>
        <p:spPr>
          <a:xfrm>
            <a:off x="548640" y="5895137"/>
            <a:ext cx="381305" cy="381305"/>
          </a:xfrm>
          <a:prstGeom prst="ellipse">
            <a:avLst/>
          </a:prstGeom>
          <a:solidFill>
            <a:srgbClr val="3E7C68"/>
          </a:solidFill>
          <a:ln/>
        </p:spPr>
      </p:sp>
      <p:sp>
        <p:nvSpPr>
          <p:cNvPr id="23" name="Text 21"/>
          <p:cNvSpPr txBox="1"/>
          <p:nvPr/>
        </p:nvSpPr>
        <p:spPr>
          <a:xfrm>
            <a:off x="548640" y="5895137"/>
            <a:ext cx="381305" cy="381305"/>
          </a:xfrm>
          <a:prstGeom prst="rect">
            <a:avLst/>
          </a:prstGeom>
          <a:noFill/>
          <a:ln/>
        </p:spPr>
        <p:txBody>
          <a:bodyPr wrap="square" lIns="0" tIns="0" rIns="0" bIns="0" rtlCol="0" anchor="ctr"/>
          <a:lstStyle/>
          <a:p>
            <a:pPr algn="ctr" indent="0" marL="0">
              <a:buNone/>
            </a:pPr>
            <a:r>
              <a:rPr lang="en-US" sz="1330" b="1" dirty="0">
                <a:solidFill>
                  <a:srgbClr val="FFFFFF"/>
                </a:solidFill>
                <a:latin typeface="Microsoft YaHei" pitchFamily="34" charset="0"/>
                <a:ea typeface="Microsoft YaHei" pitchFamily="34" charset="-122"/>
                <a:cs typeface="Microsoft YaHei" pitchFamily="34" charset="-120"/>
              </a:rPr>
              <a:t>F</a:t>
            </a:r>
            <a:endParaRPr lang="en-US" sz="1330" dirty="0"/>
          </a:p>
        </p:txBody>
      </p:sp>
      <p:sp>
        <p:nvSpPr>
          <p:cNvPr id="24" name="Text 22"/>
          <p:cNvSpPr txBox="1"/>
          <p:nvPr/>
        </p:nvSpPr>
        <p:spPr>
          <a:xfrm>
            <a:off x="1097280" y="5854903"/>
            <a:ext cx="5760720" cy="461772"/>
          </a:xfrm>
          <a:prstGeom prst="rect">
            <a:avLst/>
          </a:prstGeom>
          <a:noFill/>
          <a:ln/>
        </p:spPr>
        <p:txBody>
          <a:bodyPr wrap="square" lIns="0" tIns="0" rIns="0" bIns="0" rtlCol="0" anchor="ctr"/>
          <a:lstStyle/>
          <a:p>
            <a:pPr algn="l" indent="0" marL="0">
              <a:buNone/>
            </a:pPr>
            <a:r>
              <a:rPr lang="en-US" sz="1700" dirty="0">
                <a:solidFill>
                  <a:srgbClr val="222222"/>
                </a:solidFill>
                <a:latin typeface="Microsoft YaHei" pitchFamily="34" charset="0"/>
                <a:ea typeface="Microsoft YaHei" pitchFamily="34" charset="-122"/>
                <a:cs typeface="Microsoft YaHei" pitchFamily="34" charset="-120"/>
              </a:rPr>
              <a:t>满二叉树的所有结点的度均为 2。</a:t>
            </a:r>
            <a:endParaRPr lang="en-US" sz="1700" dirty="0"/>
          </a:p>
        </p:txBody>
      </p:sp>
      <p:sp>
        <p:nvSpPr>
          <p:cNvPr id="25" name="ANS_16"/>
          <p:cNvSpPr/>
          <p:nvPr/>
        </p:nvSpPr>
        <p:spPr>
          <a:xfrm>
            <a:off x="457200" y="2166823"/>
            <a:ext cx="6492240" cy="534924"/>
          </a:xfrm>
          <a:prstGeom prst="roundRect">
            <a:avLst>
              <a:gd name="adj" fmla="val 17094"/>
            </a:avLst>
          </a:prstGeom>
          <a:noFill/>
          <a:ln w="38100">
            <a:solidFill>
              <a:srgbClr val="2E9E6B"/>
            </a:solidFill>
            <a:prstDash val="solid"/>
          </a:ln>
        </p:spPr>
      </p:sp>
      <p:sp>
        <p:nvSpPr>
          <p:cNvPr id="26" name="ANS_17"/>
          <p:cNvSpPr/>
          <p:nvPr/>
        </p:nvSpPr>
        <p:spPr>
          <a:xfrm>
            <a:off x="457200" y="2737409"/>
            <a:ext cx="6492240" cy="734568"/>
          </a:xfrm>
          <a:prstGeom prst="roundRect">
            <a:avLst>
              <a:gd name="adj" fmla="val 12448"/>
            </a:avLst>
          </a:prstGeom>
          <a:noFill/>
          <a:ln w="38100">
            <a:solidFill>
              <a:srgbClr val="2E9E6B"/>
            </a:solidFill>
            <a:prstDash val="solid"/>
          </a:ln>
        </p:spPr>
      </p:sp>
      <p:sp>
        <p:nvSpPr>
          <p:cNvPr id="27" name="ANS_18"/>
          <p:cNvSpPr/>
          <p:nvPr/>
        </p:nvSpPr>
        <p:spPr>
          <a:xfrm>
            <a:off x="457200" y="3507638"/>
            <a:ext cx="6492240" cy="734568"/>
          </a:xfrm>
          <a:prstGeom prst="roundRect">
            <a:avLst>
              <a:gd name="adj" fmla="val 12448"/>
            </a:avLst>
          </a:prstGeom>
          <a:noFill/>
          <a:ln w="38100">
            <a:solidFill>
              <a:srgbClr val="2E9E6B"/>
            </a:solidFill>
            <a:prstDash val="solid"/>
          </a:ln>
        </p:spPr>
      </p:sp>
      <p:sp>
        <p:nvSpPr>
          <p:cNvPr id="28" name="ANS_19"/>
          <p:cNvSpPr/>
          <p:nvPr/>
        </p:nvSpPr>
        <p:spPr>
          <a:xfrm>
            <a:off x="457200" y="5048098"/>
            <a:ext cx="6492240" cy="734568"/>
          </a:xfrm>
          <a:prstGeom prst="roundRect">
            <a:avLst>
              <a:gd name="adj" fmla="val 12448"/>
            </a:avLst>
          </a:prstGeom>
          <a:noFill/>
          <a:ln w="38100">
            <a:solidFill>
              <a:srgbClr val="2E9E6B"/>
            </a:solidFill>
            <a:prstDash val="solid"/>
          </a:ln>
        </p:spPr>
      </p:sp>
      <p:sp>
        <p:nvSpPr>
          <p:cNvPr id="29" name="ANS_20"/>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30" name="ANS_21"/>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31" name="ANS_22"/>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3600" b="1" dirty="0">
                <a:solidFill>
                  <a:srgbClr val="1E3D34"/>
                </a:solidFill>
                <a:latin typeface="Microsoft YaHei" pitchFamily="34" charset="0"/>
                <a:ea typeface="Microsoft YaHei" pitchFamily="34" charset="-122"/>
                <a:cs typeface="Microsoft YaHei" pitchFamily="34" charset="-120"/>
              </a:rPr>
              <a:t>A、B、C、E</a:t>
            </a:r>
            <a:endParaRPr lang="en-US" sz="3600" dirty="0"/>
          </a:p>
        </p:txBody>
      </p:sp>
      <p:sp>
        <p:nvSpPr>
          <p:cNvPr id="32" name="ANS_23"/>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33" name="ANS_24"/>
          <p:cNvSpPr/>
          <p:nvPr/>
        </p:nvSpPr>
        <p:spPr>
          <a:xfrm>
            <a:off x="7616952" y="2731770"/>
            <a:ext cx="91440" cy="91440"/>
          </a:xfrm>
          <a:prstGeom prst="ellipse">
            <a:avLst/>
          </a:prstGeom>
          <a:solidFill>
            <a:srgbClr val="F2B134"/>
          </a:solidFill>
          <a:ln/>
        </p:spPr>
      </p:sp>
      <p:sp>
        <p:nvSpPr>
          <p:cNvPr id="34" name="ANS_25"/>
          <p:cNvSpPr txBox="1"/>
          <p:nvPr/>
        </p:nvSpPr>
        <p:spPr>
          <a:xfrm>
            <a:off x="7818120" y="2651760"/>
            <a:ext cx="3520440" cy="809244"/>
          </a:xfrm>
          <a:prstGeom prst="rect">
            <a:avLst/>
          </a:prstGeom>
          <a:noFill/>
          <a:ln/>
        </p:spPr>
        <p:txBody>
          <a:bodyPr wrap="square" lIns="0" tIns="0" rIns="0" bIns="0" rtlCol="0" anchor="t"/>
          <a:lstStyle/>
          <a:p>
            <a:pPr algn="l" indent="0" marL="0">
              <a:buNone/>
            </a:pPr>
            <a:r>
              <a:rPr lang="en-US" sz="1500" dirty="0">
                <a:solidFill>
                  <a:srgbClr val="2B2B2B"/>
                </a:solidFill>
                <a:latin typeface="Microsoft YaHei" pitchFamily="34" charset="0"/>
                <a:ea typeface="Microsoft YaHei" pitchFamily="34" charset="-122"/>
                <a:cs typeface="Microsoft YaHei" pitchFamily="34" charset="-120"/>
              </a:rPr>
              <a:t>满二叉树：每个结点度为 0 或 2；n</a:t>
            </a:r>
            <a:r>
              <a:rPr lang="en-US" sz="1500" baseline="-40000" dirty="0">
                <a:solidFill>
                  <a:srgbClr val="2B2B2B"/>
                </a:solidFill>
                <a:latin typeface="Microsoft YaHei" pitchFamily="34" charset="0"/>
                <a:ea typeface="Microsoft YaHei" pitchFamily="34" charset="-122"/>
                <a:cs typeface="Microsoft YaHei" pitchFamily="34" charset="-120"/>
              </a:rPr>
              <a:t>0</a:t>
            </a:r>
            <a:r>
              <a:rPr lang="en-US" sz="1500" dirty="0">
                <a:solidFill>
                  <a:srgbClr val="2B2B2B"/>
                </a:solidFill>
                <a:latin typeface="Microsoft YaHei" pitchFamily="34" charset="0"/>
                <a:ea typeface="Microsoft YaHei" pitchFamily="34" charset="-122"/>
                <a:cs typeface="Microsoft YaHei" pitchFamily="34" charset="-120"/>
              </a:rPr>
              <a:t> = n</a:t>
            </a:r>
            <a:r>
              <a:rPr lang="en-US" sz="1500" baseline="-40000" dirty="0">
                <a:solidFill>
                  <a:srgbClr val="2B2B2B"/>
                </a:solidFill>
                <a:latin typeface="Microsoft YaHei" pitchFamily="34" charset="0"/>
                <a:ea typeface="Microsoft YaHei" pitchFamily="34" charset="-122"/>
                <a:cs typeface="Microsoft YaHei" pitchFamily="34" charset="-120"/>
              </a:rPr>
              <a:t>2</a:t>
            </a:r>
            <a:r>
              <a:rPr lang="en-US" sz="1500" dirty="0">
                <a:solidFill>
                  <a:srgbClr val="2B2B2B"/>
                </a:solidFill>
                <a:latin typeface="Microsoft YaHei" pitchFamily="34" charset="0"/>
                <a:ea typeface="Microsoft YaHei" pitchFamily="34" charset="-122"/>
                <a:cs typeface="Microsoft YaHei" pitchFamily="34" charset="-120"/>
              </a:rPr>
              <a:t> + 1，总数 2n</a:t>
            </a:r>
            <a:r>
              <a:rPr lang="en-US" sz="1500" baseline="-40000" dirty="0">
                <a:solidFill>
                  <a:srgbClr val="2B2B2B"/>
                </a:solidFill>
                <a:latin typeface="Microsoft YaHei" pitchFamily="34" charset="0"/>
                <a:ea typeface="Microsoft YaHei" pitchFamily="34" charset="-122"/>
                <a:cs typeface="Microsoft YaHei" pitchFamily="34" charset="-120"/>
              </a:rPr>
              <a:t>2</a:t>
            </a:r>
            <a:r>
              <a:rPr lang="en-US" sz="1500" dirty="0">
                <a:solidFill>
                  <a:srgbClr val="2B2B2B"/>
                </a:solidFill>
                <a:latin typeface="Microsoft YaHei" pitchFamily="34" charset="0"/>
                <a:ea typeface="Microsoft YaHei" pitchFamily="34" charset="-122"/>
                <a:cs typeface="Microsoft YaHei" pitchFamily="34" charset="-120"/>
              </a:rPr>
              <a:t> + 1 为奇数（A ✓，F ✗ 叶子度为 0）。</a:t>
            </a:r>
            <a:endParaRPr lang="en-US" sz="1500" dirty="0"/>
          </a:p>
        </p:txBody>
      </p:sp>
      <p:sp>
        <p:nvSpPr>
          <p:cNvPr id="35" name="ANS_26"/>
          <p:cNvSpPr/>
          <p:nvPr/>
        </p:nvSpPr>
        <p:spPr>
          <a:xfrm>
            <a:off x="7616952" y="3664458"/>
            <a:ext cx="91440" cy="91440"/>
          </a:xfrm>
          <a:prstGeom prst="ellipse">
            <a:avLst/>
          </a:prstGeom>
          <a:solidFill>
            <a:srgbClr val="F2B134"/>
          </a:solidFill>
          <a:ln/>
        </p:spPr>
      </p:sp>
      <p:sp>
        <p:nvSpPr>
          <p:cNvPr id="36" name="ANS_27"/>
          <p:cNvSpPr txBox="1"/>
          <p:nvPr/>
        </p:nvSpPr>
        <p:spPr>
          <a:xfrm>
            <a:off x="7818120" y="3584448"/>
            <a:ext cx="3520440" cy="557784"/>
          </a:xfrm>
          <a:prstGeom prst="rect">
            <a:avLst/>
          </a:prstGeom>
          <a:noFill/>
          <a:ln/>
        </p:spPr>
        <p:txBody>
          <a:bodyPr wrap="square" lIns="0" tIns="0" rIns="0" bIns="0" rtlCol="0" anchor="t"/>
          <a:lstStyle/>
          <a:p>
            <a:pPr algn="l" indent="0" marL="0">
              <a:buNone/>
            </a:pPr>
            <a:r>
              <a:rPr lang="en-US" sz="1500" dirty="0">
                <a:solidFill>
                  <a:srgbClr val="2B2B2B"/>
                </a:solidFill>
                <a:latin typeface="Microsoft YaHei" pitchFamily="34" charset="0"/>
                <a:ea typeface="Microsoft YaHei" pitchFamily="34" charset="-122"/>
                <a:cs typeface="Microsoft YaHei" pitchFamily="34" charset="-120"/>
              </a:rPr>
              <a:t>满且完全的树，叶子可以分布在最后两层（C ✓）。</a:t>
            </a:r>
            <a:endParaRPr lang="en-US" sz="1500" dirty="0"/>
          </a:p>
        </p:txBody>
      </p:sp>
      <p:sp>
        <p:nvSpPr>
          <p:cNvPr id="37" name="ANS_28"/>
          <p:cNvSpPr/>
          <p:nvPr/>
        </p:nvSpPr>
        <p:spPr>
          <a:xfrm>
            <a:off x="7616952" y="4345686"/>
            <a:ext cx="91440" cy="91440"/>
          </a:xfrm>
          <a:prstGeom prst="ellipse">
            <a:avLst/>
          </a:prstGeom>
          <a:solidFill>
            <a:srgbClr val="F2B134"/>
          </a:solidFill>
          <a:ln/>
        </p:spPr>
      </p:sp>
      <p:sp>
        <p:nvSpPr>
          <p:cNvPr id="38" name="ANS_29"/>
          <p:cNvSpPr txBox="1"/>
          <p:nvPr/>
        </p:nvSpPr>
        <p:spPr>
          <a:xfrm>
            <a:off x="7818120" y="4265676"/>
            <a:ext cx="3520440" cy="557784"/>
          </a:xfrm>
          <a:prstGeom prst="rect">
            <a:avLst/>
          </a:prstGeom>
          <a:noFill/>
          <a:ln/>
        </p:spPr>
        <p:txBody>
          <a:bodyPr wrap="square" lIns="0" tIns="0" rIns="0" bIns="0" rtlCol="0" anchor="t"/>
          <a:lstStyle/>
          <a:p>
            <a:pPr algn="l" indent="0" marL="0">
              <a:buNone/>
            </a:pPr>
            <a:r>
              <a:rPr lang="en-US" sz="1500" dirty="0">
                <a:solidFill>
                  <a:srgbClr val="2B2B2B"/>
                </a:solidFill>
                <a:latin typeface="Microsoft YaHei" pitchFamily="34" charset="0"/>
                <a:ea typeface="Microsoft YaHei" pitchFamily="34" charset="-122"/>
                <a:cs typeface="Microsoft YaHei" pitchFamily="34" charset="-120"/>
              </a:rPr>
              <a:t>D ✗ 倒数第二层的结点也可能度数小于 2。</a:t>
            </a:r>
            <a:endParaRPr lang="en-US" sz="1500" dirty="0"/>
          </a:p>
        </p:txBody>
      </p:sp>
      <p:sp>
        <p:nvSpPr>
          <p:cNvPr id="39" name="ANS_30"/>
          <p:cNvSpPr/>
          <p:nvPr/>
        </p:nvSpPr>
        <p:spPr>
          <a:xfrm>
            <a:off x="7616952" y="5026914"/>
            <a:ext cx="91440" cy="91440"/>
          </a:xfrm>
          <a:prstGeom prst="ellipse">
            <a:avLst/>
          </a:prstGeom>
          <a:solidFill>
            <a:srgbClr val="F2B134"/>
          </a:solidFill>
          <a:ln/>
        </p:spPr>
      </p:sp>
      <p:sp>
        <p:nvSpPr>
          <p:cNvPr id="40" name="ANS_31"/>
          <p:cNvSpPr txBox="1"/>
          <p:nvPr/>
        </p:nvSpPr>
        <p:spPr>
          <a:xfrm>
            <a:off x="7818120" y="4946904"/>
            <a:ext cx="3520440" cy="557784"/>
          </a:xfrm>
          <a:prstGeom prst="rect">
            <a:avLst/>
          </a:prstGeom>
          <a:noFill/>
          <a:ln/>
        </p:spPr>
        <p:txBody>
          <a:bodyPr wrap="square" lIns="0" tIns="0" rIns="0" bIns="0" rtlCol="0" anchor="t"/>
          <a:lstStyle/>
          <a:p>
            <a:pPr algn="l" indent="0" marL="0">
              <a:buNone/>
            </a:pPr>
            <a:r>
              <a:rPr lang="en-US" sz="1500" dirty="0">
                <a:solidFill>
                  <a:srgbClr val="2B2B2B"/>
                </a:solidFill>
                <a:latin typeface="Microsoft YaHei" pitchFamily="34" charset="0"/>
                <a:ea typeface="Microsoft YaHei" pitchFamily="34" charset="-122"/>
                <a:cs typeface="Microsoft YaHei" pitchFamily="34" charset="-120"/>
              </a:rPr>
              <a:t>n 个结点有 2n 个指针域，用掉 n−1 个，空指针 n+1 个（E ✓）。</a:t>
            </a:r>
            <a:endParaRPr lang="en-US" sz="1500" dirty="0"/>
          </a:p>
        </p:txBody>
      </p:sp>
      <p:sp>
        <p:nvSpPr>
          <p:cNvPr id="41" name="ANS_32"/>
          <p:cNvSpPr/>
          <p:nvPr/>
        </p:nvSpPr>
        <p:spPr>
          <a:xfrm>
            <a:off x="7616952" y="5708142"/>
            <a:ext cx="91440" cy="91440"/>
          </a:xfrm>
          <a:prstGeom prst="ellipse">
            <a:avLst/>
          </a:prstGeom>
          <a:solidFill>
            <a:srgbClr val="F2B134"/>
          </a:solidFill>
          <a:ln/>
        </p:spPr>
      </p:sp>
      <p:sp>
        <p:nvSpPr>
          <p:cNvPr id="42" name="ANS_33"/>
          <p:cNvSpPr txBox="1"/>
          <p:nvPr/>
        </p:nvSpPr>
        <p:spPr>
          <a:xfrm>
            <a:off x="7818120" y="5628132"/>
            <a:ext cx="3520440" cy="557784"/>
          </a:xfrm>
          <a:prstGeom prst="rect">
            <a:avLst/>
          </a:prstGeom>
          <a:noFill/>
          <a:ln/>
        </p:spPr>
        <p:txBody>
          <a:bodyPr wrap="square" lIns="0" tIns="0" rIns="0" bIns="0" rtlCol="0" anchor="t"/>
          <a:lstStyle/>
          <a:p>
            <a:pPr algn="l" indent="0" marL="0">
              <a:buNone/>
            </a:pPr>
            <a:r>
              <a:rPr lang="en-US" sz="1500" dirty="0">
                <a:solidFill>
                  <a:srgbClr val="2B2B2B"/>
                </a:solidFill>
                <a:latin typeface="Microsoft YaHei" pitchFamily="34" charset="0"/>
                <a:ea typeface="Microsoft YaHei" pitchFamily="34" charset="-122"/>
                <a:cs typeface="Microsoft YaHei" pitchFamily="34" charset="-120"/>
              </a:rPr>
              <a:t>B ✓ 可按下标存储，但要预留空位；退化树可能浪费大量空间。</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400"/>
                                        <p:tgtEl>
                                          <p:spTgt spid="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400"/>
                                        <p:tgtEl>
                                          <p:spTgt spid="2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400"/>
                                        <p:tgtEl>
                                          <p:spTgt spid="2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400"/>
                                        <p:tgtEl>
                                          <p:spTgt spid="3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400"/>
                                        <p:tgtEl>
                                          <p:spTgt spid="3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4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4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4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400"/>
                                        <p:tgtEl>
                                          <p:spTgt spid="3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4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4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4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4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Q3</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二叉树（上）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400" b="1" dirty="0">
                <a:solidFill>
                  <a:srgbClr val="1E3D34"/>
                </a:solidFill>
                <a:latin typeface="Microsoft YaHei" pitchFamily="34" charset="0"/>
                <a:ea typeface="Microsoft YaHei" pitchFamily="34" charset="-122"/>
                <a:cs typeface="Microsoft YaHei" pitchFamily="34" charset="-120"/>
              </a:rPr>
              <a:t>完全二叉树高度（512 个结点）</a:t>
            </a:r>
            <a:endParaRPr lang="en-US" sz="24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一棵有 512 个结点的完全二叉树的高度为多少？（独根树高度为 1）</a:t>
            </a:r>
            <a:endParaRPr lang="en-US" sz="2000" dirty="0"/>
          </a:p>
        </p:txBody>
      </p:sp>
      <p:sp>
        <p:nvSpPr>
          <p:cNvPr id="7" name="ANS_34"/>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8" name="ANS_35"/>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9" name="ANS_36"/>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10</a:t>
            </a:r>
            <a:endParaRPr lang="en-US" sz="4400" dirty="0"/>
          </a:p>
        </p:txBody>
      </p:sp>
      <p:sp>
        <p:nvSpPr>
          <p:cNvPr id="10" name="ANS_37"/>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1" name="ANS_38"/>
          <p:cNvSpPr/>
          <p:nvPr/>
        </p:nvSpPr>
        <p:spPr>
          <a:xfrm>
            <a:off x="7616952" y="2748534"/>
            <a:ext cx="91440" cy="91440"/>
          </a:xfrm>
          <a:prstGeom prst="ellipse">
            <a:avLst/>
          </a:prstGeom>
          <a:solidFill>
            <a:srgbClr val="F2B134"/>
          </a:solidFill>
          <a:ln/>
        </p:spPr>
      </p:sp>
      <p:sp>
        <p:nvSpPr>
          <p:cNvPr id="12" name="ANS_39"/>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n 个结点的完全二叉树高度为 ⌊log</a:t>
            </a:r>
            <a:r>
              <a:rPr lang="en-US" sz="1700" baseline="-40000" dirty="0">
                <a:solidFill>
                  <a:srgbClr val="2B2B2B"/>
                </a:solidFill>
                <a:latin typeface="Microsoft YaHei" pitchFamily="34" charset="0"/>
                <a:ea typeface="Microsoft YaHei" pitchFamily="34" charset="-122"/>
                <a:cs typeface="Microsoft YaHei" pitchFamily="34" charset="-120"/>
              </a:rPr>
              <a:t>2</a:t>
            </a:r>
            <a:r>
              <a:rPr lang="en-US" sz="1700" dirty="0">
                <a:solidFill>
                  <a:srgbClr val="2B2B2B"/>
                </a:solidFill>
                <a:latin typeface="Microsoft YaHei" pitchFamily="34" charset="0"/>
                <a:ea typeface="Microsoft YaHei" pitchFamily="34" charset="-122"/>
                <a:cs typeface="Microsoft YaHei" pitchFamily="34" charset="-120"/>
              </a:rPr>
              <a:t> n⌋ + 1。</a:t>
            </a:r>
            <a:endParaRPr lang="en-US" sz="1700" dirty="0"/>
          </a:p>
        </p:txBody>
      </p:sp>
      <p:sp>
        <p:nvSpPr>
          <p:cNvPr id="13" name="ANS_40"/>
          <p:cNvSpPr/>
          <p:nvPr/>
        </p:nvSpPr>
        <p:spPr>
          <a:xfrm>
            <a:off x="7616952" y="3513277"/>
            <a:ext cx="91440" cy="91440"/>
          </a:xfrm>
          <a:prstGeom prst="ellipse">
            <a:avLst/>
          </a:prstGeom>
          <a:solidFill>
            <a:srgbClr val="F2B134"/>
          </a:solidFill>
          <a:ln/>
        </p:spPr>
      </p:sp>
      <p:sp>
        <p:nvSpPr>
          <p:cNvPr id="14" name="ANS_41"/>
          <p:cNvSpPr txBox="1"/>
          <p:nvPr/>
        </p:nvSpPr>
        <p:spPr>
          <a:xfrm>
            <a:off x="7818120" y="3416503"/>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⌊log</a:t>
            </a:r>
            <a:r>
              <a:rPr lang="en-US" sz="1700" baseline="-40000" dirty="0">
                <a:solidFill>
                  <a:srgbClr val="2B2B2B"/>
                </a:solidFill>
                <a:latin typeface="Microsoft YaHei" pitchFamily="34" charset="0"/>
                <a:ea typeface="Microsoft YaHei" pitchFamily="34" charset="-122"/>
                <a:cs typeface="Microsoft YaHei" pitchFamily="34" charset="-120"/>
              </a:rPr>
              <a:t>2</a:t>
            </a:r>
            <a:r>
              <a:rPr lang="en-US" sz="1700" dirty="0">
                <a:solidFill>
                  <a:srgbClr val="2B2B2B"/>
                </a:solidFill>
                <a:latin typeface="Microsoft YaHei" pitchFamily="34" charset="0"/>
                <a:ea typeface="Microsoft YaHei" pitchFamily="34" charset="-122"/>
                <a:cs typeface="Microsoft YaHei" pitchFamily="34" charset="-120"/>
              </a:rPr>
              <a:t> 512⌋ + 1 = 9 + 1 = 10</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Q4</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二叉树（上）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400" b="1" dirty="0">
                <a:solidFill>
                  <a:srgbClr val="1E3D34"/>
                </a:solidFill>
                <a:latin typeface="Microsoft YaHei" pitchFamily="34" charset="0"/>
                <a:ea typeface="Microsoft YaHei" pitchFamily="34" charset="-122"/>
                <a:cs typeface="Microsoft YaHei" pitchFamily="34" charset="-120"/>
              </a:rPr>
              <a:t>完全二叉树高度（510 个结点）</a:t>
            </a:r>
            <a:endParaRPr lang="en-US" sz="24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一棵有 510 个结点的完全二叉树的高度为多少？（独根树高度为 1）</a:t>
            </a:r>
            <a:endParaRPr lang="en-US" sz="2000" dirty="0"/>
          </a:p>
        </p:txBody>
      </p:sp>
      <p:sp>
        <p:nvSpPr>
          <p:cNvPr id="7" name="ANS_42"/>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8" name="ANS_43"/>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9" name="ANS_44"/>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9</a:t>
            </a:r>
            <a:endParaRPr lang="en-US" sz="4400" dirty="0"/>
          </a:p>
        </p:txBody>
      </p:sp>
      <p:sp>
        <p:nvSpPr>
          <p:cNvPr id="10" name="ANS_45"/>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1" name="ANS_46"/>
          <p:cNvSpPr/>
          <p:nvPr/>
        </p:nvSpPr>
        <p:spPr>
          <a:xfrm>
            <a:off x="7616952" y="2748534"/>
            <a:ext cx="91440" cy="91440"/>
          </a:xfrm>
          <a:prstGeom prst="ellipse">
            <a:avLst/>
          </a:prstGeom>
          <a:solidFill>
            <a:srgbClr val="F2B134"/>
          </a:solidFill>
          <a:ln/>
        </p:spPr>
      </p:sp>
      <p:sp>
        <p:nvSpPr>
          <p:cNvPr id="12" name="ANS_47"/>
          <p:cNvSpPr txBox="1"/>
          <p:nvPr/>
        </p:nvSpPr>
        <p:spPr>
          <a:xfrm>
            <a:off x="7818120" y="2651760"/>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2</a:t>
            </a:r>
            <a:r>
              <a:rPr lang="en-US" sz="1700" baseline="30000" dirty="0">
                <a:solidFill>
                  <a:srgbClr val="2B2B2B"/>
                </a:solidFill>
                <a:latin typeface="Microsoft YaHei" pitchFamily="34" charset="0"/>
                <a:ea typeface="Microsoft YaHei" pitchFamily="34" charset="-122"/>
                <a:cs typeface="Microsoft YaHei" pitchFamily="34" charset="-120"/>
              </a:rPr>
              <a:t>8</a:t>
            </a:r>
            <a:r>
              <a:rPr lang="en-US" sz="1700" dirty="0">
                <a:solidFill>
                  <a:srgbClr val="2B2B2B"/>
                </a:solidFill>
                <a:latin typeface="Microsoft YaHei" pitchFamily="34" charset="0"/>
                <a:ea typeface="Microsoft YaHei" pitchFamily="34" charset="-122"/>
                <a:cs typeface="Microsoft YaHei" pitchFamily="34" charset="-120"/>
              </a:rPr>
              <a:t> = 256 ≤ 510 &lt; 512 = 2</a:t>
            </a:r>
            <a:r>
              <a:rPr lang="en-US" sz="1700" baseline="30000" dirty="0">
                <a:solidFill>
                  <a:srgbClr val="2B2B2B"/>
                </a:solidFill>
                <a:latin typeface="Microsoft YaHei" pitchFamily="34" charset="0"/>
                <a:ea typeface="Microsoft YaHei" pitchFamily="34" charset="-122"/>
                <a:cs typeface="Microsoft YaHei" pitchFamily="34" charset="-120"/>
              </a:rPr>
              <a:t>9</a:t>
            </a:r>
            <a:endParaRPr lang="en-US" sz="1700" dirty="0"/>
          </a:p>
        </p:txBody>
      </p:sp>
      <p:sp>
        <p:nvSpPr>
          <p:cNvPr id="13" name="ANS_48"/>
          <p:cNvSpPr/>
          <p:nvPr/>
        </p:nvSpPr>
        <p:spPr>
          <a:xfrm>
            <a:off x="7616952" y="3228289"/>
            <a:ext cx="91440" cy="91440"/>
          </a:xfrm>
          <a:prstGeom prst="ellipse">
            <a:avLst/>
          </a:prstGeom>
          <a:solidFill>
            <a:srgbClr val="F2B134"/>
          </a:solidFill>
          <a:ln/>
        </p:spPr>
      </p:sp>
      <p:sp>
        <p:nvSpPr>
          <p:cNvPr id="14" name="ANS_49"/>
          <p:cNvSpPr txBox="1"/>
          <p:nvPr/>
        </p:nvSpPr>
        <p:spPr>
          <a:xfrm>
            <a:off x="7818120" y="3131515"/>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⌊log</a:t>
            </a:r>
            <a:r>
              <a:rPr lang="en-US" sz="1700" baseline="-40000" dirty="0">
                <a:solidFill>
                  <a:srgbClr val="2B2B2B"/>
                </a:solidFill>
                <a:latin typeface="Microsoft YaHei" pitchFamily="34" charset="0"/>
                <a:ea typeface="Microsoft YaHei" pitchFamily="34" charset="-122"/>
                <a:cs typeface="Microsoft YaHei" pitchFamily="34" charset="-120"/>
              </a:rPr>
              <a:t>2</a:t>
            </a:r>
            <a:r>
              <a:rPr lang="en-US" sz="1700" dirty="0">
                <a:solidFill>
                  <a:srgbClr val="2B2B2B"/>
                </a:solidFill>
                <a:latin typeface="Microsoft YaHei" pitchFamily="34" charset="0"/>
                <a:ea typeface="Microsoft YaHei" pitchFamily="34" charset="-122"/>
                <a:cs typeface="Microsoft YaHei" pitchFamily="34" charset="-120"/>
              </a:rPr>
              <a:t> 510⌋ + 1 = 8 + 1 = 9</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Q5</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二叉树（上）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后序遍历</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写出下面二叉树的后序遍历序列（字母间无空格；Q 是 H 的左孩子）：</a:t>
            </a:r>
            <a:endParaRPr lang="en-US" sz="2000" dirty="0"/>
          </a:p>
        </p:txBody>
      </p:sp>
      <p:sp>
        <p:nvSpPr>
          <p:cNvPr id="7" name="Shape 5"/>
          <p:cNvSpPr/>
          <p:nvPr/>
        </p:nvSpPr>
        <p:spPr>
          <a:xfrm>
            <a:off x="548640" y="2627376"/>
            <a:ext cx="6309360" cy="2151888"/>
          </a:xfrm>
          <a:prstGeom prst="roundRect">
            <a:avLst>
              <a:gd name="adj" fmla="val 3399"/>
            </a:avLst>
          </a:prstGeom>
          <a:solidFill>
            <a:srgbClr val="F1F4F2"/>
          </a:solidFill>
          <a:ln/>
        </p:spPr>
      </p:sp>
      <p:sp>
        <p:nvSpPr>
          <p:cNvPr id="8" name="Text 6"/>
          <p:cNvSpPr txBox="1"/>
          <p:nvPr/>
        </p:nvSpPr>
        <p:spPr>
          <a:xfrm>
            <a:off x="731520" y="2627376"/>
            <a:ext cx="6035040" cy="2151888"/>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B</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E       D</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X   K   H   A</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L  M C  P Q</a:t>
            </a:r>
            <a:endParaRPr lang="en-US" sz="1600" dirty="0"/>
          </a:p>
        </p:txBody>
      </p:sp>
      <p:sp>
        <p:nvSpPr>
          <p:cNvPr id="9" name="ANS_50"/>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51"/>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52"/>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3000" b="1" dirty="0">
                <a:solidFill>
                  <a:srgbClr val="1E3D34"/>
                </a:solidFill>
                <a:latin typeface="Microsoft YaHei" pitchFamily="34" charset="0"/>
                <a:ea typeface="Microsoft YaHei" pitchFamily="34" charset="-122"/>
                <a:cs typeface="Microsoft YaHei" pitchFamily="34" charset="-120"/>
              </a:rPr>
              <a:t>LMXCPKEQHADB</a:t>
            </a:r>
            <a:endParaRPr lang="en-US" sz="3000" dirty="0"/>
          </a:p>
        </p:txBody>
      </p:sp>
      <p:sp>
        <p:nvSpPr>
          <p:cNvPr id="12" name="ANS_53"/>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54"/>
          <p:cNvSpPr/>
          <p:nvPr/>
        </p:nvSpPr>
        <p:spPr>
          <a:xfrm>
            <a:off x="7616952" y="2748534"/>
            <a:ext cx="91440" cy="91440"/>
          </a:xfrm>
          <a:prstGeom prst="ellipse">
            <a:avLst/>
          </a:prstGeom>
          <a:solidFill>
            <a:srgbClr val="F2B134"/>
          </a:solidFill>
          <a:ln/>
        </p:spPr>
      </p:sp>
      <p:sp>
        <p:nvSpPr>
          <p:cNvPr id="14" name="ANS_55"/>
          <p:cNvSpPr txBox="1"/>
          <p:nvPr/>
        </p:nvSpPr>
        <p:spPr>
          <a:xfrm>
            <a:off x="7818120" y="2651760"/>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后序：左 → 右 → 根。</a:t>
            </a:r>
            <a:endParaRPr lang="en-US" sz="1700" dirty="0"/>
          </a:p>
        </p:txBody>
      </p:sp>
      <p:sp>
        <p:nvSpPr>
          <p:cNvPr id="15" name="ANS_56"/>
          <p:cNvSpPr/>
          <p:nvPr/>
        </p:nvSpPr>
        <p:spPr>
          <a:xfrm>
            <a:off x="7616952" y="3228289"/>
            <a:ext cx="91440" cy="91440"/>
          </a:xfrm>
          <a:prstGeom prst="ellipse">
            <a:avLst/>
          </a:prstGeom>
          <a:solidFill>
            <a:srgbClr val="F2B134"/>
          </a:solidFill>
          <a:ln/>
        </p:spPr>
      </p:sp>
      <p:sp>
        <p:nvSpPr>
          <p:cNvPr id="16" name="ANS_57"/>
          <p:cNvSpPr txBox="1"/>
          <p:nvPr/>
        </p:nvSpPr>
        <p:spPr>
          <a:xfrm>
            <a:off x="7818120" y="3131515"/>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左子树 E：L M X C P K E</a:t>
            </a:r>
            <a:endParaRPr lang="en-US" sz="1700" dirty="0"/>
          </a:p>
        </p:txBody>
      </p:sp>
      <p:sp>
        <p:nvSpPr>
          <p:cNvPr id="17" name="ANS_58"/>
          <p:cNvSpPr/>
          <p:nvPr/>
        </p:nvSpPr>
        <p:spPr>
          <a:xfrm>
            <a:off x="7616952" y="3708044"/>
            <a:ext cx="91440" cy="91440"/>
          </a:xfrm>
          <a:prstGeom prst="ellipse">
            <a:avLst/>
          </a:prstGeom>
          <a:solidFill>
            <a:srgbClr val="F2B134"/>
          </a:solidFill>
          <a:ln/>
        </p:spPr>
      </p:sp>
      <p:sp>
        <p:nvSpPr>
          <p:cNvPr id="18" name="ANS_59"/>
          <p:cNvSpPr txBox="1"/>
          <p:nvPr/>
        </p:nvSpPr>
        <p:spPr>
          <a:xfrm>
            <a:off x="7818120" y="3611270"/>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右子树 D：Q H A D</a:t>
            </a:r>
            <a:endParaRPr lang="en-US" sz="1700" dirty="0"/>
          </a:p>
        </p:txBody>
      </p:sp>
      <p:sp>
        <p:nvSpPr>
          <p:cNvPr id="19" name="ANS_60"/>
          <p:cNvSpPr/>
          <p:nvPr/>
        </p:nvSpPr>
        <p:spPr>
          <a:xfrm>
            <a:off x="7616952" y="4187800"/>
            <a:ext cx="91440" cy="91440"/>
          </a:xfrm>
          <a:prstGeom prst="ellipse">
            <a:avLst/>
          </a:prstGeom>
          <a:solidFill>
            <a:srgbClr val="F2B134"/>
          </a:solidFill>
          <a:ln/>
        </p:spPr>
      </p:sp>
      <p:sp>
        <p:nvSpPr>
          <p:cNvPr id="20" name="ANS_61"/>
          <p:cNvSpPr txBox="1"/>
          <p:nvPr/>
        </p:nvSpPr>
        <p:spPr>
          <a:xfrm>
            <a:off x="7818120" y="4091026"/>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最后根 B。</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Q6</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二叉树（上）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中序遍历</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写出题 5 二叉树的中序遍历序列（字母间无空格）：</a:t>
            </a:r>
            <a:endParaRPr lang="en-US" sz="2000" dirty="0"/>
          </a:p>
        </p:txBody>
      </p:sp>
      <p:sp>
        <p:nvSpPr>
          <p:cNvPr id="7" name="Shape 5"/>
          <p:cNvSpPr/>
          <p:nvPr/>
        </p:nvSpPr>
        <p:spPr>
          <a:xfrm>
            <a:off x="548640" y="2627376"/>
            <a:ext cx="6309360" cy="2151888"/>
          </a:xfrm>
          <a:prstGeom prst="roundRect">
            <a:avLst>
              <a:gd name="adj" fmla="val 3399"/>
            </a:avLst>
          </a:prstGeom>
          <a:solidFill>
            <a:srgbClr val="F1F4F2"/>
          </a:solidFill>
          <a:ln/>
        </p:spPr>
      </p:sp>
      <p:sp>
        <p:nvSpPr>
          <p:cNvPr id="8" name="Text 6"/>
          <p:cNvSpPr txBox="1"/>
          <p:nvPr/>
        </p:nvSpPr>
        <p:spPr>
          <a:xfrm>
            <a:off x="731520" y="2627376"/>
            <a:ext cx="6035040" cy="2151888"/>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B</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E       D</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X   K   H   A</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L  M C  P Q</a:t>
            </a:r>
            <a:endParaRPr lang="en-US" sz="1600" dirty="0"/>
          </a:p>
        </p:txBody>
      </p:sp>
      <p:sp>
        <p:nvSpPr>
          <p:cNvPr id="9" name="ANS_62"/>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63"/>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64"/>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3000" b="1" dirty="0">
                <a:solidFill>
                  <a:srgbClr val="1E3D34"/>
                </a:solidFill>
                <a:latin typeface="Microsoft YaHei" pitchFamily="34" charset="0"/>
                <a:ea typeface="Microsoft YaHei" pitchFamily="34" charset="-122"/>
                <a:cs typeface="Microsoft YaHei" pitchFamily="34" charset="-120"/>
              </a:rPr>
              <a:t>LXMECKPBQHDA</a:t>
            </a:r>
            <a:endParaRPr lang="en-US" sz="3000" dirty="0"/>
          </a:p>
        </p:txBody>
      </p:sp>
      <p:sp>
        <p:nvSpPr>
          <p:cNvPr id="12" name="ANS_65"/>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66"/>
          <p:cNvSpPr/>
          <p:nvPr/>
        </p:nvSpPr>
        <p:spPr>
          <a:xfrm>
            <a:off x="7616952" y="2748534"/>
            <a:ext cx="91440" cy="91440"/>
          </a:xfrm>
          <a:prstGeom prst="ellipse">
            <a:avLst/>
          </a:prstGeom>
          <a:solidFill>
            <a:srgbClr val="F2B134"/>
          </a:solidFill>
          <a:ln/>
        </p:spPr>
      </p:sp>
      <p:sp>
        <p:nvSpPr>
          <p:cNvPr id="14" name="ANS_67"/>
          <p:cNvSpPr txBox="1"/>
          <p:nvPr/>
        </p:nvSpPr>
        <p:spPr>
          <a:xfrm>
            <a:off x="7818120" y="2651760"/>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中序：左 → 根 → 右。</a:t>
            </a:r>
            <a:endParaRPr lang="en-US" sz="1700" dirty="0"/>
          </a:p>
        </p:txBody>
      </p:sp>
      <p:sp>
        <p:nvSpPr>
          <p:cNvPr id="15" name="ANS_68"/>
          <p:cNvSpPr/>
          <p:nvPr/>
        </p:nvSpPr>
        <p:spPr>
          <a:xfrm>
            <a:off x="7616952" y="3228289"/>
            <a:ext cx="91440" cy="91440"/>
          </a:xfrm>
          <a:prstGeom prst="ellipse">
            <a:avLst/>
          </a:prstGeom>
          <a:solidFill>
            <a:srgbClr val="F2B134"/>
          </a:solidFill>
          <a:ln/>
        </p:spPr>
      </p:sp>
      <p:sp>
        <p:nvSpPr>
          <p:cNvPr id="16" name="ANS_69"/>
          <p:cNvSpPr txBox="1"/>
          <p:nvPr/>
        </p:nvSpPr>
        <p:spPr>
          <a:xfrm>
            <a:off x="7818120" y="3131515"/>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左子树 E：L X M E C K P</a:t>
            </a:r>
            <a:endParaRPr lang="en-US" sz="1700" dirty="0"/>
          </a:p>
        </p:txBody>
      </p:sp>
      <p:sp>
        <p:nvSpPr>
          <p:cNvPr id="17" name="ANS_70"/>
          <p:cNvSpPr/>
          <p:nvPr/>
        </p:nvSpPr>
        <p:spPr>
          <a:xfrm>
            <a:off x="7616952" y="3708044"/>
            <a:ext cx="91440" cy="91440"/>
          </a:xfrm>
          <a:prstGeom prst="ellipse">
            <a:avLst/>
          </a:prstGeom>
          <a:solidFill>
            <a:srgbClr val="F2B134"/>
          </a:solidFill>
          <a:ln/>
        </p:spPr>
      </p:sp>
      <p:sp>
        <p:nvSpPr>
          <p:cNvPr id="18" name="ANS_71"/>
          <p:cNvSpPr txBox="1"/>
          <p:nvPr/>
        </p:nvSpPr>
        <p:spPr>
          <a:xfrm>
            <a:off x="7818120" y="3611270"/>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根 B，右子树 D：Q H D A</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Q7</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二叉树（上）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前序遍历</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写出题 5 二叉树的前序遍历序列（字母间无空格）：</a:t>
            </a:r>
            <a:endParaRPr lang="en-US" sz="2000" dirty="0"/>
          </a:p>
        </p:txBody>
      </p:sp>
      <p:sp>
        <p:nvSpPr>
          <p:cNvPr id="7" name="Shape 5"/>
          <p:cNvSpPr/>
          <p:nvPr/>
        </p:nvSpPr>
        <p:spPr>
          <a:xfrm>
            <a:off x="548640" y="2627376"/>
            <a:ext cx="6309360" cy="2151888"/>
          </a:xfrm>
          <a:prstGeom prst="roundRect">
            <a:avLst>
              <a:gd name="adj" fmla="val 3399"/>
            </a:avLst>
          </a:prstGeom>
          <a:solidFill>
            <a:srgbClr val="F1F4F2"/>
          </a:solidFill>
          <a:ln/>
        </p:spPr>
      </p:sp>
      <p:sp>
        <p:nvSpPr>
          <p:cNvPr id="8" name="Text 6"/>
          <p:cNvSpPr txBox="1"/>
          <p:nvPr/>
        </p:nvSpPr>
        <p:spPr>
          <a:xfrm>
            <a:off x="731520" y="2627376"/>
            <a:ext cx="6035040" cy="2151888"/>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B</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E       D</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X   K   H   A</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L  M C  P Q</a:t>
            </a:r>
            <a:endParaRPr lang="en-US" sz="1600" dirty="0"/>
          </a:p>
        </p:txBody>
      </p:sp>
      <p:sp>
        <p:nvSpPr>
          <p:cNvPr id="9" name="ANS_72"/>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73"/>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74"/>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3000" b="1" dirty="0">
                <a:solidFill>
                  <a:srgbClr val="1E3D34"/>
                </a:solidFill>
                <a:latin typeface="Microsoft YaHei" pitchFamily="34" charset="0"/>
                <a:ea typeface="Microsoft YaHei" pitchFamily="34" charset="-122"/>
                <a:cs typeface="Microsoft YaHei" pitchFamily="34" charset="-120"/>
              </a:rPr>
              <a:t>BEXLMKCPDHQA</a:t>
            </a:r>
            <a:endParaRPr lang="en-US" sz="3000" dirty="0"/>
          </a:p>
        </p:txBody>
      </p:sp>
      <p:sp>
        <p:nvSpPr>
          <p:cNvPr id="12" name="ANS_75"/>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76"/>
          <p:cNvSpPr/>
          <p:nvPr/>
        </p:nvSpPr>
        <p:spPr>
          <a:xfrm>
            <a:off x="7616952" y="2748534"/>
            <a:ext cx="91440" cy="91440"/>
          </a:xfrm>
          <a:prstGeom prst="ellipse">
            <a:avLst/>
          </a:prstGeom>
          <a:solidFill>
            <a:srgbClr val="F2B134"/>
          </a:solidFill>
          <a:ln/>
        </p:spPr>
      </p:sp>
      <p:sp>
        <p:nvSpPr>
          <p:cNvPr id="14" name="ANS_77"/>
          <p:cNvSpPr txBox="1"/>
          <p:nvPr/>
        </p:nvSpPr>
        <p:spPr>
          <a:xfrm>
            <a:off x="7818120" y="2651760"/>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前序：根 → 左 → 右。</a:t>
            </a:r>
            <a:endParaRPr lang="en-US" sz="1700" dirty="0"/>
          </a:p>
        </p:txBody>
      </p:sp>
      <p:sp>
        <p:nvSpPr>
          <p:cNvPr id="15" name="ANS_78"/>
          <p:cNvSpPr/>
          <p:nvPr/>
        </p:nvSpPr>
        <p:spPr>
          <a:xfrm>
            <a:off x="7616952" y="3228289"/>
            <a:ext cx="91440" cy="91440"/>
          </a:xfrm>
          <a:prstGeom prst="ellipse">
            <a:avLst/>
          </a:prstGeom>
          <a:solidFill>
            <a:srgbClr val="F2B134"/>
          </a:solidFill>
          <a:ln/>
        </p:spPr>
      </p:sp>
      <p:sp>
        <p:nvSpPr>
          <p:cNvPr id="16" name="ANS_79"/>
          <p:cNvSpPr txBox="1"/>
          <p:nvPr/>
        </p:nvSpPr>
        <p:spPr>
          <a:xfrm>
            <a:off x="7818120" y="3131515"/>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B，左子树 E X L M K C P</a:t>
            </a:r>
            <a:endParaRPr lang="en-US" sz="1700" dirty="0"/>
          </a:p>
        </p:txBody>
      </p:sp>
      <p:sp>
        <p:nvSpPr>
          <p:cNvPr id="17" name="ANS_80"/>
          <p:cNvSpPr/>
          <p:nvPr/>
        </p:nvSpPr>
        <p:spPr>
          <a:xfrm>
            <a:off x="7616952" y="3708044"/>
            <a:ext cx="91440" cy="91440"/>
          </a:xfrm>
          <a:prstGeom prst="ellipse">
            <a:avLst/>
          </a:prstGeom>
          <a:solidFill>
            <a:srgbClr val="F2B134"/>
          </a:solidFill>
          <a:ln/>
        </p:spPr>
      </p:sp>
      <p:sp>
        <p:nvSpPr>
          <p:cNvPr id="18" name="ANS_81"/>
          <p:cNvSpPr txBox="1"/>
          <p:nvPr/>
        </p:nvSpPr>
        <p:spPr>
          <a:xfrm>
            <a:off x="7818120" y="3611270"/>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右子树 D H Q A</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Q8</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二叉树（上）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中序 + 后序 → 前序</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已知一棵二叉树的中序遍历为 DBGEACF，后序遍历为 DGEBFCA，求其前序遍历序列。</a:t>
            </a:r>
            <a:endParaRPr lang="en-US" sz="2000" dirty="0"/>
          </a:p>
        </p:txBody>
      </p:sp>
      <p:sp>
        <p:nvSpPr>
          <p:cNvPr id="7" name="ANS_82"/>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8" name="ANS_83"/>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9" name="ANS_84"/>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ABDEGCF</a:t>
            </a:r>
            <a:endParaRPr lang="en-US" sz="4400" dirty="0"/>
          </a:p>
        </p:txBody>
      </p:sp>
      <p:sp>
        <p:nvSpPr>
          <p:cNvPr id="10" name="ANS_85"/>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1" name="ANS_86"/>
          <p:cNvSpPr/>
          <p:nvPr/>
        </p:nvSpPr>
        <p:spPr>
          <a:xfrm>
            <a:off x="7616952" y="2748534"/>
            <a:ext cx="91440" cy="91440"/>
          </a:xfrm>
          <a:prstGeom prst="ellipse">
            <a:avLst/>
          </a:prstGeom>
          <a:solidFill>
            <a:srgbClr val="F2B134"/>
          </a:solidFill>
          <a:ln/>
        </p:spPr>
      </p:sp>
      <p:sp>
        <p:nvSpPr>
          <p:cNvPr id="12" name="ANS_87"/>
          <p:cNvSpPr txBox="1"/>
          <p:nvPr/>
        </p:nvSpPr>
        <p:spPr>
          <a:xfrm>
            <a:off x="7818120" y="2651760"/>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后序最后一个 A 是根；中序中 A 左边 DBGE 是左子树，右边 CF 是右子树。</a:t>
            </a:r>
            <a:endParaRPr lang="en-US" sz="1700" dirty="0"/>
          </a:p>
        </p:txBody>
      </p:sp>
      <p:sp>
        <p:nvSpPr>
          <p:cNvPr id="13" name="ANS_88"/>
          <p:cNvSpPr/>
          <p:nvPr/>
        </p:nvSpPr>
        <p:spPr>
          <a:xfrm>
            <a:off x="7616952" y="3798265"/>
            <a:ext cx="91440" cy="91440"/>
          </a:xfrm>
          <a:prstGeom prst="ellipse">
            <a:avLst/>
          </a:prstGeom>
          <a:solidFill>
            <a:srgbClr val="F2B134"/>
          </a:solidFill>
          <a:ln/>
        </p:spPr>
      </p:sp>
      <p:sp>
        <p:nvSpPr>
          <p:cNvPr id="14" name="ANS_89"/>
          <p:cNvSpPr txBox="1"/>
          <p:nvPr/>
        </p:nvSpPr>
        <p:spPr>
          <a:xfrm>
            <a:off x="7818120" y="3701491"/>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左子树后序 DGEB → 根 B，左 D，右 GE（后序 GE → 根 E，左孩子 G）。</a:t>
            </a:r>
            <a:endParaRPr lang="en-US" sz="1700" dirty="0"/>
          </a:p>
        </p:txBody>
      </p:sp>
      <p:sp>
        <p:nvSpPr>
          <p:cNvPr id="15" name="ANS_90"/>
          <p:cNvSpPr/>
          <p:nvPr/>
        </p:nvSpPr>
        <p:spPr>
          <a:xfrm>
            <a:off x="7616952" y="4847996"/>
            <a:ext cx="91440" cy="91440"/>
          </a:xfrm>
          <a:prstGeom prst="ellipse">
            <a:avLst/>
          </a:prstGeom>
          <a:solidFill>
            <a:srgbClr val="F2B134"/>
          </a:solidFill>
          <a:ln/>
        </p:spPr>
      </p:sp>
      <p:sp>
        <p:nvSpPr>
          <p:cNvPr id="16" name="ANS_91"/>
          <p:cNvSpPr txBox="1"/>
          <p:nvPr/>
        </p:nvSpPr>
        <p:spPr>
          <a:xfrm>
            <a:off x="7818120" y="4751222"/>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右子树后序 FC → 根 C，右孩子 F。</a:t>
            </a:r>
            <a:endParaRPr lang="en-US" sz="1700" dirty="0"/>
          </a:p>
        </p:txBody>
      </p:sp>
      <p:sp>
        <p:nvSpPr>
          <p:cNvPr id="17" name="ANS_92"/>
          <p:cNvSpPr/>
          <p:nvPr/>
        </p:nvSpPr>
        <p:spPr>
          <a:xfrm>
            <a:off x="7616952" y="5612740"/>
            <a:ext cx="91440" cy="91440"/>
          </a:xfrm>
          <a:prstGeom prst="ellipse">
            <a:avLst/>
          </a:prstGeom>
          <a:solidFill>
            <a:srgbClr val="F2B134"/>
          </a:solidFill>
          <a:ln/>
        </p:spPr>
      </p:sp>
      <p:sp>
        <p:nvSpPr>
          <p:cNvPr id="18" name="ANS_93"/>
          <p:cNvSpPr txBox="1"/>
          <p:nvPr/>
        </p:nvSpPr>
        <p:spPr>
          <a:xfrm>
            <a:off x="7818120" y="5515966"/>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前序：A B D E G C F</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Q9</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二叉树（上）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前序 + 中序 → 后序</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已知一棵二叉树的前序遍历为 ABDEGCF，中序遍历为 DBGEACF，求其后序遍历序列。</a:t>
            </a:r>
            <a:endParaRPr lang="en-US" sz="2000" dirty="0"/>
          </a:p>
        </p:txBody>
      </p:sp>
      <p:sp>
        <p:nvSpPr>
          <p:cNvPr id="7" name="ANS_94"/>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8" name="ANS_95"/>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9" name="ANS_96"/>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DGEBFCA</a:t>
            </a:r>
            <a:endParaRPr lang="en-US" sz="4400" dirty="0"/>
          </a:p>
        </p:txBody>
      </p:sp>
      <p:sp>
        <p:nvSpPr>
          <p:cNvPr id="10" name="ANS_97"/>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1" name="ANS_98"/>
          <p:cNvSpPr/>
          <p:nvPr/>
        </p:nvSpPr>
        <p:spPr>
          <a:xfrm>
            <a:off x="7616952" y="2748534"/>
            <a:ext cx="91440" cy="91440"/>
          </a:xfrm>
          <a:prstGeom prst="ellipse">
            <a:avLst/>
          </a:prstGeom>
          <a:solidFill>
            <a:srgbClr val="F2B134"/>
          </a:solidFill>
          <a:ln/>
        </p:spPr>
      </p:sp>
      <p:sp>
        <p:nvSpPr>
          <p:cNvPr id="12" name="ANS_99"/>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与上一题是同一棵树：前序第一个 A 为根，中序切分左右子树。</a:t>
            </a:r>
            <a:endParaRPr lang="en-US" sz="1700" dirty="0"/>
          </a:p>
        </p:txBody>
      </p:sp>
      <p:sp>
        <p:nvSpPr>
          <p:cNvPr id="13" name="ANS_100"/>
          <p:cNvSpPr/>
          <p:nvPr/>
        </p:nvSpPr>
        <p:spPr>
          <a:xfrm>
            <a:off x="7616952" y="3513277"/>
            <a:ext cx="91440" cy="91440"/>
          </a:xfrm>
          <a:prstGeom prst="ellipse">
            <a:avLst/>
          </a:prstGeom>
          <a:solidFill>
            <a:srgbClr val="F2B134"/>
          </a:solidFill>
          <a:ln/>
        </p:spPr>
      </p:sp>
      <p:sp>
        <p:nvSpPr>
          <p:cNvPr id="14" name="ANS_101"/>
          <p:cNvSpPr txBox="1"/>
          <p:nvPr/>
        </p:nvSpPr>
        <p:spPr>
          <a:xfrm>
            <a:off x="7818120" y="3416503"/>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左子树 B（左 D，右 E，E 的左孩子 G）→ 后序 D G E B</a:t>
            </a:r>
            <a:endParaRPr lang="en-US" sz="1700" dirty="0"/>
          </a:p>
        </p:txBody>
      </p:sp>
      <p:sp>
        <p:nvSpPr>
          <p:cNvPr id="15" name="ANS_102"/>
          <p:cNvSpPr/>
          <p:nvPr/>
        </p:nvSpPr>
        <p:spPr>
          <a:xfrm>
            <a:off x="7616952" y="4278020"/>
            <a:ext cx="91440" cy="91440"/>
          </a:xfrm>
          <a:prstGeom prst="ellipse">
            <a:avLst/>
          </a:prstGeom>
          <a:solidFill>
            <a:srgbClr val="F2B134"/>
          </a:solidFill>
          <a:ln/>
        </p:spPr>
      </p:sp>
      <p:sp>
        <p:nvSpPr>
          <p:cNvPr id="16" name="ANS_103"/>
          <p:cNvSpPr txBox="1"/>
          <p:nvPr/>
        </p:nvSpPr>
        <p:spPr>
          <a:xfrm>
            <a:off x="7818120" y="4181246"/>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右子树 C（右孩子 F）→ 后序 F C，最后根 A。</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Q10</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二叉树（上）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度数定理</a:t>
            </a:r>
            <a:endParaRPr lang="en-US" sz="2800" dirty="0"/>
          </a:p>
        </p:txBody>
      </p:sp>
      <p:sp>
        <p:nvSpPr>
          <p:cNvPr id="6" name="Text 4"/>
          <p:cNvSpPr txBox="1"/>
          <p:nvPr/>
        </p:nvSpPr>
        <p:spPr>
          <a:xfrm>
            <a:off x="548640" y="1645920"/>
            <a:ext cx="6309360" cy="106070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在一棵非空二叉树中，若度为 0 的结点个数为 n，度为 2 的结点个数为 m，则有 n = ____（不含空格）。</a:t>
            </a:r>
            <a:endParaRPr lang="en-US" sz="2000" dirty="0"/>
          </a:p>
        </p:txBody>
      </p:sp>
      <p:sp>
        <p:nvSpPr>
          <p:cNvPr id="7" name="ANS_104"/>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8" name="ANS_105"/>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9" name="ANS_106"/>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m+1</a:t>
            </a:r>
            <a:endParaRPr lang="en-US" sz="4400" dirty="0"/>
          </a:p>
        </p:txBody>
      </p:sp>
      <p:sp>
        <p:nvSpPr>
          <p:cNvPr id="10" name="ANS_107"/>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1" name="ANS_108"/>
          <p:cNvSpPr/>
          <p:nvPr/>
        </p:nvSpPr>
        <p:spPr>
          <a:xfrm>
            <a:off x="7616952" y="2748534"/>
            <a:ext cx="91440" cy="91440"/>
          </a:xfrm>
          <a:prstGeom prst="ellipse">
            <a:avLst/>
          </a:prstGeom>
          <a:solidFill>
            <a:srgbClr val="F2B134"/>
          </a:solidFill>
          <a:ln/>
        </p:spPr>
      </p:sp>
      <p:sp>
        <p:nvSpPr>
          <p:cNvPr id="12" name="ANS_109"/>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结点数 N = n</a:t>
            </a:r>
            <a:r>
              <a:rPr lang="en-US" sz="1700" baseline="-40000" dirty="0">
                <a:solidFill>
                  <a:srgbClr val="2B2B2B"/>
                </a:solidFill>
                <a:latin typeface="Microsoft YaHei" pitchFamily="34" charset="0"/>
                <a:ea typeface="Microsoft YaHei" pitchFamily="34" charset="-122"/>
                <a:cs typeface="Microsoft YaHei" pitchFamily="34" charset="-120"/>
              </a:rPr>
              <a:t>0</a:t>
            </a:r>
            <a:r>
              <a:rPr lang="en-US" sz="1700" dirty="0">
                <a:solidFill>
                  <a:srgbClr val="2B2B2B"/>
                </a:solidFill>
                <a:latin typeface="Microsoft YaHei" pitchFamily="34" charset="0"/>
                <a:ea typeface="Microsoft YaHei" pitchFamily="34" charset="-122"/>
                <a:cs typeface="Microsoft YaHei" pitchFamily="34" charset="-120"/>
              </a:rPr>
              <a:t> + n</a:t>
            </a:r>
            <a:r>
              <a:rPr lang="en-US" sz="1700" baseline="-40000" dirty="0">
                <a:solidFill>
                  <a:srgbClr val="2B2B2B"/>
                </a:solidFill>
                <a:latin typeface="Microsoft YaHei" pitchFamily="34" charset="0"/>
                <a:ea typeface="Microsoft YaHei" pitchFamily="34" charset="-122"/>
                <a:cs typeface="Microsoft YaHei" pitchFamily="34" charset="-120"/>
              </a:rPr>
              <a:t>1</a:t>
            </a:r>
            <a:r>
              <a:rPr lang="en-US" sz="1700" dirty="0">
                <a:solidFill>
                  <a:srgbClr val="2B2B2B"/>
                </a:solidFill>
                <a:latin typeface="Microsoft YaHei" pitchFamily="34" charset="0"/>
                <a:ea typeface="Microsoft YaHei" pitchFamily="34" charset="-122"/>
                <a:cs typeface="Microsoft YaHei" pitchFamily="34" charset="-120"/>
              </a:rPr>
              <a:t> + n</a:t>
            </a:r>
            <a:r>
              <a:rPr lang="en-US" sz="1700" baseline="-40000" dirty="0">
                <a:solidFill>
                  <a:srgbClr val="2B2B2B"/>
                </a:solidFill>
                <a:latin typeface="Microsoft YaHei" pitchFamily="34" charset="0"/>
                <a:ea typeface="Microsoft YaHei" pitchFamily="34" charset="-122"/>
                <a:cs typeface="Microsoft YaHei" pitchFamily="34" charset="-120"/>
              </a:rPr>
              <a:t>2</a:t>
            </a:r>
            <a:r>
              <a:rPr lang="en-US" sz="1700" dirty="0">
                <a:solidFill>
                  <a:srgbClr val="2B2B2B"/>
                </a:solidFill>
                <a:latin typeface="Microsoft YaHei" pitchFamily="34" charset="0"/>
                <a:ea typeface="Microsoft YaHei" pitchFamily="34" charset="-122"/>
                <a:cs typeface="Microsoft YaHei" pitchFamily="34" charset="-120"/>
              </a:rPr>
              <a:t>，边数 = N − 1。</a:t>
            </a:r>
            <a:endParaRPr lang="en-US" sz="1700" dirty="0"/>
          </a:p>
        </p:txBody>
      </p:sp>
      <p:sp>
        <p:nvSpPr>
          <p:cNvPr id="13" name="ANS_110"/>
          <p:cNvSpPr/>
          <p:nvPr/>
        </p:nvSpPr>
        <p:spPr>
          <a:xfrm>
            <a:off x="7616952" y="3513277"/>
            <a:ext cx="91440" cy="91440"/>
          </a:xfrm>
          <a:prstGeom prst="ellipse">
            <a:avLst/>
          </a:prstGeom>
          <a:solidFill>
            <a:srgbClr val="F2B134"/>
          </a:solidFill>
          <a:ln/>
        </p:spPr>
      </p:sp>
      <p:sp>
        <p:nvSpPr>
          <p:cNvPr id="14" name="ANS_111"/>
          <p:cNvSpPr txBox="1"/>
          <p:nvPr/>
        </p:nvSpPr>
        <p:spPr>
          <a:xfrm>
            <a:off x="7818120" y="3416503"/>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边数也等于 n</a:t>
            </a:r>
            <a:r>
              <a:rPr lang="en-US" sz="1700" baseline="-40000" dirty="0">
                <a:solidFill>
                  <a:srgbClr val="2B2B2B"/>
                </a:solidFill>
                <a:latin typeface="Microsoft YaHei" pitchFamily="34" charset="0"/>
                <a:ea typeface="Microsoft YaHei" pitchFamily="34" charset="-122"/>
                <a:cs typeface="Microsoft YaHei" pitchFamily="34" charset="-120"/>
              </a:rPr>
              <a:t>1</a:t>
            </a:r>
            <a:r>
              <a:rPr lang="en-US" sz="1700" dirty="0">
                <a:solidFill>
                  <a:srgbClr val="2B2B2B"/>
                </a:solidFill>
                <a:latin typeface="Microsoft YaHei" pitchFamily="34" charset="0"/>
                <a:ea typeface="Microsoft YaHei" pitchFamily="34" charset="-122"/>
                <a:cs typeface="Microsoft YaHei" pitchFamily="34" charset="-120"/>
              </a:rPr>
              <a:t> + 2n</a:t>
            </a:r>
            <a:r>
              <a:rPr lang="en-US" sz="1700" baseline="-40000" dirty="0">
                <a:solidFill>
                  <a:srgbClr val="2B2B2B"/>
                </a:solidFill>
                <a:latin typeface="Microsoft YaHei" pitchFamily="34" charset="0"/>
                <a:ea typeface="Microsoft YaHei" pitchFamily="34" charset="-122"/>
                <a:cs typeface="Microsoft YaHei" pitchFamily="34" charset="-120"/>
              </a:rPr>
              <a:t>2</a:t>
            </a:r>
            <a:r>
              <a:rPr lang="en-US" sz="1700" dirty="0">
                <a:solidFill>
                  <a:srgbClr val="2B2B2B"/>
                </a:solidFill>
                <a:latin typeface="Microsoft YaHei" pitchFamily="34" charset="0"/>
                <a:ea typeface="Microsoft YaHei" pitchFamily="34" charset="-122"/>
                <a:cs typeface="Microsoft YaHei" pitchFamily="34" charset="-120"/>
              </a:rPr>
              <a:t>。</a:t>
            </a:r>
            <a:endParaRPr lang="en-US" sz="1700" dirty="0"/>
          </a:p>
        </p:txBody>
      </p:sp>
      <p:sp>
        <p:nvSpPr>
          <p:cNvPr id="15" name="ANS_112"/>
          <p:cNvSpPr/>
          <p:nvPr/>
        </p:nvSpPr>
        <p:spPr>
          <a:xfrm>
            <a:off x="7616952" y="3993032"/>
            <a:ext cx="91440" cy="91440"/>
          </a:xfrm>
          <a:prstGeom prst="ellipse">
            <a:avLst/>
          </a:prstGeom>
          <a:solidFill>
            <a:srgbClr val="F2B134"/>
          </a:solidFill>
          <a:ln/>
        </p:spPr>
      </p:sp>
      <p:sp>
        <p:nvSpPr>
          <p:cNvPr id="16" name="ANS_113"/>
          <p:cNvSpPr txBox="1"/>
          <p:nvPr/>
        </p:nvSpPr>
        <p:spPr>
          <a:xfrm>
            <a:off x="7818120" y="3896258"/>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两式相等得 n</a:t>
            </a:r>
            <a:r>
              <a:rPr lang="en-US" sz="1700" baseline="-40000" dirty="0">
                <a:solidFill>
                  <a:srgbClr val="2B2B2B"/>
                </a:solidFill>
                <a:latin typeface="Microsoft YaHei" pitchFamily="34" charset="0"/>
                <a:ea typeface="Microsoft YaHei" pitchFamily="34" charset="-122"/>
                <a:cs typeface="Microsoft YaHei" pitchFamily="34" charset="-120"/>
              </a:rPr>
              <a:t>0</a:t>
            </a:r>
            <a:r>
              <a:rPr lang="en-US" sz="1700" dirty="0">
                <a:solidFill>
                  <a:srgbClr val="2B2B2B"/>
                </a:solidFill>
                <a:latin typeface="Microsoft YaHei" pitchFamily="34" charset="0"/>
                <a:ea typeface="Microsoft YaHei" pitchFamily="34" charset="-122"/>
                <a:cs typeface="Microsoft YaHei" pitchFamily="34" charset="-120"/>
              </a:rPr>
              <a:t> = n</a:t>
            </a:r>
            <a:r>
              <a:rPr lang="en-US" sz="1700" baseline="-40000" dirty="0">
                <a:solidFill>
                  <a:srgbClr val="2B2B2B"/>
                </a:solidFill>
                <a:latin typeface="Microsoft YaHei" pitchFamily="34" charset="0"/>
                <a:ea typeface="Microsoft YaHei" pitchFamily="34" charset="-122"/>
                <a:cs typeface="Microsoft YaHei" pitchFamily="34" charset="-120"/>
              </a:rPr>
              <a:t>2</a:t>
            </a:r>
            <a:r>
              <a:rPr lang="en-US" sz="1700" dirty="0">
                <a:solidFill>
                  <a:srgbClr val="2B2B2B"/>
                </a:solidFill>
                <a:latin typeface="Microsoft YaHei" pitchFamily="34" charset="0"/>
                <a:ea typeface="Microsoft YaHei" pitchFamily="34" charset="-122"/>
                <a:cs typeface="Microsoft YaHei" pitchFamily="34" charset="-120"/>
              </a:rPr>
              <a:t> + 1，即 n = m + 1。</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3D34"/>
        </a:solidFill>
      </p:bgPr>
    </p:bg>
    <p:spTree>
      <p:nvGrpSpPr>
        <p:cNvPr id="1" name=""/>
        <p:cNvGrpSpPr/>
        <p:nvPr/>
      </p:nvGrpSpPr>
      <p:grpSpPr>
        <a:xfrm>
          <a:off x="0" y="0"/>
          <a:ext cx="0" cy="0"/>
          <a:chOff x="0" y="0"/>
          <a:chExt cx="0" cy="0"/>
        </a:xfrm>
      </p:grpSpPr>
      <p:sp>
        <p:nvSpPr>
          <p:cNvPr id="2" name="Shape 0"/>
          <p:cNvSpPr/>
          <p:nvPr/>
        </p:nvSpPr>
        <p:spPr>
          <a:xfrm>
            <a:off x="8412480" y="-1097280"/>
            <a:ext cx="5029200" cy="5029200"/>
          </a:xfrm>
          <a:prstGeom prst="ellipse">
            <a:avLst/>
          </a:prstGeom>
          <a:solidFill>
            <a:srgbClr val="3E7C68">
              <a:alpha val="45000"/>
            </a:srgbClr>
          </a:solidFill>
          <a:ln/>
        </p:spPr>
      </p:sp>
      <p:sp>
        <p:nvSpPr>
          <p:cNvPr id="3" name="Shape 1"/>
          <p:cNvSpPr/>
          <p:nvPr/>
        </p:nvSpPr>
        <p:spPr>
          <a:xfrm>
            <a:off x="9692640" y="3931920"/>
            <a:ext cx="2926080" cy="2926080"/>
          </a:xfrm>
          <a:prstGeom prst="ellipse">
            <a:avLst/>
          </a:prstGeom>
          <a:solidFill>
            <a:srgbClr val="F2B134">
              <a:alpha val="30000"/>
            </a:srgbClr>
          </a:solidFill>
          <a:ln/>
        </p:spPr>
      </p:sp>
      <p:sp>
        <p:nvSpPr>
          <p:cNvPr id="4" name="Text 2"/>
          <p:cNvSpPr txBox="1"/>
          <p:nvPr/>
        </p:nvSpPr>
        <p:spPr>
          <a:xfrm>
            <a:off x="731520" y="1737360"/>
            <a:ext cx="8229600" cy="548640"/>
          </a:xfrm>
          <a:prstGeom prst="rect">
            <a:avLst/>
          </a:prstGeom>
          <a:noFill/>
          <a:ln/>
        </p:spPr>
        <p:txBody>
          <a:bodyPr wrap="square" lIns="0" tIns="0" rIns="0" bIns="0" rtlCol="0" anchor="ctr"/>
          <a:lstStyle/>
          <a:p>
            <a:pPr algn="l" indent="0" marL="0">
              <a:buNone/>
            </a:pPr>
            <a:r>
              <a:rPr lang="en-US" sz="2000" b="1" dirty="0">
                <a:solidFill>
                  <a:srgbClr val="F2B134"/>
                </a:solidFill>
                <a:latin typeface="Microsoft YaHei" pitchFamily="34" charset="0"/>
                <a:ea typeface="Microsoft YaHei" pitchFamily="34" charset="-122"/>
                <a:cs typeface="Microsoft YaHei" pitchFamily="34" charset="-120"/>
              </a:rPr>
              <a:t>Chapter 5 · 下</a:t>
            </a:r>
            <a:endParaRPr lang="en-US" sz="2000" dirty="0"/>
          </a:p>
        </p:txBody>
      </p:sp>
      <p:sp>
        <p:nvSpPr>
          <p:cNvPr id="5" name="Text 3"/>
          <p:cNvSpPr txBox="1"/>
          <p:nvPr/>
        </p:nvSpPr>
        <p:spPr>
          <a:xfrm>
            <a:off x="731520" y="2377440"/>
            <a:ext cx="9144000" cy="1463040"/>
          </a:xfrm>
          <a:prstGeom prst="rect">
            <a:avLst/>
          </a:prstGeom>
          <a:noFill/>
          <a:ln/>
        </p:spPr>
        <p:txBody>
          <a:bodyPr wrap="square" lIns="0" tIns="0" rIns="0" bIns="0" rtlCol="0" anchor="t"/>
          <a:lstStyle/>
          <a:p>
            <a:pPr algn="l" indent="0" marL="0">
              <a:buNone/>
            </a:pPr>
            <a:r>
              <a:rPr lang="en-US" sz="4800" b="1" dirty="0">
                <a:solidFill>
                  <a:srgbClr val="FFFFFF"/>
                </a:solidFill>
                <a:latin typeface="Microsoft YaHei" pitchFamily="34" charset="0"/>
                <a:ea typeface="Microsoft YaHei" pitchFamily="34" charset="-122"/>
                <a:cs typeface="Microsoft YaHei" pitchFamily="34" charset="-120"/>
              </a:rPr>
              <a:t>第五章 二叉树（下）</a:t>
            </a:r>
            <a:endParaRPr lang="en-US" sz="4800" dirty="0"/>
          </a:p>
        </p:txBody>
      </p:sp>
      <p:sp>
        <p:nvSpPr>
          <p:cNvPr id="6" name="Text 4"/>
          <p:cNvSpPr txBox="1"/>
          <p:nvPr/>
        </p:nvSpPr>
        <p:spPr>
          <a:xfrm>
            <a:off x="731520" y="4114800"/>
            <a:ext cx="8229600" cy="1097280"/>
          </a:xfrm>
          <a:prstGeom prst="rect">
            <a:avLst/>
          </a:prstGeom>
          <a:noFill/>
          <a:ln/>
        </p:spPr>
        <p:txBody>
          <a:bodyPr wrap="square" lIns="0" tIns="0" rIns="0" bIns="0" rtlCol="0" anchor="t"/>
          <a:lstStyle/>
          <a:p>
            <a:pPr algn="l" indent="0" marL="0">
              <a:buNone/>
            </a:pPr>
            <a:r>
              <a:rPr lang="en-US" sz="1800" dirty="0">
                <a:solidFill>
                  <a:srgbClr val="CFE0D8"/>
                </a:solidFill>
                <a:latin typeface="Microsoft YaHei" pitchFamily="34" charset="0"/>
                <a:ea typeface="Microsoft YaHei" pitchFamily="34" charset="-122"/>
                <a:cs typeface="Microsoft YaHei" pitchFamily="34" charset="-120"/>
              </a:rPr>
              <a:t>共 16 题 · 准备好了吗？</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多选题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二叉搜索树</a:t>
            </a:r>
            <a:endParaRPr lang="en-US" sz="2800" dirty="0"/>
          </a:p>
        </p:txBody>
      </p:sp>
      <p:sp>
        <p:nvSpPr>
          <p:cNvPr id="6" name="Text 4"/>
          <p:cNvSpPr txBox="1"/>
          <p:nvPr/>
        </p:nvSpPr>
        <p:spPr>
          <a:xfrm>
            <a:off x="548640" y="1645920"/>
            <a:ext cx="6309360" cy="363322"/>
          </a:xfrm>
          <a:prstGeom prst="rect">
            <a:avLst/>
          </a:prstGeom>
          <a:noFill/>
          <a:ln/>
        </p:spPr>
        <p:txBody>
          <a:bodyPr wrap="square" lIns="0" tIns="0" rIns="0" bIns="0" rtlCol="0" anchor="t"/>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下列关于二叉搜索树的说法正确的有：</a:t>
            </a:r>
            <a:endParaRPr lang="en-US" sz="1840" dirty="0"/>
          </a:p>
        </p:txBody>
      </p:sp>
      <p:sp>
        <p:nvSpPr>
          <p:cNvPr id="7" name="Shape 5"/>
          <p:cNvSpPr/>
          <p:nvPr/>
        </p:nvSpPr>
        <p:spPr>
          <a:xfrm>
            <a:off x="548640" y="2299655"/>
            <a:ext cx="384048" cy="384048"/>
          </a:xfrm>
          <a:prstGeom prst="ellipse">
            <a:avLst/>
          </a:prstGeom>
          <a:solidFill>
            <a:srgbClr val="3E7C68"/>
          </a:solidFill>
          <a:ln/>
        </p:spPr>
      </p:sp>
      <p:sp>
        <p:nvSpPr>
          <p:cNvPr id="8" name="Text 6"/>
          <p:cNvSpPr txBox="1"/>
          <p:nvPr/>
        </p:nvSpPr>
        <p:spPr>
          <a:xfrm>
            <a:off x="548640" y="22996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A</a:t>
            </a:r>
            <a:endParaRPr lang="en-US" sz="1400" dirty="0"/>
          </a:p>
        </p:txBody>
      </p:sp>
      <p:sp>
        <p:nvSpPr>
          <p:cNvPr id="9" name="Text 7"/>
          <p:cNvSpPr txBox="1"/>
          <p:nvPr/>
        </p:nvSpPr>
        <p:spPr>
          <a:xfrm>
            <a:off x="1097280" y="2244791"/>
            <a:ext cx="5760720" cy="493776"/>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按中序遍历打印各结点，得到由小到大的排列。</a:t>
            </a:r>
            <a:endParaRPr lang="en-US" sz="1840" dirty="0"/>
          </a:p>
        </p:txBody>
      </p:sp>
      <p:sp>
        <p:nvSpPr>
          <p:cNvPr id="10" name="Shape 8"/>
          <p:cNvSpPr/>
          <p:nvPr/>
        </p:nvSpPr>
        <p:spPr>
          <a:xfrm>
            <a:off x="548640" y="3018495"/>
            <a:ext cx="384048" cy="384048"/>
          </a:xfrm>
          <a:prstGeom prst="ellipse">
            <a:avLst/>
          </a:prstGeom>
          <a:solidFill>
            <a:srgbClr val="3E7C68"/>
          </a:solidFill>
          <a:ln/>
        </p:spPr>
      </p:sp>
      <p:sp>
        <p:nvSpPr>
          <p:cNvPr id="11" name="Text 9"/>
          <p:cNvSpPr txBox="1"/>
          <p:nvPr/>
        </p:nvSpPr>
        <p:spPr>
          <a:xfrm>
            <a:off x="548640" y="301849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B</a:t>
            </a:r>
            <a:endParaRPr lang="en-US" sz="1400" dirty="0"/>
          </a:p>
        </p:txBody>
      </p:sp>
      <p:sp>
        <p:nvSpPr>
          <p:cNvPr id="12" name="Text 10"/>
          <p:cNvSpPr txBox="1"/>
          <p:nvPr/>
        </p:nvSpPr>
        <p:spPr>
          <a:xfrm>
            <a:off x="1097280" y="2856342"/>
            <a:ext cx="5760720" cy="708355"/>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若结点 x 的左子树有右子树，则 x 的左子树中存在某个结点，其值介于 x 与 x 左儿子的值之间。</a:t>
            </a:r>
            <a:endParaRPr lang="en-US" sz="1840" dirty="0"/>
          </a:p>
        </p:txBody>
      </p:sp>
      <p:sp>
        <p:nvSpPr>
          <p:cNvPr id="13" name="Shape 11"/>
          <p:cNvSpPr/>
          <p:nvPr/>
        </p:nvSpPr>
        <p:spPr>
          <a:xfrm>
            <a:off x="548640" y="3844625"/>
            <a:ext cx="384048" cy="384048"/>
          </a:xfrm>
          <a:prstGeom prst="ellipse">
            <a:avLst/>
          </a:prstGeom>
          <a:solidFill>
            <a:srgbClr val="3E7C68"/>
          </a:solidFill>
          <a:ln/>
        </p:spPr>
      </p:sp>
      <p:sp>
        <p:nvSpPr>
          <p:cNvPr id="14" name="Text 12"/>
          <p:cNvSpPr txBox="1"/>
          <p:nvPr/>
        </p:nvSpPr>
        <p:spPr>
          <a:xfrm>
            <a:off x="548640" y="384462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C</a:t>
            </a:r>
            <a:endParaRPr lang="en-US" sz="1400" dirty="0"/>
          </a:p>
        </p:txBody>
      </p:sp>
      <p:sp>
        <p:nvSpPr>
          <p:cNvPr id="15" name="Text 13"/>
          <p:cNvSpPr txBox="1"/>
          <p:nvPr/>
        </p:nvSpPr>
        <p:spPr>
          <a:xfrm>
            <a:off x="1097280" y="3682472"/>
            <a:ext cx="5760720" cy="708355"/>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当根结点没有左儿子时，根结点一定是值最小的结点。</a:t>
            </a:r>
            <a:endParaRPr lang="en-US" sz="1840" dirty="0"/>
          </a:p>
        </p:txBody>
      </p:sp>
      <p:sp>
        <p:nvSpPr>
          <p:cNvPr id="16" name="Shape 14"/>
          <p:cNvSpPr/>
          <p:nvPr/>
        </p:nvSpPr>
        <p:spPr>
          <a:xfrm>
            <a:off x="548640" y="4563466"/>
            <a:ext cx="384048" cy="384048"/>
          </a:xfrm>
          <a:prstGeom prst="ellipse">
            <a:avLst/>
          </a:prstGeom>
          <a:solidFill>
            <a:srgbClr val="3E7C68"/>
          </a:solidFill>
          <a:ln/>
        </p:spPr>
      </p:sp>
      <p:sp>
        <p:nvSpPr>
          <p:cNvPr id="17" name="Text 15"/>
          <p:cNvSpPr txBox="1"/>
          <p:nvPr/>
        </p:nvSpPr>
        <p:spPr>
          <a:xfrm>
            <a:off x="548640" y="456346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D</a:t>
            </a:r>
            <a:endParaRPr lang="en-US" sz="1400" dirty="0"/>
          </a:p>
        </p:txBody>
      </p:sp>
      <p:sp>
        <p:nvSpPr>
          <p:cNvPr id="18" name="Text 16"/>
          <p:cNvSpPr txBox="1"/>
          <p:nvPr/>
        </p:nvSpPr>
        <p:spPr>
          <a:xfrm>
            <a:off x="1097280" y="4508602"/>
            <a:ext cx="5760720" cy="493776"/>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二叉搜索树一定是满二叉树。</a:t>
            </a:r>
            <a:endParaRPr lang="en-US" sz="1840" dirty="0"/>
          </a:p>
        </p:txBody>
      </p:sp>
      <p:sp>
        <p:nvSpPr>
          <p:cNvPr id="19" name="Shape 17"/>
          <p:cNvSpPr/>
          <p:nvPr/>
        </p:nvSpPr>
        <p:spPr>
          <a:xfrm>
            <a:off x="548640" y="5175016"/>
            <a:ext cx="384048" cy="384048"/>
          </a:xfrm>
          <a:prstGeom prst="ellipse">
            <a:avLst/>
          </a:prstGeom>
          <a:solidFill>
            <a:srgbClr val="3E7C68"/>
          </a:solidFill>
          <a:ln/>
        </p:spPr>
      </p:sp>
      <p:sp>
        <p:nvSpPr>
          <p:cNvPr id="20" name="Text 18"/>
          <p:cNvSpPr txBox="1"/>
          <p:nvPr/>
        </p:nvSpPr>
        <p:spPr>
          <a:xfrm>
            <a:off x="548640" y="51750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E</a:t>
            </a:r>
            <a:endParaRPr lang="en-US" sz="1400" dirty="0"/>
          </a:p>
        </p:txBody>
      </p:sp>
      <p:sp>
        <p:nvSpPr>
          <p:cNvPr id="21" name="Text 19"/>
          <p:cNvSpPr txBox="1"/>
          <p:nvPr/>
        </p:nvSpPr>
        <p:spPr>
          <a:xfrm>
            <a:off x="1097280" y="5120152"/>
            <a:ext cx="5760720" cy="493776"/>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二叉搜索树一定是完全二叉树。</a:t>
            </a:r>
            <a:endParaRPr lang="en-US" sz="1840" dirty="0"/>
          </a:p>
        </p:txBody>
      </p:sp>
      <p:sp>
        <p:nvSpPr>
          <p:cNvPr id="22" name="Shape 20"/>
          <p:cNvSpPr/>
          <p:nvPr/>
        </p:nvSpPr>
        <p:spPr>
          <a:xfrm>
            <a:off x="548640" y="5893857"/>
            <a:ext cx="384048" cy="384048"/>
          </a:xfrm>
          <a:prstGeom prst="ellipse">
            <a:avLst/>
          </a:prstGeom>
          <a:solidFill>
            <a:srgbClr val="3E7C68"/>
          </a:solidFill>
          <a:ln/>
        </p:spPr>
      </p:sp>
      <p:sp>
        <p:nvSpPr>
          <p:cNvPr id="23" name="Text 21"/>
          <p:cNvSpPr txBox="1"/>
          <p:nvPr/>
        </p:nvSpPr>
        <p:spPr>
          <a:xfrm>
            <a:off x="548640" y="58938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F</a:t>
            </a:r>
            <a:endParaRPr lang="en-US" sz="1400" dirty="0"/>
          </a:p>
        </p:txBody>
      </p:sp>
      <p:sp>
        <p:nvSpPr>
          <p:cNvPr id="24" name="Text 22"/>
          <p:cNvSpPr txBox="1"/>
          <p:nvPr/>
        </p:nvSpPr>
        <p:spPr>
          <a:xfrm>
            <a:off x="1097280" y="5731703"/>
            <a:ext cx="5760720" cy="708355"/>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从根一直沿右儿子向下找，不一定能找到值最大的结点。</a:t>
            </a:r>
            <a:endParaRPr lang="en-US" sz="1840" dirty="0"/>
          </a:p>
        </p:txBody>
      </p:sp>
      <p:sp>
        <p:nvSpPr>
          <p:cNvPr id="25" name="ANS_114"/>
          <p:cNvSpPr/>
          <p:nvPr/>
        </p:nvSpPr>
        <p:spPr>
          <a:xfrm>
            <a:off x="457200" y="2208215"/>
            <a:ext cx="6492240" cy="566928"/>
          </a:xfrm>
          <a:prstGeom prst="roundRect">
            <a:avLst>
              <a:gd name="adj" fmla="val 16129"/>
            </a:avLst>
          </a:prstGeom>
          <a:noFill/>
          <a:ln w="38100">
            <a:solidFill>
              <a:srgbClr val="2E9E6B"/>
            </a:solidFill>
            <a:prstDash val="solid"/>
          </a:ln>
        </p:spPr>
      </p:sp>
      <p:sp>
        <p:nvSpPr>
          <p:cNvPr id="26" name="ANS_115"/>
          <p:cNvSpPr/>
          <p:nvPr/>
        </p:nvSpPr>
        <p:spPr>
          <a:xfrm>
            <a:off x="457200" y="2819766"/>
            <a:ext cx="6492240" cy="781507"/>
          </a:xfrm>
          <a:prstGeom prst="roundRect">
            <a:avLst>
              <a:gd name="adj" fmla="val 11700"/>
            </a:avLst>
          </a:prstGeom>
          <a:noFill/>
          <a:ln w="38100">
            <a:solidFill>
              <a:srgbClr val="2E9E6B"/>
            </a:solidFill>
            <a:prstDash val="solid"/>
          </a:ln>
        </p:spPr>
      </p:sp>
      <p:sp>
        <p:nvSpPr>
          <p:cNvPr id="27" name="ANS_116"/>
          <p:cNvSpPr/>
          <p:nvPr/>
        </p:nvSpPr>
        <p:spPr>
          <a:xfrm>
            <a:off x="457200" y="3645896"/>
            <a:ext cx="6492240" cy="781507"/>
          </a:xfrm>
          <a:prstGeom prst="roundRect">
            <a:avLst>
              <a:gd name="adj" fmla="val 11700"/>
            </a:avLst>
          </a:prstGeom>
          <a:noFill/>
          <a:ln w="38100">
            <a:solidFill>
              <a:srgbClr val="2E9E6B"/>
            </a:solidFill>
            <a:prstDash val="solid"/>
          </a:ln>
        </p:spPr>
      </p:sp>
      <p:sp>
        <p:nvSpPr>
          <p:cNvPr id="28" name="ANS_117"/>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29" name="ANS_118"/>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30" name="ANS_119"/>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A、B、C</a:t>
            </a:r>
            <a:endParaRPr lang="en-US" sz="4400" dirty="0"/>
          </a:p>
        </p:txBody>
      </p:sp>
      <p:sp>
        <p:nvSpPr>
          <p:cNvPr id="31" name="ANS_120"/>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32" name="ANS_121"/>
          <p:cNvSpPr/>
          <p:nvPr/>
        </p:nvSpPr>
        <p:spPr>
          <a:xfrm>
            <a:off x="7616952" y="2748534"/>
            <a:ext cx="91440" cy="91440"/>
          </a:xfrm>
          <a:prstGeom prst="ellipse">
            <a:avLst/>
          </a:prstGeom>
          <a:solidFill>
            <a:srgbClr val="F2B134"/>
          </a:solidFill>
          <a:ln/>
        </p:spPr>
      </p:sp>
      <p:sp>
        <p:nvSpPr>
          <p:cNvPr id="33" name="ANS_122"/>
          <p:cNvSpPr txBox="1"/>
          <p:nvPr/>
        </p:nvSpPr>
        <p:spPr>
          <a:xfrm>
            <a:off x="7818120" y="2651760"/>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A ✓ BST 的中序序列递增。</a:t>
            </a:r>
            <a:endParaRPr lang="en-US" sz="1700" dirty="0"/>
          </a:p>
        </p:txBody>
      </p:sp>
      <p:sp>
        <p:nvSpPr>
          <p:cNvPr id="34" name="ANS_123"/>
          <p:cNvSpPr/>
          <p:nvPr/>
        </p:nvSpPr>
        <p:spPr>
          <a:xfrm>
            <a:off x="7616952" y="3228289"/>
            <a:ext cx="91440" cy="91440"/>
          </a:xfrm>
          <a:prstGeom prst="ellipse">
            <a:avLst/>
          </a:prstGeom>
          <a:solidFill>
            <a:srgbClr val="F2B134"/>
          </a:solidFill>
          <a:ln/>
        </p:spPr>
      </p:sp>
      <p:sp>
        <p:nvSpPr>
          <p:cNvPr id="35" name="ANS_124"/>
          <p:cNvSpPr txBox="1"/>
          <p:nvPr/>
        </p:nvSpPr>
        <p:spPr>
          <a:xfrm>
            <a:off x="7818120" y="3131515"/>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B ✓ x 左儿子的右子树里的值，都大于左儿子、小于 x。</a:t>
            </a:r>
            <a:endParaRPr lang="en-US" sz="1700" dirty="0"/>
          </a:p>
        </p:txBody>
      </p:sp>
      <p:sp>
        <p:nvSpPr>
          <p:cNvPr id="36" name="ANS_125"/>
          <p:cNvSpPr/>
          <p:nvPr/>
        </p:nvSpPr>
        <p:spPr>
          <a:xfrm>
            <a:off x="7616952" y="3993032"/>
            <a:ext cx="91440" cy="91440"/>
          </a:xfrm>
          <a:prstGeom prst="ellipse">
            <a:avLst/>
          </a:prstGeom>
          <a:solidFill>
            <a:srgbClr val="F2B134"/>
          </a:solidFill>
          <a:ln/>
        </p:spPr>
      </p:sp>
      <p:sp>
        <p:nvSpPr>
          <p:cNvPr id="37" name="ANS_126"/>
          <p:cNvSpPr txBox="1"/>
          <p:nvPr/>
        </p:nvSpPr>
        <p:spPr>
          <a:xfrm>
            <a:off x="7818120" y="3896258"/>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C ✓ 比根小的值都在左子树，左子树空则根最小。</a:t>
            </a:r>
            <a:endParaRPr lang="en-US" sz="1700" dirty="0"/>
          </a:p>
        </p:txBody>
      </p:sp>
      <p:sp>
        <p:nvSpPr>
          <p:cNvPr id="38" name="ANS_127"/>
          <p:cNvSpPr/>
          <p:nvPr/>
        </p:nvSpPr>
        <p:spPr>
          <a:xfrm>
            <a:off x="7616952" y="4757776"/>
            <a:ext cx="91440" cy="91440"/>
          </a:xfrm>
          <a:prstGeom prst="ellipse">
            <a:avLst/>
          </a:prstGeom>
          <a:solidFill>
            <a:srgbClr val="F2B134"/>
          </a:solidFill>
          <a:ln/>
        </p:spPr>
      </p:sp>
      <p:sp>
        <p:nvSpPr>
          <p:cNvPr id="39" name="ANS_128"/>
          <p:cNvSpPr txBox="1"/>
          <p:nvPr/>
        </p:nvSpPr>
        <p:spPr>
          <a:xfrm>
            <a:off x="7818120" y="4661002"/>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D、E ✗ BST 形状任意；F ✗ 最右结点一定最大。</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400"/>
                                        <p:tgtEl>
                                          <p:spTgt spid="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400"/>
                                        <p:tgtEl>
                                          <p:spTgt spid="2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400"/>
                                        <p:tgtEl>
                                          <p:spTgt spid="2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400"/>
                                        <p:tgtEl>
                                          <p:spTgt spid="3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400"/>
                                        <p:tgtEl>
                                          <p:spTgt spid="3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4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4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4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400"/>
                                        <p:tgtEl>
                                          <p:spTgt spid="3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4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Q2</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多选题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堆</a:t>
            </a:r>
            <a:endParaRPr lang="en-US" sz="2800" dirty="0"/>
          </a:p>
        </p:txBody>
      </p:sp>
      <p:sp>
        <p:nvSpPr>
          <p:cNvPr id="6" name="Text 4"/>
          <p:cNvSpPr txBox="1"/>
          <p:nvPr/>
        </p:nvSpPr>
        <p:spPr>
          <a:xfrm>
            <a:off x="548640" y="1645920"/>
            <a:ext cx="6309360" cy="363322"/>
          </a:xfrm>
          <a:prstGeom prst="rect">
            <a:avLst/>
          </a:prstGeom>
          <a:noFill/>
          <a:ln/>
        </p:spPr>
        <p:txBody>
          <a:bodyPr wrap="square" lIns="0" tIns="0" rIns="0" bIns="0" rtlCol="0" anchor="t"/>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下列关于堆的说法正确的有：</a:t>
            </a:r>
            <a:endParaRPr lang="en-US" sz="1840" dirty="0"/>
          </a:p>
        </p:txBody>
      </p:sp>
      <p:sp>
        <p:nvSpPr>
          <p:cNvPr id="7" name="Shape 5"/>
          <p:cNvSpPr/>
          <p:nvPr/>
        </p:nvSpPr>
        <p:spPr>
          <a:xfrm>
            <a:off x="548640" y="2299655"/>
            <a:ext cx="384048" cy="384048"/>
          </a:xfrm>
          <a:prstGeom prst="ellipse">
            <a:avLst/>
          </a:prstGeom>
          <a:solidFill>
            <a:srgbClr val="3E7C68"/>
          </a:solidFill>
          <a:ln/>
        </p:spPr>
      </p:sp>
      <p:sp>
        <p:nvSpPr>
          <p:cNvPr id="8" name="Text 6"/>
          <p:cNvSpPr txBox="1"/>
          <p:nvPr/>
        </p:nvSpPr>
        <p:spPr>
          <a:xfrm>
            <a:off x="548640" y="22996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A</a:t>
            </a:r>
            <a:endParaRPr lang="en-US" sz="1400" dirty="0"/>
          </a:p>
        </p:txBody>
      </p:sp>
      <p:sp>
        <p:nvSpPr>
          <p:cNvPr id="9" name="Text 7"/>
          <p:cNvSpPr txBox="1"/>
          <p:nvPr/>
        </p:nvSpPr>
        <p:spPr>
          <a:xfrm>
            <a:off x="1097280" y="2244791"/>
            <a:ext cx="5760720" cy="493776"/>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堆一定是满二叉树。</a:t>
            </a:r>
            <a:endParaRPr lang="en-US" sz="1840" dirty="0"/>
          </a:p>
        </p:txBody>
      </p:sp>
      <p:sp>
        <p:nvSpPr>
          <p:cNvPr id="10" name="Shape 8"/>
          <p:cNvSpPr/>
          <p:nvPr/>
        </p:nvSpPr>
        <p:spPr>
          <a:xfrm>
            <a:off x="548640" y="3018495"/>
            <a:ext cx="384048" cy="384048"/>
          </a:xfrm>
          <a:prstGeom prst="ellipse">
            <a:avLst/>
          </a:prstGeom>
          <a:solidFill>
            <a:srgbClr val="3E7C68"/>
          </a:solidFill>
          <a:ln/>
        </p:spPr>
      </p:sp>
      <p:sp>
        <p:nvSpPr>
          <p:cNvPr id="11" name="Text 9"/>
          <p:cNvSpPr txBox="1"/>
          <p:nvPr/>
        </p:nvSpPr>
        <p:spPr>
          <a:xfrm>
            <a:off x="548640" y="301849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B</a:t>
            </a:r>
            <a:endParaRPr lang="en-US" sz="1400" dirty="0"/>
          </a:p>
        </p:txBody>
      </p:sp>
      <p:sp>
        <p:nvSpPr>
          <p:cNvPr id="12" name="Text 10"/>
          <p:cNvSpPr txBox="1"/>
          <p:nvPr/>
        </p:nvSpPr>
        <p:spPr>
          <a:xfrm>
            <a:off x="1097280" y="2856342"/>
            <a:ext cx="5760720" cy="708355"/>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最小堆中，最下面一层最靠右的结点一定是权值最大的结点。</a:t>
            </a:r>
            <a:endParaRPr lang="en-US" sz="1840" dirty="0"/>
          </a:p>
        </p:txBody>
      </p:sp>
      <p:sp>
        <p:nvSpPr>
          <p:cNvPr id="13" name="Shape 11"/>
          <p:cNvSpPr/>
          <p:nvPr/>
        </p:nvSpPr>
        <p:spPr>
          <a:xfrm>
            <a:off x="548640" y="3737336"/>
            <a:ext cx="384048" cy="384048"/>
          </a:xfrm>
          <a:prstGeom prst="ellipse">
            <a:avLst/>
          </a:prstGeom>
          <a:solidFill>
            <a:srgbClr val="3E7C68"/>
          </a:solidFill>
          <a:ln/>
        </p:spPr>
      </p:sp>
      <p:sp>
        <p:nvSpPr>
          <p:cNvPr id="14" name="Text 12"/>
          <p:cNvSpPr txBox="1"/>
          <p:nvPr/>
        </p:nvSpPr>
        <p:spPr>
          <a:xfrm>
            <a:off x="548640" y="37373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C</a:t>
            </a:r>
            <a:endParaRPr lang="en-US" sz="1400" dirty="0"/>
          </a:p>
        </p:txBody>
      </p:sp>
      <p:sp>
        <p:nvSpPr>
          <p:cNvPr id="15" name="Text 13"/>
          <p:cNvSpPr txBox="1"/>
          <p:nvPr/>
        </p:nvSpPr>
        <p:spPr>
          <a:xfrm>
            <a:off x="1097280" y="3682472"/>
            <a:ext cx="5760720" cy="493776"/>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堆是实现优先队列的唯一方法。</a:t>
            </a:r>
            <a:endParaRPr lang="en-US" sz="1840" dirty="0"/>
          </a:p>
        </p:txBody>
      </p:sp>
      <p:sp>
        <p:nvSpPr>
          <p:cNvPr id="16" name="Shape 14"/>
          <p:cNvSpPr/>
          <p:nvPr/>
        </p:nvSpPr>
        <p:spPr>
          <a:xfrm>
            <a:off x="548640" y="4348886"/>
            <a:ext cx="384048" cy="384048"/>
          </a:xfrm>
          <a:prstGeom prst="ellipse">
            <a:avLst/>
          </a:prstGeom>
          <a:solidFill>
            <a:srgbClr val="3E7C68"/>
          </a:solidFill>
          <a:ln/>
        </p:spPr>
      </p:sp>
      <p:sp>
        <p:nvSpPr>
          <p:cNvPr id="17" name="Text 15"/>
          <p:cNvSpPr txBox="1"/>
          <p:nvPr/>
        </p:nvSpPr>
        <p:spPr>
          <a:xfrm>
            <a:off x="548640" y="434888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D</a:t>
            </a:r>
            <a:endParaRPr lang="en-US" sz="1400" dirty="0"/>
          </a:p>
        </p:txBody>
      </p:sp>
      <p:sp>
        <p:nvSpPr>
          <p:cNvPr id="18" name="Text 16"/>
          <p:cNvSpPr txBox="1"/>
          <p:nvPr/>
        </p:nvSpPr>
        <p:spPr>
          <a:xfrm>
            <a:off x="1097280" y="4294022"/>
            <a:ext cx="5760720" cy="493776"/>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堆一定是完全二叉树。</a:t>
            </a:r>
            <a:endParaRPr lang="en-US" sz="1840" dirty="0"/>
          </a:p>
        </p:txBody>
      </p:sp>
      <p:sp>
        <p:nvSpPr>
          <p:cNvPr id="19" name="Shape 17"/>
          <p:cNvSpPr/>
          <p:nvPr/>
        </p:nvSpPr>
        <p:spPr>
          <a:xfrm>
            <a:off x="548640" y="5067727"/>
            <a:ext cx="384048" cy="384048"/>
          </a:xfrm>
          <a:prstGeom prst="ellipse">
            <a:avLst/>
          </a:prstGeom>
          <a:solidFill>
            <a:srgbClr val="3E7C68"/>
          </a:solidFill>
          <a:ln/>
        </p:spPr>
      </p:sp>
      <p:sp>
        <p:nvSpPr>
          <p:cNvPr id="20" name="Text 18"/>
          <p:cNvSpPr txBox="1"/>
          <p:nvPr/>
        </p:nvSpPr>
        <p:spPr>
          <a:xfrm>
            <a:off x="548640" y="506772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E</a:t>
            </a:r>
            <a:endParaRPr lang="en-US" sz="1400" dirty="0"/>
          </a:p>
        </p:txBody>
      </p:sp>
      <p:sp>
        <p:nvSpPr>
          <p:cNvPr id="21" name="Text 19"/>
          <p:cNvSpPr txBox="1"/>
          <p:nvPr/>
        </p:nvSpPr>
        <p:spPr>
          <a:xfrm>
            <a:off x="1097280" y="4905573"/>
            <a:ext cx="5760720" cy="708355"/>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最小堆中，某个结点左子树中最大的结点可能比右子树中最小的结点小。</a:t>
            </a:r>
            <a:endParaRPr lang="en-US" sz="1840" dirty="0"/>
          </a:p>
        </p:txBody>
      </p:sp>
      <p:sp>
        <p:nvSpPr>
          <p:cNvPr id="22" name="Shape 20"/>
          <p:cNvSpPr/>
          <p:nvPr/>
        </p:nvSpPr>
        <p:spPr>
          <a:xfrm>
            <a:off x="548640" y="5893857"/>
            <a:ext cx="384048" cy="384048"/>
          </a:xfrm>
          <a:prstGeom prst="ellipse">
            <a:avLst/>
          </a:prstGeom>
          <a:solidFill>
            <a:srgbClr val="3E7C68"/>
          </a:solidFill>
          <a:ln/>
        </p:spPr>
      </p:sp>
      <p:sp>
        <p:nvSpPr>
          <p:cNvPr id="23" name="Text 21"/>
          <p:cNvSpPr txBox="1"/>
          <p:nvPr/>
        </p:nvSpPr>
        <p:spPr>
          <a:xfrm>
            <a:off x="548640" y="58938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F</a:t>
            </a:r>
            <a:endParaRPr lang="en-US" sz="1400" dirty="0"/>
          </a:p>
        </p:txBody>
      </p:sp>
      <p:sp>
        <p:nvSpPr>
          <p:cNvPr id="24" name="Text 22"/>
          <p:cNvSpPr txBox="1"/>
          <p:nvPr/>
        </p:nvSpPr>
        <p:spPr>
          <a:xfrm>
            <a:off x="1097280" y="5731703"/>
            <a:ext cx="5760720" cy="708355"/>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使用筛选法建堆要比将元素一个一个插入堆来建堆效率高。</a:t>
            </a:r>
            <a:endParaRPr lang="en-US" sz="1840" dirty="0"/>
          </a:p>
        </p:txBody>
      </p:sp>
      <p:sp>
        <p:nvSpPr>
          <p:cNvPr id="25" name="ANS_129"/>
          <p:cNvSpPr/>
          <p:nvPr/>
        </p:nvSpPr>
        <p:spPr>
          <a:xfrm>
            <a:off x="457200" y="4257446"/>
            <a:ext cx="6492240" cy="566928"/>
          </a:xfrm>
          <a:prstGeom prst="roundRect">
            <a:avLst>
              <a:gd name="adj" fmla="val 16129"/>
            </a:avLst>
          </a:prstGeom>
          <a:noFill/>
          <a:ln w="38100">
            <a:solidFill>
              <a:srgbClr val="2E9E6B"/>
            </a:solidFill>
            <a:prstDash val="solid"/>
          </a:ln>
        </p:spPr>
      </p:sp>
      <p:sp>
        <p:nvSpPr>
          <p:cNvPr id="26" name="ANS_130"/>
          <p:cNvSpPr/>
          <p:nvPr/>
        </p:nvSpPr>
        <p:spPr>
          <a:xfrm>
            <a:off x="457200" y="4868997"/>
            <a:ext cx="6492240" cy="781507"/>
          </a:xfrm>
          <a:prstGeom prst="roundRect">
            <a:avLst>
              <a:gd name="adj" fmla="val 11700"/>
            </a:avLst>
          </a:prstGeom>
          <a:noFill/>
          <a:ln w="38100">
            <a:solidFill>
              <a:srgbClr val="2E9E6B"/>
            </a:solidFill>
            <a:prstDash val="solid"/>
          </a:ln>
        </p:spPr>
      </p:sp>
      <p:sp>
        <p:nvSpPr>
          <p:cNvPr id="27" name="ANS_131"/>
          <p:cNvSpPr/>
          <p:nvPr/>
        </p:nvSpPr>
        <p:spPr>
          <a:xfrm>
            <a:off x="457200" y="5695127"/>
            <a:ext cx="6492240" cy="781507"/>
          </a:xfrm>
          <a:prstGeom prst="roundRect">
            <a:avLst>
              <a:gd name="adj" fmla="val 11700"/>
            </a:avLst>
          </a:prstGeom>
          <a:noFill/>
          <a:ln w="38100">
            <a:solidFill>
              <a:srgbClr val="2E9E6B"/>
            </a:solidFill>
            <a:prstDash val="solid"/>
          </a:ln>
        </p:spPr>
      </p:sp>
      <p:sp>
        <p:nvSpPr>
          <p:cNvPr id="28" name="ANS_132"/>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29" name="ANS_133"/>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30" name="ANS_134"/>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D、E、F</a:t>
            </a:r>
            <a:endParaRPr lang="en-US" sz="4400" dirty="0"/>
          </a:p>
        </p:txBody>
      </p:sp>
      <p:sp>
        <p:nvSpPr>
          <p:cNvPr id="31" name="ANS_135"/>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32" name="ANS_136"/>
          <p:cNvSpPr/>
          <p:nvPr/>
        </p:nvSpPr>
        <p:spPr>
          <a:xfrm>
            <a:off x="7616952" y="2740152"/>
            <a:ext cx="91440" cy="91440"/>
          </a:xfrm>
          <a:prstGeom prst="ellipse">
            <a:avLst/>
          </a:prstGeom>
          <a:solidFill>
            <a:srgbClr val="F2B134"/>
          </a:solidFill>
          <a:ln/>
        </p:spPr>
      </p:sp>
      <p:sp>
        <p:nvSpPr>
          <p:cNvPr id="33" name="ANS_137"/>
          <p:cNvSpPr txBox="1"/>
          <p:nvPr/>
        </p:nvSpPr>
        <p:spPr>
          <a:xfrm>
            <a:off x="7818120" y="2651760"/>
            <a:ext cx="3520440" cy="591312"/>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D ✓ 堆是完全二叉树，A ✗ 不一定满。</a:t>
            </a:r>
            <a:endParaRPr lang="en-US" sz="1600" dirty="0"/>
          </a:p>
        </p:txBody>
      </p:sp>
      <p:sp>
        <p:nvSpPr>
          <p:cNvPr id="34" name="ANS_138"/>
          <p:cNvSpPr/>
          <p:nvPr/>
        </p:nvSpPr>
        <p:spPr>
          <a:xfrm>
            <a:off x="7616952" y="3463138"/>
            <a:ext cx="91440" cy="91440"/>
          </a:xfrm>
          <a:prstGeom prst="ellipse">
            <a:avLst/>
          </a:prstGeom>
          <a:solidFill>
            <a:srgbClr val="F2B134"/>
          </a:solidFill>
          <a:ln/>
        </p:spPr>
      </p:sp>
      <p:sp>
        <p:nvSpPr>
          <p:cNvPr id="35" name="ANS_139"/>
          <p:cNvSpPr txBox="1"/>
          <p:nvPr/>
        </p:nvSpPr>
        <p:spPr>
          <a:xfrm>
            <a:off x="7818120" y="3374746"/>
            <a:ext cx="3520440" cy="591312"/>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B ✗ 堆只约束父子，最大值可以在任意一个叶子。</a:t>
            </a:r>
            <a:endParaRPr lang="en-US" sz="1600" dirty="0"/>
          </a:p>
        </p:txBody>
      </p:sp>
      <p:sp>
        <p:nvSpPr>
          <p:cNvPr id="36" name="ANS_140"/>
          <p:cNvSpPr/>
          <p:nvPr/>
        </p:nvSpPr>
        <p:spPr>
          <a:xfrm>
            <a:off x="7616952" y="4186123"/>
            <a:ext cx="91440" cy="91440"/>
          </a:xfrm>
          <a:prstGeom prst="ellipse">
            <a:avLst/>
          </a:prstGeom>
          <a:solidFill>
            <a:srgbClr val="F2B134"/>
          </a:solidFill>
          <a:ln/>
        </p:spPr>
      </p:sp>
      <p:sp>
        <p:nvSpPr>
          <p:cNvPr id="37" name="ANS_141"/>
          <p:cNvSpPr txBox="1"/>
          <p:nvPr/>
        </p:nvSpPr>
        <p:spPr>
          <a:xfrm>
            <a:off x="7818120" y="4097731"/>
            <a:ext cx="3520440" cy="591312"/>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C ✗ 也可以用有序表、BST 等实现优先队列。</a:t>
            </a:r>
            <a:endParaRPr lang="en-US" sz="1600" dirty="0"/>
          </a:p>
        </p:txBody>
      </p:sp>
      <p:sp>
        <p:nvSpPr>
          <p:cNvPr id="38" name="ANS_142"/>
          <p:cNvSpPr/>
          <p:nvPr/>
        </p:nvSpPr>
        <p:spPr>
          <a:xfrm>
            <a:off x="7616952" y="4909109"/>
            <a:ext cx="91440" cy="91440"/>
          </a:xfrm>
          <a:prstGeom prst="ellipse">
            <a:avLst/>
          </a:prstGeom>
          <a:solidFill>
            <a:srgbClr val="F2B134"/>
          </a:solidFill>
          <a:ln/>
        </p:spPr>
      </p:sp>
      <p:sp>
        <p:nvSpPr>
          <p:cNvPr id="39" name="ANS_143"/>
          <p:cNvSpPr txBox="1"/>
          <p:nvPr/>
        </p:nvSpPr>
        <p:spPr>
          <a:xfrm>
            <a:off x="7818120" y="4820717"/>
            <a:ext cx="3520440" cy="323088"/>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E ✓ 左右子树之间没有大小约束。</a:t>
            </a:r>
            <a:endParaRPr lang="en-US" sz="1600" dirty="0"/>
          </a:p>
        </p:txBody>
      </p:sp>
      <p:sp>
        <p:nvSpPr>
          <p:cNvPr id="40" name="ANS_144"/>
          <p:cNvSpPr/>
          <p:nvPr/>
        </p:nvSpPr>
        <p:spPr>
          <a:xfrm>
            <a:off x="7616952" y="5363870"/>
            <a:ext cx="91440" cy="91440"/>
          </a:xfrm>
          <a:prstGeom prst="ellipse">
            <a:avLst/>
          </a:prstGeom>
          <a:solidFill>
            <a:srgbClr val="F2B134"/>
          </a:solidFill>
          <a:ln/>
        </p:spPr>
      </p:sp>
      <p:sp>
        <p:nvSpPr>
          <p:cNvPr id="41" name="ANS_145"/>
          <p:cNvSpPr txBox="1"/>
          <p:nvPr/>
        </p:nvSpPr>
        <p:spPr>
          <a:xfrm>
            <a:off x="7818120" y="5275478"/>
            <a:ext cx="3520440" cy="591312"/>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F ✓ 筛选法 O(n)，逐个插入 O(n log n)。</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400"/>
                                        <p:tgtEl>
                                          <p:spTgt spid="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400"/>
                                        <p:tgtEl>
                                          <p:spTgt spid="2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400"/>
                                        <p:tgtEl>
                                          <p:spTgt spid="2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400"/>
                                        <p:tgtEl>
                                          <p:spTgt spid="3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400"/>
                                        <p:tgtEl>
                                          <p:spTgt spid="3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4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4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4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400"/>
                                        <p:tgtEl>
                                          <p:spTgt spid="3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4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4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4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Q3</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多选题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Huffman 编码的前缀性</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一组权值各不相同的字母已构造好 Huffman 编码。若某字母的编码为 001，下列说法正确的是：</a:t>
            </a:r>
            <a:endParaRPr lang="en-US" sz="2000" dirty="0"/>
          </a:p>
        </p:txBody>
      </p:sp>
      <p:sp>
        <p:nvSpPr>
          <p:cNvPr id="7" name="Shape 5"/>
          <p:cNvSpPr/>
          <p:nvPr/>
        </p:nvSpPr>
        <p:spPr>
          <a:xfrm>
            <a:off x="548640" y="2700528"/>
            <a:ext cx="384048" cy="384048"/>
          </a:xfrm>
          <a:prstGeom prst="ellipse">
            <a:avLst/>
          </a:prstGeom>
          <a:solidFill>
            <a:srgbClr val="3E7C68"/>
          </a:solidFill>
          <a:ln/>
        </p:spPr>
      </p:sp>
      <p:sp>
        <p:nvSpPr>
          <p:cNvPr id="8" name="Text 6"/>
          <p:cNvSpPr txBox="1"/>
          <p:nvPr/>
        </p:nvSpPr>
        <p:spPr>
          <a:xfrm>
            <a:off x="548640" y="2700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A</a:t>
            </a:r>
            <a:endParaRPr lang="en-US" sz="1400" dirty="0"/>
          </a:p>
        </p:txBody>
      </p:sp>
      <p:sp>
        <p:nvSpPr>
          <p:cNvPr id="9" name="Text 7"/>
          <p:cNvSpPr txBox="1"/>
          <p:nvPr/>
        </p:nvSpPr>
        <p:spPr>
          <a:xfrm>
            <a:off x="1097280" y="2627376"/>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以 001 开头的编码不可能对应其他字母。</a:t>
            </a:r>
            <a:endParaRPr lang="en-US" sz="2000" dirty="0"/>
          </a:p>
        </p:txBody>
      </p:sp>
      <p:sp>
        <p:nvSpPr>
          <p:cNvPr id="10" name="Shape 8"/>
          <p:cNvSpPr/>
          <p:nvPr/>
        </p:nvSpPr>
        <p:spPr>
          <a:xfrm>
            <a:off x="548640" y="3358896"/>
            <a:ext cx="384048" cy="384048"/>
          </a:xfrm>
          <a:prstGeom prst="ellipse">
            <a:avLst/>
          </a:prstGeom>
          <a:solidFill>
            <a:srgbClr val="3E7C68"/>
          </a:solidFill>
          <a:ln/>
        </p:spPr>
      </p:sp>
      <p:sp>
        <p:nvSpPr>
          <p:cNvPr id="11" name="Text 9"/>
          <p:cNvSpPr txBox="1"/>
          <p:nvPr/>
        </p:nvSpPr>
        <p:spPr>
          <a:xfrm>
            <a:off x="548640" y="33588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B</a:t>
            </a:r>
            <a:endParaRPr lang="en-US" sz="1400" dirty="0"/>
          </a:p>
        </p:txBody>
      </p:sp>
      <p:sp>
        <p:nvSpPr>
          <p:cNvPr id="12" name="Text 10"/>
          <p:cNvSpPr txBox="1"/>
          <p:nvPr/>
        </p:nvSpPr>
        <p:spPr>
          <a:xfrm>
            <a:off x="1097280" y="3285744"/>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以 000 开头的编码不可能对应任何字母。</a:t>
            </a:r>
            <a:endParaRPr lang="en-US" sz="2000" dirty="0"/>
          </a:p>
        </p:txBody>
      </p:sp>
      <p:sp>
        <p:nvSpPr>
          <p:cNvPr id="13" name="Shape 11"/>
          <p:cNvSpPr/>
          <p:nvPr/>
        </p:nvSpPr>
        <p:spPr>
          <a:xfrm>
            <a:off x="548640" y="4133088"/>
            <a:ext cx="384048" cy="384048"/>
          </a:xfrm>
          <a:prstGeom prst="ellipse">
            <a:avLst/>
          </a:prstGeom>
          <a:solidFill>
            <a:srgbClr val="3E7C68"/>
          </a:solidFill>
          <a:ln/>
        </p:spPr>
      </p:sp>
      <p:sp>
        <p:nvSpPr>
          <p:cNvPr id="14" name="Text 12"/>
          <p:cNvSpPr txBox="1"/>
          <p:nvPr/>
        </p:nvSpPr>
        <p:spPr>
          <a:xfrm>
            <a:off x="548640" y="41330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C</a:t>
            </a:r>
            <a:endParaRPr lang="en-US" sz="1400" dirty="0"/>
          </a:p>
        </p:txBody>
      </p:sp>
      <p:sp>
        <p:nvSpPr>
          <p:cNvPr id="15" name="Text 13"/>
          <p:cNvSpPr txBox="1"/>
          <p:nvPr/>
        </p:nvSpPr>
        <p:spPr>
          <a:xfrm>
            <a:off x="1097280" y="3944112"/>
            <a:ext cx="5760720" cy="762000"/>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以 01 开头和以 1 开头的编码肯定对应某个字母。</a:t>
            </a:r>
            <a:endParaRPr lang="en-US" sz="2000" dirty="0"/>
          </a:p>
        </p:txBody>
      </p:sp>
      <p:sp>
        <p:nvSpPr>
          <p:cNvPr id="16" name="Shape 14"/>
          <p:cNvSpPr/>
          <p:nvPr/>
        </p:nvSpPr>
        <p:spPr>
          <a:xfrm>
            <a:off x="548640" y="4907280"/>
            <a:ext cx="384048" cy="384048"/>
          </a:xfrm>
          <a:prstGeom prst="ellipse">
            <a:avLst/>
          </a:prstGeom>
          <a:solidFill>
            <a:srgbClr val="3E7C68"/>
          </a:solidFill>
          <a:ln/>
        </p:spPr>
      </p:sp>
      <p:sp>
        <p:nvSpPr>
          <p:cNvPr id="17" name="Text 15"/>
          <p:cNvSpPr txBox="1"/>
          <p:nvPr/>
        </p:nvSpPr>
        <p:spPr>
          <a:xfrm>
            <a:off x="548640" y="4907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D</a:t>
            </a:r>
            <a:endParaRPr lang="en-US" sz="1400" dirty="0"/>
          </a:p>
        </p:txBody>
      </p:sp>
      <p:sp>
        <p:nvSpPr>
          <p:cNvPr id="18" name="Text 16"/>
          <p:cNvSpPr txBox="1"/>
          <p:nvPr/>
        </p:nvSpPr>
        <p:spPr>
          <a:xfrm>
            <a:off x="1097280" y="4834128"/>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建好的 Huffman 树至少包含 4 个叶结点。</a:t>
            </a:r>
            <a:endParaRPr lang="en-US" sz="2000" dirty="0"/>
          </a:p>
        </p:txBody>
      </p:sp>
      <p:sp>
        <p:nvSpPr>
          <p:cNvPr id="19" name="Shape 17"/>
          <p:cNvSpPr/>
          <p:nvPr/>
        </p:nvSpPr>
        <p:spPr>
          <a:xfrm>
            <a:off x="548640" y="5565648"/>
            <a:ext cx="384048" cy="384048"/>
          </a:xfrm>
          <a:prstGeom prst="ellipse">
            <a:avLst/>
          </a:prstGeom>
          <a:solidFill>
            <a:srgbClr val="3E7C68"/>
          </a:solidFill>
          <a:ln/>
        </p:spPr>
      </p:sp>
      <p:sp>
        <p:nvSpPr>
          <p:cNvPr id="20" name="Text 18"/>
          <p:cNvSpPr txBox="1"/>
          <p:nvPr/>
        </p:nvSpPr>
        <p:spPr>
          <a:xfrm>
            <a:off x="548640" y="556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E</a:t>
            </a:r>
            <a:endParaRPr lang="en-US" sz="1400" dirty="0"/>
          </a:p>
        </p:txBody>
      </p:sp>
      <p:sp>
        <p:nvSpPr>
          <p:cNvPr id="21" name="Text 19"/>
          <p:cNvSpPr txBox="1"/>
          <p:nvPr/>
        </p:nvSpPr>
        <p:spPr>
          <a:xfrm>
            <a:off x="1097280" y="5492496"/>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编码 0 和 00 可能对应于其他字母。</a:t>
            </a:r>
            <a:endParaRPr lang="en-US" sz="2000" dirty="0"/>
          </a:p>
        </p:txBody>
      </p:sp>
      <p:sp>
        <p:nvSpPr>
          <p:cNvPr id="22" name="ANS_146"/>
          <p:cNvSpPr/>
          <p:nvPr/>
        </p:nvSpPr>
        <p:spPr>
          <a:xfrm>
            <a:off x="457200" y="2590800"/>
            <a:ext cx="6492240" cy="603504"/>
          </a:xfrm>
          <a:prstGeom prst="roundRect">
            <a:avLst>
              <a:gd name="adj" fmla="val 15152"/>
            </a:avLst>
          </a:prstGeom>
          <a:noFill/>
          <a:ln w="38100">
            <a:solidFill>
              <a:srgbClr val="2E9E6B"/>
            </a:solidFill>
            <a:prstDash val="solid"/>
          </a:ln>
        </p:spPr>
      </p:sp>
      <p:sp>
        <p:nvSpPr>
          <p:cNvPr id="23" name="ANS_147"/>
          <p:cNvSpPr/>
          <p:nvPr/>
        </p:nvSpPr>
        <p:spPr>
          <a:xfrm>
            <a:off x="457200" y="3907536"/>
            <a:ext cx="6492240" cy="835152"/>
          </a:xfrm>
          <a:prstGeom prst="roundRect">
            <a:avLst>
              <a:gd name="adj" fmla="val 10949"/>
            </a:avLst>
          </a:prstGeom>
          <a:noFill/>
          <a:ln w="38100">
            <a:solidFill>
              <a:srgbClr val="2E9E6B"/>
            </a:solidFill>
            <a:prstDash val="solid"/>
          </a:ln>
        </p:spPr>
      </p:sp>
      <p:sp>
        <p:nvSpPr>
          <p:cNvPr id="24" name="ANS_148"/>
          <p:cNvSpPr/>
          <p:nvPr/>
        </p:nvSpPr>
        <p:spPr>
          <a:xfrm>
            <a:off x="457200" y="4797552"/>
            <a:ext cx="6492240" cy="603504"/>
          </a:xfrm>
          <a:prstGeom prst="roundRect">
            <a:avLst>
              <a:gd name="adj" fmla="val 15152"/>
            </a:avLst>
          </a:prstGeom>
          <a:noFill/>
          <a:ln w="38100">
            <a:solidFill>
              <a:srgbClr val="2E9E6B"/>
            </a:solidFill>
            <a:prstDash val="solid"/>
          </a:ln>
        </p:spPr>
      </p:sp>
      <p:sp>
        <p:nvSpPr>
          <p:cNvPr id="25" name="ANS_149"/>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26" name="ANS_150"/>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27" name="ANS_151"/>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A、C、D</a:t>
            </a:r>
            <a:endParaRPr lang="en-US" sz="4400" dirty="0"/>
          </a:p>
        </p:txBody>
      </p:sp>
      <p:sp>
        <p:nvSpPr>
          <p:cNvPr id="28" name="ANS_152"/>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29" name="ANS_153"/>
          <p:cNvSpPr/>
          <p:nvPr/>
        </p:nvSpPr>
        <p:spPr>
          <a:xfrm>
            <a:off x="7616952" y="2740152"/>
            <a:ext cx="91440" cy="91440"/>
          </a:xfrm>
          <a:prstGeom prst="ellipse">
            <a:avLst/>
          </a:prstGeom>
          <a:solidFill>
            <a:srgbClr val="F2B134"/>
          </a:solidFill>
          <a:ln/>
        </p:spPr>
      </p:sp>
      <p:sp>
        <p:nvSpPr>
          <p:cNvPr id="30" name="ANS_154"/>
          <p:cNvSpPr txBox="1"/>
          <p:nvPr/>
        </p:nvSpPr>
        <p:spPr>
          <a:xfrm>
            <a:off x="7818120" y="2651760"/>
            <a:ext cx="3520440" cy="591312"/>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Huffman 树中内部结点都有两个孩子（满二叉树）。</a:t>
            </a:r>
            <a:endParaRPr lang="en-US" sz="1600" dirty="0"/>
          </a:p>
        </p:txBody>
      </p:sp>
      <p:sp>
        <p:nvSpPr>
          <p:cNvPr id="31" name="ANS_155"/>
          <p:cNvSpPr/>
          <p:nvPr/>
        </p:nvSpPr>
        <p:spPr>
          <a:xfrm>
            <a:off x="7616952" y="3463138"/>
            <a:ext cx="91440" cy="91440"/>
          </a:xfrm>
          <a:prstGeom prst="ellipse">
            <a:avLst/>
          </a:prstGeom>
          <a:solidFill>
            <a:srgbClr val="F2B134"/>
          </a:solidFill>
          <a:ln/>
        </p:spPr>
      </p:sp>
      <p:sp>
        <p:nvSpPr>
          <p:cNvPr id="32" name="ANS_156"/>
          <p:cNvSpPr txBox="1"/>
          <p:nvPr/>
        </p:nvSpPr>
        <p:spPr>
          <a:xfrm>
            <a:off x="7818120" y="3374746"/>
            <a:ext cx="3520440" cy="859536"/>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001 是叶子，所以 00 有兄弟 000，0 有兄弟 1，00 有兄弟 01，各子树下都有叶子（B ✗，C ✓）。</a:t>
            </a:r>
            <a:endParaRPr lang="en-US" sz="1600" dirty="0"/>
          </a:p>
        </p:txBody>
      </p:sp>
      <p:sp>
        <p:nvSpPr>
          <p:cNvPr id="33" name="ANS_157"/>
          <p:cNvSpPr/>
          <p:nvPr/>
        </p:nvSpPr>
        <p:spPr>
          <a:xfrm>
            <a:off x="7616952" y="4454347"/>
            <a:ext cx="91440" cy="91440"/>
          </a:xfrm>
          <a:prstGeom prst="ellipse">
            <a:avLst/>
          </a:prstGeom>
          <a:solidFill>
            <a:srgbClr val="F2B134"/>
          </a:solidFill>
          <a:ln/>
        </p:spPr>
      </p:sp>
      <p:sp>
        <p:nvSpPr>
          <p:cNvPr id="34" name="ANS_158"/>
          <p:cNvSpPr txBox="1"/>
          <p:nvPr/>
        </p:nvSpPr>
        <p:spPr>
          <a:xfrm>
            <a:off x="7818120" y="4365955"/>
            <a:ext cx="3520440" cy="591312"/>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000、001、01、1 下至少各一个叶子 → 至少 4 个叶子（D ✓）。</a:t>
            </a:r>
            <a:endParaRPr lang="en-US" sz="1600" dirty="0"/>
          </a:p>
        </p:txBody>
      </p:sp>
      <p:sp>
        <p:nvSpPr>
          <p:cNvPr id="35" name="ANS_159"/>
          <p:cNvSpPr/>
          <p:nvPr/>
        </p:nvSpPr>
        <p:spPr>
          <a:xfrm>
            <a:off x="7616952" y="5177333"/>
            <a:ext cx="91440" cy="91440"/>
          </a:xfrm>
          <a:prstGeom prst="ellipse">
            <a:avLst/>
          </a:prstGeom>
          <a:solidFill>
            <a:srgbClr val="F2B134"/>
          </a:solidFill>
          <a:ln/>
        </p:spPr>
      </p:sp>
      <p:sp>
        <p:nvSpPr>
          <p:cNvPr id="36" name="ANS_160"/>
          <p:cNvSpPr txBox="1"/>
          <p:nvPr/>
        </p:nvSpPr>
        <p:spPr>
          <a:xfrm>
            <a:off x="7818120" y="5088941"/>
            <a:ext cx="3520440" cy="859536"/>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前缀码：001 不是别的编码的前缀（A ✓）；0、00 是内部结点（E ✗）。</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4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0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40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40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Q4</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多选题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Huffman 树与编码</a:t>
            </a:r>
            <a:endParaRPr lang="en-US" sz="2800" dirty="0"/>
          </a:p>
        </p:txBody>
      </p:sp>
      <p:sp>
        <p:nvSpPr>
          <p:cNvPr id="6" name="Text 4"/>
          <p:cNvSpPr txBox="1"/>
          <p:nvPr/>
        </p:nvSpPr>
        <p:spPr>
          <a:xfrm>
            <a:off x="548640" y="1645920"/>
            <a:ext cx="6309360" cy="671779"/>
          </a:xfrm>
          <a:prstGeom prst="rect">
            <a:avLst/>
          </a:prstGeom>
          <a:noFill/>
          <a:ln/>
        </p:spPr>
        <p:txBody>
          <a:bodyPr wrap="square" lIns="0" tIns="0" rIns="0" bIns="0" rtlCol="0" anchor="t"/>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下列关于 Huffman 树和 Huffman 编码的说法正确的有：</a:t>
            </a:r>
            <a:endParaRPr lang="en-US" sz="1840" dirty="0"/>
          </a:p>
        </p:txBody>
      </p:sp>
      <p:sp>
        <p:nvSpPr>
          <p:cNvPr id="7" name="Shape 5"/>
          <p:cNvSpPr/>
          <p:nvPr/>
        </p:nvSpPr>
        <p:spPr>
          <a:xfrm>
            <a:off x="548640" y="2608113"/>
            <a:ext cx="384048" cy="384048"/>
          </a:xfrm>
          <a:prstGeom prst="ellipse">
            <a:avLst/>
          </a:prstGeom>
          <a:solidFill>
            <a:srgbClr val="3E7C68"/>
          </a:solidFill>
          <a:ln/>
        </p:spPr>
      </p:sp>
      <p:sp>
        <p:nvSpPr>
          <p:cNvPr id="8" name="Text 6"/>
          <p:cNvSpPr txBox="1"/>
          <p:nvPr/>
        </p:nvSpPr>
        <p:spPr>
          <a:xfrm>
            <a:off x="548640" y="260811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A</a:t>
            </a:r>
            <a:endParaRPr lang="en-US" sz="1400" dirty="0"/>
          </a:p>
        </p:txBody>
      </p:sp>
      <p:sp>
        <p:nvSpPr>
          <p:cNvPr id="9" name="Text 7"/>
          <p:cNvSpPr txBox="1"/>
          <p:nvPr/>
        </p:nvSpPr>
        <p:spPr>
          <a:xfrm>
            <a:off x="1097280" y="2553249"/>
            <a:ext cx="5760720" cy="493776"/>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Huffman 树一定是满二叉树。</a:t>
            </a:r>
            <a:endParaRPr lang="en-US" sz="1840" dirty="0"/>
          </a:p>
        </p:txBody>
      </p:sp>
      <p:sp>
        <p:nvSpPr>
          <p:cNvPr id="10" name="Shape 8"/>
          <p:cNvSpPr/>
          <p:nvPr/>
        </p:nvSpPr>
        <p:spPr>
          <a:xfrm>
            <a:off x="548640" y="3219663"/>
            <a:ext cx="384048" cy="384048"/>
          </a:xfrm>
          <a:prstGeom prst="ellipse">
            <a:avLst/>
          </a:prstGeom>
          <a:solidFill>
            <a:srgbClr val="3E7C68"/>
          </a:solidFill>
          <a:ln/>
        </p:spPr>
      </p:sp>
      <p:sp>
        <p:nvSpPr>
          <p:cNvPr id="11" name="Text 9"/>
          <p:cNvSpPr txBox="1"/>
          <p:nvPr/>
        </p:nvSpPr>
        <p:spPr>
          <a:xfrm>
            <a:off x="548640" y="321966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B</a:t>
            </a:r>
            <a:endParaRPr lang="en-US" sz="1400" dirty="0"/>
          </a:p>
        </p:txBody>
      </p:sp>
      <p:sp>
        <p:nvSpPr>
          <p:cNvPr id="12" name="Text 10"/>
          <p:cNvSpPr txBox="1"/>
          <p:nvPr/>
        </p:nvSpPr>
        <p:spPr>
          <a:xfrm>
            <a:off x="1097280" y="3164799"/>
            <a:ext cx="5760720" cy="493776"/>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Huffman 编码是一种前缀编码。</a:t>
            </a:r>
            <a:endParaRPr lang="en-US" sz="1840" dirty="0"/>
          </a:p>
        </p:txBody>
      </p:sp>
      <p:sp>
        <p:nvSpPr>
          <p:cNvPr id="13" name="Shape 11"/>
          <p:cNvSpPr/>
          <p:nvPr/>
        </p:nvSpPr>
        <p:spPr>
          <a:xfrm>
            <a:off x="548640" y="3831214"/>
            <a:ext cx="384048" cy="384048"/>
          </a:xfrm>
          <a:prstGeom prst="ellipse">
            <a:avLst/>
          </a:prstGeom>
          <a:solidFill>
            <a:srgbClr val="3E7C68"/>
          </a:solidFill>
          <a:ln/>
        </p:spPr>
      </p:sp>
      <p:sp>
        <p:nvSpPr>
          <p:cNvPr id="14" name="Text 12"/>
          <p:cNvSpPr txBox="1"/>
          <p:nvPr/>
        </p:nvSpPr>
        <p:spPr>
          <a:xfrm>
            <a:off x="548640" y="383121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C</a:t>
            </a:r>
            <a:endParaRPr lang="en-US" sz="1400" dirty="0"/>
          </a:p>
        </p:txBody>
      </p:sp>
      <p:sp>
        <p:nvSpPr>
          <p:cNvPr id="15" name="Text 13"/>
          <p:cNvSpPr txBox="1"/>
          <p:nvPr/>
        </p:nvSpPr>
        <p:spPr>
          <a:xfrm>
            <a:off x="1097280" y="3776350"/>
            <a:ext cx="5760720" cy="493776"/>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Huffman 树一定是完全二叉树。</a:t>
            </a:r>
            <a:endParaRPr lang="en-US" sz="1840" dirty="0"/>
          </a:p>
        </p:txBody>
      </p:sp>
      <p:sp>
        <p:nvSpPr>
          <p:cNvPr id="16" name="Shape 14"/>
          <p:cNvSpPr/>
          <p:nvPr/>
        </p:nvSpPr>
        <p:spPr>
          <a:xfrm>
            <a:off x="548640" y="4442765"/>
            <a:ext cx="384048" cy="384048"/>
          </a:xfrm>
          <a:prstGeom prst="ellipse">
            <a:avLst/>
          </a:prstGeom>
          <a:solidFill>
            <a:srgbClr val="3E7C68"/>
          </a:solidFill>
          <a:ln/>
        </p:spPr>
      </p:sp>
      <p:sp>
        <p:nvSpPr>
          <p:cNvPr id="17" name="Text 15"/>
          <p:cNvSpPr txBox="1"/>
          <p:nvPr/>
        </p:nvSpPr>
        <p:spPr>
          <a:xfrm>
            <a:off x="548640" y="444276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D</a:t>
            </a:r>
            <a:endParaRPr lang="en-US" sz="1400" dirty="0"/>
          </a:p>
        </p:txBody>
      </p:sp>
      <p:sp>
        <p:nvSpPr>
          <p:cNvPr id="18" name="Text 16"/>
          <p:cNvSpPr txBox="1"/>
          <p:nvPr/>
        </p:nvSpPr>
        <p:spPr>
          <a:xfrm>
            <a:off x="1097280" y="4387901"/>
            <a:ext cx="5760720" cy="493776"/>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Huffman 编码中所有编码都是等长的。</a:t>
            </a:r>
            <a:endParaRPr lang="en-US" sz="1840" dirty="0"/>
          </a:p>
        </p:txBody>
      </p:sp>
      <p:sp>
        <p:nvSpPr>
          <p:cNvPr id="19" name="Shape 17"/>
          <p:cNvSpPr/>
          <p:nvPr/>
        </p:nvSpPr>
        <p:spPr>
          <a:xfrm>
            <a:off x="548640" y="5161605"/>
            <a:ext cx="384048" cy="384048"/>
          </a:xfrm>
          <a:prstGeom prst="ellipse">
            <a:avLst/>
          </a:prstGeom>
          <a:solidFill>
            <a:srgbClr val="3E7C68"/>
          </a:solidFill>
          <a:ln/>
        </p:spPr>
      </p:sp>
      <p:sp>
        <p:nvSpPr>
          <p:cNvPr id="20" name="Text 18"/>
          <p:cNvSpPr txBox="1"/>
          <p:nvPr/>
        </p:nvSpPr>
        <p:spPr>
          <a:xfrm>
            <a:off x="548640" y="516160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E</a:t>
            </a:r>
            <a:endParaRPr lang="en-US" sz="1400" dirty="0"/>
          </a:p>
        </p:txBody>
      </p:sp>
      <p:sp>
        <p:nvSpPr>
          <p:cNvPr id="21" name="Text 19"/>
          <p:cNvSpPr txBox="1"/>
          <p:nvPr/>
        </p:nvSpPr>
        <p:spPr>
          <a:xfrm>
            <a:off x="1097280" y="4999452"/>
            <a:ext cx="5760720" cy="708355"/>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对于同样一组两两不同的权值，可以得到不同的 Huffman 编码方案。</a:t>
            </a:r>
            <a:endParaRPr lang="en-US" sz="1840" dirty="0"/>
          </a:p>
        </p:txBody>
      </p:sp>
      <p:sp>
        <p:nvSpPr>
          <p:cNvPr id="22" name="Shape 20"/>
          <p:cNvSpPr/>
          <p:nvPr/>
        </p:nvSpPr>
        <p:spPr>
          <a:xfrm>
            <a:off x="548640" y="5880445"/>
            <a:ext cx="384048" cy="384048"/>
          </a:xfrm>
          <a:prstGeom prst="ellipse">
            <a:avLst/>
          </a:prstGeom>
          <a:solidFill>
            <a:srgbClr val="3E7C68"/>
          </a:solidFill>
          <a:ln/>
        </p:spPr>
      </p:sp>
      <p:sp>
        <p:nvSpPr>
          <p:cNvPr id="23" name="Text 21"/>
          <p:cNvSpPr txBox="1"/>
          <p:nvPr/>
        </p:nvSpPr>
        <p:spPr>
          <a:xfrm>
            <a:off x="548640" y="588044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F</a:t>
            </a:r>
            <a:endParaRPr lang="en-US" sz="1400" dirty="0"/>
          </a:p>
        </p:txBody>
      </p:sp>
      <p:sp>
        <p:nvSpPr>
          <p:cNvPr id="24" name="Text 22"/>
          <p:cNvSpPr txBox="1"/>
          <p:nvPr/>
        </p:nvSpPr>
        <p:spPr>
          <a:xfrm>
            <a:off x="1097280" y="5825581"/>
            <a:ext cx="5760720" cy="493776"/>
          </a:xfrm>
          <a:prstGeom prst="rect">
            <a:avLst/>
          </a:prstGeom>
          <a:noFill/>
          <a:ln/>
        </p:spPr>
        <p:txBody>
          <a:bodyPr wrap="square" lIns="0" tIns="0" rIns="0" bIns="0" rtlCol="0" anchor="ctr"/>
          <a:lstStyle/>
          <a:p>
            <a:pPr algn="l" indent="0" marL="0">
              <a:buNone/>
            </a:pPr>
            <a:r>
              <a:rPr lang="en-US" sz="1840" dirty="0">
                <a:solidFill>
                  <a:srgbClr val="222222"/>
                </a:solidFill>
                <a:latin typeface="Microsoft YaHei" pitchFamily="34" charset="0"/>
                <a:ea typeface="Microsoft YaHei" pitchFamily="34" charset="-122"/>
                <a:cs typeface="Microsoft YaHei" pitchFamily="34" charset="-120"/>
              </a:rPr>
              <a:t>使用频率越高的字母，Huffman 编码越长。</a:t>
            </a:r>
            <a:endParaRPr lang="en-US" sz="1840" dirty="0"/>
          </a:p>
        </p:txBody>
      </p:sp>
      <p:sp>
        <p:nvSpPr>
          <p:cNvPr id="25" name="ANS_161"/>
          <p:cNvSpPr/>
          <p:nvPr/>
        </p:nvSpPr>
        <p:spPr>
          <a:xfrm>
            <a:off x="457200" y="2516673"/>
            <a:ext cx="6492240" cy="566928"/>
          </a:xfrm>
          <a:prstGeom prst="roundRect">
            <a:avLst>
              <a:gd name="adj" fmla="val 16129"/>
            </a:avLst>
          </a:prstGeom>
          <a:noFill/>
          <a:ln w="38100">
            <a:solidFill>
              <a:srgbClr val="2E9E6B"/>
            </a:solidFill>
            <a:prstDash val="solid"/>
          </a:ln>
        </p:spPr>
      </p:sp>
      <p:sp>
        <p:nvSpPr>
          <p:cNvPr id="26" name="ANS_162"/>
          <p:cNvSpPr/>
          <p:nvPr/>
        </p:nvSpPr>
        <p:spPr>
          <a:xfrm>
            <a:off x="457200" y="3128223"/>
            <a:ext cx="6492240" cy="566928"/>
          </a:xfrm>
          <a:prstGeom prst="roundRect">
            <a:avLst>
              <a:gd name="adj" fmla="val 16129"/>
            </a:avLst>
          </a:prstGeom>
          <a:noFill/>
          <a:ln w="38100">
            <a:solidFill>
              <a:srgbClr val="2E9E6B"/>
            </a:solidFill>
            <a:prstDash val="solid"/>
          </a:ln>
        </p:spPr>
      </p:sp>
      <p:sp>
        <p:nvSpPr>
          <p:cNvPr id="27" name="ANS_163"/>
          <p:cNvSpPr/>
          <p:nvPr/>
        </p:nvSpPr>
        <p:spPr>
          <a:xfrm>
            <a:off x="457200" y="4962876"/>
            <a:ext cx="6492240" cy="781507"/>
          </a:xfrm>
          <a:prstGeom prst="roundRect">
            <a:avLst>
              <a:gd name="adj" fmla="val 11700"/>
            </a:avLst>
          </a:prstGeom>
          <a:noFill/>
          <a:ln w="38100">
            <a:solidFill>
              <a:srgbClr val="2E9E6B"/>
            </a:solidFill>
            <a:prstDash val="solid"/>
          </a:ln>
        </p:spPr>
      </p:sp>
      <p:sp>
        <p:nvSpPr>
          <p:cNvPr id="28" name="ANS_164"/>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29" name="ANS_165"/>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30" name="ANS_166"/>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A、B、E</a:t>
            </a:r>
            <a:endParaRPr lang="en-US" sz="4400" dirty="0"/>
          </a:p>
        </p:txBody>
      </p:sp>
      <p:sp>
        <p:nvSpPr>
          <p:cNvPr id="31" name="ANS_167"/>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32" name="ANS_168"/>
          <p:cNvSpPr/>
          <p:nvPr/>
        </p:nvSpPr>
        <p:spPr>
          <a:xfrm>
            <a:off x="7616952" y="2748534"/>
            <a:ext cx="91440" cy="91440"/>
          </a:xfrm>
          <a:prstGeom prst="ellipse">
            <a:avLst/>
          </a:prstGeom>
          <a:solidFill>
            <a:srgbClr val="F2B134"/>
          </a:solidFill>
          <a:ln/>
        </p:spPr>
      </p:sp>
      <p:sp>
        <p:nvSpPr>
          <p:cNvPr id="33" name="ANS_169"/>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A ✓ 每次合并两棵树，内部结点度都为 2；C ✗ 不一定完全。</a:t>
            </a:r>
            <a:endParaRPr lang="en-US" sz="1700" dirty="0"/>
          </a:p>
        </p:txBody>
      </p:sp>
      <p:sp>
        <p:nvSpPr>
          <p:cNvPr id="34" name="ANS_170"/>
          <p:cNvSpPr/>
          <p:nvPr/>
        </p:nvSpPr>
        <p:spPr>
          <a:xfrm>
            <a:off x="7616952" y="3513277"/>
            <a:ext cx="91440" cy="91440"/>
          </a:xfrm>
          <a:prstGeom prst="ellipse">
            <a:avLst/>
          </a:prstGeom>
          <a:solidFill>
            <a:srgbClr val="F2B134"/>
          </a:solidFill>
          <a:ln/>
        </p:spPr>
      </p:sp>
      <p:sp>
        <p:nvSpPr>
          <p:cNvPr id="35" name="ANS_171"/>
          <p:cNvSpPr txBox="1"/>
          <p:nvPr/>
        </p:nvSpPr>
        <p:spPr>
          <a:xfrm>
            <a:off x="7818120" y="3416503"/>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B ✓ 字母都在叶子上，编码互不为前缀。</a:t>
            </a:r>
            <a:endParaRPr lang="en-US" sz="1700" dirty="0"/>
          </a:p>
        </p:txBody>
      </p:sp>
      <p:sp>
        <p:nvSpPr>
          <p:cNvPr id="36" name="ANS_172"/>
          <p:cNvSpPr/>
          <p:nvPr/>
        </p:nvSpPr>
        <p:spPr>
          <a:xfrm>
            <a:off x="7616952" y="4278020"/>
            <a:ext cx="91440" cy="91440"/>
          </a:xfrm>
          <a:prstGeom prst="ellipse">
            <a:avLst/>
          </a:prstGeom>
          <a:solidFill>
            <a:srgbClr val="F2B134"/>
          </a:solidFill>
          <a:ln/>
        </p:spPr>
      </p:sp>
      <p:sp>
        <p:nvSpPr>
          <p:cNvPr id="37" name="ANS_173"/>
          <p:cNvSpPr txBox="1"/>
          <p:nvPr/>
        </p:nvSpPr>
        <p:spPr>
          <a:xfrm>
            <a:off x="7818120" y="4181246"/>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E ✓ 左右孩子标 0/1 可以互换，编码不同而总长相同。</a:t>
            </a:r>
            <a:endParaRPr lang="en-US" sz="1700" dirty="0"/>
          </a:p>
        </p:txBody>
      </p:sp>
      <p:sp>
        <p:nvSpPr>
          <p:cNvPr id="38" name="ANS_174"/>
          <p:cNvSpPr/>
          <p:nvPr/>
        </p:nvSpPr>
        <p:spPr>
          <a:xfrm>
            <a:off x="7616952" y="5042764"/>
            <a:ext cx="91440" cy="91440"/>
          </a:xfrm>
          <a:prstGeom prst="ellipse">
            <a:avLst/>
          </a:prstGeom>
          <a:solidFill>
            <a:srgbClr val="F2B134"/>
          </a:solidFill>
          <a:ln/>
        </p:spPr>
      </p:sp>
      <p:sp>
        <p:nvSpPr>
          <p:cNvPr id="39" name="ANS_175"/>
          <p:cNvSpPr txBox="1"/>
          <p:nvPr/>
        </p:nvSpPr>
        <p:spPr>
          <a:xfrm>
            <a:off x="7818120" y="494599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D ✗ 变长编码；F ✗ 频率越高编码越短。</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400"/>
                                        <p:tgtEl>
                                          <p:spTgt spid="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400"/>
                                        <p:tgtEl>
                                          <p:spTgt spid="2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400"/>
                                        <p:tgtEl>
                                          <p:spTgt spid="2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400"/>
                                        <p:tgtEl>
                                          <p:spTgt spid="3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400"/>
                                        <p:tgtEl>
                                          <p:spTgt spid="3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4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4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4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400"/>
                                        <p:tgtEl>
                                          <p:spTgt spid="3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4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Q5</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删除堆顶后的后序遍历</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对于下面的最大堆，删除最大元素后，堆的后序遍历结果是（数字间用空格隔开）：</a:t>
            </a:r>
            <a:endParaRPr lang="en-US" sz="2000" dirty="0"/>
          </a:p>
        </p:txBody>
      </p:sp>
      <p:sp>
        <p:nvSpPr>
          <p:cNvPr id="7" name="Shape 5"/>
          <p:cNvSpPr/>
          <p:nvPr/>
        </p:nvSpPr>
        <p:spPr>
          <a:xfrm>
            <a:off x="548640" y="2627376"/>
            <a:ext cx="6309360" cy="2151888"/>
          </a:xfrm>
          <a:prstGeom prst="roundRect">
            <a:avLst>
              <a:gd name="adj" fmla="val 3399"/>
            </a:avLst>
          </a:prstGeom>
          <a:solidFill>
            <a:srgbClr val="F1F4F2"/>
          </a:solidFill>
          <a:ln/>
        </p:spPr>
      </p:sp>
      <p:sp>
        <p:nvSpPr>
          <p:cNvPr id="8" name="Text 6"/>
          <p:cNvSpPr txBox="1"/>
          <p:nvPr/>
        </p:nvSpPr>
        <p:spPr>
          <a:xfrm>
            <a:off x="731520" y="2627376"/>
            <a:ext cx="6035040" cy="2151888"/>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65</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43        59</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24    37   48    57</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12 23 28  5 3</a:t>
            </a:r>
            <a:endParaRPr lang="en-US" sz="1600" dirty="0"/>
          </a:p>
        </p:txBody>
      </p:sp>
      <p:sp>
        <p:nvSpPr>
          <p:cNvPr id="9" name="ANS_176"/>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177"/>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178"/>
          <p:cNvSpPr txBox="1"/>
          <p:nvPr/>
        </p:nvSpPr>
        <p:spPr>
          <a:xfrm>
            <a:off x="7589520" y="1097280"/>
            <a:ext cx="3749040" cy="926592"/>
          </a:xfrm>
          <a:prstGeom prst="rect">
            <a:avLst/>
          </a:prstGeom>
          <a:noFill/>
          <a:ln/>
        </p:spPr>
        <p:txBody>
          <a:bodyPr wrap="square" lIns="0" tIns="0" rIns="0" bIns="0" rtlCol="0" anchor="ctr"/>
          <a:lstStyle/>
          <a:p>
            <a:pPr algn="l" indent="0" marL="0">
              <a:buNone/>
            </a:pPr>
            <a:r>
              <a:rPr lang="en-US" sz="2600" b="1" dirty="0">
                <a:solidFill>
                  <a:srgbClr val="1E3D34"/>
                </a:solidFill>
                <a:latin typeface="Microsoft YaHei" pitchFamily="34" charset="0"/>
                <a:ea typeface="Microsoft YaHei" pitchFamily="34" charset="-122"/>
                <a:cs typeface="Microsoft YaHei" pitchFamily="34" charset="-120"/>
              </a:rPr>
              <a:t>12 23 24 28 5 37 43 48 3 57 59</a:t>
            </a:r>
            <a:endParaRPr lang="en-US" sz="2600" dirty="0"/>
          </a:p>
        </p:txBody>
      </p:sp>
      <p:sp>
        <p:nvSpPr>
          <p:cNvPr id="12" name="ANS_179"/>
          <p:cNvSpPr txBox="1"/>
          <p:nvPr/>
        </p:nvSpPr>
        <p:spPr>
          <a:xfrm>
            <a:off x="7589520" y="2252472"/>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180"/>
          <p:cNvSpPr/>
          <p:nvPr/>
        </p:nvSpPr>
        <p:spPr>
          <a:xfrm>
            <a:off x="7616952" y="2806446"/>
            <a:ext cx="91440" cy="91440"/>
          </a:xfrm>
          <a:prstGeom prst="ellipse">
            <a:avLst/>
          </a:prstGeom>
          <a:solidFill>
            <a:srgbClr val="F2B134"/>
          </a:solidFill>
          <a:ln/>
        </p:spPr>
      </p:sp>
      <p:sp>
        <p:nvSpPr>
          <p:cNvPr id="14" name="ANS_181"/>
          <p:cNvSpPr txBox="1"/>
          <p:nvPr/>
        </p:nvSpPr>
        <p:spPr>
          <a:xfrm>
            <a:off x="7818120" y="2709672"/>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删除 65，把堆尾 3 移到堆顶。</a:t>
            </a:r>
            <a:endParaRPr lang="en-US" sz="1700" dirty="0"/>
          </a:p>
        </p:txBody>
      </p:sp>
      <p:sp>
        <p:nvSpPr>
          <p:cNvPr id="15" name="ANS_182"/>
          <p:cNvSpPr/>
          <p:nvPr/>
        </p:nvSpPr>
        <p:spPr>
          <a:xfrm>
            <a:off x="7616952" y="3286201"/>
            <a:ext cx="91440" cy="91440"/>
          </a:xfrm>
          <a:prstGeom prst="ellipse">
            <a:avLst/>
          </a:prstGeom>
          <a:solidFill>
            <a:srgbClr val="F2B134"/>
          </a:solidFill>
          <a:ln/>
        </p:spPr>
      </p:sp>
      <p:sp>
        <p:nvSpPr>
          <p:cNvPr id="16" name="ANS_183"/>
          <p:cNvSpPr txBox="1"/>
          <p:nvPr/>
        </p:nvSpPr>
        <p:spPr>
          <a:xfrm>
            <a:off x="7818120" y="3189427"/>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3 下沉：与较大孩子 59 交换，再与较大孩子 57 交换，落在叶子。</a:t>
            </a:r>
            <a:endParaRPr lang="en-US" sz="1700" dirty="0"/>
          </a:p>
        </p:txBody>
      </p:sp>
      <p:sp>
        <p:nvSpPr>
          <p:cNvPr id="17" name="ANS_184"/>
          <p:cNvSpPr/>
          <p:nvPr/>
        </p:nvSpPr>
        <p:spPr>
          <a:xfrm>
            <a:off x="7616952" y="4050944"/>
            <a:ext cx="91440" cy="91440"/>
          </a:xfrm>
          <a:prstGeom prst="ellipse">
            <a:avLst/>
          </a:prstGeom>
          <a:solidFill>
            <a:srgbClr val="F2B134"/>
          </a:solidFill>
          <a:ln/>
        </p:spPr>
      </p:sp>
      <p:sp>
        <p:nvSpPr>
          <p:cNvPr id="18" name="ANS_185"/>
          <p:cNvSpPr txBox="1"/>
          <p:nvPr/>
        </p:nvSpPr>
        <p:spPr>
          <a:xfrm>
            <a:off x="7818120" y="395417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新堆：59；43、57；24、37、48、3；12、23、28、5</a:t>
            </a:r>
            <a:endParaRPr lang="en-US" sz="1700" dirty="0"/>
          </a:p>
        </p:txBody>
      </p:sp>
      <p:sp>
        <p:nvSpPr>
          <p:cNvPr id="19" name="ANS_186"/>
          <p:cNvSpPr/>
          <p:nvPr/>
        </p:nvSpPr>
        <p:spPr>
          <a:xfrm>
            <a:off x="7616952" y="4815688"/>
            <a:ext cx="91440" cy="91440"/>
          </a:xfrm>
          <a:prstGeom prst="ellipse">
            <a:avLst/>
          </a:prstGeom>
          <a:solidFill>
            <a:srgbClr val="F2B134"/>
          </a:solidFill>
          <a:ln/>
        </p:spPr>
      </p:sp>
      <p:sp>
        <p:nvSpPr>
          <p:cNvPr id="20" name="ANS_187"/>
          <p:cNvSpPr txBox="1"/>
          <p:nvPr/>
        </p:nvSpPr>
        <p:spPr>
          <a:xfrm>
            <a:off x="7818120" y="4718914"/>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后序：左 → 右 → 根。</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Q6</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删除堆顶后的前序遍历</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对于题 5 的最大堆，删除最大元素后，堆的前序遍历结果是（数字间用空格隔开）：</a:t>
            </a:r>
            <a:endParaRPr lang="en-US" sz="2000" dirty="0"/>
          </a:p>
        </p:txBody>
      </p:sp>
      <p:sp>
        <p:nvSpPr>
          <p:cNvPr id="7" name="Shape 5"/>
          <p:cNvSpPr/>
          <p:nvPr/>
        </p:nvSpPr>
        <p:spPr>
          <a:xfrm>
            <a:off x="548640" y="2627376"/>
            <a:ext cx="6309360" cy="2151888"/>
          </a:xfrm>
          <a:prstGeom prst="roundRect">
            <a:avLst>
              <a:gd name="adj" fmla="val 3399"/>
            </a:avLst>
          </a:prstGeom>
          <a:solidFill>
            <a:srgbClr val="F1F4F2"/>
          </a:solidFill>
          <a:ln/>
        </p:spPr>
      </p:sp>
      <p:sp>
        <p:nvSpPr>
          <p:cNvPr id="8" name="Text 6"/>
          <p:cNvSpPr txBox="1"/>
          <p:nvPr/>
        </p:nvSpPr>
        <p:spPr>
          <a:xfrm>
            <a:off x="731520" y="2627376"/>
            <a:ext cx="6035040" cy="2151888"/>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65</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43        59</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24    37   48    57</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12 23 28  5 3</a:t>
            </a:r>
            <a:endParaRPr lang="en-US" sz="1600" dirty="0"/>
          </a:p>
        </p:txBody>
      </p:sp>
      <p:sp>
        <p:nvSpPr>
          <p:cNvPr id="9" name="ANS_188"/>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189"/>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190"/>
          <p:cNvSpPr txBox="1"/>
          <p:nvPr/>
        </p:nvSpPr>
        <p:spPr>
          <a:xfrm>
            <a:off x="7589520" y="1097280"/>
            <a:ext cx="3749040" cy="926592"/>
          </a:xfrm>
          <a:prstGeom prst="rect">
            <a:avLst/>
          </a:prstGeom>
          <a:noFill/>
          <a:ln/>
        </p:spPr>
        <p:txBody>
          <a:bodyPr wrap="square" lIns="0" tIns="0" rIns="0" bIns="0" rtlCol="0" anchor="ctr"/>
          <a:lstStyle/>
          <a:p>
            <a:pPr algn="l" indent="0" marL="0">
              <a:buNone/>
            </a:pPr>
            <a:r>
              <a:rPr lang="en-US" sz="2600" b="1" dirty="0">
                <a:solidFill>
                  <a:srgbClr val="1E3D34"/>
                </a:solidFill>
                <a:latin typeface="Microsoft YaHei" pitchFamily="34" charset="0"/>
                <a:ea typeface="Microsoft YaHei" pitchFamily="34" charset="-122"/>
                <a:cs typeface="Microsoft YaHei" pitchFamily="34" charset="-120"/>
              </a:rPr>
              <a:t>59 43 24 12 23 37 28 5 57 48 3</a:t>
            </a:r>
            <a:endParaRPr lang="en-US" sz="2600" dirty="0"/>
          </a:p>
        </p:txBody>
      </p:sp>
      <p:sp>
        <p:nvSpPr>
          <p:cNvPr id="12" name="ANS_191"/>
          <p:cNvSpPr txBox="1"/>
          <p:nvPr/>
        </p:nvSpPr>
        <p:spPr>
          <a:xfrm>
            <a:off x="7589520" y="2252472"/>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192"/>
          <p:cNvSpPr/>
          <p:nvPr/>
        </p:nvSpPr>
        <p:spPr>
          <a:xfrm>
            <a:off x="7616952" y="2806446"/>
            <a:ext cx="91440" cy="91440"/>
          </a:xfrm>
          <a:prstGeom prst="ellipse">
            <a:avLst/>
          </a:prstGeom>
          <a:solidFill>
            <a:srgbClr val="F2B134"/>
          </a:solidFill>
          <a:ln/>
        </p:spPr>
      </p:sp>
      <p:sp>
        <p:nvSpPr>
          <p:cNvPr id="14" name="ANS_193"/>
          <p:cNvSpPr txBox="1"/>
          <p:nvPr/>
        </p:nvSpPr>
        <p:spPr>
          <a:xfrm>
            <a:off x="7818120" y="2709672"/>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调整后的堆同上题（根为 59）。</a:t>
            </a:r>
            <a:endParaRPr lang="en-US" sz="1700" dirty="0"/>
          </a:p>
        </p:txBody>
      </p:sp>
      <p:sp>
        <p:nvSpPr>
          <p:cNvPr id="15" name="ANS_194"/>
          <p:cNvSpPr/>
          <p:nvPr/>
        </p:nvSpPr>
        <p:spPr>
          <a:xfrm>
            <a:off x="7616952" y="3286201"/>
            <a:ext cx="91440" cy="91440"/>
          </a:xfrm>
          <a:prstGeom prst="ellipse">
            <a:avLst/>
          </a:prstGeom>
          <a:solidFill>
            <a:srgbClr val="F2B134"/>
          </a:solidFill>
          <a:ln/>
        </p:spPr>
      </p:sp>
      <p:sp>
        <p:nvSpPr>
          <p:cNvPr id="16" name="ANS_195"/>
          <p:cNvSpPr txBox="1"/>
          <p:nvPr/>
        </p:nvSpPr>
        <p:spPr>
          <a:xfrm>
            <a:off x="7818120" y="3189427"/>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前序：根 → 左 → 右。</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Q7</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筛选法建最小堆的交换次数</a:t>
            </a:r>
            <a:endParaRPr lang="en-US" sz="2800" dirty="0"/>
          </a:p>
        </p:txBody>
      </p:sp>
      <p:sp>
        <p:nvSpPr>
          <p:cNvPr id="6" name="Text 4"/>
          <p:cNvSpPr txBox="1"/>
          <p:nvPr/>
        </p:nvSpPr>
        <p:spPr>
          <a:xfrm>
            <a:off x="548640" y="1645920"/>
            <a:ext cx="6309360" cy="106070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对关键码序列 {38, 64, 52, 15, 73, 40, 48, 55, 26, 12} 用筛选法建最小值堆，若一旦发现逆序对就进行交换，共需要交换元素多少次？</a:t>
            </a:r>
            <a:endParaRPr lang="en-US" sz="2000" dirty="0"/>
          </a:p>
        </p:txBody>
      </p:sp>
      <p:sp>
        <p:nvSpPr>
          <p:cNvPr id="7" name="ANS_196"/>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8" name="ANS_197"/>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9" name="ANS_198"/>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6</a:t>
            </a:r>
            <a:endParaRPr lang="en-US" sz="4400" dirty="0"/>
          </a:p>
        </p:txBody>
      </p:sp>
      <p:sp>
        <p:nvSpPr>
          <p:cNvPr id="10" name="ANS_199"/>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1" name="ANS_200"/>
          <p:cNvSpPr/>
          <p:nvPr/>
        </p:nvSpPr>
        <p:spPr>
          <a:xfrm>
            <a:off x="7616952" y="2740152"/>
            <a:ext cx="91440" cy="91440"/>
          </a:xfrm>
          <a:prstGeom prst="ellipse">
            <a:avLst/>
          </a:prstGeom>
          <a:solidFill>
            <a:srgbClr val="F2B134"/>
          </a:solidFill>
          <a:ln/>
        </p:spPr>
      </p:sp>
      <p:sp>
        <p:nvSpPr>
          <p:cNvPr id="12" name="ANS_201"/>
          <p:cNvSpPr txBox="1"/>
          <p:nvPr/>
        </p:nvSpPr>
        <p:spPr>
          <a:xfrm>
            <a:off x="7818120" y="2651760"/>
            <a:ext cx="3520440" cy="591312"/>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从最后一个分支结点（第 5 个）往前逐个下沉。</a:t>
            </a:r>
            <a:endParaRPr lang="en-US" sz="1600" dirty="0"/>
          </a:p>
        </p:txBody>
      </p:sp>
      <p:sp>
        <p:nvSpPr>
          <p:cNvPr id="13" name="ANS_202"/>
          <p:cNvSpPr/>
          <p:nvPr/>
        </p:nvSpPr>
        <p:spPr>
          <a:xfrm>
            <a:off x="7616952" y="3463138"/>
            <a:ext cx="91440" cy="91440"/>
          </a:xfrm>
          <a:prstGeom prst="ellipse">
            <a:avLst/>
          </a:prstGeom>
          <a:solidFill>
            <a:srgbClr val="F2B134"/>
          </a:solidFill>
          <a:ln/>
        </p:spPr>
      </p:sp>
      <p:sp>
        <p:nvSpPr>
          <p:cNvPr id="14" name="ANS_203"/>
          <p:cNvSpPr txBox="1"/>
          <p:nvPr/>
        </p:nvSpPr>
        <p:spPr>
          <a:xfrm>
            <a:off x="7818120" y="3374746"/>
            <a:ext cx="3520440" cy="591312"/>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73 与 12 交换：1 次；15 不动：0 次</a:t>
            </a:r>
            <a:endParaRPr lang="en-US" sz="1600" dirty="0"/>
          </a:p>
        </p:txBody>
      </p:sp>
      <p:sp>
        <p:nvSpPr>
          <p:cNvPr id="15" name="ANS_204"/>
          <p:cNvSpPr/>
          <p:nvPr/>
        </p:nvSpPr>
        <p:spPr>
          <a:xfrm>
            <a:off x="7616952" y="4186123"/>
            <a:ext cx="91440" cy="91440"/>
          </a:xfrm>
          <a:prstGeom prst="ellipse">
            <a:avLst/>
          </a:prstGeom>
          <a:solidFill>
            <a:srgbClr val="F2B134"/>
          </a:solidFill>
          <a:ln/>
        </p:spPr>
      </p:sp>
      <p:sp>
        <p:nvSpPr>
          <p:cNvPr id="16" name="ANS_205"/>
          <p:cNvSpPr txBox="1"/>
          <p:nvPr/>
        </p:nvSpPr>
        <p:spPr>
          <a:xfrm>
            <a:off x="7818120" y="4097731"/>
            <a:ext cx="3520440" cy="591312"/>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52 与 40 交换：1 次；64 与 12 交换：1 次</a:t>
            </a:r>
            <a:endParaRPr lang="en-US" sz="1600" dirty="0"/>
          </a:p>
        </p:txBody>
      </p:sp>
      <p:sp>
        <p:nvSpPr>
          <p:cNvPr id="17" name="ANS_206"/>
          <p:cNvSpPr/>
          <p:nvPr/>
        </p:nvSpPr>
        <p:spPr>
          <a:xfrm>
            <a:off x="7616952" y="4909109"/>
            <a:ext cx="91440" cy="91440"/>
          </a:xfrm>
          <a:prstGeom prst="ellipse">
            <a:avLst/>
          </a:prstGeom>
          <a:solidFill>
            <a:srgbClr val="F2B134"/>
          </a:solidFill>
          <a:ln/>
        </p:spPr>
      </p:sp>
      <p:sp>
        <p:nvSpPr>
          <p:cNvPr id="18" name="ANS_207"/>
          <p:cNvSpPr txBox="1"/>
          <p:nvPr/>
        </p:nvSpPr>
        <p:spPr>
          <a:xfrm>
            <a:off x="7818120" y="4820717"/>
            <a:ext cx="3520440" cy="323088"/>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38 依次与 12、15、26 交换：3 次</a:t>
            </a:r>
            <a:endParaRPr lang="en-US" sz="1600" dirty="0"/>
          </a:p>
        </p:txBody>
      </p:sp>
      <p:sp>
        <p:nvSpPr>
          <p:cNvPr id="19" name="ANS_208"/>
          <p:cNvSpPr/>
          <p:nvPr/>
        </p:nvSpPr>
        <p:spPr>
          <a:xfrm>
            <a:off x="7616952" y="5363870"/>
            <a:ext cx="91440" cy="91440"/>
          </a:xfrm>
          <a:prstGeom prst="ellipse">
            <a:avLst/>
          </a:prstGeom>
          <a:solidFill>
            <a:srgbClr val="F2B134"/>
          </a:solidFill>
          <a:ln/>
        </p:spPr>
      </p:sp>
      <p:sp>
        <p:nvSpPr>
          <p:cNvPr id="20" name="ANS_209"/>
          <p:cNvSpPr txBox="1"/>
          <p:nvPr/>
        </p:nvSpPr>
        <p:spPr>
          <a:xfrm>
            <a:off x="7818120" y="5275478"/>
            <a:ext cx="3520440" cy="591312"/>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共 6 次，得 [12, 15, 40, 26, 64, 52, 48, 55, 38, 73]</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Q8</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深度最小的插入顺序</a:t>
            </a:r>
            <a:endParaRPr lang="en-US" sz="2800" dirty="0"/>
          </a:p>
        </p:txBody>
      </p:sp>
      <p:sp>
        <p:nvSpPr>
          <p:cNvPr id="6" name="Text 4"/>
          <p:cNvSpPr txBox="1"/>
          <p:nvPr/>
        </p:nvSpPr>
        <p:spPr>
          <a:xfrm>
            <a:off x="548640" y="1645920"/>
            <a:ext cx="6309360" cy="139598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从空二叉树开始，按二叉搜索树插入算法，以怎样的顺序插入 {14, 32, 47, 6, 9, 12, 78, 63, 29, 81} 可使树的深度最小？（有多种时，使先插入的元素尽可能小，数字间用单空格隔开）</a:t>
            </a:r>
            <a:endParaRPr lang="en-US" sz="2000" dirty="0"/>
          </a:p>
        </p:txBody>
      </p:sp>
      <p:sp>
        <p:nvSpPr>
          <p:cNvPr id="7" name="ANS_210"/>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8" name="ANS_211"/>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9" name="ANS_212"/>
          <p:cNvSpPr txBox="1"/>
          <p:nvPr/>
        </p:nvSpPr>
        <p:spPr>
          <a:xfrm>
            <a:off x="7589520" y="1097280"/>
            <a:ext cx="3749040" cy="926592"/>
          </a:xfrm>
          <a:prstGeom prst="rect">
            <a:avLst/>
          </a:prstGeom>
          <a:noFill/>
          <a:ln/>
        </p:spPr>
        <p:txBody>
          <a:bodyPr wrap="square" lIns="0" tIns="0" rIns="0" bIns="0" rtlCol="0" anchor="ctr"/>
          <a:lstStyle/>
          <a:p>
            <a:pPr algn="l" indent="0" marL="0">
              <a:buNone/>
            </a:pPr>
            <a:r>
              <a:rPr lang="en-US" sz="2600" b="1" dirty="0">
                <a:solidFill>
                  <a:srgbClr val="1E3D34"/>
                </a:solidFill>
                <a:latin typeface="Microsoft YaHei" pitchFamily="34" charset="0"/>
                <a:ea typeface="Microsoft YaHei" pitchFamily="34" charset="-122"/>
                <a:cs typeface="Microsoft YaHei" pitchFamily="34" charset="-120"/>
              </a:rPr>
              <a:t>12 6 9 47 29 14 32 78 63 81</a:t>
            </a:r>
            <a:endParaRPr lang="en-US" sz="2600" dirty="0"/>
          </a:p>
        </p:txBody>
      </p:sp>
      <p:sp>
        <p:nvSpPr>
          <p:cNvPr id="10" name="ANS_213"/>
          <p:cNvSpPr txBox="1"/>
          <p:nvPr/>
        </p:nvSpPr>
        <p:spPr>
          <a:xfrm>
            <a:off x="7589520" y="2252472"/>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1" name="ANS_214"/>
          <p:cNvSpPr/>
          <p:nvPr/>
        </p:nvSpPr>
        <p:spPr>
          <a:xfrm>
            <a:off x="7616952" y="2806446"/>
            <a:ext cx="91440" cy="91440"/>
          </a:xfrm>
          <a:prstGeom prst="ellipse">
            <a:avLst/>
          </a:prstGeom>
          <a:solidFill>
            <a:srgbClr val="F2B134"/>
          </a:solidFill>
          <a:ln/>
        </p:spPr>
      </p:sp>
      <p:sp>
        <p:nvSpPr>
          <p:cNvPr id="12" name="ANS_215"/>
          <p:cNvSpPr txBox="1"/>
          <p:nvPr/>
        </p:nvSpPr>
        <p:spPr>
          <a:xfrm>
            <a:off x="7818120" y="2709672"/>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10 个结点最小深度为 4，左右子树各最多 7 个结点。</a:t>
            </a:r>
            <a:endParaRPr lang="en-US" sz="1700" dirty="0"/>
          </a:p>
        </p:txBody>
      </p:sp>
      <p:sp>
        <p:nvSpPr>
          <p:cNvPr id="13" name="ANS_216"/>
          <p:cNvSpPr/>
          <p:nvPr/>
        </p:nvSpPr>
        <p:spPr>
          <a:xfrm>
            <a:off x="7616952" y="3571189"/>
            <a:ext cx="91440" cy="91440"/>
          </a:xfrm>
          <a:prstGeom prst="ellipse">
            <a:avLst/>
          </a:prstGeom>
          <a:solidFill>
            <a:srgbClr val="F2B134"/>
          </a:solidFill>
          <a:ln/>
        </p:spPr>
      </p:sp>
      <p:sp>
        <p:nvSpPr>
          <p:cNvPr id="14" name="ANS_217"/>
          <p:cNvSpPr txBox="1"/>
          <p:nvPr/>
        </p:nvSpPr>
        <p:spPr>
          <a:xfrm>
            <a:off x="7818120" y="3474415"/>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根的名次至少为 3 → 最小的可行根是 12，左子树 {6, 9}。</a:t>
            </a:r>
            <a:endParaRPr lang="en-US" sz="1700" dirty="0"/>
          </a:p>
        </p:txBody>
      </p:sp>
      <p:sp>
        <p:nvSpPr>
          <p:cNvPr id="15" name="ANS_218"/>
          <p:cNvSpPr/>
          <p:nvPr/>
        </p:nvSpPr>
        <p:spPr>
          <a:xfrm>
            <a:off x="7616952" y="4335932"/>
            <a:ext cx="91440" cy="91440"/>
          </a:xfrm>
          <a:prstGeom prst="ellipse">
            <a:avLst/>
          </a:prstGeom>
          <a:solidFill>
            <a:srgbClr val="F2B134"/>
          </a:solidFill>
          <a:ln/>
        </p:spPr>
      </p:sp>
      <p:sp>
        <p:nvSpPr>
          <p:cNvPr id="16" name="ANS_219"/>
          <p:cNvSpPr txBox="1"/>
          <p:nvPr/>
        </p:nvSpPr>
        <p:spPr>
          <a:xfrm>
            <a:off x="7818120" y="4239158"/>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右子树 7 个结点须是满树：根 47，再分别以 29、78 为根。</a:t>
            </a:r>
            <a:endParaRPr lang="en-US" sz="1700" dirty="0"/>
          </a:p>
        </p:txBody>
      </p:sp>
      <p:sp>
        <p:nvSpPr>
          <p:cNvPr id="17" name="ANS_220"/>
          <p:cNvSpPr/>
          <p:nvPr/>
        </p:nvSpPr>
        <p:spPr>
          <a:xfrm>
            <a:off x="7616952" y="5100676"/>
            <a:ext cx="91440" cy="91440"/>
          </a:xfrm>
          <a:prstGeom prst="ellipse">
            <a:avLst/>
          </a:prstGeom>
          <a:solidFill>
            <a:srgbClr val="F2B134"/>
          </a:solidFill>
          <a:ln/>
        </p:spPr>
      </p:sp>
      <p:sp>
        <p:nvSpPr>
          <p:cNvPr id="18" name="ANS_221"/>
          <p:cNvSpPr txBox="1"/>
          <p:nvPr/>
        </p:nvSpPr>
        <p:spPr>
          <a:xfrm>
            <a:off x="7818120" y="5003902"/>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每步都选当前能保证深度 4 的最小元素。</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Q9</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BST 的后序遍历</a:t>
            </a:r>
            <a:endParaRPr lang="en-US" sz="2800" dirty="0"/>
          </a:p>
        </p:txBody>
      </p:sp>
      <p:sp>
        <p:nvSpPr>
          <p:cNvPr id="6" name="Text 4"/>
          <p:cNvSpPr txBox="1"/>
          <p:nvPr/>
        </p:nvSpPr>
        <p:spPr>
          <a:xfrm>
            <a:off x="548640" y="1645920"/>
            <a:ext cx="6309360" cy="106070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从空二叉树开始，逐个插入关键码 {18, 73, 10, 5, 68, 99, 27, 41, 51, 32, 25} 构造二叉搜索树，其后序遍历结果为：</a:t>
            </a:r>
            <a:endParaRPr lang="en-US" sz="2000" dirty="0"/>
          </a:p>
        </p:txBody>
      </p:sp>
      <p:sp>
        <p:nvSpPr>
          <p:cNvPr id="7" name="Shape 5"/>
          <p:cNvSpPr/>
          <p:nvPr/>
        </p:nvSpPr>
        <p:spPr>
          <a:xfrm>
            <a:off x="548640" y="2962656"/>
            <a:ext cx="6309360" cy="3224784"/>
          </a:xfrm>
          <a:prstGeom prst="roundRect">
            <a:avLst>
              <a:gd name="adj" fmla="val 2268"/>
            </a:avLst>
          </a:prstGeom>
          <a:solidFill>
            <a:srgbClr val="F1F4F2"/>
          </a:solidFill>
          <a:ln/>
        </p:spPr>
      </p:sp>
      <p:sp>
        <p:nvSpPr>
          <p:cNvPr id="8" name="Text 6"/>
          <p:cNvSpPr txBox="1"/>
          <p:nvPr/>
        </p:nvSpPr>
        <p:spPr>
          <a:xfrm>
            <a:off x="731520" y="2962656"/>
            <a:ext cx="6035040" cy="3224784"/>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18</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10    73</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5    68    99</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27</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25    41</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32    51</a:t>
            </a:r>
            <a:endParaRPr lang="en-US" sz="1600" dirty="0"/>
          </a:p>
        </p:txBody>
      </p:sp>
      <p:sp>
        <p:nvSpPr>
          <p:cNvPr id="9" name="ANS_222"/>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223"/>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224"/>
          <p:cNvSpPr txBox="1"/>
          <p:nvPr/>
        </p:nvSpPr>
        <p:spPr>
          <a:xfrm>
            <a:off x="7589520" y="1097280"/>
            <a:ext cx="3749040" cy="926592"/>
          </a:xfrm>
          <a:prstGeom prst="rect">
            <a:avLst/>
          </a:prstGeom>
          <a:noFill/>
          <a:ln/>
        </p:spPr>
        <p:txBody>
          <a:bodyPr wrap="square" lIns="0" tIns="0" rIns="0" bIns="0" rtlCol="0" anchor="ctr"/>
          <a:lstStyle/>
          <a:p>
            <a:pPr algn="l" indent="0" marL="0">
              <a:buNone/>
            </a:pPr>
            <a:r>
              <a:rPr lang="en-US" sz="2600" b="1" dirty="0">
                <a:solidFill>
                  <a:srgbClr val="1E3D34"/>
                </a:solidFill>
                <a:latin typeface="Microsoft YaHei" pitchFamily="34" charset="0"/>
                <a:ea typeface="Microsoft YaHei" pitchFamily="34" charset="-122"/>
                <a:cs typeface="Microsoft YaHei" pitchFamily="34" charset="-120"/>
              </a:rPr>
              <a:t>5 10 25 32 51 41 27 68 99 73 18</a:t>
            </a:r>
            <a:endParaRPr lang="en-US" sz="2600" dirty="0"/>
          </a:p>
        </p:txBody>
      </p:sp>
      <p:sp>
        <p:nvSpPr>
          <p:cNvPr id="12" name="ANS_225"/>
          <p:cNvSpPr txBox="1"/>
          <p:nvPr/>
        </p:nvSpPr>
        <p:spPr>
          <a:xfrm>
            <a:off x="7589520" y="2252472"/>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226"/>
          <p:cNvSpPr/>
          <p:nvPr/>
        </p:nvSpPr>
        <p:spPr>
          <a:xfrm>
            <a:off x="7616952" y="2806446"/>
            <a:ext cx="91440" cy="91440"/>
          </a:xfrm>
          <a:prstGeom prst="ellipse">
            <a:avLst/>
          </a:prstGeom>
          <a:solidFill>
            <a:srgbClr val="F2B134"/>
          </a:solidFill>
          <a:ln/>
        </p:spPr>
      </p:sp>
      <p:sp>
        <p:nvSpPr>
          <p:cNvPr id="14" name="ANS_227"/>
          <p:cNvSpPr txBox="1"/>
          <p:nvPr/>
        </p:nvSpPr>
        <p:spPr>
          <a:xfrm>
            <a:off x="7818120" y="2709672"/>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按插入顺序逐个比较落位，得到左图的树。</a:t>
            </a:r>
            <a:endParaRPr lang="en-US" sz="1700" dirty="0"/>
          </a:p>
        </p:txBody>
      </p:sp>
      <p:sp>
        <p:nvSpPr>
          <p:cNvPr id="15" name="ANS_228"/>
          <p:cNvSpPr/>
          <p:nvPr/>
        </p:nvSpPr>
        <p:spPr>
          <a:xfrm>
            <a:off x="7616952" y="3571189"/>
            <a:ext cx="91440" cy="91440"/>
          </a:xfrm>
          <a:prstGeom prst="ellipse">
            <a:avLst/>
          </a:prstGeom>
          <a:solidFill>
            <a:srgbClr val="F2B134"/>
          </a:solidFill>
          <a:ln/>
        </p:spPr>
      </p:sp>
      <p:sp>
        <p:nvSpPr>
          <p:cNvPr id="16" name="ANS_229"/>
          <p:cNvSpPr txBox="1"/>
          <p:nvPr/>
        </p:nvSpPr>
        <p:spPr>
          <a:xfrm>
            <a:off x="7818120" y="3474415"/>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后序：左 → 右 → 根。</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Q10</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BST 的前序遍历</a:t>
            </a:r>
            <a:endParaRPr lang="en-US" sz="2800" dirty="0"/>
          </a:p>
        </p:txBody>
      </p:sp>
      <p:sp>
        <p:nvSpPr>
          <p:cNvPr id="6" name="Text 4"/>
          <p:cNvSpPr txBox="1"/>
          <p:nvPr/>
        </p:nvSpPr>
        <p:spPr>
          <a:xfrm>
            <a:off x="548640" y="1645920"/>
            <a:ext cx="6309360" cy="39014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如题 9 同样地，该树的前序遍历结果为：</a:t>
            </a:r>
            <a:endParaRPr lang="en-US" sz="2000" dirty="0"/>
          </a:p>
        </p:txBody>
      </p:sp>
      <p:sp>
        <p:nvSpPr>
          <p:cNvPr id="7" name="Shape 5"/>
          <p:cNvSpPr/>
          <p:nvPr/>
        </p:nvSpPr>
        <p:spPr>
          <a:xfrm>
            <a:off x="548640" y="2292096"/>
            <a:ext cx="6309360" cy="3224784"/>
          </a:xfrm>
          <a:prstGeom prst="roundRect">
            <a:avLst>
              <a:gd name="adj" fmla="val 2268"/>
            </a:avLst>
          </a:prstGeom>
          <a:solidFill>
            <a:srgbClr val="F1F4F2"/>
          </a:solidFill>
          <a:ln/>
        </p:spPr>
      </p:sp>
      <p:sp>
        <p:nvSpPr>
          <p:cNvPr id="8" name="Text 6"/>
          <p:cNvSpPr txBox="1"/>
          <p:nvPr/>
        </p:nvSpPr>
        <p:spPr>
          <a:xfrm>
            <a:off x="731520" y="2292096"/>
            <a:ext cx="6035040" cy="3224784"/>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18</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10    73</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5    68    99</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27</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25    41</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32    51</a:t>
            </a:r>
            <a:endParaRPr lang="en-US" sz="1600" dirty="0"/>
          </a:p>
        </p:txBody>
      </p:sp>
      <p:sp>
        <p:nvSpPr>
          <p:cNvPr id="9" name="ANS_230"/>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231"/>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232"/>
          <p:cNvSpPr txBox="1"/>
          <p:nvPr/>
        </p:nvSpPr>
        <p:spPr>
          <a:xfrm>
            <a:off x="7589520" y="1097280"/>
            <a:ext cx="3749040" cy="926592"/>
          </a:xfrm>
          <a:prstGeom prst="rect">
            <a:avLst/>
          </a:prstGeom>
          <a:noFill/>
          <a:ln/>
        </p:spPr>
        <p:txBody>
          <a:bodyPr wrap="square" lIns="0" tIns="0" rIns="0" bIns="0" rtlCol="0" anchor="ctr"/>
          <a:lstStyle/>
          <a:p>
            <a:pPr algn="l" indent="0" marL="0">
              <a:buNone/>
            </a:pPr>
            <a:r>
              <a:rPr lang="en-US" sz="2600" b="1" dirty="0">
                <a:solidFill>
                  <a:srgbClr val="1E3D34"/>
                </a:solidFill>
                <a:latin typeface="Microsoft YaHei" pitchFamily="34" charset="0"/>
                <a:ea typeface="Microsoft YaHei" pitchFamily="34" charset="-122"/>
                <a:cs typeface="Microsoft YaHei" pitchFamily="34" charset="-120"/>
              </a:rPr>
              <a:t>18 10 5 73 68 27 25 41 32 51 99</a:t>
            </a:r>
            <a:endParaRPr lang="en-US" sz="2600" dirty="0"/>
          </a:p>
        </p:txBody>
      </p:sp>
      <p:sp>
        <p:nvSpPr>
          <p:cNvPr id="12" name="ANS_233"/>
          <p:cNvSpPr txBox="1"/>
          <p:nvPr/>
        </p:nvSpPr>
        <p:spPr>
          <a:xfrm>
            <a:off x="7589520" y="2252472"/>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234"/>
          <p:cNvSpPr/>
          <p:nvPr/>
        </p:nvSpPr>
        <p:spPr>
          <a:xfrm>
            <a:off x="7616952" y="2806446"/>
            <a:ext cx="91440" cy="91440"/>
          </a:xfrm>
          <a:prstGeom prst="ellipse">
            <a:avLst/>
          </a:prstGeom>
          <a:solidFill>
            <a:srgbClr val="F2B134"/>
          </a:solidFill>
          <a:ln/>
        </p:spPr>
      </p:sp>
      <p:sp>
        <p:nvSpPr>
          <p:cNvPr id="14" name="ANS_235"/>
          <p:cNvSpPr txBox="1"/>
          <p:nvPr/>
        </p:nvSpPr>
        <p:spPr>
          <a:xfrm>
            <a:off x="7818120" y="2709672"/>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前序：根 → 左 → 右。</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Q11</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递增插入的平均比较次数</a:t>
            </a:r>
            <a:endParaRPr lang="en-US" sz="2800" dirty="0"/>
          </a:p>
        </p:txBody>
      </p:sp>
      <p:sp>
        <p:nvSpPr>
          <p:cNvPr id="6" name="Text 4"/>
          <p:cNvSpPr txBox="1"/>
          <p:nvPr/>
        </p:nvSpPr>
        <p:spPr>
          <a:xfrm>
            <a:off x="548640" y="1645920"/>
            <a:ext cx="6309360" cy="106070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按关键码递增的顺序依次将 n 个关键码插入二叉搜索树，检索时每个关键码等概率被选取，平均比较次数为多少？</a:t>
            </a:r>
            <a:endParaRPr lang="en-US" sz="2000" dirty="0"/>
          </a:p>
        </p:txBody>
      </p:sp>
      <p:sp>
        <p:nvSpPr>
          <p:cNvPr id="7" name="ANS_236"/>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8" name="ANS_237"/>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9" name="ANS_238"/>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(n+1)/2</a:t>
            </a:r>
            <a:endParaRPr lang="en-US" sz="4400" dirty="0"/>
          </a:p>
        </p:txBody>
      </p:sp>
      <p:sp>
        <p:nvSpPr>
          <p:cNvPr id="10" name="ANS_239"/>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1" name="ANS_240"/>
          <p:cNvSpPr/>
          <p:nvPr/>
        </p:nvSpPr>
        <p:spPr>
          <a:xfrm>
            <a:off x="7616952" y="2748534"/>
            <a:ext cx="91440" cy="91440"/>
          </a:xfrm>
          <a:prstGeom prst="ellipse">
            <a:avLst/>
          </a:prstGeom>
          <a:solidFill>
            <a:srgbClr val="F2B134"/>
          </a:solidFill>
          <a:ln/>
        </p:spPr>
      </p:sp>
      <p:sp>
        <p:nvSpPr>
          <p:cNvPr id="12" name="ANS_241"/>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递增插入时 BST 退化为一条右斜链。</a:t>
            </a:r>
            <a:endParaRPr lang="en-US" sz="1700" dirty="0"/>
          </a:p>
        </p:txBody>
      </p:sp>
      <p:sp>
        <p:nvSpPr>
          <p:cNvPr id="13" name="ANS_242"/>
          <p:cNvSpPr/>
          <p:nvPr/>
        </p:nvSpPr>
        <p:spPr>
          <a:xfrm>
            <a:off x="7616952" y="3513277"/>
            <a:ext cx="91440" cy="91440"/>
          </a:xfrm>
          <a:prstGeom prst="ellipse">
            <a:avLst/>
          </a:prstGeom>
          <a:solidFill>
            <a:srgbClr val="F2B134"/>
          </a:solidFill>
          <a:ln/>
        </p:spPr>
      </p:sp>
      <p:sp>
        <p:nvSpPr>
          <p:cNvPr id="14" name="ANS_243"/>
          <p:cNvSpPr txBox="1"/>
          <p:nvPr/>
        </p:nvSpPr>
        <p:spPr>
          <a:xfrm>
            <a:off x="7818120" y="3416503"/>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查第 i 个关键码要比较 i 次。</a:t>
            </a:r>
            <a:endParaRPr lang="en-US" sz="1700" dirty="0"/>
          </a:p>
        </p:txBody>
      </p:sp>
      <p:sp>
        <p:nvSpPr>
          <p:cNvPr id="15" name="ANS_244"/>
          <p:cNvSpPr/>
          <p:nvPr/>
        </p:nvSpPr>
        <p:spPr>
          <a:xfrm>
            <a:off x="7616952" y="3993032"/>
            <a:ext cx="91440" cy="91440"/>
          </a:xfrm>
          <a:prstGeom prst="ellipse">
            <a:avLst/>
          </a:prstGeom>
          <a:solidFill>
            <a:srgbClr val="F2B134"/>
          </a:solidFill>
          <a:ln/>
        </p:spPr>
      </p:sp>
      <p:sp>
        <p:nvSpPr>
          <p:cNvPr id="16" name="ANS_245"/>
          <p:cNvSpPr txBox="1"/>
          <p:nvPr/>
        </p:nvSpPr>
        <p:spPr>
          <a:xfrm>
            <a:off x="7818120" y="3896258"/>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ASL = (1 + 2 + … + n) / n = (n+1)/2</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Q12</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状态栈：后序访问点</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下面用栈与 tag 标记模拟递归遍历。若用它做后序遍历，应在几号访问点访问？（只填数字）</a:t>
            </a:r>
            <a:endParaRPr lang="en-US" sz="2000" dirty="0"/>
          </a:p>
        </p:txBody>
      </p:sp>
      <p:sp>
        <p:nvSpPr>
          <p:cNvPr id="7" name="Shape 5"/>
          <p:cNvSpPr/>
          <p:nvPr/>
        </p:nvSpPr>
        <p:spPr>
          <a:xfrm>
            <a:off x="548640" y="2627376"/>
            <a:ext cx="6309360" cy="3267477"/>
          </a:xfrm>
          <a:prstGeom prst="roundRect">
            <a:avLst>
              <a:gd name="adj" fmla="val 2239"/>
            </a:avLst>
          </a:prstGeom>
          <a:solidFill>
            <a:srgbClr val="F1F4F2"/>
          </a:solidFill>
          <a:ln/>
        </p:spPr>
      </p:sp>
      <p:sp>
        <p:nvSpPr>
          <p:cNvPr id="8" name="Text 6"/>
          <p:cNvSpPr txBox="1"/>
          <p:nvPr/>
        </p:nvSpPr>
        <p:spPr>
          <a:xfrm>
            <a:off x="731520" y="2627376"/>
            <a:ext cx="6035040" cy="3267477"/>
          </a:xfrm>
          <a:prstGeom prst="rect">
            <a:avLst/>
          </a:prstGeom>
          <a:noFill/>
          <a:ln/>
        </p:spPr>
        <p:txBody>
          <a:bodyPr wrap="square" lIns="0" tIns="0" rIns="0" bIns="0" rtlCol="0" anchor="ctr"/>
          <a:lstStyle/>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while (!aStack.empty() || pointer) {</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    while (pointer != NULL) {</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        // 1号访问点</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        element.pointer = pointer; element.tag = Left;</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        aStack.push(element); pointer = pointer-&gt;leftchild();</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    }</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    element = aStack.top(); aStack.pop(); pointer = element.pointer;</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    if (element.tag == Left) {</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        // 2号访问点</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        element.tag = Right; aStack.push(element);</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        pointer = pointer-&gt;rightchild();</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    } else {</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        // 3号访问点</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        pointer = NULL;</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    }</a:t>
            </a:r>
            <a:endParaRPr lang="en-US" sz="1116" dirty="0"/>
          </a:p>
          <a:p>
            <a:pPr indent="0" marL="0">
              <a:lnSpc>
                <a:spcPct val="100000"/>
              </a:lnSpc>
              <a:buNone/>
            </a:pPr>
            <a:r>
              <a:rPr lang="en-US" sz="1116" dirty="0">
                <a:solidFill>
                  <a:srgbClr val="1B2B24"/>
                </a:solidFill>
                <a:latin typeface="Courier New" pitchFamily="34" charset="0"/>
                <a:ea typeface="Courier New" pitchFamily="34" charset="-122"/>
                <a:cs typeface="Courier New" pitchFamily="34" charset="-120"/>
              </a:rPr>
              <a:t>}</a:t>
            </a:r>
            <a:endParaRPr lang="en-US" sz="1116" dirty="0"/>
          </a:p>
        </p:txBody>
      </p:sp>
      <p:sp>
        <p:nvSpPr>
          <p:cNvPr id="9" name="ANS_246"/>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247"/>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248"/>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3</a:t>
            </a:r>
            <a:endParaRPr lang="en-US" sz="4400" dirty="0"/>
          </a:p>
        </p:txBody>
      </p:sp>
      <p:sp>
        <p:nvSpPr>
          <p:cNvPr id="12" name="ANS_249"/>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250"/>
          <p:cNvSpPr/>
          <p:nvPr/>
        </p:nvSpPr>
        <p:spPr>
          <a:xfrm>
            <a:off x="7616952" y="2748534"/>
            <a:ext cx="91440" cy="91440"/>
          </a:xfrm>
          <a:prstGeom prst="ellipse">
            <a:avLst/>
          </a:prstGeom>
          <a:solidFill>
            <a:srgbClr val="F2B134"/>
          </a:solidFill>
          <a:ln/>
        </p:spPr>
      </p:sp>
      <p:sp>
        <p:nvSpPr>
          <p:cNvPr id="14" name="ANS_251"/>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1 号：第一次遇到结点、准备向左走 → 前序位置。</a:t>
            </a:r>
            <a:endParaRPr lang="en-US" sz="1700" dirty="0"/>
          </a:p>
        </p:txBody>
      </p:sp>
      <p:sp>
        <p:nvSpPr>
          <p:cNvPr id="15" name="ANS_252"/>
          <p:cNvSpPr/>
          <p:nvPr/>
        </p:nvSpPr>
        <p:spPr>
          <a:xfrm>
            <a:off x="7616952" y="3513277"/>
            <a:ext cx="91440" cy="91440"/>
          </a:xfrm>
          <a:prstGeom prst="ellipse">
            <a:avLst/>
          </a:prstGeom>
          <a:solidFill>
            <a:srgbClr val="F2B134"/>
          </a:solidFill>
          <a:ln/>
        </p:spPr>
      </p:sp>
      <p:sp>
        <p:nvSpPr>
          <p:cNvPr id="16" name="ANS_253"/>
          <p:cNvSpPr txBox="1"/>
          <p:nvPr/>
        </p:nvSpPr>
        <p:spPr>
          <a:xfrm>
            <a:off x="7818120" y="3416503"/>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2 号：左子树处理完、tag 改为 Right 转向右子树 → 中序位置。</a:t>
            </a:r>
            <a:endParaRPr lang="en-US" sz="1700" dirty="0"/>
          </a:p>
        </p:txBody>
      </p:sp>
      <p:sp>
        <p:nvSpPr>
          <p:cNvPr id="17" name="ANS_254"/>
          <p:cNvSpPr/>
          <p:nvPr/>
        </p:nvSpPr>
        <p:spPr>
          <a:xfrm>
            <a:off x="7616952" y="4278020"/>
            <a:ext cx="91440" cy="91440"/>
          </a:xfrm>
          <a:prstGeom prst="ellipse">
            <a:avLst/>
          </a:prstGeom>
          <a:solidFill>
            <a:srgbClr val="F2B134"/>
          </a:solidFill>
          <a:ln/>
        </p:spPr>
      </p:sp>
      <p:sp>
        <p:nvSpPr>
          <p:cNvPr id="18" name="ANS_255"/>
          <p:cNvSpPr txBox="1"/>
          <p:nvPr/>
        </p:nvSpPr>
        <p:spPr>
          <a:xfrm>
            <a:off x="7818120" y="4181246"/>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3 号：右子树也处理完、结点最终出栈 → </a:t>
            </a:r>
            <a:r>
              <a:rPr lang="en-US" sz="1700" b="1" dirty="0">
                <a:solidFill>
                  <a:srgbClr val="1E3D34"/>
                </a:solidFill>
                <a:latin typeface="Microsoft YaHei" pitchFamily="34" charset="0"/>
                <a:ea typeface="Microsoft YaHei" pitchFamily="34" charset="-122"/>
                <a:cs typeface="Microsoft YaHei" pitchFamily="34" charset="-120"/>
              </a:rPr>
              <a:t>后序位置</a:t>
            </a:r>
            <a:r>
              <a:rPr lang="en-US" sz="1700" dirty="0">
                <a:solidFill>
                  <a:srgbClr val="2B2B2B"/>
                </a:solidFill>
                <a:latin typeface="Microsoft YaHei" pitchFamily="34" charset="0"/>
                <a:ea typeface="Microsoft YaHei" pitchFamily="34" charset="-122"/>
                <a:cs typeface="Microsoft YaHei" pitchFamily="34" charset="-120"/>
              </a:rPr>
              <a:t>。</a:t>
            </a:r>
            <a:endParaRPr lang="en-US" sz="1700" dirty="0"/>
          </a:p>
        </p:txBody>
      </p:sp>
      <p:sp>
        <p:nvSpPr>
          <p:cNvPr id="19" name="ANS_256"/>
          <p:cNvSpPr/>
          <p:nvPr/>
        </p:nvSpPr>
        <p:spPr>
          <a:xfrm>
            <a:off x="7616952" y="5042764"/>
            <a:ext cx="91440" cy="91440"/>
          </a:xfrm>
          <a:prstGeom prst="ellipse">
            <a:avLst/>
          </a:prstGeom>
          <a:solidFill>
            <a:srgbClr val="F2B134"/>
          </a:solidFill>
          <a:ln/>
        </p:spPr>
      </p:sp>
      <p:sp>
        <p:nvSpPr>
          <p:cNvPr id="20" name="ANS_257"/>
          <p:cNvSpPr txBox="1"/>
          <p:nvPr/>
        </p:nvSpPr>
        <p:spPr>
          <a:xfrm>
            <a:off x="7818120" y="494599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tag 用来区分结点是从左子树还是从右子树返回。</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Q13</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状态栈：中序访问点</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若题 12 的代码用来进行中序遍历，应在几号访问点访问？（只填数字）</a:t>
            </a:r>
            <a:endParaRPr lang="en-US" sz="2000" dirty="0"/>
          </a:p>
        </p:txBody>
      </p:sp>
      <p:sp>
        <p:nvSpPr>
          <p:cNvPr id="7" name="ANS_258"/>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8" name="ANS_259"/>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9" name="ANS_260"/>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2</a:t>
            </a:r>
            <a:endParaRPr lang="en-US" sz="4400" dirty="0"/>
          </a:p>
        </p:txBody>
      </p:sp>
      <p:sp>
        <p:nvSpPr>
          <p:cNvPr id="10" name="ANS_261"/>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1" name="ANS_262"/>
          <p:cNvSpPr/>
          <p:nvPr/>
        </p:nvSpPr>
        <p:spPr>
          <a:xfrm>
            <a:off x="7616952" y="2748534"/>
            <a:ext cx="91440" cy="91440"/>
          </a:xfrm>
          <a:prstGeom prst="ellipse">
            <a:avLst/>
          </a:prstGeom>
          <a:solidFill>
            <a:srgbClr val="F2B134"/>
          </a:solidFill>
          <a:ln/>
        </p:spPr>
      </p:sp>
      <p:sp>
        <p:nvSpPr>
          <p:cNvPr id="12" name="ANS_263"/>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2 号访问点在左子树遍历完、转向右子树之前 → 中序。</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Q14</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状态栈：前序访问点</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若题 12 的代码用来进行前序遍历，应在几号访问点访问？（只填数字）</a:t>
            </a:r>
            <a:endParaRPr lang="en-US" sz="2000" dirty="0"/>
          </a:p>
        </p:txBody>
      </p:sp>
      <p:sp>
        <p:nvSpPr>
          <p:cNvPr id="7" name="ANS_264"/>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8" name="ANS_265"/>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9" name="ANS_266"/>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1</a:t>
            </a:r>
            <a:endParaRPr lang="en-US" sz="4400" dirty="0"/>
          </a:p>
        </p:txBody>
      </p:sp>
      <p:sp>
        <p:nvSpPr>
          <p:cNvPr id="10" name="ANS_267"/>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1" name="ANS_268"/>
          <p:cNvSpPr/>
          <p:nvPr/>
        </p:nvSpPr>
        <p:spPr>
          <a:xfrm>
            <a:off x="7616952" y="2748534"/>
            <a:ext cx="91440" cy="91440"/>
          </a:xfrm>
          <a:prstGeom prst="ellipse">
            <a:avLst/>
          </a:prstGeom>
          <a:solidFill>
            <a:srgbClr val="F2B134"/>
          </a:solidFill>
          <a:ln/>
        </p:spPr>
      </p:sp>
      <p:sp>
        <p:nvSpPr>
          <p:cNvPr id="12" name="ANS_269"/>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1 号访问点在结点第一次入栈、还没进入左子树时 → 前序。</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Q15</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三叉 Huffman 树的 WPL</a:t>
            </a:r>
            <a:endParaRPr lang="en-US" sz="2800" dirty="0"/>
          </a:p>
        </p:txBody>
      </p:sp>
      <p:sp>
        <p:nvSpPr>
          <p:cNvPr id="6" name="Text 4"/>
          <p:cNvSpPr txBox="1"/>
          <p:nvPr/>
        </p:nvSpPr>
        <p:spPr>
          <a:xfrm>
            <a:off x="548640" y="1645920"/>
            <a:ext cx="6309360" cy="106070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对于权值 W = {1, 4, 9, 16, 25, 36, 49, 64, 81, 100}，构造一棵具有最小带权外部路径长度的三叉树，写出其带权外部路径长度。</a:t>
            </a:r>
            <a:endParaRPr lang="en-US" sz="2000" dirty="0"/>
          </a:p>
        </p:txBody>
      </p:sp>
      <p:sp>
        <p:nvSpPr>
          <p:cNvPr id="7" name="ANS_270"/>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8" name="ANS_271"/>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9" name="ANS_272"/>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705</a:t>
            </a:r>
            <a:endParaRPr lang="en-US" sz="4400" dirty="0"/>
          </a:p>
        </p:txBody>
      </p:sp>
      <p:sp>
        <p:nvSpPr>
          <p:cNvPr id="10" name="ANS_273"/>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1" name="ANS_274"/>
          <p:cNvSpPr/>
          <p:nvPr/>
        </p:nvSpPr>
        <p:spPr>
          <a:xfrm>
            <a:off x="7616952" y="2748534"/>
            <a:ext cx="91440" cy="91440"/>
          </a:xfrm>
          <a:prstGeom prst="ellipse">
            <a:avLst/>
          </a:prstGeom>
          <a:solidFill>
            <a:srgbClr val="F2B134"/>
          </a:solidFill>
          <a:ln/>
        </p:spPr>
      </p:sp>
      <p:sp>
        <p:nvSpPr>
          <p:cNvPr id="12" name="ANS_275"/>
          <p:cNvSpPr txBox="1"/>
          <p:nvPr/>
        </p:nvSpPr>
        <p:spPr>
          <a:xfrm>
            <a:off x="7818120" y="2651760"/>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k 叉 Huffman 需 (n−1) mod (k−1) = 0；(10−1) mod 2 = 1，补 1 个权为 0 的虚叶子。</a:t>
            </a:r>
            <a:endParaRPr lang="en-US" sz="1700" dirty="0"/>
          </a:p>
        </p:txBody>
      </p:sp>
      <p:sp>
        <p:nvSpPr>
          <p:cNvPr id="13" name="ANS_276"/>
          <p:cNvSpPr/>
          <p:nvPr/>
        </p:nvSpPr>
        <p:spPr>
          <a:xfrm>
            <a:off x="7616952" y="3798265"/>
            <a:ext cx="91440" cy="91440"/>
          </a:xfrm>
          <a:prstGeom prst="ellipse">
            <a:avLst/>
          </a:prstGeom>
          <a:solidFill>
            <a:srgbClr val="F2B134"/>
          </a:solidFill>
          <a:ln/>
        </p:spPr>
      </p:sp>
      <p:sp>
        <p:nvSpPr>
          <p:cNvPr id="14" name="ANS_277"/>
          <p:cNvSpPr txBox="1"/>
          <p:nvPr/>
        </p:nvSpPr>
        <p:spPr>
          <a:xfrm>
            <a:off x="7818120" y="3701491"/>
            <a:ext cx="3520440" cy="1194816"/>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每次合并最小的三个：0+1+4 = 5，5+9+16 = 30，25+30+36 = 91，49+64+81 = 194，91+100+194 = 385</a:t>
            </a:r>
            <a:endParaRPr lang="en-US" sz="1700" dirty="0"/>
          </a:p>
        </p:txBody>
      </p:sp>
      <p:sp>
        <p:nvSpPr>
          <p:cNvPr id="15" name="ANS_278"/>
          <p:cNvSpPr/>
          <p:nvPr/>
        </p:nvSpPr>
        <p:spPr>
          <a:xfrm>
            <a:off x="7616952" y="5132984"/>
            <a:ext cx="91440" cy="91440"/>
          </a:xfrm>
          <a:prstGeom prst="ellipse">
            <a:avLst/>
          </a:prstGeom>
          <a:solidFill>
            <a:srgbClr val="F2B134"/>
          </a:solidFill>
          <a:ln/>
        </p:spPr>
      </p:sp>
      <p:sp>
        <p:nvSpPr>
          <p:cNvPr id="16" name="ANS_279"/>
          <p:cNvSpPr txBox="1"/>
          <p:nvPr/>
        </p:nvSpPr>
        <p:spPr>
          <a:xfrm>
            <a:off x="7818120" y="503621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WPL = 各内部结点权之和 = 5 + 30 + 91 + 194 + 385 = 705</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Q16</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第五章 二叉树（下）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Huffman 节约的比特数</a:t>
            </a:r>
            <a:endParaRPr lang="en-US" sz="2800" dirty="0"/>
          </a:p>
        </p:txBody>
      </p:sp>
      <p:sp>
        <p:nvSpPr>
          <p:cNvPr id="6" name="Text 4"/>
          <p:cNvSpPr txBox="1"/>
          <p:nvPr/>
        </p:nvSpPr>
        <p:spPr>
          <a:xfrm>
            <a:off x="548640" y="1645920"/>
            <a:ext cx="6309360" cy="106070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下表是一段文本中每个字母出现的次数。对这段文本使用 Huffman 编码，相较于等长编码可以节约多少比特？</a:t>
            </a:r>
            <a:endParaRPr lang="en-US" sz="2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2962656"/>
          <a:ext cx="6309360" cy="914400"/>
        </p:xfrm>
        <a:graphic>
          <a:graphicData uri="http://schemas.openxmlformats.org/drawingml/2006/table">
            <a:tbl>
              <a:tblPr/>
              <a:tblGrid>
                <a:gridCol w="1051560"/>
                <a:gridCol w="1051560"/>
                <a:gridCol w="1051560"/>
                <a:gridCol w="1051560"/>
                <a:gridCol w="1051560"/>
                <a:gridCol w="1051560"/>
              </a:tblGrid>
              <a:tr h="342900">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字母</a:t>
                      </a:r>
                      <a:endParaRPr lang="en-US" sz="1500" dirty="0">
                        <a:latin typeface="Microsoft YaHei" charset="0"/>
                        <a:ea typeface="Microsoft YaHei" charset="0"/>
                        <a:cs typeface="Microsoft YaHei" charset="0"/>
                      </a:endParaRPr>
                    </a:p>
                  </a:txBody>
                  <a:tcPr marL="45720" marR="45720" marT="18288" marB="18288"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E3D34"/>
                    </a:solidFill>
                  </a:tcPr>
                </a:tc>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a</a:t>
                      </a:r>
                      <a:endParaRPr lang="en-US" sz="1500" dirty="0">
                        <a:latin typeface="Microsoft YaHei" charset="0"/>
                        <a:ea typeface="Microsoft YaHei" charset="0"/>
                        <a:cs typeface="Microsoft YaHei" charset="0"/>
                      </a:endParaRPr>
                    </a:p>
                  </a:txBody>
                  <a:tcPr marL="45720" marR="45720" marT="18288" marB="18288"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E3D34"/>
                    </a:solidFill>
                  </a:tcPr>
                </a:tc>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e</a:t>
                      </a:r>
                      <a:endParaRPr lang="en-US" sz="1500" dirty="0">
                        <a:latin typeface="Microsoft YaHei" charset="0"/>
                        <a:ea typeface="Microsoft YaHei" charset="0"/>
                        <a:cs typeface="Microsoft YaHei" charset="0"/>
                      </a:endParaRPr>
                    </a:p>
                  </a:txBody>
                  <a:tcPr marL="45720" marR="45720" marT="18288" marB="18288"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E3D34"/>
                    </a:solidFill>
                  </a:tcPr>
                </a:tc>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i</a:t>
                      </a:r>
                      <a:endParaRPr lang="en-US" sz="1500" dirty="0">
                        <a:latin typeface="Microsoft YaHei" charset="0"/>
                        <a:ea typeface="Microsoft YaHei" charset="0"/>
                        <a:cs typeface="Microsoft YaHei" charset="0"/>
                      </a:endParaRPr>
                    </a:p>
                  </a:txBody>
                  <a:tcPr marL="45720" marR="45720" marT="18288" marB="18288"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E3D34"/>
                    </a:solidFill>
                  </a:tcPr>
                </a:tc>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o</a:t>
                      </a:r>
                      <a:endParaRPr lang="en-US" sz="1500" dirty="0">
                        <a:latin typeface="Microsoft YaHei" charset="0"/>
                        <a:ea typeface="Microsoft YaHei" charset="0"/>
                        <a:cs typeface="Microsoft YaHei" charset="0"/>
                      </a:endParaRPr>
                    </a:p>
                  </a:txBody>
                  <a:tcPr marL="45720" marR="45720" marT="18288" marB="18288"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E3D34"/>
                    </a:solidFill>
                  </a:tcPr>
                </a:tc>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u</a:t>
                      </a:r>
                      <a:endParaRPr lang="en-US" sz="1500" dirty="0">
                        <a:latin typeface="Microsoft YaHei" charset="0"/>
                        <a:ea typeface="Microsoft YaHei" charset="0"/>
                        <a:cs typeface="Microsoft YaHei" charset="0"/>
                      </a:endParaRPr>
                    </a:p>
                  </a:txBody>
                  <a:tcPr marL="45720" marR="45720" marT="18288" marB="18288"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E3D34"/>
                    </a:solidFill>
                  </a:tcPr>
                </a:tc>
              </a:tr>
              <a:tr h="342900">
                <a:tc>
                  <a:txBody>
                    <a:bodyPr/>
                    <a:lstStyle/>
                    <a:p>
                      <a:pPr algn="ctr" indent="0" marL="0">
                        <a:buNone/>
                      </a:pPr>
                      <a:r>
                        <a:rPr lang="en-US" sz="1500" dirty="0">
                          <a:solidFill>
                            <a:srgbClr val="222222"/>
                          </a:solidFill>
                          <a:latin typeface="Microsoft YaHei" pitchFamily="34" charset="0"/>
                          <a:ea typeface="Microsoft YaHei" pitchFamily="34" charset="-122"/>
                          <a:cs typeface="Microsoft YaHei" pitchFamily="34" charset="-120"/>
                        </a:rPr>
                        <a:t>频率</a:t>
                      </a:r>
                      <a:endParaRPr lang="en-US" sz="1500" dirty="0">
                        <a:latin typeface="Microsoft YaHei" charset="0"/>
                        <a:ea typeface="Microsoft YaHei" charset="0"/>
                        <a:cs typeface="Microsoft YaHei" charset="0"/>
                      </a:endParaRPr>
                    </a:p>
                  </a:txBody>
                  <a:tcPr marL="45720" marR="45720" marT="18288" marB="18288"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Microsoft YaHei" pitchFamily="34" charset="0"/>
                          <a:ea typeface="Microsoft YaHei" pitchFamily="34" charset="-122"/>
                          <a:cs typeface="Microsoft YaHei" pitchFamily="34" charset="-120"/>
                        </a:rPr>
                        <a:t>12</a:t>
                      </a:r>
                      <a:endParaRPr lang="en-US" sz="1500" dirty="0">
                        <a:latin typeface="Microsoft YaHei" charset="0"/>
                        <a:ea typeface="Microsoft YaHei" charset="0"/>
                        <a:cs typeface="Microsoft YaHei" charset="0"/>
                      </a:endParaRPr>
                    </a:p>
                  </a:txBody>
                  <a:tcPr marL="45720" marR="45720" marT="18288" marB="18288"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Microsoft YaHei" pitchFamily="34" charset="0"/>
                          <a:ea typeface="Microsoft YaHei" pitchFamily="34" charset="-122"/>
                          <a:cs typeface="Microsoft YaHei" pitchFamily="34" charset="-120"/>
                        </a:rPr>
                        <a:t>8</a:t>
                      </a:r>
                      <a:endParaRPr lang="en-US" sz="1500" dirty="0">
                        <a:latin typeface="Microsoft YaHei" charset="0"/>
                        <a:ea typeface="Microsoft YaHei" charset="0"/>
                        <a:cs typeface="Microsoft YaHei" charset="0"/>
                      </a:endParaRPr>
                    </a:p>
                  </a:txBody>
                  <a:tcPr marL="45720" marR="45720" marT="18288" marB="18288"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Microsoft YaHei" pitchFamily="34" charset="0"/>
                          <a:ea typeface="Microsoft YaHei" pitchFamily="34" charset="-122"/>
                          <a:cs typeface="Microsoft YaHei" pitchFamily="34" charset="-120"/>
                        </a:rPr>
                        <a:t>16</a:t>
                      </a:r>
                      <a:endParaRPr lang="en-US" sz="1500" dirty="0">
                        <a:latin typeface="Microsoft YaHei" charset="0"/>
                        <a:ea typeface="Microsoft YaHei" charset="0"/>
                        <a:cs typeface="Microsoft YaHei" charset="0"/>
                      </a:endParaRPr>
                    </a:p>
                  </a:txBody>
                  <a:tcPr marL="45720" marR="45720" marT="18288" marB="18288"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Microsoft YaHei" pitchFamily="34" charset="0"/>
                          <a:ea typeface="Microsoft YaHei" pitchFamily="34" charset="-122"/>
                          <a:cs typeface="Microsoft YaHei" pitchFamily="34" charset="-120"/>
                        </a:rPr>
                        <a:t>4</a:t>
                      </a:r>
                      <a:endParaRPr lang="en-US" sz="1500" dirty="0">
                        <a:latin typeface="Microsoft YaHei" charset="0"/>
                        <a:ea typeface="Microsoft YaHei" charset="0"/>
                        <a:cs typeface="Microsoft YaHei" charset="0"/>
                      </a:endParaRPr>
                    </a:p>
                  </a:txBody>
                  <a:tcPr marL="45720" marR="45720" marT="18288" marB="18288"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Microsoft YaHei" pitchFamily="34" charset="0"/>
                          <a:ea typeface="Microsoft YaHei" pitchFamily="34" charset="-122"/>
                          <a:cs typeface="Microsoft YaHei" pitchFamily="34" charset="-120"/>
                        </a:rPr>
                        <a:t>9</a:t>
                      </a:r>
                      <a:endParaRPr lang="en-US" sz="1500" dirty="0">
                        <a:latin typeface="Microsoft YaHei" charset="0"/>
                        <a:ea typeface="Microsoft YaHei" charset="0"/>
                        <a:cs typeface="Microsoft YaHei" charset="0"/>
                      </a:endParaRPr>
                    </a:p>
                  </a:txBody>
                  <a:tcPr marL="45720" marR="45720" marT="18288" marB="18288"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bl>
          </a:graphicData>
        </a:graphic>
      </p:graphicFrame>
      <p:sp>
        <p:nvSpPr>
          <p:cNvPr id="8" name="ANS_280"/>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9" name="ANS_281"/>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0" name="ANS_282"/>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37</a:t>
            </a:r>
            <a:endParaRPr lang="en-US" sz="4400" dirty="0"/>
          </a:p>
        </p:txBody>
      </p:sp>
      <p:sp>
        <p:nvSpPr>
          <p:cNvPr id="11" name="ANS_283"/>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2" name="ANS_284"/>
          <p:cNvSpPr/>
          <p:nvPr/>
        </p:nvSpPr>
        <p:spPr>
          <a:xfrm>
            <a:off x="7616952" y="2748534"/>
            <a:ext cx="91440" cy="91440"/>
          </a:xfrm>
          <a:prstGeom prst="ellipse">
            <a:avLst/>
          </a:prstGeom>
          <a:solidFill>
            <a:srgbClr val="F2B134"/>
          </a:solidFill>
          <a:ln/>
        </p:spPr>
      </p:sp>
      <p:sp>
        <p:nvSpPr>
          <p:cNvPr id="13" name="ANS_285"/>
          <p:cNvSpPr txBox="1"/>
          <p:nvPr/>
        </p:nvSpPr>
        <p:spPr>
          <a:xfrm>
            <a:off x="7818120" y="2651760"/>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共 49 个字符；5 种字母等长编码需 3 位：49 × 3 = 147 bits。</a:t>
            </a:r>
            <a:endParaRPr lang="en-US" sz="1700" dirty="0"/>
          </a:p>
        </p:txBody>
      </p:sp>
      <p:sp>
        <p:nvSpPr>
          <p:cNvPr id="14" name="ANS_286"/>
          <p:cNvSpPr/>
          <p:nvPr/>
        </p:nvSpPr>
        <p:spPr>
          <a:xfrm>
            <a:off x="7616952" y="3798265"/>
            <a:ext cx="91440" cy="91440"/>
          </a:xfrm>
          <a:prstGeom prst="ellipse">
            <a:avLst/>
          </a:prstGeom>
          <a:solidFill>
            <a:srgbClr val="F2B134"/>
          </a:solidFill>
          <a:ln/>
        </p:spPr>
      </p:sp>
      <p:sp>
        <p:nvSpPr>
          <p:cNvPr id="15" name="ANS_287"/>
          <p:cNvSpPr txBox="1"/>
          <p:nvPr/>
        </p:nvSpPr>
        <p:spPr>
          <a:xfrm>
            <a:off x="7818120" y="3701491"/>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合并：4+8 = 12，9+12 = 21，12+16 = 28，21+28 = 49</a:t>
            </a:r>
            <a:endParaRPr lang="en-US" sz="1700" dirty="0"/>
          </a:p>
        </p:txBody>
      </p:sp>
      <p:sp>
        <p:nvSpPr>
          <p:cNvPr id="16" name="ANS_288"/>
          <p:cNvSpPr/>
          <p:nvPr/>
        </p:nvSpPr>
        <p:spPr>
          <a:xfrm>
            <a:off x="7616952" y="4563008"/>
            <a:ext cx="91440" cy="91440"/>
          </a:xfrm>
          <a:prstGeom prst="ellipse">
            <a:avLst/>
          </a:prstGeom>
          <a:solidFill>
            <a:srgbClr val="F2B134"/>
          </a:solidFill>
          <a:ln/>
        </p:spPr>
      </p:sp>
      <p:sp>
        <p:nvSpPr>
          <p:cNvPr id="17" name="ANS_289"/>
          <p:cNvSpPr txBox="1"/>
          <p:nvPr/>
        </p:nvSpPr>
        <p:spPr>
          <a:xfrm>
            <a:off x="7818120" y="4466234"/>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Huffman 总长 = 12 + 21 + 28 + 49 = 110 bits</a:t>
            </a:r>
            <a:endParaRPr lang="en-US" sz="1700" dirty="0"/>
          </a:p>
        </p:txBody>
      </p:sp>
      <p:sp>
        <p:nvSpPr>
          <p:cNvPr id="18" name="ANS_290"/>
          <p:cNvSpPr/>
          <p:nvPr/>
        </p:nvSpPr>
        <p:spPr>
          <a:xfrm>
            <a:off x="7616952" y="5327752"/>
            <a:ext cx="91440" cy="91440"/>
          </a:xfrm>
          <a:prstGeom prst="ellipse">
            <a:avLst/>
          </a:prstGeom>
          <a:solidFill>
            <a:srgbClr val="F2B134"/>
          </a:solidFill>
          <a:ln/>
        </p:spPr>
      </p:sp>
      <p:sp>
        <p:nvSpPr>
          <p:cNvPr id="19" name="ANS_291"/>
          <p:cNvSpPr txBox="1"/>
          <p:nvPr/>
        </p:nvSpPr>
        <p:spPr>
          <a:xfrm>
            <a:off x="7818120" y="5230978"/>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节约 147 − 110 = 37 bits。</a:t>
            </a:r>
            <a:endParaRPr lang="en-US" sz="1700" dirty="0"/>
          </a:p>
        </p:txBody>
      </p:sp>
      <p:sp>
        <p:nvSpPr>
          <p:cNvPr id="20" name="ANS_292"/>
          <p:cNvSpPr/>
          <p:nvPr/>
        </p:nvSpPr>
        <p:spPr>
          <a:xfrm>
            <a:off x="7616952" y="5807507"/>
            <a:ext cx="91440" cy="91440"/>
          </a:xfrm>
          <a:prstGeom prst="ellipse">
            <a:avLst/>
          </a:prstGeom>
          <a:solidFill>
            <a:srgbClr val="F2B134"/>
          </a:solidFill>
          <a:ln/>
        </p:spPr>
      </p:sp>
      <p:sp>
        <p:nvSpPr>
          <p:cNvPr id="21" name="ANS_293"/>
          <p:cNvSpPr txBox="1"/>
          <p:nvPr/>
        </p:nvSpPr>
        <p:spPr>
          <a:xfrm>
            <a:off x="7818120" y="5710733"/>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注：题库原答案为 36。</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3D34"/>
        </a:solidFill>
      </p:bgPr>
    </p:bg>
    <p:spTree>
      <p:nvGrpSpPr>
        <p:cNvPr id="1" name=""/>
        <p:cNvGrpSpPr/>
        <p:nvPr/>
      </p:nvGrpSpPr>
      <p:grpSpPr>
        <a:xfrm>
          <a:off x="0" y="0"/>
          <a:ext cx="0" cy="0"/>
          <a:chOff x="0" y="0"/>
          <a:chExt cx="0" cy="0"/>
        </a:xfrm>
      </p:grpSpPr>
      <p:sp>
        <p:nvSpPr>
          <p:cNvPr id="2" name="Shape 0"/>
          <p:cNvSpPr/>
          <p:nvPr/>
        </p:nvSpPr>
        <p:spPr>
          <a:xfrm>
            <a:off x="8412480" y="-1097280"/>
            <a:ext cx="5029200" cy="5029200"/>
          </a:xfrm>
          <a:prstGeom prst="ellipse">
            <a:avLst/>
          </a:prstGeom>
          <a:solidFill>
            <a:srgbClr val="3E7C68">
              <a:alpha val="45000"/>
            </a:srgbClr>
          </a:solidFill>
          <a:ln/>
        </p:spPr>
      </p:sp>
      <p:sp>
        <p:nvSpPr>
          <p:cNvPr id="3" name="Shape 1"/>
          <p:cNvSpPr/>
          <p:nvPr/>
        </p:nvSpPr>
        <p:spPr>
          <a:xfrm>
            <a:off x="9692640" y="3931920"/>
            <a:ext cx="2926080" cy="2926080"/>
          </a:xfrm>
          <a:prstGeom prst="ellipse">
            <a:avLst/>
          </a:prstGeom>
          <a:solidFill>
            <a:srgbClr val="F2B134">
              <a:alpha val="30000"/>
            </a:srgbClr>
          </a:solidFill>
          <a:ln/>
        </p:spPr>
      </p:sp>
      <p:sp>
        <p:nvSpPr>
          <p:cNvPr id="4" name="Text 2"/>
          <p:cNvSpPr txBox="1"/>
          <p:nvPr/>
        </p:nvSpPr>
        <p:spPr>
          <a:xfrm>
            <a:off x="731520" y="1737360"/>
            <a:ext cx="8229600" cy="548640"/>
          </a:xfrm>
          <a:prstGeom prst="rect">
            <a:avLst/>
          </a:prstGeom>
          <a:noFill/>
          <a:ln/>
        </p:spPr>
        <p:txBody>
          <a:bodyPr wrap="square" lIns="0" tIns="0" rIns="0" bIns="0" rtlCol="0" anchor="ctr"/>
          <a:lstStyle/>
          <a:p>
            <a:pPr algn="l" indent="0" marL="0">
              <a:buNone/>
            </a:pPr>
            <a:r>
              <a:rPr lang="en-US" sz="2000" b="1" dirty="0">
                <a:solidFill>
                  <a:srgbClr val="F2B134"/>
                </a:solidFill>
                <a:latin typeface="Microsoft YaHei" pitchFamily="34" charset="0"/>
                <a:ea typeface="Microsoft YaHei" pitchFamily="34" charset="-122"/>
                <a:cs typeface="Microsoft YaHei" pitchFamily="34" charset="-120"/>
              </a:rPr>
              <a:t>Chapter 6</a:t>
            </a:r>
            <a:endParaRPr lang="en-US" sz="2000" dirty="0"/>
          </a:p>
        </p:txBody>
      </p:sp>
      <p:sp>
        <p:nvSpPr>
          <p:cNvPr id="5" name="Text 3"/>
          <p:cNvSpPr txBox="1"/>
          <p:nvPr/>
        </p:nvSpPr>
        <p:spPr>
          <a:xfrm>
            <a:off x="731520" y="2377440"/>
            <a:ext cx="9144000" cy="1463040"/>
          </a:xfrm>
          <a:prstGeom prst="rect">
            <a:avLst/>
          </a:prstGeom>
          <a:noFill/>
          <a:ln/>
        </p:spPr>
        <p:txBody>
          <a:bodyPr wrap="square" lIns="0" tIns="0" rIns="0" bIns="0" rtlCol="0" anchor="t"/>
          <a:lstStyle/>
          <a:p>
            <a:pPr algn="l" indent="0" marL="0">
              <a:buNone/>
            </a:pPr>
            <a:r>
              <a:rPr lang="en-US" sz="4800" b="1" dirty="0">
                <a:solidFill>
                  <a:srgbClr val="FFFFFF"/>
                </a:solidFill>
                <a:latin typeface="Microsoft YaHei" pitchFamily="34" charset="0"/>
                <a:ea typeface="Microsoft YaHei" pitchFamily="34" charset="-122"/>
                <a:cs typeface="Microsoft YaHei" pitchFamily="34" charset="-120"/>
              </a:rPr>
              <a:t>第六章 树</a:t>
            </a:r>
            <a:endParaRPr lang="en-US" sz="4800" dirty="0"/>
          </a:p>
        </p:txBody>
      </p:sp>
      <p:sp>
        <p:nvSpPr>
          <p:cNvPr id="6" name="Text 4"/>
          <p:cNvSpPr txBox="1"/>
          <p:nvPr/>
        </p:nvSpPr>
        <p:spPr>
          <a:xfrm>
            <a:off x="731520" y="4114800"/>
            <a:ext cx="8229600" cy="1097280"/>
          </a:xfrm>
          <a:prstGeom prst="rect">
            <a:avLst/>
          </a:prstGeom>
          <a:noFill/>
          <a:ln/>
        </p:spPr>
        <p:txBody>
          <a:bodyPr wrap="square" lIns="0" tIns="0" rIns="0" bIns="0" rtlCol="0" anchor="t"/>
          <a:lstStyle/>
          <a:p>
            <a:pPr algn="l" indent="0" marL="0">
              <a:buNone/>
            </a:pPr>
            <a:r>
              <a:rPr lang="en-US" sz="1800" dirty="0">
                <a:solidFill>
                  <a:srgbClr val="CFE0D8"/>
                </a:solidFill>
                <a:latin typeface="Microsoft YaHei" pitchFamily="34" charset="0"/>
                <a:ea typeface="Microsoft YaHei" pitchFamily="34" charset="-122"/>
                <a:cs typeface="Microsoft YaHei" pitchFamily="34" charset="-120"/>
              </a:rPr>
              <a:t>共 19 题 · 准备好了吗？</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单选题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森林转二叉树：右子树</a:t>
            </a:r>
            <a:endParaRPr lang="en-US" sz="2800" dirty="0"/>
          </a:p>
        </p:txBody>
      </p:sp>
      <p:sp>
        <p:nvSpPr>
          <p:cNvPr id="6" name="Text 4"/>
          <p:cNvSpPr txBox="1"/>
          <p:nvPr/>
        </p:nvSpPr>
        <p:spPr>
          <a:xfrm>
            <a:off x="548640" y="1645920"/>
            <a:ext cx="6309360" cy="106070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森林 F 由 T1、T2、T3 三棵树组成，结点数分别为 n1、n2、n3。与 F 对应的二叉树为 B，则 B 的右子树中有多少个结点？</a:t>
            </a:r>
            <a:endParaRPr lang="en-US" sz="2000" dirty="0"/>
          </a:p>
        </p:txBody>
      </p:sp>
      <p:sp>
        <p:nvSpPr>
          <p:cNvPr id="7" name="Shape 5"/>
          <p:cNvSpPr/>
          <p:nvPr/>
        </p:nvSpPr>
        <p:spPr>
          <a:xfrm>
            <a:off x="548640" y="2962656"/>
            <a:ext cx="1474470" cy="822960"/>
          </a:xfrm>
          <a:prstGeom prst="roundRect">
            <a:avLst>
              <a:gd name="adj" fmla="val 8889"/>
            </a:avLst>
          </a:prstGeom>
          <a:solidFill>
            <a:srgbClr val="F1F4F2"/>
          </a:solidFill>
          <a:ln/>
        </p:spPr>
      </p:sp>
      <p:sp>
        <p:nvSpPr>
          <p:cNvPr id="8" name="Text 6"/>
          <p:cNvSpPr txBox="1"/>
          <p:nvPr/>
        </p:nvSpPr>
        <p:spPr>
          <a:xfrm>
            <a:off x="548640" y="2962656"/>
            <a:ext cx="1474470" cy="822960"/>
          </a:xfrm>
          <a:prstGeom prst="rect">
            <a:avLst/>
          </a:prstGeom>
          <a:noFill/>
          <a:ln/>
        </p:spPr>
        <p:txBody>
          <a:bodyPr wrap="square" lIns="0" tIns="0" rIns="0" bIns="0" rtlCol="0" anchor="ctr"/>
          <a:lstStyle/>
          <a:p>
            <a:pPr algn="ctr" indent="0" marL="0">
              <a:buNone/>
            </a:pPr>
            <a:r>
              <a:rPr lang="en-US" sz="2000" b="1" dirty="0">
                <a:solidFill>
                  <a:srgbClr val="3E7C68"/>
                </a:solidFill>
                <a:latin typeface="Microsoft YaHei" pitchFamily="34" charset="0"/>
                <a:ea typeface="Microsoft YaHei" pitchFamily="34" charset="-122"/>
                <a:cs typeface="Microsoft YaHei" pitchFamily="34" charset="-120"/>
              </a:rPr>
              <a:t>A  </a:t>
            </a:r>
            <a:r>
              <a:rPr lang="en-US" sz="2000" dirty="0">
                <a:solidFill>
                  <a:srgbClr val="222222"/>
                </a:solidFill>
                <a:latin typeface="Microsoft YaHei" pitchFamily="34" charset="0"/>
                <a:ea typeface="Microsoft YaHei" pitchFamily="34" charset="-122"/>
                <a:cs typeface="Microsoft YaHei" pitchFamily="34" charset="-120"/>
              </a:rPr>
              <a:t>n2</a:t>
            </a:r>
            <a:endParaRPr lang="en-US" sz="2000" dirty="0"/>
          </a:p>
        </p:txBody>
      </p:sp>
      <p:sp>
        <p:nvSpPr>
          <p:cNvPr id="9" name="Shape 7"/>
          <p:cNvSpPr/>
          <p:nvPr/>
        </p:nvSpPr>
        <p:spPr>
          <a:xfrm>
            <a:off x="2160270" y="2962656"/>
            <a:ext cx="1474470" cy="822960"/>
          </a:xfrm>
          <a:prstGeom prst="roundRect">
            <a:avLst>
              <a:gd name="adj" fmla="val 8889"/>
            </a:avLst>
          </a:prstGeom>
          <a:solidFill>
            <a:srgbClr val="F1F4F2"/>
          </a:solidFill>
          <a:ln/>
        </p:spPr>
      </p:sp>
      <p:sp>
        <p:nvSpPr>
          <p:cNvPr id="10" name="Text 8"/>
          <p:cNvSpPr txBox="1"/>
          <p:nvPr/>
        </p:nvSpPr>
        <p:spPr>
          <a:xfrm>
            <a:off x="2160270" y="2962656"/>
            <a:ext cx="1474470" cy="822960"/>
          </a:xfrm>
          <a:prstGeom prst="rect">
            <a:avLst/>
          </a:prstGeom>
          <a:noFill/>
          <a:ln/>
        </p:spPr>
        <p:txBody>
          <a:bodyPr wrap="square" lIns="0" tIns="0" rIns="0" bIns="0" rtlCol="0" anchor="ctr"/>
          <a:lstStyle/>
          <a:p>
            <a:pPr algn="ctr" indent="0" marL="0">
              <a:buNone/>
            </a:pPr>
            <a:r>
              <a:rPr lang="en-US" sz="2000" b="1" dirty="0">
                <a:solidFill>
                  <a:srgbClr val="3E7C68"/>
                </a:solidFill>
                <a:latin typeface="Microsoft YaHei" pitchFamily="34" charset="0"/>
                <a:ea typeface="Microsoft YaHei" pitchFamily="34" charset="-122"/>
                <a:cs typeface="Microsoft YaHei" pitchFamily="34" charset="-120"/>
              </a:rPr>
              <a:t>B  </a:t>
            </a:r>
            <a:r>
              <a:rPr lang="en-US" sz="2000" dirty="0">
                <a:solidFill>
                  <a:srgbClr val="222222"/>
                </a:solidFill>
                <a:latin typeface="Microsoft YaHei" pitchFamily="34" charset="0"/>
                <a:ea typeface="Microsoft YaHei" pitchFamily="34" charset="-122"/>
                <a:cs typeface="Microsoft YaHei" pitchFamily="34" charset="-120"/>
              </a:rPr>
              <a:t>n3</a:t>
            </a:r>
            <a:endParaRPr lang="en-US" sz="2000" dirty="0"/>
          </a:p>
        </p:txBody>
      </p:sp>
      <p:sp>
        <p:nvSpPr>
          <p:cNvPr id="11" name="Shape 9"/>
          <p:cNvSpPr/>
          <p:nvPr/>
        </p:nvSpPr>
        <p:spPr>
          <a:xfrm>
            <a:off x="3771900" y="2962656"/>
            <a:ext cx="1474470" cy="822960"/>
          </a:xfrm>
          <a:prstGeom prst="roundRect">
            <a:avLst>
              <a:gd name="adj" fmla="val 8889"/>
            </a:avLst>
          </a:prstGeom>
          <a:solidFill>
            <a:srgbClr val="F1F4F2"/>
          </a:solidFill>
          <a:ln/>
        </p:spPr>
      </p:sp>
      <p:sp>
        <p:nvSpPr>
          <p:cNvPr id="12" name="Text 10"/>
          <p:cNvSpPr txBox="1"/>
          <p:nvPr/>
        </p:nvSpPr>
        <p:spPr>
          <a:xfrm>
            <a:off x="3771900" y="2962656"/>
            <a:ext cx="1474470" cy="822960"/>
          </a:xfrm>
          <a:prstGeom prst="rect">
            <a:avLst/>
          </a:prstGeom>
          <a:noFill/>
          <a:ln/>
        </p:spPr>
        <p:txBody>
          <a:bodyPr wrap="square" lIns="0" tIns="0" rIns="0" bIns="0" rtlCol="0" anchor="ctr"/>
          <a:lstStyle/>
          <a:p>
            <a:pPr algn="ctr" indent="0" marL="0">
              <a:buNone/>
            </a:pPr>
            <a:r>
              <a:rPr lang="en-US" sz="2000" b="1" dirty="0">
                <a:solidFill>
                  <a:srgbClr val="3E7C68"/>
                </a:solidFill>
                <a:latin typeface="Microsoft YaHei" pitchFamily="34" charset="0"/>
                <a:ea typeface="Microsoft YaHei" pitchFamily="34" charset="-122"/>
                <a:cs typeface="Microsoft YaHei" pitchFamily="34" charset="-120"/>
              </a:rPr>
              <a:t>C  </a:t>
            </a:r>
            <a:r>
              <a:rPr lang="en-US" sz="2000" dirty="0">
                <a:solidFill>
                  <a:srgbClr val="222222"/>
                </a:solidFill>
                <a:latin typeface="Microsoft YaHei" pitchFamily="34" charset="0"/>
                <a:ea typeface="Microsoft YaHei" pitchFamily="34" charset="-122"/>
                <a:cs typeface="Microsoft YaHei" pitchFamily="34" charset="-120"/>
              </a:rPr>
              <a:t>n1+n3</a:t>
            </a:r>
            <a:endParaRPr lang="en-US" sz="2000" dirty="0"/>
          </a:p>
        </p:txBody>
      </p:sp>
      <p:sp>
        <p:nvSpPr>
          <p:cNvPr id="13" name="Shape 11"/>
          <p:cNvSpPr/>
          <p:nvPr/>
        </p:nvSpPr>
        <p:spPr>
          <a:xfrm>
            <a:off x="5383530" y="2962656"/>
            <a:ext cx="1474470" cy="822960"/>
          </a:xfrm>
          <a:prstGeom prst="roundRect">
            <a:avLst>
              <a:gd name="adj" fmla="val 8889"/>
            </a:avLst>
          </a:prstGeom>
          <a:solidFill>
            <a:srgbClr val="F1F4F2"/>
          </a:solidFill>
          <a:ln/>
        </p:spPr>
      </p:sp>
      <p:sp>
        <p:nvSpPr>
          <p:cNvPr id="14" name="Text 12"/>
          <p:cNvSpPr txBox="1"/>
          <p:nvPr/>
        </p:nvSpPr>
        <p:spPr>
          <a:xfrm>
            <a:off x="5383530" y="2962656"/>
            <a:ext cx="1474470" cy="822960"/>
          </a:xfrm>
          <a:prstGeom prst="rect">
            <a:avLst/>
          </a:prstGeom>
          <a:noFill/>
          <a:ln/>
        </p:spPr>
        <p:txBody>
          <a:bodyPr wrap="square" lIns="0" tIns="0" rIns="0" bIns="0" rtlCol="0" anchor="ctr"/>
          <a:lstStyle/>
          <a:p>
            <a:pPr algn="ctr" indent="0" marL="0">
              <a:buNone/>
            </a:pPr>
            <a:r>
              <a:rPr lang="en-US" sz="2000" b="1" dirty="0">
                <a:solidFill>
                  <a:srgbClr val="3E7C68"/>
                </a:solidFill>
                <a:latin typeface="Microsoft YaHei" pitchFamily="34" charset="0"/>
                <a:ea typeface="Microsoft YaHei" pitchFamily="34" charset="-122"/>
                <a:cs typeface="Microsoft YaHei" pitchFamily="34" charset="-120"/>
              </a:rPr>
              <a:t>D  </a:t>
            </a:r>
            <a:r>
              <a:rPr lang="en-US" sz="2000" dirty="0">
                <a:solidFill>
                  <a:srgbClr val="222222"/>
                </a:solidFill>
                <a:latin typeface="Microsoft YaHei" pitchFamily="34" charset="0"/>
                <a:ea typeface="Microsoft YaHei" pitchFamily="34" charset="-122"/>
                <a:cs typeface="Microsoft YaHei" pitchFamily="34" charset="-120"/>
              </a:rPr>
              <a:t>n2+n3</a:t>
            </a:r>
            <a:endParaRPr lang="en-US" sz="2000" dirty="0"/>
          </a:p>
        </p:txBody>
      </p:sp>
      <p:sp>
        <p:nvSpPr>
          <p:cNvPr id="15" name="ANS_294"/>
          <p:cNvSpPr/>
          <p:nvPr/>
        </p:nvSpPr>
        <p:spPr>
          <a:xfrm>
            <a:off x="5383530" y="2962656"/>
            <a:ext cx="1474470" cy="822960"/>
          </a:xfrm>
          <a:prstGeom prst="roundRect">
            <a:avLst>
              <a:gd name="adj" fmla="val 11111"/>
            </a:avLst>
          </a:prstGeom>
          <a:noFill/>
          <a:ln w="38100">
            <a:solidFill>
              <a:srgbClr val="2E9E6B"/>
            </a:solidFill>
            <a:prstDash val="solid"/>
          </a:ln>
        </p:spPr>
      </p:sp>
      <p:sp>
        <p:nvSpPr>
          <p:cNvPr id="16" name="ANS_295"/>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7" name="ANS_296"/>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8" name="ANS_297"/>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D</a:t>
            </a:r>
            <a:endParaRPr lang="en-US" sz="4400" dirty="0"/>
          </a:p>
        </p:txBody>
      </p:sp>
      <p:sp>
        <p:nvSpPr>
          <p:cNvPr id="19" name="ANS_298"/>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20" name="ANS_299"/>
          <p:cNvSpPr/>
          <p:nvPr/>
        </p:nvSpPr>
        <p:spPr>
          <a:xfrm>
            <a:off x="7616952" y="2748534"/>
            <a:ext cx="91440" cy="91440"/>
          </a:xfrm>
          <a:prstGeom prst="ellipse">
            <a:avLst/>
          </a:prstGeom>
          <a:solidFill>
            <a:srgbClr val="F2B134"/>
          </a:solidFill>
          <a:ln/>
        </p:spPr>
      </p:sp>
      <p:sp>
        <p:nvSpPr>
          <p:cNvPr id="21" name="ANS_300"/>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T1 的根是 B 的根；T1 根的子树们转成 B 的左子树。</a:t>
            </a:r>
            <a:endParaRPr lang="en-US" sz="1700" dirty="0"/>
          </a:p>
        </p:txBody>
      </p:sp>
      <p:sp>
        <p:nvSpPr>
          <p:cNvPr id="22" name="ANS_301"/>
          <p:cNvSpPr/>
          <p:nvPr/>
        </p:nvSpPr>
        <p:spPr>
          <a:xfrm>
            <a:off x="7616952" y="3513277"/>
            <a:ext cx="91440" cy="91440"/>
          </a:xfrm>
          <a:prstGeom prst="ellipse">
            <a:avLst/>
          </a:prstGeom>
          <a:solidFill>
            <a:srgbClr val="F2B134"/>
          </a:solidFill>
          <a:ln/>
        </p:spPr>
      </p:sp>
      <p:sp>
        <p:nvSpPr>
          <p:cNvPr id="23" name="ANS_302"/>
          <p:cNvSpPr txBox="1"/>
          <p:nvPr/>
        </p:nvSpPr>
        <p:spPr>
          <a:xfrm>
            <a:off x="7818120" y="3416503"/>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T2、T3 作为 T1 根的「右兄弟」，转成 B 的右子树：n2 + n3 个结点。</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4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4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Q2</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单选题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满 k 叉树的结点数</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一个深度为 h 的满 k 叉树，最多有多少个结点？（独根树深度为 0）</a:t>
            </a:r>
            <a:endParaRPr lang="en-US" sz="2000" dirty="0"/>
          </a:p>
        </p:txBody>
      </p:sp>
      <p:sp>
        <p:nvSpPr>
          <p:cNvPr id="7" name="Shape 5"/>
          <p:cNvSpPr/>
          <p:nvPr/>
        </p:nvSpPr>
        <p:spPr>
          <a:xfrm>
            <a:off x="548640" y="2700528"/>
            <a:ext cx="384048" cy="384048"/>
          </a:xfrm>
          <a:prstGeom prst="ellipse">
            <a:avLst/>
          </a:prstGeom>
          <a:solidFill>
            <a:srgbClr val="3E7C68"/>
          </a:solidFill>
          <a:ln/>
        </p:spPr>
      </p:sp>
      <p:sp>
        <p:nvSpPr>
          <p:cNvPr id="8" name="Text 6"/>
          <p:cNvSpPr txBox="1"/>
          <p:nvPr/>
        </p:nvSpPr>
        <p:spPr>
          <a:xfrm>
            <a:off x="548640" y="2700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A</a:t>
            </a:r>
            <a:endParaRPr lang="en-US" sz="1400" dirty="0"/>
          </a:p>
        </p:txBody>
      </p:sp>
      <p:sp>
        <p:nvSpPr>
          <p:cNvPr id="9" name="Text 7"/>
          <p:cNvSpPr txBox="1"/>
          <p:nvPr/>
        </p:nvSpPr>
        <p:spPr>
          <a:xfrm>
            <a:off x="1097280" y="2627376"/>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k</a:t>
            </a:r>
            <a:r>
              <a:rPr lang="en-US" sz="2000" baseline="30000" dirty="0">
                <a:solidFill>
                  <a:srgbClr val="222222"/>
                </a:solidFill>
                <a:latin typeface="Microsoft YaHei" pitchFamily="34" charset="0"/>
                <a:ea typeface="Microsoft YaHei" pitchFamily="34" charset="-122"/>
                <a:cs typeface="Microsoft YaHei" pitchFamily="34" charset="-120"/>
              </a:rPr>
              <a:t>h−1</a:t>
            </a:r>
            <a:endParaRPr lang="en-US" sz="2000" dirty="0"/>
          </a:p>
        </p:txBody>
      </p:sp>
      <p:sp>
        <p:nvSpPr>
          <p:cNvPr id="10" name="Shape 8"/>
          <p:cNvSpPr/>
          <p:nvPr/>
        </p:nvSpPr>
        <p:spPr>
          <a:xfrm>
            <a:off x="548640" y="3358896"/>
            <a:ext cx="384048" cy="384048"/>
          </a:xfrm>
          <a:prstGeom prst="ellipse">
            <a:avLst/>
          </a:prstGeom>
          <a:solidFill>
            <a:srgbClr val="3E7C68"/>
          </a:solidFill>
          <a:ln/>
        </p:spPr>
      </p:sp>
      <p:sp>
        <p:nvSpPr>
          <p:cNvPr id="11" name="Text 9"/>
          <p:cNvSpPr txBox="1"/>
          <p:nvPr/>
        </p:nvSpPr>
        <p:spPr>
          <a:xfrm>
            <a:off x="548640" y="33588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B</a:t>
            </a:r>
            <a:endParaRPr lang="en-US" sz="1400" dirty="0"/>
          </a:p>
        </p:txBody>
      </p:sp>
      <p:sp>
        <p:nvSpPr>
          <p:cNvPr id="12" name="Text 10"/>
          <p:cNvSpPr txBox="1"/>
          <p:nvPr/>
        </p:nvSpPr>
        <p:spPr>
          <a:xfrm>
            <a:off x="1097280" y="3285744"/>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k</a:t>
            </a:r>
            <a:r>
              <a:rPr lang="en-US" sz="2000" baseline="30000" dirty="0">
                <a:solidFill>
                  <a:srgbClr val="222222"/>
                </a:solidFill>
                <a:latin typeface="Microsoft YaHei" pitchFamily="34" charset="0"/>
                <a:ea typeface="Microsoft YaHei" pitchFamily="34" charset="-122"/>
                <a:cs typeface="Microsoft YaHei" pitchFamily="34" charset="-120"/>
              </a:rPr>
              <a:t>h</a:t>
            </a:r>
            <a:endParaRPr lang="en-US" sz="2000" dirty="0"/>
          </a:p>
        </p:txBody>
      </p:sp>
      <p:sp>
        <p:nvSpPr>
          <p:cNvPr id="13" name="Shape 11"/>
          <p:cNvSpPr/>
          <p:nvPr/>
        </p:nvSpPr>
        <p:spPr>
          <a:xfrm>
            <a:off x="548640" y="4017264"/>
            <a:ext cx="384048" cy="384048"/>
          </a:xfrm>
          <a:prstGeom prst="ellipse">
            <a:avLst/>
          </a:prstGeom>
          <a:solidFill>
            <a:srgbClr val="3E7C68"/>
          </a:solidFill>
          <a:ln/>
        </p:spPr>
      </p:sp>
      <p:sp>
        <p:nvSpPr>
          <p:cNvPr id="14" name="Text 12"/>
          <p:cNvSpPr txBox="1"/>
          <p:nvPr/>
        </p:nvSpPr>
        <p:spPr>
          <a:xfrm>
            <a:off x="548640" y="4017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C</a:t>
            </a:r>
            <a:endParaRPr lang="en-US" sz="1400" dirty="0"/>
          </a:p>
        </p:txBody>
      </p:sp>
      <p:sp>
        <p:nvSpPr>
          <p:cNvPr id="15" name="Text 13"/>
          <p:cNvSpPr txBox="1"/>
          <p:nvPr/>
        </p:nvSpPr>
        <p:spPr>
          <a:xfrm>
            <a:off x="1097280" y="3944112"/>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(k</a:t>
            </a:r>
            <a:r>
              <a:rPr lang="en-US" sz="2000" baseline="30000" dirty="0">
                <a:solidFill>
                  <a:srgbClr val="222222"/>
                </a:solidFill>
                <a:latin typeface="Microsoft YaHei" pitchFamily="34" charset="0"/>
                <a:ea typeface="Microsoft YaHei" pitchFamily="34" charset="-122"/>
                <a:cs typeface="Microsoft YaHei" pitchFamily="34" charset="-120"/>
              </a:rPr>
              <a:t>h+1</a:t>
            </a:r>
            <a:r>
              <a:rPr lang="en-US" sz="2000" dirty="0">
                <a:solidFill>
                  <a:srgbClr val="222222"/>
                </a:solidFill>
                <a:latin typeface="Microsoft YaHei" pitchFamily="34" charset="0"/>
                <a:ea typeface="Microsoft YaHei" pitchFamily="34" charset="-122"/>
                <a:cs typeface="Microsoft YaHei" pitchFamily="34" charset="-120"/>
              </a:rPr>
              <a:t> − 1)/(k − 1)</a:t>
            </a:r>
            <a:endParaRPr lang="en-US" sz="2000" dirty="0"/>
          </a:p>
        </p:txBody>
      </p:sp>
      <p:sp>
        <p:nvSpPr>
          <p:cNvPr id="16" name="Shape 14"/>
          <p:cNvSpPr/>
          <p:nvPr/>
        </p:nvSpPr>
        <p:spPr>
          <a:xfrm>
            <a:off x="548640" y="4675632"/>
            <a:ext cx="384048" cy="384048"/>
          </a:xfrm>
          <a:prstGeom prst="ellipse">
            <a:avLst/>
          </a:prstGeom>
          <a:solidFill>
            <a:srgbClr val="3E7C68"/>
          </a:solidFill>
          <a:ln/>
        </p:spPr>
      </p:sp>
      <p:sp>
        <p:nvSpPr>
          <p:cNvPr id="17" name="Text 15"/>
          <p:cNvSpPr txBox="1"/>
          <p:nvPr/>
        </p:nvSpPr>
        <p:spPr>
          <a:xfrm>
            <a:off x="548640" y="46756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D</a:t>
            </a:r>
            <a:endParaRPr lang="en-US" sz="1400" dirty="0"/>
          </a:p>
        </p:txBody>
      </p:sp>
      <p:sp>
        <p:nvSpPr>
          <p:cNvPr id="18" name="Text 16"/>
          <p:cNvSpPr txBox="1"/>
          <p:nvPr/>
        </p:nvSpPr>
        <p:spPr>
          <a:xfrm>
            <a:off x="1097280" y="4602480"/>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(k</a:t>
            </a:r>
            <a:r>
              <a:rPr lang="en-US" sz="2000" baseline="30000" dirty="0">
                <a:solidFill>
                  <a:srgbClr val="222222"/>
                </a:solidFill>
                <a:latin typeface="Microsoft YaHei" pitchFamily="34" charset="0"/>
                <a:ea typeface="Microsoft YaHei" pitchFamily="34" charset="-122"/>
                <a:cs typeface="Microsoft YaHei" pitchFamily="34" charset="-120"/>
              </a:rPr>
              <a:t>h</a:t>
            </a:r>
            <a:r>
              <a:rPr lang="en-US" sz="2000" dirty="0">
                <a:solidFill>
                  <a:srgbClr val="222222"/>
                </a:solidFill>
                <a:latin typeface="Microsoft YaHei" pitchFamily="34" charset="0"/>
                <a:ea typeface="Microsoft YaHei" pitchFamily="34" charset="-122"/>
                <a:cs typeface="Microsoft YaHei" pitchFamily="34" charset="-120"/>
              </a:rPr>
              <a:t> − 1)/(k − 1)</a:t>
            </a:r>
            <a:endParaRPr lang="en-US" sz="2000" dirty="0"/>
          </a:p>
        </p:txBody>
      </p:sp>
      <p:sp>
        <p:nvSpPr>
          <p:cNvPr id="19" name="ANS_303"/>
          <p:cNvSpPr/>
          <p:nvPr/>
        </p:nvSpPr>
        <p:spPr>
          <a:xfrm>
            <a:off x="457200" y="3907536"/>
            <a:ext cx="6492240" cy="603504"/>
          </a:xfrm>
          <a:prstGeom prst="roundRect">
            <a:avLst>
              <a:gd name="adj" fmla="val 15152"/>
            </a:avLst>
          </a:prstGeom>
          <a:noFill/>
          <a:ln w="38100">
            <a:solidFill>
              <a:srgbClr val="2E9E6B"/>
            </a:solidFill>
            <a:prstDash val="solid"/>
          </a:ln>
        </p:spPr>
      </p:sp>
      <p:sp>
        <p:nvSpPr>
          <p:cNvPr id="20" name="ANS_304"/>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21" name="ANS_305"/>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22" name="ANS_306"/>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C</a:t>
            </a:r>
            <a:endParaRPr lang="en-US" sz="4400" dirty="0"/>
          </a:p>
        </p:txBody>
      </p:sp>
      <p:sp>
        <p:nvSpPr>
          <p:cNvPr id="23" name="ANS_307"/>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24" name="ANS_308"/>
          <p:cNvSpPr/>
          <p:nvPr/>
        </p:nvSpPr>
        <p:spPr>
          <a:xfrm>
            <a:off x="7616952" y="2748534"/>
            <a:ext cx="91440" cy="91440"/>
          </a:xfrm>
          <a:prstGeom prst="ellipse">
            <a:avLst/>
          </a:prstGeom>
          <a:solidFill>
            <a:srgbClr val="F2B134"/>
          </a:solidFill>
          <a:ln/>
        </p:spPr>
      </p:sp>
      <p:sp>
        <p:nvSpPr>
          <p:cNvPr id="25" name="ANS_309"/>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第 i 层最多 k</a:t>
            </a:r>
            <a:r>
              <a:rPr lang="en-US" sz="1700" baseline="30000" dirty="0">
                <a:solidFill>
                  <a:srgbClr val="2B2B2B"/>
                </a:solidFill>
                <a:latin typeface="Microsoft YaHei" pitchFamily="34" charset="0"/>
                <a:ea typeface="Microsoft YaHei" pitchFamily="34" charset="-122"/>
                <a:cs typeface="Microsoft YaHei" pitchFamily="34" charset="-120"/>
              </a:rPr>
              <a:t>i</a:t>
            </a:r>
            <a:r>
              <a:rPr lang="en-US" sz="1700" dirty="0">
                <a:solidFill>
                  <a:srgbClr val="2B2B2B"/>
                </a:solidFill>
                <a:latin typeface="Microsoft YaHei" pitchFamily="34" charset="0"/>
                <a:ea typeface="Microsoft YaHei" pitchFamily="34" charset="-122"/>
                <a:cs typeface="Microsoft YaHei" pitchFamily="34" charset="-120"/>
              </a:rPr>
              <a:t> 个结点，i = 0…h。</a:t>
            </a:r>
            <a:endParaRPr lang="en-US" sz="1700" dirty="0"/>
          </a:p>
        </p:txBody>
      </p:sp>
      <p:sp>
        <p:nvSpPr>
          <p:cNvPr id="26" name="ANS_310"/>
          <p:cNvSpPr/>
          <p:nvPr/>
        </p:nvSpPr>
        <p:spPr>
          <a:xfrm>
            <a:off x="7616952" y="3513277"/>
            <a:ext cx="91440" cy="91440"/>
          </a:xfrm>
          <a:prstGeom prst="ellipse">
            <a:avLst/>
          </a:prstGeom>
          <a:solidFill>
            <a:srgbClr val="F2B134"/>
          </a:solidFill>
          <a:ln/>
        </p:spPr>
      </p:sp>
      <p:sp>
        <p:nvSpPr>
          <p:cNvPr id="27" name="ANS_311"/>
          <p:cNvSpPr txBox="1"/>
          <p:nvPr/>
        </p:nvSpPr>
        <p:spPr>
          <a:xfrm>
            <a:off x="7818120" y="3416503"/>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1 + k + … + k</a:t>
            </a:r>
            <a:r>
              <a:rPr lang="en-US" sz="1700" baseline="30000" dirty="0">
                <a:solidFill>
                  <a:srgbClr val="2B2B2B"/>
                </a:solidFill>
                <a:latin typeface="Microsoft YaHei" pitchFamily="34" charset="0"/>
                <a:ea typeface="Microsoft YaHei" pitchFamily="34" charset="-122"/>
                <a:cs typeface="Microsoft YaHei" pitchFamily="34" charset="-120"/>
              </a:rPr>
              <a:t>h</a:t>
            </a:r>
            <a:r>
              <a:rPr lang="en-US" sz="1700" dirty="0">
                <a:solidFill>
                  <a:srgbClr val="2B2B2B"/>
                </a:solidFill>
                <a:latin typeface="Microsoft YaHei" pitchFamily="34" charset="0"/>
                <a:ea typeface="Microsoft YaHei" pitchFamily="34" charset="-122"/>
                <a:cs typeface="Microsoft YaHei" pitchFamily="34" charset="-120"/>
              </a:rPr>
              <a:t> = (k</a:t>
            </a:r>
            <a:r>
              <a:rPr lang="en-US" sz="1700" baseline="30000" dirty="0">
                <a:solidFill>
                  <a:srgbClr val="2B2B2B"/>
                </a:solidFill>
                <a:latin typeface="Microsoft YaHei" pitchFamily="34" charset="0"/>
                <a:ea typeface="Microsoft YaHei" pitchFamily="34" charset="-122"/>
                <a:cs typeface="Microsoft YaHei" pitchFamily="34" charset="-120"/>
              </a:rPr>
              <a:t>h+1</a:t>
            </a:r>
            <a:r>
              <a:rPr lang="en-US" sz="1700" dirty="0">
                <a:solidFill>
                  <a:srgbClr val="2B2B2B"/>
                </a:solidFill>
                <a:latin typeface="Microsoft YaHei" pitchFamily="34" charset="0"/>
                <a:ea typeface="Microsoft YaHei" pitchFamily="34" charset="-122"/>
                <a:cs typeface="Microsoft YaHei" pitchFamily="34" charset="-120"/>
              </a:rPr>
              <a:t> − 1)/(k − 1)</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400"/>
                                        <p:tgtEl>
                                          <p:spTgt spid="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Q3</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单选题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满 k 叉树的叶结点数</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一个深度为 h 的满 k 叉树，最多有多少个叶结点？（独根树深度为 0）</a:t>
            </a:r>
            <a:endParaRPr lang="en-US" sz="2000" dirty="0"/>
          </a:p>
        </p:txBody>
      </p:sp>
      <p:sp>
        <p:nvSpPr>
          <p:cNvPr id="7" name="Shape 5"/>
          <p:cNvSpPr/>
          <p:nvPr/>
        </p:nvSpPr>
        <p:spPr>
          <a:xfrm>
            <a:off x="548640" y="2700528"/>
            <a:ext cx="384048" cy="384048"/>
          </a:xfrm>
          <a:prstGeom prst="ellipse">
            <a:avLst/>
          </a:prstGeom>
          <a:solidFill>
            <a:srgbClr val="3E7C68"/>
          </a:solidFill>
          <a:ln/>
        </p:spPr>
      </p:sp>
      <p:sp>
        <p:nvSpPr>
          <p:cNvPr id="8" name="Text 6"/>
          <p:cNvSpPr txBox="1"/>
          <p:nvPr/>
        </p:nvSpPr>
        <p:spPr>
          <a:xfrm>
            <a:off x="548640" y="2700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A</a:t>
            </a:r>
            <a:endParaRPr lang="en-US" sz="1400" dirty="0"/>
          </a:p>
        </p:txBody>
      </p:sp>
      <p:sp>
        <p:nvSpPr>
          <p:cNvPr id="9" name="Text 7"/>
          <p:cNvSpPr txBox="1"/>
          <p:nvPr/>
        </p:nvSpPr>
        <p:spPr>
          <a:xfrm>
            <a:off x="1097280" y="2627376"/>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k</a:t>
            </a:r>
            <a:r>
              <a:rPr lang="en-US" sz="2000" baseline="30000" dirty="0">
                <a:solidFill>
                  <a:srgbClr val="222222"/>
                </a:solidFill>
                <a:latin typeface="Microsoft YaHei" pitchFamily="34" charset="0"/>
                <a:ea typeface="Microsoft YaHei" pitchFamily="34" charset="-122"/>
                <a:cs typeface="Microsoft YaHei" pitchFamily="34" charset="-120"/>
              </a:rPr>
              <a:t>h−1</a:t>
            </a:r>
            <a:endParaRPr lang="en-US" sz="2000" dirty="0"/>
          </a:p>
        </p:txBody>
      </p:sp>
      <p:sp>
        <p:nvSpPr>
          <p:cNvPr id="10" name="Shape 8"/>
          <p:cNvSpPr/>
          <p:nvPr/>
        </p:nvSpPr>
        <p:spPr>
          <a:xfrm>
            <a:off x="548640" y="3358896"/>
            <a:ext cx="384048" cy="384048"/>
          </a:xfrm>
          <a:prstGeom prst="ellipse">
            <a:avLst/>
          </a:prstGeom>
          <a:solidFill>
            <a:srgbClr val="3E7C68"/>
          </a:solidFill>
          <a:ln/>
        </p:spPr>
      </p:sp>
      <p:sp>
        <p:nvSpPr>
          <p:cNvPr id="11" name="Text 9"/>
          <p:cNvSpPr txBox="1"/>
          <p:nvPr/>
        </p:nvSpPr>
        <p:spPr>
          <a:xfrm>
            <a:off x="548640" y="33588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B</a:t>
            </a:r>
            <a:endParaRPr lang="en-US" sz="1400" dirty="0"/>
          </a:p>
        </p:txBody>
      </p:sp>
      <p:sp>
        <p:nvSpPr>
          <p:cNvPr id="12" name="Text 10"/>
          <p:cNvSpPr txBox="1"/>
          <p:nvPr/>
        </p:nvSpPr>
        <p:spPr>
          <a:xfrm>
            <a:off x="1097280" y="3285744"/>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k</a:t>
            </a:r>
            <a:r>
              <a:rPr lang="en-US" sz="2000" baseline="30000" dirty="0">
                <a:solidFill>
                  <a:srgbClr val="222222"/>
                </a:solidFill>
                <a:latin typeface="Microsoft YaHei" pitchFamily="34" charset="0"/>
                <a:ea typeface="Microsoft YaHei" pitchFamily="34" charset="-122"/>
                <a:cs typeface="Microsoft YaHei" pitchFamily="34" charset="-120"/>
              </a:rPr>
              <a:t>h</a:t>
            </a:r>
            <a:endParaRPr lang="en-US" sz="2000" dirty="0"/>
          </a:p>
        </p:txBody>
      </p:sp>
      <p:sp>
        <p:nvSpPr>
          <p:cNvPr id="13" name="Shape 11"/>
          <p:cNvSpPr/>
          <p:nvPr/>
        </p:nvSpPr>
        <p:spPr>
          <a:xfrm>
            <a:off x="548640" y="4017264"/>
            <a:ext cx="384048" cy="384048"/>
          </a:xfrm>
          <a:prstGeom prst="ellipse">
            <a:avLst/>
          </a:prstGeom>
          <a:solidFill>
            <a:srgbClr val="3E7C68"/>
          </a:solidFill>
          <a:ln/>
        </p:spPr>
      </p:sp>
      <p:sp>
        <p:nvSpPr>
          <p:cNvPr id="14" name="Text 12"/>
          <p:cNvSpPr txBox="1"/>
          <p:nvPr/>
        </p:nvSpPr>
        <p:spPr>
          <a:xfrm>
            <a:off x="548640" y="4017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C</a:t>
            </a:r>
            <a:endParaRPr lang="en-US" sz="1400" dirty="0"/>
          </a:p>
        </p:txBody>
      </p:sp>
      <p:sp>
        <p:nvSpPr>
          <p:cNvPr id="15" name="Text 13"/>
          <p:cNvSpPr txBox="1"/>
          <p:nvPr/>
        </p:nvSpPr>
        <p:spPr>
          <a:xfrm>
            <a:off x="1097280" y="3944112"/>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(k</a:t>
            </a:r>
            <a:r>
              <a:rPr lang="en-US" sz="2000" baseline="30000" dirty="0">
                <a:solidFill>
                  <a:srgbClr val="222222"/>
                </a:solidFill>
                <a:latin typeface="Microsoft YaHei" pitchFamily="34" charset="0"/>
                <a:ea typeface="Microsoft YaHei" pitchFamily="34" charset="-122"/>
                <a:cs typeface="Microsoft YaHei" pitchFamily="34" charset="-120"/>
              </a:rPr>
              <a:t>h+1</a:t>
            </a:r>
            <a:r>
              <a:rPr lang="en-US" sz="2000" dirty="0">
                <a:solidFill>
                  <a:srgbClr val="222222"/>
                </a:solidFill>
                <a:latin typeface="Microsoft YaHei" pitchFamily="34" charset="0"/>
                <a:ea typeface="Microsoft YaHei" pitchFamily="34" charset="-122"/>
                <a:cs typeface="Microsoft YaHei" pitchFamily="34" charset="-120"/>
              </a:rPr>
              <a:t> − 1)/(k − 1)</a:t>
            </a:r>
            <a:endParaRPr lang="en-US" sz="2000" dirty="0"/>
          </a:p>
        </p:txBody>
      </p:sp>
      <p:sp>
        <p:nvSpPr>
          <p:cNvPr id="16" name="Shape 14"/>
          <p:cNvSpPr/>
          <p:nvPr/>
        </p:nvSpPr>
        <p:spPr>
          <a:xfrm>
            <a:off x="548640" y="4675632"/>
            <a:ext cx="384048" cy="384048"/>
          </a:xfrm>
          <a:prstGeom prst="ellipse">
            <a:avLst/>
          </a:prstGeom>
          <a:solidFill>
            <a:srgbClr val="3E7C68"/>
          </a:solidFill>
          <a:ln/>
        </p:spPr>
      </p:sp>
      <p:sp>
        <p:nvSpPr>
          <p:cNvPr id="17" name="Text 15"/>
          <p:cNvSpPr txBox="1"/>
          <p:nvPr/>
        </p:nvSpPr>
        <p:spPr>
          <a:xfrm>
            <a:off x="548640" y="46756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D</a:t>
            </a:r>
            <a:endParaRPr lang="en-US" sz="1400" dirty="0"/>
          </a:p>
        </p:txBody>
      </p:sp>
      <p:sp>
        <p:nvSpPr>
          <p:cNvPr id="18" name="Text 16"/>
          <p:cNvSpPr txBox="1"/>
          <p:nvPr/>
        </p:nvSpPr>
        <p:spPr>
          <a:xfrm>
            <a:off x="1097280" y="4602480"/>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(k</a:t>
            </a:r>
            <a:r>
              <a:rPr lang="en-US" sz="2000" baseline="30000" dirty="0">
                <a:solidFill>
                  <a:srgbClr val="222222"/>
                </a:solidFill>
                <a:latin typeface="Microsoft YaHei" pitchFamily="34" charset="0"/>
                <a:ea typeface="Microsoft YaHei" pitchFamily="34" charset="-122"/>
                <a:cs typeface="Microsoft YaHei" pitchFamily="34" charset="-120"/>
              </a:rPr>
              <a:t>h</a:t>
            </a:r>
            <a:r>
              <a:rPr lang="en-US" sz="2000" dirty="0">
                <a:solidFill>
                  <a:srgbClr val="222222"/>
                </a:solidFill>
                <a:latin typeface="Microsoft YaHei" pitchFamily="34" charset="0"/>
                <a:ea typeface="Microsoft YaHei" pitchFamily="34" charset="-122"/>
                <a:cs typeface="Microsoft YaHei" pitchFamily="34" charset="-120"/>
              </a:rPr>
              <a:t> − 1)/(k − 1)</a:t>
            </a:r>
            <a:endParaRPr lang="en-US" sz="2000" dirty="0"/>
          </a:p>
        </p:txBody>
      </p:sp>
      <p:sp>
        <p:nvSpPr>
          <p:cNvPr id="19" name="ANS_312"/>
          <p:cNvSpPr/>
          <p:nvPr/>
        </p:nvSpPr>
        <p:spPr>
          <a:xfrm>
            <a:off x="457200" y="3249168"/>
            <a:ext cx="6492240" cy="603504"/>
          </a:xfrm>
          <a:prstGeom prst="roundRect">
            <a:avLst>
              <a:gd name="adj" fmla="val 15152"/>
            </a:avLst>
          </a:prstGeom>
          <a:noFill/>
          <a:ln w="38100">
            <a:solidFill>
              <a:srgbClr val="2E9E6B"/>
            </a:solidFill>
            <a:prstDash val="solid"/>
          </a:ln>
        </p:spPr>
      </p:sp>
      <p:sp>
        <p:nvSpPr>
          <p:cNvPr id="20" name="ANS_313"/>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21" name="ANS_314"/>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22" name="ANS_315"/>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B</a:t>
            </a:r>
            <a:endParaRPr lang="en-US" sz="4400" dirty="0"/>
          </a:p>
        </p:txBody>
      </p:sp>
      <p:sp>
        <p:nvSpPr>
          <p:cNvPr id="23" name="ANS_316"/>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24" name="ANS_317"/>
          <p:cNvSpPr/>
          <p:nvPr/>
        </p:nvSpPr>
        <p:spPr>
          <a:xfrm>
            <a:off x="7616952" y="2748534"/>
            <a:ext cx="91440" cy="91440"/>
          </a:xfrm>
          <a:prstGeom prst="ellipse">
            <a:avLst/>
          </a:prstGeom>
          <a:solidFill>
            <a:srgbClr val="F2B134"/>
          </a:solidFill>
          <a:ln/>
        </p:spPr>
      </p:sp>
      <p:sp>
        <p:nvSpPr>
          <p:cNvPr id="25" name="ANS_318"/>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叶结点全在最后一层（第 h 层），最多 k</a:t>
            </a:r>
            <a:r>
              <a:rPr lang="en-US" sz="1700" baseline="30000" dirty="0">
                <a:solidFill>
                  <a:srgbClr val="2B2B2B"/>
                </a:solidFill>
                <a:latin typeface="Microsoft YaHei" pitchFamily="34" charset="0"/>
                <a:ea typeface="Microsoft YaHei" pitchFamily="34" charset="-122"/>
                <a:cs typeface="Microsoft YaHei" pitchFamily="34" charset="-120"/>
              </a:rPr>
              <a:t>h</a:t>
            </a:r>
            <a:r>
              <a:rPr lang="en-US" sz="1700" dirty="0">
                <a:solidFill>
                  <a:srgbClr val="2B2B2B"/>
                </a:solidFill>
                <a:latin typeface="Microsoft YaHei" pitchFamily="34" charset="0"/>
                <a:ea typeface="Microsoft YaHei" pitchFamily="34" charset="-122"/>
                <a:cs typeface="Microsoft YaHei" pitchFamily="34" charset="-120"/>
              </a:rPr>
              <a:t> 个。</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Q4</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单选题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树的后根序 = 二叉树的？</a:t>
            </a:r>
            <a:endParaRPr lang="en-US" sz="2800" dirty="0"/>
          </a:p>
        </p:txBody>
      </p:sp>
      <p:sp>
        <p:nvSpPr>
          <p:cNvPr id="6" name="Text 4"/>
          <p:cNvSpPr txBox="1"/>
          <p:nvPr/>
        </p:nvSpPr>
        <p:spPr>
          <a:xfrm>
            <a:off x="548640" y="1645920"/>
            <a:ext cx="6309360" cy="106070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将一棵树 T 转换为左子/右兄链表表示的二叉树 B，则 T 的后根次序遍历序列是 B 的相应 ____ 序列。</a:t>
            </a:r>
            <a:endParaRPr lang="en-US" sz="2000" dirty="0"/>
          </a:p>
        </p:txBody>
      </p:sp>
      <p:sp>
        <p:nvSpPr>
          <p:cNvPr id="7" name="Shape 5"/>
          <p:cNvSpPr/>
          <p:nvPr/>
        </p:nvSpPr>
        <p:spPr>
          <a:xfrm>
            <a:off x="548640" y="3035808"/>
            <a:ext cx="384048" cy="384048"/>
          </a:xfrm>
          <a:prstGeom prst="ellipse">
            <a:avLst/>
          </a:prstGeom>
          <a:solidFill>
            <a:srgbClr val="3E7C68"/>
          </a:solidFill>
          <a:ln/>
        </p:spPr>
      </p:sp>
      <p:sp>
        <p:nvSpPr>
          <p:cNvPr id="8" name="Text 6"/>
          <p:cNvSpPr txBox="1"/>
          <p:nvPr/>
        </p:nvSpPr>
        <p:spPr>
          <a:xfrm>
            <a:off x="548640" y="3035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A</a:t>
            </a:r>
            <a:endParaRPr lang="en-US" sz="1400" dirty="0"/>
          </a:p>
        </p:txBody>
      </p:sp>
      <p:sp>
        <p:nvSpPr>
          <p:cNvPr id="9" name="Text 7"/>
          <p:cNvSpPr txBox="1"/>
          <p:nvPr/>
        </p:nvSpPr>
        <p:spPr>
          <a:xfrm>
            <a:off x="1097280" y="2962656"/>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前序遍历</a:t>
            </a:r>
            <a:endParaRPr lang="en-US" sz="2000" dirty="0"/>
          </a:p>
        </p:txBody>
      </p:sp>
      <p:sp>
        <p:nvSpPr>
          <p:cNvPr id="10" name="Shape 8"/>
          <p:cNvSpPr/>
          <p:nvPr/>
        </p:nvSpPr>
        <p:spPr>
          <a:xfrm>
            <a:off x="548640" y="3694176"/>
            <a:ext cx="384048" cy="384048"/>
          </a:xfrm>
          <a:prstGeom prst="ellipse">
            <a:avLst/>
          </a:prstGeom>
          <a:solidFill>
            <a:srgbClr val="3E7C68"/>
          </a:solidFill>
          <a:ln/>
        </p:spPr>
      </p:sp>
      <p:sp>
        <p:nvSpPr>
          <p:cNvPr id="11" name="Text 9"/>
          <p:cNvSpPr txBox="1"/>
          <p:nvPr/>
        </p:nvSpPr>
        <p:spPr>
          <a:xfrm>
            <a:off x="548640" y="36941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B</a:t>
            </a:r>
            <a:endParaRPr lang="en-US" sz="1400" dirty="0"/>
          </a:p>
        </p:txBody>
      </p:sp>
      <p:sp>
        <p:nvSpPr>
          <p:cNvPr id="12" name="Text 10"/>
          <p:cNvSpPr txBox="1"/>
          <p:nvPr/>
        </p:nvSpPr>
        <p:spPr>
          <a:xfrm>
            <a:off x="1097280" y="3621024"/>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后序遍历</a:t>
            </a:r>
            <a:endParaRPr lang="en-US" sz="2000" dirty="0"/>
          </a:p>
        </p:txBody>
      </p:sp>
      <p:sp>
        <p:nvSpPr>
          <p:cNvPr id="13" name="Shape 11"/>
          <p:cNvSpPr/>
          <p:nvPr/>
        </p:nvSpPr>
        <p:spPr>
          <a:xfrm>
            <a:off x="548640" y="4352544"/>
            <a:ext cx="384048" cy="384048"/>
          </a:xfrm>
          <a:prstGeom prst="ellipse">
            <a:avLst/>
          </a:prstGeom>
          <a:solidFill>
            <a:srgbClr val="3E7C68"/>
          </a:solidFill>
          <a:ln/>
        </p:spPr>
      </p:sp>
      <p:sp>
        <p:nvSpPr>
          <p:cNvPr id="14" name="Text 12"/>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C</a:t>
            </a:r>
            <a:endParaRPr lang="en-US" sz="1400" dirty="0"/>
          </a:p>
        </p:txBody>
      </p:sp>
      <p:sp>
        <p:nvSpPr>
          <p:cNvPr id="15" name="Text 13"/>
          <p:cNvSpPr txBox="1"/>
          <p:nvPr/>
        </p:nvSpPr>
        <p:spPr>
          <a:xfrm>
            <a:off x="1097280" y="4279392"/>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中序遍历</a:t>
            </a:r>
            <a:endParaRPr lang="en-US" sz="2000" dirty="0"/>
          </a:p>
        </p:txBody>
      </p:sp>
      <p:sp>
        <p:nvSpPr>
          <p:cNvPr id="16" name="Shape 14"/>
          <p:cNvSpPr/>
          <p:nvPr/>
        </p:nvSpPr>
        <p:spPr>
          <a:xfrm>
            <a:off x="548640" y="5010912"/>
            <a:ext cx="384048" cy="384048"/>
          </a:xfrm>
          <a:prstGeom prst="ellipse">
            <a:avLst/>
          </a:prstGeom>
          <a:solidFill>
            <a:srgbClr val="3E7C68"/>
          </a:solidFill>
          <a:ln/>
        </p:spPr>
      </p:sp>
      <p:sp>
        <p:nvSpPr>
          <p:cNvPr id="17" name="Text 15"/>
          <p:cNvSpPr txBox="1"/>
          <p:nvPr/>
        </p:nvSpPr>
        <p:spPr>
          <a:xfrm>
            <a:off x="548640" y="5010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D</a:t>
            </a:r>
            <a:endParaRPr lang="en-US" sz="1400" dirty="0"/>
          </a:p>
        </p:txBody>
      </p:sp>
      <p:sp>
        <p:nvSpPr>
          <p:cNvPr id="18" name="Text 16"/>
          <p:cNvSpPr txBox="1"/>
          <p:nvPr/>
        </p:nvSpPr>
        <p:spPr>
          <a:xfrm>
            <a:off x="1097280" y="4937760"/>
            <a:ext cx="5760720" cy="530352"/>
          </a:xfrm>
          <a:prstGeom prst="rect">
            <a:avLst/>
          </a:prstGeom>
          <a:noFill/>
          <a:ln/>
        </p:spPr>
        <p:txBody>
          <a:bodyPr wrap="square" lIns="0" tIns="0" rIns="0" bIns="0" rtlCol="0" anchor="ctr"/>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层次遍历</a:t>
            </a:r>
            <a:endParaRPr lang="en-US" sz="2000" dirty="0"/>
          </a:p>
        </p:txBody>
      </p:sp>
      <p:sp>
        <p:nvSpPr>
          <p:cNvPr id="19" name="ANS_319"/>
          <p:cNvSpPr/>
          <p:nvPr/>
        </p:nvSpPr>
        <p:spPr>
          <a:xfrm>
            <a:off x="457200" y="4242816"/>
            <a:ext cx="6492240" cy="603504"/>
          </a:xfrm>
          <a:prstGeom prst="roundRect">
            <a:avLst>
              <a:gd name="adj" fmla="val 15152"/>
            </a:avLst>
          </a:prstGeom>
          <a:noFill/>
          <a:ln w="38100">
            <a:solidFill>
              <a:srgbClr val="2E9E6B"/>
            </a:solidFill>
            <a:prstDash val="solid"/>
          </a:ln>
        </p:spPr>
      </p:sp>
      <p:sp>
        <p:nvSpPr>
          <p:cNvPr id="20" name="ANS_320"/>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21" name="ANS_321"/>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22" name="ANS_322"/>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C</a:t>
            </a:r>
            <a:endParaRPr lang="en-US" sz="4400" dirty="0"/>
          </a:p>
        </p:txBody>
      </p:sp>
      <p:sp>
        <p:nvSpPr>
          <p:cNvPr id="23" name="ANS_323"/>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24" name="ANS_324"/>
          <p:cNvSpPr/>
          <p:nvPr/>
        </p:nvSpPr>
        <p:spPr>
          <a:xfrm>
            <a:off x="7616952" y="2748534"/>
            <a:ext cx="91440" cy="91440"/>
          </a:xfrm>
          <a:prstGeom prst="ellipse">
            <a:avLst/>
          </a:prstGeom>
          <a:solidFill>
            <a:srgbClr val="F2B134"/>
          </a:solidFill>
          <a:ln/>
        </p:spPr>
      </p:sp>
      <p:sp>
        <p:nvSpPr>
          <p:cNvPr id="25" name="ANS_325"/>
          <p:cNvSpPr txBox="1"/>
          <p:nvPr/>
        </p:nvSpPr>
        <p:spPr>
          <a:xfrm>
            <a:off x="7818120" y="2651760"/>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树的先根序 = 二叉树的前序。</a:t>
            </a:r>
            <a:endParaRPr lang="en-US" sz="1700" dirty="0"/>
          </a:p>
        </p:txBody>
      </p:sp>
      <p:sp>
        <p:nvSpPr>
          <p:cNvPr id="26" name="ANS_326"/>
          <p:cNvSpPr/>
          <p:nvPr/>
        </p:nvSpPr>
        <p:spPr>
          <a:xfrm>
            <a:off x="7616952" y="3228289"/>
            <a:ext cx="91440" cy="91440"/>
          </a:xfrm>
          <a:prstGeom prst="ellipse">
            <a:avLst/>
          </a:prstGeom>
          <a:solidFill>
            <a:srgbClr val="F2B134"/>
          </a:solidFill>
          <a:ln/>
        </p:spPr>
      </p:sp>
      <p:sp>
        <p:nvSpPr>
          <p:cNvPr id="27" name="ANS_327"/>
          <p:cNvSpPr txBox="1"/>
          <p:nvPr/>
        </p:nvSpPr>
        <p:spPr>
          <a:xfrm>
            <a:off x="7818120" y="3131515"/>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树的后根序：先各子树、后根；在二叉树里子树在根的左子树中，兄弟在右子树中 → 恰是中序。</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400"/>
                                        <p:tgtEl>
                                          <p:spTgt spid="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Q5</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单选题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森林转二叉树：左子树</a:t>
            </a:r>
            <a:endParaRPr lang="en-US" sz="2800" dirty="0"/>
          </a:p>
        </p:txBody>
      </p:sp>
      <p:sp>
        <p:nvSpPr>
          <p:cNvPr id="6" name="Text 4"/>
          <p:cNvSpPr txBox="1"/>
          <p:nvPr/>
        </p:nvSpPr>
        <p:spPr>
          <a:xfrm>
            <a:off x="548640" y="1645920"/>
            <a:ext cx="6309360" cy="106070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森林 F 由 T1、T2、T3 三棵树组成，结点数分别为 n1、n2、n3。与 F 对应的二叉树为 B，则 B 的左子树中有多少个结点？</a:t>
            </a:r>
            <a:endParaRPr lang="en-US" sz="2000" dirty="0"/>
          </a:p>
        </p:txBody>
      </p:sp>
      <p:sp>
        <p:nvSpPr>
          <p:cNvPr id="7" name="Shape 5"/>
          <p:cNvSpPr/>
          <p:nvPr/>
        </p:nvSpPr>
        <p:spPr>
          <a:xfrm>
            <a:off x="548640" y="2962656"/>
            <a:ext cx="1474470" cy="822960"/>
          </a:xfrm>
          <a:prstGeom prst="roundRect">
            <a:avLst>
              <a:gd name="adj" fmla="val 8889"/>
            </a:avLst>
          </a:prstGeom>
          <a:solidFill>
            <a:srgbClr val="F1F4F2"/>
          </a:solidFill>
          <a:ln/>
        </p:spPr>
      </p:sp>
      <p:sp>
        <p:nvSpPr>
          <p:cNvPr id="8" name="Text 6"/>
          <p:cNvSpPr txBox="1"/>
          <p:nvPr/>
        </p:nvSpPr>
        <p:spPr>
          <a:xfrm>
            <a:off x="548640" y="2962656"/>
            <a:ext cx="1474470" cy="822960"/>
          </a:xfrm>
          <a:prstGeom prst="rect">
            <a:avLst/>
          </a:prstGeom>
          <a:noFill/>
          <a:ln/>
        </p:spPr>
        <p:txBody>
          <a:bodyPr wrap="square" lIns="0" tIns="0" rIns="0" bIns="0" rtlCol="0" anchor="ctr"/>
          <a:lstStyle/>
          <a:p>
            <a:pPr algn="ctr" indent="0" marL="0">
              <a:buNone/>
            </a:pPr>
            <a:r>
              <a:rPr lang="en-US" sz="2000" b="1" dirty="0">
                <a:solidFill>
                  <a:srgbClr val="3E7C68"/>
                </a:solidFill>
                <a:latin typeface="Microsoft YaHei" pitchFamily="34" charset="0"/>
                <a:ea typeface="Microsoft YaHei" pitchFamily="34" charset="-122"/>
                <a:cs typeface="Microsoft YaHei" pitchFamily="34" charset="-120"/>
              </a:rPr>
              <a:t>A  </a:t>
            </a:r>
            <a:r>
              <a:rPr lang="en-US" sz="2000" dirty="0">
                <a:solidFill>
                  <a:srgbClr val="222222"/>
                </a:solidFill>
                <a:latin typeface="Microsoft YaHei" pitchFamily="34" charset="0"/>
                <a:ea typeface="Microsoft YaHei" pitchFamily="34" charset="-122"/>
                <a:cs typeface="Microsoft YaHei" pitchFamily="34" charset="-120"/>
              </a:rPr>
              <a:t>n2−1</a:t>
            </a:r>
            <a:endParaRPr lang="en-US" sz="2000" dirty="0"/>
          </a:p>
        </p:txBody>
      </p:sp>
      <p:sp>
        <p:nvSpPr>
          <p:cNvPr id="9" name="Shape 7"/>
          <p:cNvSpPr/>
          <p:nvPr/>
        </p:nvSpPr>
        <p:spPr>
          <a:xfrm>
            <a:off x="2160270" y="2962656"/>
            <a:ext cx="1474470" cy="822960"/>
          </a:xfrm>
          <a:prstGeom prst="roundRect">
            <a:avLst>
              <a:gd name="adj" fmla="val 8889"/>
            </a:avLst>
          </a:prstGeom>
          <a:solidFill>
            <a:srgbClr val="F1F4F2"/>
          </a:solidFill>
          <a:ln/>
        </p:spPr>
      </p:sp>
      <p:sp>
        <p:nvSpPr>
          <p:cNvPr id="10" name="Text 8"/>
          <p:cNvSpPr txBox="1"/>
          <p:nvPr/>
        </p:nvSpPr>
        <p:spPr>
          <a:xfrm>
            <a:off x="2160270" y="2962656"/>
            <a:ext cx="1474470" cy="822960"/>
          </a:xfrm>
          <a:prstGeom prst="rect">
            <a:avLst/>
          </a:prstGeom>
          <a:noFill/>
          <a:ln/>
        </p:spPr>
        <p:txBody>
          <a:bodyPr wrap="square" lIns="0" tIns="0" rIns="0" bIns="0" rtlCol="0" anchor="ctr"/>
          <a:lstStyle/>
          <a:p>
            <a:pPr algn="ctr" indent="0" marL="0">
              <a:buNone/>
            </a:pPr>
            <a:r>
              <a:rPr lang="en-US" sz="2000" b="1" dirty="0">
                <a:solidFill>
                  <a:srgbClr val="3E7C68"/>
                </a:solidFill>
                <a:latin typeface="Microsoft YaHei" pitchFamily="34" charset="0"/>
                <a:ea typeface="Microsoft YaHei" pitchFamily="34" charset="-122"/>
                <a:cs typeface="Microsoft YaHei" pitchFamily="34" charset="-120"/>
              </a:rPr>
              <a:t>B  </a:t>
            </a:r>
            <a:r>
              <a:rPr lang="en-US" sz="2000" dirty="0">
                <a:solidFill>
                  <a:srgbClr val="222222"/>
                </a:solidFill>
                <a:latin typeface="Microsoft YaHei" pitchFamily="34" charset="0"/>
                <a:ea typeface="Microsoft YaHei" pitchFamily="34" charset="-122"/>
                <a:cs typeface="Microsoft YaHei" pitchFamily="34" charset="-120"/>
              </a:rPr>
              <a:t>n3−1</a:t>
            </a:r>
            <a:endParaRPr lang="en-US" sz="2000" dirty="0"/>
          </a:p>
        </p:txBody>
      </p:sp>
      <p:sp>
        <p:nvSpPr>
          <p:cNvPr id="11" name="Shape 9"/>
          <p:cNvSpPr/>
          <p:nvPr/>
        </p:nvSpPr>
        <p:spPr>
          <a:xfrm>
            <a:off x="3771900" y="2962656"/>
            <a:ext cx="1474470" cy="822960"/>
          </a:xfrm>
          <a:prstGeom prst="roundRect">
            <a:avLst>
              <a:gd name="adj" fmla="val 8889"/>
            </a:avLst>
          </a:prstGeom>
          <a:solidFill>
            <a:srgbClr val="F1F4F2"/>
          </a:solidFill>
          <a:ln/>
        </p:spPr>
      </p:sp>
      <p:sp>
        <p:nvSpPr>
          <p:cNvPr id="12" name="Text 10"/>
          <p:cNvSpPr txBox="1"/>
          <p:nvPr/>
        </p:nvSpPr>
        <p:spPr>
          <a:xfrm>
            <a:off x="3771900" y="2962656"/>
            <a:ext cx="1474470" cy="822960"/>
          </a:xfrm>
          <a:prstGeom prst="rect">
            <a:avLst/>
          </a:prstGeom>
          <a:noFill/>
          <a:ln/>
        </p:spPr>
        <p:txBody>
          <a:bodyPr wrap="square" lIns="0" tIns="0" rIns="0" bIns="0" rtlCol="0" anchor="ctr"/>
          <a:lstStyle/>
          <a:p>
            <a:pPr algn="ctr" indent="0" marL="0">
              <a:buNone/>
            </a:pPr>
            <a:r>
              <a:rPr lang="en-US" sz="2000" b="1" dirty="0">
                <a:solidFill>
                  <a:srgbClr val="3E7C68"/>
                </a:solidFill>
                <a:latin typeface="Microsoft YaHei" pitchFamily="34" charset="0"/>
                <a:ea typeface="Microsoft YaHei" pitchFamily="34" charset="-122"/>
                <a:cs typeface="Microsoft YaHei" pitchFamily="34" charset="-120"/>
              </a:rPr>
              <a:t>C  </a:t>
            </a:r>
            <a:r>
              <a:rPr lang="en-US" sz="2000" dirty="0">
                <a:solidFill>
                  <a:srgbClr val="222222"/>
                </a:solidFill>
                <a:latin typeface="Microsoft YaHei" pitchFamily="34" charset="0"/>
                <a:ea typeface="Microsoft YaHei" pitchFamily="34" charset="-122"/>
                <a:cs typeface="Microsoft YaHei" pitchFamily="34" charset="-120"/>
              </a:rPr>
              <a:t>n1−1</a:t>
            </a:r>
            <a:endParaRPr lang="en-US" sz="2000" dirty="0"/>
          </a:p>
        </p:txBody>
      </p:sp>
      <p:sp>
        <p:nvSpPr>
          <p:cNvPr id="13" name="Shape 11"/>
          <p:cNvSpPr/>
          <p:nvPr/>
        </p:nvSpPr>
        <p:spPr>
          <a:xfrm>
            <a:off x="5383530" y="2962656"/>
            <a:ext cx="1474470" cy="822960"/>
          </a:xfrm>
          <a:prstGeom prst="roundRect">
            <a:avLst>
              <a:gd name="adj" fmla="val 8889"/>
            </a:avLst>
          </a:prstGeom>
          <a:solidFill>
            <a:srgbClr val="F1F4F2"/>
          </a:solidFill>
          <a:ln/>
        </p:spPr>
      </p:sp>
      <p:sp>
        <p:nvSpPr>
          <p:cNvPr id="14" name="Text 12"/>
          <p:cNvSpPr txBox="1"/>
          <p:nvPr/>
        </p:nvSpPr>
        <p:spPr>
          <a:xfrm>
            <a:off x="5383530" y="2962656"/>
            <a:ext cx="1474470" cy="822960"/>
          </a:xfrm>
          <a:prstGeom prst="rect">
            <a:avLst/>
          </a:prstGeom>
          <a:noFill/>
          <a:ln/>
        </p:spPr>
        <p:txBody>
          <a:bodyPr wrap="square" lIns="0" tIns="0" rIns="0" bIns="0" rtlCol="0" anchor="ctr"/>
          <a:lstStyle/>
          <a:p>
            <a:pPr algn="ctr" indent="0" marL="0">
              <a:buNone/>
            </a:pPr>
            <a:r>
              <a:rPr lang="en-US" sz="2000" b="1" dirty="0">
                <a:solidFill>
                  <a:srgbClr val="3E7C68"/>
                </a:solidFill>
                <a:latin typeface="Microsoft YaHei" pitchFamily="34" charset="0"/>
                <a:ea typeface="Microsoft YaHei" pitchFamily="34" charset="-122"/>
                <a:cs typeface="Microsoft YaHei" pitchFamily="34" charset="-120"/>
              </a:rPr>
              <a:t>D  </a:t>
            </a:r>
            <a:r>
              <a:rPr lang="en-US" sz="2000" dirty="0">
                <a:solidFill>
                  <a:srgbClr val="222222"/>
                </a:solidFill>
                <a:latin typeface="Microsoft YaHei" pitchFamily="34" charset="0"/>
                <a:ea typeface="Microsoft YaHei" pitchFamily="34" charset="-122"/>
                <a:cs typeface="Microsoft YaHei" pitchFamily="34" charset="-120"/>
              </a:rPr>
              <a:t>n2</a:t>
            </a:r>
            <a:endParaRPr lang="en-US" sz="2000" dirty="0"/>
          </a:p>
        </p:txBody>
      </p:sp>
      <p:sp>
        <p:nvSpPr>
          <p:cNvPr id="15" name="ANS_328"/>
          <p:cNvSpPr/>
          <p:nvPr/>
        </p:nvSpPr>
        <p:spPr>
          <a:xfrm>
            <a:off x="3771900" y="2962656"/>
            <a:ext cx="1474470" cy="822960"/>
          </a:xfrm>
          <a:prstGeom prst="roundRect">
            <a:avLst>
              <a:gd name="adj" fmla="val 11111"/>
            </a:avLst>
          </a:prstGeom>
          <a:noFill/>
          <a:ln w="38100">
            <a:solidFill>
              <a:srgbClr val="2E9E6B"/>
            </a:solidFill>
            <a:prstDash val="solid"/>
          </a:ln>
        </p:spPr>
      </p:sp>
      <p:sp>
        <p:nvSpPr>
          <p:cNvPr id="16" name="ANS_329"/>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7" name="ANS_330"/>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8" name="ANS_331"/>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C</a:t>
            </a:r>
            <a:endParaRPr lang="en-US" sz="4400" dirty="0"/>
          </a:p>
        </p:txBody>
      </p:sp>
      <p:sp>
        <p:nvSpPr>
          <p:cNvPr id="19" name="ANS_332"/>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20" name="ANS_333"/>
          <p:cNvSpPr/>
          <p:nvPr/>
        </p:nvSpPr>
        <p:spPr>
          <a:xfrm>
            <a:off x="7616952" y="2748534"/>
            <a:ext cx="91440" cy="91440"/>
          </a:xfrm>
          <a:prstGeom prst="ellipse">
            <a:avLst/>
          </a:prstGeom>
          <a:solidFill>
            <a:srgbClr val="F2B134"/>
          </a:solidFill>
          <a:ln/>
        </p:spPr>
      </p:sp>
      <p:sp>
        <p:nvSpPr>
          <p:cNvPr id="21" name="ANS_334"/>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B 的左子树由 T1 去掉根后的子树们转成：n1 − 1 个结点。</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Q6</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多选题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2-3 树的非叶结点数</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若一棵 2-3 树有 9 个叶结点，那么它可能有多少个非叶结点？</a:t>
            </a:r>
            <a:endParaRPr lang="en-US" sz="2000" dirty="0"/>
          </a:p>
        </p:txBody>
      </p:sp>
      <p:sp>
        <p:nvSpPr>
          <p:cNvPr id="7" name="Shape 5"/>
          <p:cNvSpPr/>
          <p:nvPr/>
        </p:nvSpPr>
        <p:spPr>
          <a:xfrm>
            <a:off x="548640" y="2627376"/>
            <a:ext cx="1474470" cy="822960"/>
          </a:xfrm>
          <a:prstGeom prst="roundRect">
            <a:avLst>
              <a:gd name="adj" fmla="val 8889"/>
            </a:avLst>
          </a:prstGeom>
          <a:solidFill>
            <a:srgbClr val="F1F4F2"/>
          </a:solidFill>
          <a:ln/>
        </p:spPr>
      </p:sp>
      <p:sp>
        <p:nvSpPr>
          <p:cNvPr id="8" name="Text 6"/>
          <p:cNvSpPr txBox="1"/>
          <p:nvPr/>
        </p:nvSpPr>
        <p:spPr>
          <a:xfrm>
            <a:off x="548640" y="2627376"/>
            <a:ext cx="1474470" cy="822960"/>
          </a:xfrm>
          <a:prstGeom prst="rect">
            <a:avLst/>
          </a:prstGeom>
          <a:noFill/>
          <a:ln/>
        </p:spPr>
        <p:txBody>
          <a:bodyPr wrap="square" lIns="0" tIns="0" rIns="0" bIns="0" rtlCol="0" anchor="ctr"/>
          <a:lstStyle/>
          <a:p>
            <a:pPr algn="ctr" indent="0" marL="0">
              <a:buNone/>
            </a:pPr>
            <a:r>
              <a:rPr lang="en-US" sz="2000" b="1" dirty="0">
                <a:solidFill>
                  <a:srgbClr val="3E7C68"/>
                </a:solidFill>
                <a:latin typeface="Microsoft YaHei" pitchFamily="34" charset="0"/>
                <a:ea typeface="Microsoft YaHei" pitchFamily="34" charset="-122"/>
                <a:cs typeface="Microsoft YaHei" pitchFamily="34" charset="-120"/>
              </a:rPr>
              <a:t>A  </a:t>
            </a:r>
            <a:r>
              <a:rPr lang="en-US" sz="2000" dirty="0">
                <a:solidFill>
                  <a:srgbClr val="222222"/>
                </a:solidFill>
                <a:latin typeface="Microsoft YaHei" pitchFamily="34" charset="0"/>
                <a:ea typeface="Microsoft YaHei" pitchFamily="34" charset="-122"/>
                <a:cs typeface="Microsoft YaHei" pitchFamily="34" charset="-120"/>
              </a:rPr>
              <a:t>4</a:t>
            </a:r>
            <a:endParaRPr lang="en-US" sz="2000" dirty="0"/>
          </a:p>
        </p:txBody>
      </p:sp>
      <p:sp>
        <p:nvSpPr>
          <p:cNvPr id="9" name="Shape 7"/>
          <p:cNvSpPr/>
          <p:nvPr/>
        </p:nvSpPr>
        <p:spPr>
          <a:xfrm>
            <a:off x="2160270" y="2627376"/>
            <a:ext cx="1474470" cy="822960"/>
          </a:xfrm>
          <a:prstGeom prst="roundRect">
            <a:avLst>
              <a:gd name="adj" fmla="val 8889"/>
            </a:avLst>
          </a:prstGeom>
          <a:solidFill>
            <a:srgbClr val="F1F4F2"/>
          </a:solidFill>
          <a:ln/>
        </p:spPr>
      </p:sp>
      <p:sp>
        <p:nvSpPr>
          <p:cNvPr id="10" name="Text 8"/>
          <p:cNvSpPr txBox="1"/>
          <p:nvPr/>
        </p:nvSpPr>
        <p:spPr>
          <a:xfrm>
            <a:off x="2160270" y="2627376"/>
            <a:ext cx="1474470" cy="822960"/>
          </a:xfrm>
          <a:prstGeom prst="rect">
            <a:avLst/>
          </a:prstGeom>
          <a:noFill/>
          <a:ln/>
        </p:spPr>
        <p:txBody>
          <a:bodyPr wrap="square" lIns="0" tIns="0" rIns="0" bIns="0" rtlCol="0" anchor="ctr"/>
          <a:lstStyle/>
          <a:p>
            <a:pPr algn="ctr" indent="0" marL="0">
              <a:buNone/>
            </a:pPr>
            <a:r>
              <a:rPr lang="en-US" sz="2000" b="1" dirty="0">
                <a:solidFill>
                  <a:srgbClr val="3E7C68"/>
                </a:solidFill>
                <a:latin typeface="Microsoft YaHei" pitchFamily="34" charset="0"/>
                <a:ea typeface="Microsoft YaHei" pitchFamily="34" charset="-122"/>
                <a:cs typeface="Microsoft YaHei" pitchFamily="34" charset="-120"/>
              </a:rPr>
              <a:t>B  </a:t>
            </a:r>
            <a:r>
              <a:rPr lang="en-US" sz="2000" dirty="0">
                <a:solidFill>
                  <a:srgbClr val="222222"/>
                </a:solidFill>
                <a:latin typeface="Microsoft YaHei" pitchFamily="34" charset="0"/>
                <a:ea typeface="Microsoft YaHei" pitchFamily="34" charset="-122"/>
                <a:cs typeface="Microsoft YaHei" pitchFamily="34" charset="-120"/>
              </a:rPr>
              <a:t>5</a:t>
            </a:r>
            <a:endParaRPr lang="en-US" sz="2000" dirty="0"/>
          </a:p>
        </p:txBody>
      </p:sp>
      <p:sp>
        <p:nvSpPr>
          <p:cNvPr id="11" name="Shape 9"/>
          <p:cNvSpPr/>
          <p:nvPr/>
        </p:nvSpPr>
        <p:spPr>
          <a:xfrm>
            <a:off x="3771900" y="2627376"/>
            <a:ext cx="1474470" cy="822960"/>
          </a:xfrm>
          <a:prstGeom prst="roundRect">
            <a:avLst>
              <a:gd name="adj" fmla="val 8889"/>
            </a:avLst>
          </a:prstGeom>
          <a:solidFill>
            <a:srgbClr val="F1F4F2"/>
          </a:solidFill>
          <a:ln/>
        </p:spPr>
      </p:sp>
      <p:sp>
        <p:nvSpPr>
          <p:cNvPr id="12" name="Text 10"/>
          <p:cNvSpPr txBox="1"/>
          <p:nvPr/>
        </p:nvSpPr>
        <p:spPr>
          <a:xfrm>
            <a:off x="3771900" y="2627376"/>
            <a:ext cx="1474470" cy="822960"/>
          </a:xfrm>
          <a:prstGeom prst="rect">
            <a:avLst/>
          </a:prstGeom>
          <a:noFill/>
          <a:ln/>
        </p:spPr>
        <p:txBody>
          <a:bodyPr wrap="square" lIns="0" tIns="0" rIns="0" bIns="0" rtlCol="0" anchor="ctr"/>
          <a:lstStyle/>
          <a:p>
            <a:pPr algn="ctr" indent="0" marL="0">
              <a:buNone/>
            </a:pPr>
            <a:r>
              <a:rPr lang="en-US" sz="2000" b="1" dirty="0">
                <a:solidFill>
                  <a:srgbClr val="3E7C68"/>
                </a:solidFill>
                <a:latin typeface="Microsoft YaHei" pitchFamily="34" charset="0"/>
                <a:ea typeface="Microsoft YaHei" pitchFamily="34" charset="-122"/>
                <a:cs typeface="Microsoft YaHei" pitchFamily="34" charset="-120"/>
              </a:rPr>
              <a:t>C  </a:t>
            </a:r>
            <a:r>
              <a:rPr lang="en-US" sz="2000" dirty="0">
                <a:solidFill>
                  <a:srgbClr val="222222"/>
                </a:solidFill>
                <a:latin typeface="Microsoft YaHei" pitchFamily="34" charset="0"/>
                <a:ea typeface="Microsoft YaHei" pitchFamily="34" charset="-122"/>
                <a:cs typeface="Microsoft YaHei" pitchFamily="34" charset="-120"/>
              </a:rPr>
              <a:t>6</a:t>
            </a:r>
            <a:endParaRPr lang="en-US" sz="2000" dirty="0"/>
          </a:p>
        </p:txBody>
      </p:sp>
      <p:sp>
        <p:nvSpPr>
          <p:cNvPr id="13" name="Shape 11"/>
          <p:cNvSpPr/>
          <p:nvPr/>
        </p:nvSpPr>
        <p:spPr>
          <a:xfrm>
            <a:off x="5383530" y="2627376"/>
            <a:ext cx="1474470" cy="822960"/>
          </a:xfrm>
          <a:prstGeom prst="roundRect">
            <a:avLst>
              <a:gd name="adj" fmla="val 8889"/>
            </a:avLst>
          </a:prstGeom>
          <a:solidFill>
            <a:srgbClr val="F1F4F2"/>
          </a:solidFill>
          <a:ln/>
        </p:spPr>
      </p:sp>
      <p:sp>
        <p:nvSpPr>
          <p:cNvPr id="14" name="Text 12"/>
          <p:cNvSpPr txBox="1"/>
          <p:nvPr/>
        </p:nvSpPr>
        <p:spPr>
          <a:xfrm>
            <a:off x="5383530" y="2627376"/>
            <a:ext cx="1474470" cy="822960"/>
          </a:xfrm>
          <a:prstGeom prst="rect">
            <a:avLst/>
          </a:prstGeom>
          <a:noFill/>
          <a:ln/>
        </p:spPr>
        <p:txBody>
          <a:bodyPr wrap="square" lIns="0" tIns="0" rIns="0" bIns="0" rtlCol="0" anchor="ctr"/>
          <a:lstStyle/>
          <a:p>
            <a:pPr algn="ctr" indent="0" marL="0">
              <a:buNone/>
            </a:pPr>
            <a:r>
              <a:rPr lang="en-US" sz="2000" b="1" dirty="0">
                <a:solidFill>
                  <a:srgbClr val="3E7C68"/>
                </a:solidFill>
                <a:latin typeface="Microsoft YaHei" pitchFamily="34" charset="0"/>
                <a:ea typeface="Microsoft YaHei" pitchFamily="34" charset="-122"/>
                <a:cs typeface="Microsoft YaHei" pitchFamily="34" charset="-120"/>
              </a:rPr>
              <a:t>D  </a:t>
            </a:r>
            <a:r>
              <a:rPr lang="en-US" sz="2000" dirty="0">
                <a:solidFill>
                  <a:srgbClr val="222222"/>
                </a:solidFill>
                <a:latin typeface="Microsoft YaHei" pitchFamily="34" charset="0"/>
                <a:ea typeface="Microsoft YaHei" pitchFamily="34" charset="-122"/>
                <a:cs typeface="Microsoft YaHei" pitchFamily="34" charset="-120"/>
              </a:rPr>
              <a:t>7</a:t>
            </a:r>
            <a:endParaRPr lang="en-US" sz="2000" dirty="0"/>
          </a:p>
        </p:txBody>
      </p:sp>
      <p:sp>
        <p:nvSpPr>
          <p:cNvPr id="15" name="ANS_335"/>
          <p:cNvSpPr/>
          <p:nvPr/>
        </p:nvSpPr>
        <p:spPr>
          <a:xfrm>
            <a:off x="548640" y="2627376"/>
            <a:ext cx="1474470" cy="822960"/>
          </a:xfrm>
          <a:prstGeom prst="roundRect">
            <a:avLst>
              <a:gd name="adj" fmla="val 11111"/>
            </a:avLst>
          </a:prstGeom>
          <a:noFill/>
          <a:ln w="38100">
            <a:solidFill>
              <a:srgbClr val="2E9E6B"/>
            </a:solidFill>
            <a:prstDash val="solid"/>
          </a:ln>
        </p:spPr>
      </p:sp>
      <p:sp>
        <p:nvSpPr>
          <p:cNvPr id="16" name="ANS_336"/>
          <p:cNvSpPr/>
          <p:nvPr/>
        </p:nvSpPr>
        <p:spPr>
          <a:xfrm>
            <a:off x="5383530" y="2627376"/>
            <a:ext cx="1474470" cy="822960"/>
          </a:xfrm>
          <a:prstGeom prst="roundRect">
            <a:avLst>
              <a:gd name="adj" fmla="val 11111"/>
            </a:avLst>
          </a:prstGeom>
          <a:noFill/>
          <a:ln w="38100">
            <a:solidFill>
              <a:srgbClr val="2E9E6B"/>
            </a:solidFill>
            <a:prstDash val="solid"/>
          </a:ln>
        </p:spPr>
      </p:sp>
      <p:sp>
        <p:nvSpPr>
          <p:cNvPr id="17" name="ANS_337"/>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8" name="ANS_338"/>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9" name="ANS_339"/>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A、D</a:t>
            </a:r>
            <a:endParaRPr lang="en-US" sz="4400" dirty="0"/>
          </a:p>
        </p:txBody>
      </p:sp>
      <p:sp>
        <p:nvSpPr>
          <p:cNvPr id="20" name="ANS_340"/>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21" name="ANS_341"/>
          <p:cNvSpPr/>
          <p:nvPr/>
        </p:nvSpPr>
        <p:spPr>
          <a:xfrm>
            <a:off x="7616952" y="2748534"/>
            <a:ext cx="91440" cy="91440"/>
          </a:xfrm>
          <a:prstGeom prst="ellipse">
            <a:avLst/>
          </a:prstGeom>
          <a:solidFill>
            <a:srgbClr val="F2B134"/>
          </a:solidFill>
          <a:ln/>
        </p:spPr>
      </p:sp>
      <p:sp>
        <p:nvSpPr>
          <p:cNvPr id="22" name="ANS_342"/>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2-3 树的叶子都在同一层，每个非叶结点有 2 或 3 个孩子。</a:t>
            </a:r>
            <a:endParaRPr lang="en-US" sz="1700" dirty="0"/>
          </a:p>
        </p:txBody>
      </p:sp>
      <p:sp>
        <p:nvSpPr>
          <p:cNvPr id="23" name="ANS_343"/>
          <p:cNvSpPr/>
          <p:nvPr/>
        </p:nvSpPr>
        <p:spPr>
          <a:xfrm>
            <a:off x="7616952" y="3513277"/>
            <a:ext cx="91440" cy="91440"/>
          </a:xfrm>
          <a:prstGeom prst="ellipse">
            <a:avLst/>
          </a:prstGeom>
          <a:solidFill>
            <a:srgbClr val="F2B134"/>
          </a:solidFill>
          <a:ln/>
        </p:spPr>
      </p:sp>
      <p:sp>
        <p:nvSpPr>
          <p:cNvPr id="24" name="ANS_344"/>
          <p:cNvSpPr txBox="1"/>
          <p:nvPr/>
        </p:nvSpPr>
        <p:spPr>
          <a:xfrm>
            <a:off x="7818120" y="3416503"/>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叶子上一层 3 个结点（各 3 个叶子）+ 根 → 4 个。</a:t>
            </a:r>
            <a:endParaRPr lang="en-US" sz="1700" dirty="0"/>
          </a:p>
        </p:txBody>
      </p:sp>
      <p:sp>
        <p:nvSpPr>
          <p:cNvPr id="25" name="ANS_345"/>
          <p:cNvSpPr/>
          <p:nvPr/>
        </p:nvSpPr>
        <p:spPr>
          <a:xfrm>
            <a:off x="7616952" y="4278020"/>
            <a:ext cx="91440" cy="91440"/>
          </a:xfrm>
          <a:prstGeom prst="ellipse">
            <a:avLst/>
          </a:prstGeom>
          <a:solidFill>
            <a:srgbClr val="F2B134"/>
          </a:solidFill>
          <a:ln/>
        </p:spPr>
      </p:sp>
      <p:sp>
        <p:nvSpPr>
          <p:cNvPr id="26" name="ANS_346"/>
          <p:cNvSpPr txBox="1"/>
          <p:nvPr/>
        </p:nvSpPr>
        <p:spPr>
          <a:xfrm>
            <a:off x="7818120" y="4181246"/>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再高一层：叶子上一层需 4 个结点（3 + 2 + 2 + 2），它们挂在 2 个结点下，再加根 → 7 个。</a:t>
            </a:r>
            <a:endParaRPr lang="en-US" sz="1700" dirty="0"/>
          </a:p>
        </p:txBody>
      </p:sp>
      <p:sp>
        <p:nvSpPr>
          <p:cNvPr id="27" name="ANS_347"/>
          <p:cNvSpPr/>
          <p:nvPr/>
        </p:nvSpPr>
        <p:spPr>
          <a:xfrm>
            <a:off x="7616952" y="5327752"/>
            <a:ext cx="91440" cy="91440"/>
          </a:xfrm>
          <a:prstGeom prst="ellipse">
            <a:avLst/>
          </a:prstGeom>
          <a:solidFill>
            <a:srgbClr val="F2B134"/>
          </a:solidFill>
          <a:ln/>
        </p:spPr>
      </p:sp>
      <p:sp>
        <p:nvSpPr>
          <p:cNvPr id="28" name="ANS_348"/>
          <p:cNvSpPr txBox="1"/>
          <p:nvPr/>
        </p:nvSpPr>
        <p:spPr>
          <a:xfrm>
            <a:off x="7818120" y="5230978"/>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更高时叶子至少 16 个，不可能；5、6 凑不出来。</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4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4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4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4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4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4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Q7</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森林中树的棵数</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若一个具有 N 个顶点、K 条边的无向图是一个森林（N &gt; K 且 2K ≥ N），则该森林有多少棵树？</a:t>
            </a:r>
            <a:endParaRPr lang="en-US" sz="2000" dirty="0"/>
          </a:p>
        </p:txBody>
      </p:sp>
      <p:sp>
        <p:nvSpPr>
          <p:cNvPr id="7" name="ANS_349"/>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8" name="ANS_350"/>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9" name="ANS_351"/>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N−K</a:t>
            </a:r>
            <a:endParaRPr lang="en-US" sz="4400" dirty="0"/>
          </a:p>
        </p:txBody>
      </p:sp>
      <p:sp>
        <p:nvSpPr>
          <p:cNvPr id="10" name="ANS_352"/>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1" name="ANS_353"/>
          <p:cNvSpPr/>
          <p:nvPr/>
        </p:nvSpPr>
        <p:spPr>
          <a:xfrm>
            <a:off x="7616952" y="2748534"/>
            <a:ext cx="91440" cy="91440"/>
          </a:xfrm>
          <a:prstGeom prst="ellipse">
            <a:avLst/>
          </a:prstGeom>
          <a:solidFill>
            <a:srgbClr val="F2B134"/>
          </a:solidFill>
          <a:ln/>
        </p:spPr>
      </p:sp>
      <p:sp>
        <p:nvSpPr>
          <p:cNvPr id="12" name="ANS_354"/>
          <p:cNvSpPr txBox="1"/>
          <p:nvPr/>
        </p:nvSpPr>
        <p:spPr>
          <a:xfrm>
            <a:off x="7818120" y="2651760"/>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每棵树：边数 = 顶点数 − 1。</a:t>
            </a:r>
            <a:endParaRPr lang="en-US" sz="1700" dirty="0"/>
          </a:p>
        </p:txBody>
      </p:sp>
      <p:sp>
        <p:nvSpPr>
          <p:cNvPr id="13" name="ANS_355"/>
          <p:cNvSpPr/>
          <p:nvPr/>
        </p:nvSpPr>
        <p:spPr>
          <a:xfrm>
            <a:off x="7616952" y="3228289"/>
            <a:ext cx="91440" cy="91440"/>
          </a:xfrm>
          <a:prstGeom prst="ellipse">
            <a:avLst/>
          </a:prstGeom>
          <a:solidFill>
            <a:srgbClr val="F2B134"/>
          </a:solidFill>
          <a:ln/>
        </p:spPr>
      </p:sp>
      <p:sp>
        <p:nvSpPr>
          <p:cNvPr id="14" name="ANS_356"/>
          <p:cNvSpPr txBox="1"/>
          <p:nvPr/>
        </p:nvSpPr>
        <p:spPr>
          <a:xfrm>
            <a:off x="7818120" y="3131515"/>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设有 T 棵树：K = N − T，所以 T = N − K。</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Q8</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问答题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树的逻辑结构（一）</a:t>
            </a:r>
            <a:endParaRPr lang="en-US" sz="2800" dirty="0"/>
          </a:p>
        </p:txBody>
      </p:sp>
      <p:sp>
        <p:nvSpPr>
          <p:cNvPr id="6" name="Text 4"/>
          <p:cNvSpPr txBox="1"/>
          <p:nvPr/>
        </p:nvSpPr>
        <p:spPr>
          <a:xfrm>
            <a:off x="548640" y="1645920"/>
            <a:ext cx="6309360" cy="139598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树 T = (N, R)，N = {A, B, …, K}。回答：(1) 哪些是叶结点？(2) 哪些是 F 的祖先？(3) 树的深度？（根层数为 0；多个字母按字典序连写，小题之间用空格隔开）</a:t>
            </a:r>
            <a:endParaRPr lang="en-US" sz="2000" dirty="0"/>
          </a:p>
        </p:txBody>
      </p:sp>
      <p:sp>
        <p:nvSpPr>
          <p:cNvPr id="7" name="Shape 5"/>
          <p:cNvSpPr/>
          <p:nvPr/>
        </p:nvSpPr>
        <p:spPr>
          <a:xfrm>
            <a:off x="548640" y="3297936"/>
            <a:ext cx="6309360" cy="810768"/>
          </a:xfrm>
          <a:prstGeom prst="roundRect">
            <a:avLst>
              <a:gd name="adj" fmla="val 9023"/>
            </a:avLst>
          </a:prstGeom>
          <a:solidFill>
            <a:srgbClr val="F1F4F2"/>
          </a:solidFill>
          <a:ln/>
        </p:spPr>
      </p:sp>
      <p:sp>
        <p:nvSpPr>
          <p:cNvPr id="8" name="Text 6"/>
          <p:cNvSpPr txBox="1"/>
          <p:nvPr/>
        </p:nvSpPr>
        <p:spPr>
          <a:xfrm>
            <a:off x="731520" y="3297936"/>
            <a:ext cx="6035040" cy="810768"/>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R = { (A,B), (B,E), (B,F), (F,G), (F,H),</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(A,C), (C,I), (C,J), (J,K), (A,D) }</a:t>
            </a:r>
            <a:endParaRPr lang="en-US" sz="1600" dirty="0"/>
          </a:p>
        </p:txBody>
      </p:sp>
      <p:sp>
        <p:nvSpPr>
          <p:cNvPr id="9" name="ANS_357"/>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358"/>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359"/>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3000" b="1" dirty="0">
                <a:solidFill>
                  <a:srgbClr val="1E3D34"/>
                </a:solidFill>
                <a:latin typeface="Microsoft YaHei" pitchFamily="34" charset="0"/>
                <a:ea typeface="Microsoft YaHei" pitchFamily="34" charset="-122"/>
                <a:cs typeface="Microsoft YaHei" pitchFamily="34" charset="-120"/>
              </a:rPr>
              <a:t>DEGHIK AB 3</a:t>
            </a:r>
            <a:endParaRPr lang="en-US" sz="3000" dirty="0"/>
          </a:p>
        </p:txBody>
      </p:sp>
      <p:sp>
        <p:nvSpPr>
          <p:cNvPr id="12" name="ANS_360"/>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361"/>
          <p:cNvSpPr/>
          <p:nvPr/>
        </p:nvSpPr>
        <p:spPr>
          <a:xfrm>
            <a:off x="7726680" y="2651760"/>
            <a:ext cx="3611880" cy="1841983"/>
          </a:xfrm>
          <a:prstGeom prst="roundRect">
            <a:avLst>
              <a:gd name="adj" fmla="val 2979"/>
            </a:avLst>
          </a:prstGeom>
          <a:solidFill>
            <a:srgbClr val="FFFFFF"/>
          </a:solidFill>
          <a:ln/>
        </p:spPr>
      </p:sp>
      <p:sp>
        <p:nvSpPr>
          <p:cNvPr id="14" name="ANS_362"/>
          <p:cNvSpPr txBox="1"/>
          <p:nvPr/>
        </p:nvSpPr>
        <p:spPr>
          <a:xfrm>
            <a:off x="7818120" y="2651760"/>
            <a:ext cx="3474720" cy="1841983"/>
          </a:xfrm>
          <a:prstGeom prst="rect">
            <a:avLst/>
          </a:prstGeom>
          <a:noFill/>
          <a:ln/>
        </p:spPr>
        <p:txBody>
          <a:bodyPr wrap="square" lIns="0" tIns="0" rIns="0" bIns="0" rtlCol="0" anchor="ctr"/>
          <a:lstStyle/>
          <a:p>
            <a:pPr indent="0" marL="0">
              <a:buNone/>
            </a:pPr>
            <a:r>
              <a:rPr lang="en-US" sz="1445" dirty="0">
                <a:solidFill>
                  <a:srgbClr val="1B2B24"/>
                </a:solidFill>
                <a:latin typeface="Courier New" pitchFamily="34" charset="0"/>
                <a:ea typeface="Courier New" pitchFamily="34" charset="-122"/>
                <a:cs typeface="Courier New" pitchFamily="34" charset="-120"/>
              </a:rPr>
              <a:t>        A</a:t>
            </a:r>
            <a:endParaRPr lang="en-US" sz="1445" dirty="0"/>
          </a:p>
          <a:p>
            <a:pPr indent="0" marL="0">
              <a:buNone/>
            </a:pPr>
            <a:r>
              <a:rPr lang="en-US" sz="1445" dirty="0">
                <a:solidFill>
                  <a:srgbClr val="1B2B24"/>
                </a:solidFill>
                <a:latin typeface="Courier New" pitchFamily="34" charset="0"/>
                <a:ea typeface="Courier New" pitchFamily="34" charset="-122"/>
                <a:cs typeface="Courier New" pitchFamily="34" charset="-120"/>
              </a:rPr>
              <a:t>     /  |  \</a:t>
            </a:r>
            <a:endParaRPr lang="en-US" sz="1445" dirty="0"/>
          </a:p>
          <a:p>
            <a:pPr indent="0" marL="0">
              <a:buNone/>
            </a:pPr>
            <a:r>
              <a:rPr lang="en-US" sz="1445" dirty="0">
                <a:solidFill>
                  <a:srgbClr val="1B2B24"/>
                </a:solidFill>
                <a:latin typeface="Courier New" pitchFamily="34" charset="0"/>
                <a:ea typeface="Courier New" pitchFamily="34" charset="-122"/>
                <a:cs typeface="Courier New" pitchFamily="34" charset="-120"/>
              </a:rPr>
              <a:t>    B   C   D</a:t>
            </a:r>
            <a:endParaRPr lang="en-US" sz="1445" dirty="0"/>
          </a:p>
          <a:p>
            <a:pPr indent="0" marL="0">
              <a:buNone/>
            </a:pPr>
            <a:r>
              <a:rPr lang="en-US" sz="1445" dirty="0">
                <a:solidFill>
                  <a:srgbClr val="1B2B24"/>
                </a:solidFill>
                <a:latin typeface="Courier New" pitchFamily="34" charset="0"/>
                <a:ea typeface="Courier New" pitchFamily="34" charset="-122"/>
                <a:cs typeface="Courier New" pitchFamily="34" charset="-120"/>
              </a:rPr>
              <a:t>   / \  / \</a:t>
            </a:r>
            <a:endParaRPr lang="en-US" sz="1445" dirty="0"/>
          </a:p>
          <a:p>
            <a:pPr indent="0" marL="0">
              <a:buNone/>
            </a:pPr>
            <a:r>
              <a:rPr lang="en-US" sz="1445" dirty="0">
                <a:solidFill>
                  <a:srgbClr val="1B2B24"/>
                </a:solidFill>
                <a:latin typeface="Courier New" pitchFamily="34" charset="0"/>
                <a:ea typeface="Courier New" pitchFamily="34" charset="-122"/>
                <a:cs typeface="Courier New" pitchFamily="34" charset="-120"/>
              </a:rPr>
              <a:t>  E  F I   J</a:t>
            </a:r>
            <a:endParaRPr lang="en-US" sz="1445" dirty="0"/>
          </a:p>
          <a:p>
            <a:pPr indent="0" marL="0">
              <a:buNone/>
            </a:pPr>
            <a:r>
              <a:rPr lang="en-US" sz="1445" dirty="0">
                <a:solidFill>
                  <a:srgbClr val="1B2B24"/>
                </a:solidFill>
                <a:latin typeface="Courier New" pitchFamily="34" charset="0"/>
                <a:ea typeface="Courier New" pitchFamily="34" charset="-122"/>
                <a:cs typeface="Courier New" pitchFamily="34" charset="-120"/>
              </a:rPr>
              <a:t>    / \     \</a:t>
            </a:r>
            <a:endParaRPr lang="en-US" sz="1445" dirty="0"/>
          </a:p>
          <a:p>
            <a:pPr indent="0" marL="0">
              <a:buNone/>
            </a:pPr>
            <a:r>
              <a:rPr lang="en-US" sz="1445" dirty="0">
                <a:solidFill>
                  <a:srgbClr val="1B2B24"/>
                </a:solidFill>
                <a:latin typeface="Courier New" pitchFamily="34" charset="0"/>
                <a:ea typeface="Courier New" pitchFamily="34" charset="-122"/>
                <a:cs typeface="Courier New" pitchFamily="34" charset="-120"/>
              </a:rPr>
              <a:t>   G   H     K</a:t>
            </a:r>
            <a:endParaRPr lang="en-US" sz="1445" dirty="0"/>
          </a:p>
        </p:txBody>
      </p:sp>
      <p:sp>
        <p:nvSpPr>
          <p:cNvPr id="15" name="ANS_363"/>
          <p:cNvSpPr/>
          <p:nvPr/>
        </p:nvSpPr>
        <p:spPr>
          <a:xfrm>
            <a:off x="7616952" y="4730420"/>
            <a:ext cx="91440" cy="91440"/>
          </a:xfrm>
          <a:prstGeom prst="ellipse">
            <a:avLst/>
          </a:prstGeom>
          <a:solidFill>
            <a:srgbClr val="F2B134"/>
          </a:solidFill>
          <a:ln/>
        </p:spPr>
      </p:sp>
      <p:sp>
        <p:nvSpPr>
          <p:cNvPr id="16" name="ANS_364"/>
          <p:cNvSpPr txBox="1"/>
          <p:nvPr/>
        </p:nvSpPr>
        <p:spPr>
          <a:xfrm>
            <a:off x="7818120" y="4633646"/>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叶结点：D E G H I K</a:t>
            </a:r>
            <a:endParaRPr lang="en-US" sz="1700" dirty="0"/>
          </a:p>
        </p:txBody>
      </p:sp>
      <p:sp>
        <p:nvSpPr>
          <p:cNvPr id="17" name="ANS_365"/>
          <p:cNvSpPr/>
          <p:nvPr/>
        </p:nvSpPr>
        <p:spPr>
          <a:xfrm>
            <a:off x="7616952" y="5210175"/>
            <a:ext cx="91440" cy="91440"/>
          </a:xfrm>
          <a:prstGeom prst="ellipse">
            <a:avLst/>
          </a:prstGeom>
          <a:solidFill>
            <a:srgbClr val="F2B134"/>
          </a:solidFill>
          <a:ln/>
        </p:spPr>
      </p:sp>
      <p:sp>
        <p:nvSpPr>
          <p:cNvPr id="18" name="ANS_366"/>
          <p:cNvSpPr txBox="1"/>
          <p:nvPr/>
        </p:nvSpPr>
        <p:spPr>
          <a:xfrm>
            <a:off x="7818120" y="5113401"/>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F 的祖先：A、B</a:t>
            </a:r>
            <a:endParaRPr lang="en-US" sz="1700" dirty="0"/>
          </a:p>
        </p:txBody>
      </p:sp>
      <p:sp>
        <p:nvSpPr>
          <p:cNvPr id="19" name="ANS_367"/>
          <p:cNvSpPr/>
          <p:nvPr/>
        </p:nvSpPr>
        <p:spPr>
          <a:xfrm>
            <a:off x="7616952" y="5689930"/>
            <a:ext cx="91440" cy="91440"/>
          </a:xfrm>
          <a:prstGeom prst="ellipse">
            <a:avLst/>
          </a:prstGeom>
          <a:solidFill>
            <a:srgbClr val="F2B134"/>
          </a:solidFill>
          <a:ln/>
        </p:spPr>
      </p:sp>
      <p:sp>
        <p:nvSpPr>
          <p:cNvPr id="20" name="ANS_368"/>
          <p:cNvSpPr txBox="1"/>
          <p:nvPr/>
        </p:nvSpPr>
        <p:spPr>
          <a:xfrm>
            <a:off x="7818120" y="5593156"/>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G、H、K 在第 3 层 → 深度 3</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Q9</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问答题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树的逻辑结构（二）</a:t>
            </a:r>
            <a:endParaRPr lang="en-US" sz="2800" dirty="0"/>
          </a:p>
        </p:txBody>
      </p:sp>
      <p:sp>
        <p:nvSpPr>
          <p:cNvPr id="6" name="Text 4"/>
          <p:cNvSpPr txBox="1"/>
          <p:nvPr/>
        </p:nvSpPr>
        <p:spPr>
          <a:xfrm>
            <a:off x="548640" y="1645920"/>
            <a:ext cx="6309360" cy="106070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同上题的树 T，回答：(1) 哪个是 F 的父结点？(2) 哪些是 B 的子孙？(3) 以 C 为根的子树深度是多少？</a:t>
            </a:r>
            <a:endParaRPr lang="en-US" sz="2000" dirty="0"/>
          </a:p>
        </p:txBody>
      </p:sp>
      <p:sp>
        <p:nvSpPr>
          <p:cNvPr id="7" name="Shape 5"/>
          <p:cNvSpPr/>
          <p:nvPr/>
        </p:nvSpPr>
        <p:spPr>
          <a:xfrm>
            <a:off x="548640" y="2962656"/>
            <a:ext cx="6309360" cy="810768"/>
          </a:xfrm>
          <a:prstGeom prst="roundRect">
            <a:avLst>
              <a:gd name="adj" fmla="val 9023"/>
            </a:avLst>
          </a:prstGeom>
          <a:solidFill>
            <a:srgbClr val="F1F4F2"/>
          </a:solidFill>
          <a:ln/>
        </p:spPr>
      </p:sp>
      <p:sp>
        <p:nvSpPr>
          <p:cNvPr id="8" name="Text 6"/>
          <p:cNvSpPr txBox="1"/>
          <p:nvPr/>
        </p:nvSpPr>
        <p:spPr>
          <a:xfrm>
            <a:off x="731520" y="2962656"/>
            <a:ext cx="6035040" cy="810768"/>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R = { (A,B), (B,E), (B,F), (F,G), (F,H),</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(A,C), (C,I), (C,J), (J,K), (A,D) }</a:t>
            </a:r>
            <a:endParaRPr lang="en-US" sz="1600" dirty="0"/>
          </a:p>
        </p:txBody>
      </p:sp>
      <p:sp>
        <p:nvSpPr>
          <p:cNvPr id="9" name="ANS_369"/>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370"/>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371"/>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B EFGH 2</a:t>
            </a:r>
            <a:endParaRPr lang="en-US" sz="4400" dirty="0"/>
          </a:p>
        </p:txBody>
      </p:sp>
      <p:sp>
        <p:nvSpPr>
          <p:cNvPr id="12" name="ANS_372"/>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373"/>
          <p:cNvSpPr/>
          <p:nvPr/>
        </p:nvSpPr>
        <p:spPr>
          <a:xfrm>
            <a:off x="7616952" y="2748534"/>
            <a:ext cx="91440" cy="91440"/>
          </a:xfrm>
          <a:prstGeom prst="ellipse">
            <a:avLst/>
          </a:prstGeom>
          <a:solidFill>
            <a:srgbClr val="F2B134"/>
          </a:solidFill>
          <a:ln/>
        </p:spPr>
      </p:sp>
      <p:sp>
        <p:nvSpPr>
          <p:cNvPr id="14" name="ANS_374"/>
          <p:cNvSpPr txBox="1"/>
          <p:nvPr/>
        </p:nvSpPr>
        <p:spPr>
          <a:xfrm>
            <a:off x="7818120" y="2651760"/>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(1) 边 (B,F)：F 的父结点是 B</a:t>
            </a:r>
            <a:endParaRPr lang="en-US" sz="1700" dirty="0"/>
          </a:p>
        </p:txBody>
      </p:sp>
      <p:sp>
        <p:nvSpPr>
          <p:cNvPr id="15" name="ANS_375"/>
          <p:cNvSpPr/>
          <p:nvPr/>
        </p:nvSpPr>
        <p:spPr>
          <a:xfrm>
            <a:off x="7616952" y="3228289"/>
            <a:ext cx="91440" cy="91440"/>
          </a:xfrm>
          <a:prstGeom prst="ellipse">
            <a:avLst/>
          </a:prstGeom>
          <a:solidFill>
            <a:srgbClr val="F2B134"/>
          </a:solidFill>
          <a:ln/>
        </p:spPr>
      </p:sp>
      <p:sp>
        <p:nvSpPr>
          <p:cNvPr id="16" name="ANS_376"/>
          <p:cNvSpPr txBox="1"/>
          <p:nvPr/>
        </p:nvSpPr>
        <p:spPr>
          <a:xfrm>
            <a:off x="7818120" y="3131515"/>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(2) B 的子孙：E、F 及 F 的孩子 G、H</a:t>
            </a:r>
            <a:endParaRPr lang="en-US" sz="1700" dirty="0"/>
          </a:p>
        </p:txBody>
      </p:sp>
      <p:sp>
        <p:nvSpPr>
          <p:cNvPr id="17" name="ANS_377"/>
          <p:cNvSpPr/>
          <p:nvPr/>
        </p:nvSpPr>
        <p:spPr>
          <a:xfrm>
            <a:off x="7616952" y="3993032"/>
            <a:ext cx="91440" cy="91440"/>
          </a:xfrm>
          <a:prstGeom prst="ellipse">
            <a:avLst/>
          </a:prstGeom>
          <a:solidFill>
            <a:srgbClr val="F2B134"/>
          </a:solidFill>
          <a:ln/>
        </p:spPr>
      </p:sp>
      <p:sp>
        <p:nvSpPr>
          <p:cNvPr id="18" name="ANS_378"/>
          <p:cNvSpPr txBox="1"/>
          <p:nvPr/>
        </p:nvSpPr>
        <p:spPr>
          <a:xfrm>
            <a:off x="7818120" y="3896258"/>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(3) C → J → K，子树深度 2</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Q10</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问答题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树的逻辑结构（三）</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同上题的树 T，回答：(1) 哪个是根结点？(2) 哪些是 F 的孩子？(3) 结点 K 的层次是多少？</a:t>
            </a:r>
            <a:endParaRPr lang="en-US" sz="2000" dirty="0"/>
          </a:p>
        </p:txBody>
      </p:sp>
      <p:sp>
        <p:nvSpPr>
          <p:cNvPr id="7" name="Shape 5"/>
          <p:cNvSpPr/>
          <p:nvPr/>
        </p:nvSpPr>
        <p:spPr>
          <a:xfrm>
            <a:off x="548640" y="2627376"/>
            <a:ext cx="6309360" cy="810768"/>
          </a:xfrm>
          <a:prstGeom prst="roundRect">
            <a:avLst>
              <a:gd name="adj" fmla="val 9023"/>
            </a:avLst>
          </a:prstGeom>
          <a:solidFill>
            <a:srgbClr val="F1F4F2"/>
          </a:solidFill>
          <a:ln/>
        </p:spPr>
      </p:sp>
      <p:sp>
        <p:nvSpPr>
          <p:cNvPr id="8" name="Text 6"/>
          <p:cNvSpPr txBox="1"/>
          <p:nvPr/>
        </p:nvSpPr>
        <p:spPr>
          <a:xfrm>
            <a:off x="731520" y="2627376"/>
            <a:ext cx="6035040" cy="810768"/>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R = { (A,B), (B,E), (B,F), (F,G), (F,H),</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(A,C), (C,I), (C,J), (J,K), (A,D) }</a:t>
            </a:r>
            <a:endParaRPr lang="en-US" sz="1600" dirty="0"/>
          </a:p>
        </p:txBody>
      </p:sp>
      <p:sp>
        <p:nvSpPr>
          <p:cNvPr id="9" name="ANS_379"/>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380"/>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381"/>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A GH 3</a:t>
            </a:r>
            <a:endParaRPr lang="en-US" sz="4400" dirty="0"/>
          </a:p>
        </p:txBody>
      </p:sp>
      <p:sp>
        <p:nvSpPr>
          <p:cNvPr id="12" name="ANS_382"/>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383"/>
          <p:cNvSpPr/>
          <p:nvPr/>
        </p:nvSpPr>
        <p:spPr>
          <a:xfrm>
            <a:off x="7616952" y="2748534"/>
            <a:ext cx="91440" cy="91440"/>
          </a:xfrm>
          <a:prstGeom prst="ellipse">
            <a:avLst/>
          </a:prstGeom>
          <a:solidFill>
            <a:srgbClr val="F2B134"/>
          </a:solidFill>
          <a:ln/>
        </p:spPr>
      </p:sp>
      <p:sp>
        <p:nvSpPr>
          <p:cNvPr id="14" name="ANS_384"/>
          <p:cNvSpPr txBox="1"/>
          <p:nvPr/>
        </p:nvSpPr>
        <p:spPr>
          <a:xfrm>
            <a:off x="7818120" y="2651760"/>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(1) A 只出现在边的左端，是根</a:t>
            </a:r>
            <a:endParaRPr lang="en-US" sz="1700" dirty="0"/>
          </a:p>
        </p:txBody>
      </p:sp>
      <p:sp>
        <p:nvSpPr>
          <p:cNvPr id="15" name="ANS_385"/>
          <p:cNvSpPr/>
          <p:nvPr/>
        </p:nvSpPr>
        <p:spPr>
          <a:xfrm>
            <a:off x="7616952" y="3228289"/>
            <a:ext cx="91440" cy="91440"/>
          </a:xfrm>
          <a:prstGeom prst="ellipse">
            <a:avLst/>
          </a:prstGeom>
          <a:solidFill>
            <a:srgbClr val="F2B134"/>
          </a:solidFill>
          <a:ln/>
        </p:spPr>
      </p:sp>
      <p:sp>
        <p:nvSpPr>
          <p:cNvPr id="16" name="ANS_386"/>
          <p:cNvSpPr txBox="1"/>
          <p:nvPr/>
        </p:nvSpPr>
        <p:spPr>
          <a:xfrm>
            <a:off x="7818120" y="3131515"/>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(2) F 的孩子：G、H</a:t>
            </a:r>
            <a:endParaRPr lang="en-US" sz="1700" dirty="0"/>
          </a:p>
        </p:txBody>
      </p:sp>
      <p:sp>
        <p:nvSpPr>
          <p:cNvPr id="17" name="ANS_387"/>
          <p:cNvSpPr/>
          <p:nvPr/>
        </p:nvSpPr>
        <p:spPr>
          <a:xfrm>
            <a:off x="7616952" y="3708044"/>
            <a:ext cx="91440" cy="91440"/>
          </a:xfrm>
          <a:prstGeom prst="ellipse">
            <a:avLst/>
          </a:prstGeom>
          <a:solidFill>
            <a:srgbClr val="F2B134"/>
          </a:solidFill>
          <a:ln/>
        </p:spPr>
      </p:sp>
      <p:sp>
        <p:nvSpPr>
          <p:cNvPr id="18" name="ANS_388"/>
          <p:cNvSpPr txBox="1"/>
          <p:nvPr/>
        </p:nvSpPr>
        <p:spPr>
          <a:xfrm>
            <a:off x="7818120" y="361127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(3) A(0) → C(1) → J(2) → K(3)</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Q11</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400" b="1" dirty="0">
                <a:solidFill>
                  <a:srgbClr val="1E3D34"/>
                </a:solidFill>
                <a:latin typeface="Microsoft YaHei" pitchFamily="34" charset="0"/>
                <a:ea typeface="Microsoft YaHei" pitchFamily="34" charset="-122"/>
                <a:cs typeface="Microsoft YaHei" pitchFamily="34" charset="-120"/>
              </a:rPr>
              <a:t>双标记层次序列 → 后根序（一）</a:t>
            </a:r>
            <a:endParaRPr lang="en-US" sz="2400" dirty="0"/>
          </a:p>
        </p:txBody>
      </p:sp>
      <p:sp>
        <p:nvSpPr>
          <p:cNvPr id="6" name="Text 4"/>
          <p:cNvSpPr txBox="1"/>
          <p:nvPr/>
        </p:nvSpPr>
        <p:spPr>
          <a:xfrm>
            <a:off x="548640" y="1645920"/>
            <a:ext cx="6309360" cy="139598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例：序列 A01 B00 C01 D10 G01 E01 H11 F10 I11 对应的带度数后根序列为 D0 H0 G1 B2 F0 I0 E2 C1 A2。求下列双标记层次序列对应的带度数后根序列：</a:t>
            </a:r>
            <a:endParaRPr lang="en-US" sz="2000" dirty="0"/>
          </a:p>
        </p:txBody>
      </p:sp>
      <p:sp>
        <p:nvSpPr>
          <p:cNvPr id="7" name="Shape 5"/>
          <p:cNvSpPr/>
          <p:nvPr/>
        </p:nvSpPr>
        <p:spPr>
          <a:xfrm>
            <a:off x="548640" y="3297936"/>
            <a:ext cx="6309360" cy="1347216"/>
          </a:xfrm>
          <a:prstGeom prst="roundRect">
            <a:avLst>
              <a:gd name="adj" fmla="val 5430"/>
            </a:avLst>
          </a:prstGeom>
          <a:solidFill>
            <a:srgbClr val="F1F4F2"/>
          </a:solidFill>
          <a:ln/>
        </p:spPr>
      </p:sp>
      <p:sp>
        <p:nvSpPr>
          <p:cNvPr id="8" name="Text 6"/>
          <p:cNvSpPr txBox="1"/>
          <p:nvPr/>
        </p:nvSpPr>
        <p:spPr>
          <a:xfrm>
            <a:off x="731520" y="3297936"/>
            <a:ext cx="6035040" cy="1347216"/>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结点 ltag rtag   结点 ltag rtag   结点 ltag rtag</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A    0    1      B    0    0      C    0    0</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E    1    0      F    0    1      G    1    1</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D    0    1      I    1    1      H    1    1</a:t>
            </a:r>
            <a:endParaRPr lang="en-US" sz="1600" dirty="0"/>
          </a:p>
        </p:txBody>
      </p:sp>
      <p:sp>
        <p:nvSpPr>
          <p:cNvPr id="9" name="ANS_389"/>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390"/>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391"/>
          <p:cNvSpPr txBox="1"/>
          <p:nvPr/>
        </p:nvSpPr>
        <p:spPr>
          <a:xfrm>
            <a:off x="7589520" y="1097280"/>
            <a:ext cx="3749040" cy="926592"/>
          </a:xfrm>
          <a:prstGeom prst="rect">
            <a:avLst/>
          </a:prstGeom>
          <a:noFill/>
          <a:ln/>
        </p:spPr>
        <p:txBody>
          <a:bodyPr wrap="square" lIns="0" tIns="0" rIns="0" bIns="0" rtlCol="0" anchor="ctr"/>
          <a:lstStyle/>
          <a:p>
            <a:pPr algn="l" indent="0" marL="0">
              <a:buNone/>
            </a:pPr>
            <a:r>
              <a:rPr lang="en-US" sz="2600" b="1" dirty="0">
                <a:solidFill>
                  <a:srgbClr val="1E3D34"/>
                </a:solidFill>
                <a:latin typeface="Microsoft YaHei" pitchFamily="34" charset="0"/>
                <a:ea typeface="Microsoft YaHei" pitchFamily="34" charset="-122"/>
                <a:cs typeface="Microsoft YaHei" pitchFamily="34" charset="-120"/>
              </a:rPr>
              <a:t>G0 B1 H0 D1 C1 E0 I0 F1 A4</a:t>
            </a:r>
            <a:endParaRPr lang="en-US" sz="2600" dirty="0"/>
          </a:p>
        </p:txBody>
      </p:sp>
      <p:sp>
        <p:nvSpPr>
          <p:cNvPr id="12" name="ANS_392"/>
          <p:cNvSpPr txBox="1"/>
          <p:nvPr/>
        </p:nvSpPr>
        <p:spPr>
          <a:xfrm>
            <a:off x="7589520" y="2252472"/>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393"/>
          <p:cNvSpPr/>
          <p:nvPr/>
        </p:nvSpPr>
        <p:spPr>
          <a:xfrm>
            <a:off x="7616952" y="2806446"/>
            <a:ext cx="91440" cy="91440"/>
          </a:xfrm>
          <a:prstGeom prst="ellipse">
            <a:avLst/>
          </a:prstGeom>
          <a:solidFill>
            <a:srgbClr val="F2B134"/>
          </a:solidFill>
          <a:ln/>
        </p:spPr>
      </p:sp>
      <p:sp>
        <p:nvSpPr>
          <p:cNvPr id="14" name="ANS_394"/>
          <p:cNvSpPr txBox="1"/>
          <p:nvPr/>
        </p:nvSpPr>
        <p:spPr>
          <a:xfrm>
            <a:off x="7818120" y="2709672"/>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ltag = 0：有孩子；ltag = 1：无孩子。rtag = 0：有右兄弟；rtag = 1：是最后一个兄弟。</a:t>
            </a:r>
            <a:endParaRPr lang="en-US" sz="1700" dirty="0"/>
          </a:p>
        </p:txBody>
      </p:sp>
      <p:sp>
        <p:nvSpPr>
          <p:cNvPr id="15" name="ANS_395"/>
          <p:cNvSpPr/>
          <p:nvPr/>
        </p:nvSpPr>
        <p:spPr>
          <a:xfrm>
            <a:off x="7616952" y="3856177"/>
            <a:ext cx="91440" cy="91440"/>
          </a:xfrm>
          <a:prstGeom prst="ellipse">
            <a:avLst/>
          </a:prstGeom>
          <a:solidFill>
            <a:srgbClr val="F2B134"/>
          </a:solidFill>
          <a:ln/>
        </p:spPr>
      </p:sp>
      <p:sp>
        <p:nvSpPr>
          <p:cNvPr id="16" name="ANS_396"/>
          <p:cNvSpPr txBox="1"/>
          <p:nvPr/>
        </p:nvSpPr>
        <p:spPr>
          <a:xfrm>
            <a:off x="7818120" y="3759403"/>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按层次顺序，给每个 ltag = 0 的结点依次分一组孩子，每组到 rtag = 1 为止。</a:t>
            </a:r>
            <a:endParaRPr lang="en-US" sz="1700" dirty="0"/>
          </a:p>
        </p:txBody>
      </p:sp>
      <p:sp>
        <p:nvSpPr>
          <p:cNvPr id="17" name="ANS_397"/>
          <p:cNvSpPr/>
          <p:nvPr/>
        </p:nvSpPr>
        <p:spPr>
          <a:xfrm>
            <a:off x="7616952" y="4905908"/>
            <a:ext cx="91440" cy="91440"/>
          </a:xfrm>
          <a:prstGeom prst="ellipse">
            <a:avLst/>
          </a:prstGeom>
          <a:solidFill>
            <a:srgbClr val="F2B134"/>
          </a:solidFill>
          <a:ln/>
        </p:spPr>
      </p:sp>
      <p:sp>
        <p:nvSpPr>
          <p:cNvPr id="18" name="ANS_398"/>
          <p:cNvSpPr txBox="1"/>
          <p:nvPr/>
        </p:nvSpPr>
        <p:spPr>
          <a:xfrm>
            <a:off x="7818120" y="4809134"/>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A：B C E F；B：G；C：D；F：I；D：H</a:t>
            </a:r>
            <a:endParaRPr lang="en-US" sz="1700" dirty="0"/>
          </a:p>
        </p:txBody>
      </p:sp>
      <p:sp>
        <p:nvSpPr>
          <p:cNvPr id="19" name="ANS_399"/>
          <p:cNvSpPr/>
          <p:nvPr/>
        </p:nvSpPr>
        <p:spPr>
          <a:xfrm>
            <a:off x="7616952" y="5670652"/>
            <a:ext cx="91440" cy="91440"/>
          </a:xfrm>
          <a:prstGeom prst="ellipse">
            <a:avLst/>
          </a:prstGeom>
          <a:solidFill>
            <a:srgbClr val="F2B134"/>
          </a:solidFill>
          <a:ln/>
        </p:spPr>
      </p:sp>
      <p:sp>
        <p:nvSpPr>
          <p:cNvPr id="20" name="ANS_400"/>
          <p:cNvSpPr txBox="1"/>
          <p:nvPr/>
        </p:nvSpPr>
        <p:spPr>
          <a:xfrm>
            <a:off x="7818120" y="5573878"/>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后根遍历并写出度数即得答案。</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Q12</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400" b="1" dirty="0">
                <a:solidFill>
                  <a:srgbClr val="1E3D34"/>
                </a:solidFill>
                <a:latin typeface="Microsoft YaHei" pitchFamily="34" charset="0"/>
                <a:ea typeface="Microsoft YaHei" pitchFamily="34" charset="-122"/>
                <a:cs typeface="Microsoft YaHei" pitchFamily="34" charset="-120"/>
              </a:rPr>
              <a:t>双标记层次序列 → 后根序（二）</a:t>
            </a:r>
            <a:endParaRPr lang="en-US" sz="24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同上题规则，求下列双标记层次序列对应的带度数后根序列：</a:t>
            </a:r>
            <a:endParaRPr lang="en-US" sz="2000" dirty="0"/>
          </a:p>
        </p:txBody>
      </p:sp>
      <p:sp>
        <p:nvSpPr>
          <p:cNvPr id="7" name="Shape 5"/>
          <p:cNvSpPr/>
          <p:nvPr/>
        </p:nvSpPr>
        <p:spPr>
          <a:xfrm>
            <a:off x="548640" y="2627376"/>
            <a:ext cx="6309360" cy="1347216"/>
          </a:xfrm>
          <a:prstGeom prst="roundRect">
            <a:avLst>
              <a:gd name="adj" fmla="val 5430"/>
            </a:avLst>
          </a:prstGeom>
          <a:solidFill>
            <a:srgbClr val="F1F4F2"/>
          </a:solidFill>
          <a:ln/>
        </p:spPr>
      </p:sp>
      <p:sp>
        <p:nvSpPr>
          <p:cNvPr id="8" name="Text 6"/>
          <p:cNvSpPr txBox="1"/>
          <p:nvPr/>
        </p:nvSpPr>
        <p:spPr>
          <a:xfrm>
            <a:off x="731520" y="2627376"/>
            <a:ext cx="6035040" cy="1347216"/>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结点 ltag rtag   结点 ltag rtag   结点 ltag rtag</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A    0    1      B    0    0      E    0    1</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C    0    0      D    1    0      G    1    1</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F    1    0      I    1    1      H    1    1</a:t>
            </a:r>
            <a:endParaRPr lang="en-US" sz="1600" dirty="0"/>
          </a:p>
        </p:txBody>
      </p:sp>
      <p:sp>
        <p:nvSpPr>
          <p:cNvPr id="9" name="ANS_401"/>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402"/>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403"/>
          <p:cNvSpPr txBox="1"/>
          <p:nvPr/>
        </p:nvSpPr>
        <p:spPr>
          <a:xfrm>
            <a:off x="7589520" y="1097280"/>
            <a:ext cx="3749040" cy="926592"/>
          </a:xfrm>
          <a:prstGeom prst="rect">
            <a:avLst/>
          </a:prstGeom>
          <a:noFill/>
          <a:ln/>
        </p:spPr>
        <p:txBody>
          <a:bodyPr wrap="square" lIns="0" tIns="0" rIns="0" bIns="0" rtlCol="0" anchor="ctr"/>
          <a:lstStyle/>
          <a:p>
            <a:pPr algn="l" indent="0" marL="0">
              <a:buNone/>
            </a:pPr>
            <a:r>
              <a:rPr lang="en-US" sz="2600" b="1" dirty="0">
                <a:solidFill>
                  <a:srgbClr val="1E3D34"/>
                </a:solidFill>
                <a:latin typeface="Microsoft YaHei" pitchFamily="34" charset="0"/>
                <a:ea typeface="Microsoft YaHei" pitchFamily="34" charset="-122"/>
                <a:cs typeface="Microsoft YaHei" pitchFamily="34" charset="-120"/>
              </a:rPr>
              <a:t>H0 C1 D0 G0 B3 F0 I0 E2 A2</a:t>
            </a:r>
            <a:endParaRPr lang="en-US" sz="2600" dirty="0"/>
          </a:p>
        </p:txBody>
      </p:sp>
      <p:sp>
        <p:nvSpPr>
          <p:cNvPr id="12" name="ANS_404"/>
          <p:cNvSpPr txBox="1"/>
          <p:nvPr/>
        </p:nvSpPr>
        <p:spPr>
          <a:xfrm>
            <a:off x="7589520" y="2252472"/>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405"/>
          <p:cNvSpPr/>
          <p:nvPr/>
        </p:nvSpPr>
        <p:spPr>
          <a:xfrm>
            <a:off x="7616952" y="2806446"/>
            <a:ext cx="91440" cy="91440"/>
          </a:xfrm>
          <a:prstGeom prst="ellipse">
            <a:avLst/>
          </a:prstGeom>
          <a:solidFill>
            <a:srgbClr val="F2B134"/>
          </a:solidFill>
          <a:ln/>
        </p:spPr>
      </p:sp>
      <p:sp>
        <p:nvSpPr>
          <p:cNvPr id="14" name="ANS_406"/>
          <p:cNvSpPr txBox="1"/>
          <p:nvPr/>
        </p:nvSpPr>
        <p:spPr>
          <a:xfrm>
            <a:off x="7818120" y="2709672"/>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ltag = 0：有孩子；ltag = 1：无孩子。rtag = 0：有右兄弟；rtag = 1：是最后一个兄弟。</a:t>
            </a:r>
            <a:endParaRPr lang="en-US" sz="1700" dirty="0"/>
          </a:p>
        </p:txBody>
      </p:sp>
      <p:sp>
        <p:nvSpPr>
          <p:cNvPr id="15" name="ANS_407"/>
          <p:cNvSpPr/>
          <p:nvPr/>
        </p:nvSpPr>
        <p:spPr>
          <a:xfrm>
            <a:off x="7616952" y="3856177"/>
            <a:ext cx="91440" cy="91440"/>
          </a:xfrm>
          <a:prstGeom prst="ellipse">
            <a:avLst/>
          </a:prstGeom>
          <a:solidFill>
            <a:srgbClr val="F2B134"/>
          </a:solidFill>
          <a:ln/>
        </p:spPr>
      </p:sp>
      <p:sp>
        <p:nvSpPr>
          <p:cNvPr id="16" name="ANS_408"/>
          <p:cNvSpPr txBox="1"/>
          <p:nvPr/>
        </p:nvSpPr>
        <p:spPr>
          <a:xfrm>
            <a:off x="7818120" y="3759403"/>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A：B E；B：C D G；E：F I；C：H</a:t>
            </a:r>
            <a:endParaRPr lang="en-US" sz="1700" dirty="0"/>
          </a:p>
        </p:txBody>
      </p:sp>
      <p:sp>
        <p:nvSpPr>
          <p:cNvPr id="17" name="ANS_409"/>
          <p:cNvSpPr/>
          <p:nvPr/>
        </p:nvSpPr>
        <p:spPr>
          <a:xfrm>
            <a:off x="7616952" y="4620920"/>
            <a:ext cx="91440" cy="91440"/>
          </a:xfrm>
          <a:prstGeom prst="ellipse">
            <a:avLst/>
          </a:prstGeom>
          <a:solidFill>
            <a:srgbClr val="F2B134"/>
          </a:solidFill>
          <a:ln/>
        </p:spPr>
      </p:sp>
      <p:sp>
        <p:nvSpPr>
          <p:cNvPr id="18" name="ANS_410"/>
          <p:cNvSpPr txBox="1"/>
          <p:nvPr/>
        </p:nvSpPr>
        <p:spPr>
          <a:xfrm>
            <a:off x="7818120" y="4524146"/>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后根：H C D G B F I E A，附上各自的孩子数。</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Q13</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完全三叉树：下标 120</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一棵完全三叉树，下标为 120 的结点在第几层？（下标从 0 开始，根层数为 0）</a:t>
            </a:r>
            <a:endParaRPr lang="en-US" sz="2000" dirty="0"/>
          </a:p>
        </p:txBody>
      </p:sp>
      <p:sp>
        <p:nvSpPr>
          <p:cNvPr id="7" name="ANS_411"/>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8" name="ANS_412"/>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9" name="ANS_413"/>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4</a:t>
            </a:r>
            <a:endParaRPr lang="en-US" sz="4400" dirty="0"/>
          </a:p>
        </p:txBody>
      </p:sp>
      <p:sp>
        <p:nvSpPr>
          <p:cNvPr id="10" name="ANS_414"/>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1" name="ANS_415"/>
          <p:cNvSpPr/>
          <p:nvPr/>
        </p:nvSpPr>
        <p:spPr>
          <a:xfrm>
            <a:off x="7616952" y="2748534"/>
            <a:ext cx="91440" cy="91440"/>
          </a:xfrm>
          <a:prstGeom prst="ellipse">
            <a:avLst/>
          </a:prstGeom>
          <a:solidFill>
            <a:srgbClr val="F2B134"/>
          </a:solidFill>
          <a:ln/>
        </p:spPr>
      </p:sp>
      <p:sp>
        <p:nvSpPr>
          <p:cNvPr id="12" name="ANS_416"/>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第 i 层有 3</a:t>
            </a:r>
            <a:r>
              <a:rPr lang="en-US" sz="1700" baseline="30000" dirty="0">
                <a:solidFill>
                  <a:srgbClr val="2B2B2B"/>
                </a:solidFill>
                <a:latin typeface="Microsoft YaHei" pitchFamily="34" charset="0"/>
                <a:ea typeface="Microsoft YaHei" pitchFamily="34" charset="-122"/>
                <a:cs typeface="Microsoft YaHei" pitchFamily="34" charset="-120"/>
              </a:rPr>
              <a:t>i</a:t>
            </a:r>
            <a:r>
              <a:rPr lang="en-US" sz="1700" dirty="0">
                <a:solidFill>
                  <a:srgbClr val="2B2B2B"/>
                </a:solidFill>
                <a:latin typeface="Microsoft YaHei" pitchFamily="34" charset="0"/>
                <a:ea typeface="Microsoft YaHei" pitchFamily="34" charset="-122"/>
                <a:cs typeface="Microsoft YaHei" pitchFamily="34" charset="-120"/>
              </a:rPr>
              <a:t> 个结点，下标范围：</a:t>
            </a:r>
            <a:endParaRPr lang="en-US" sz="1700" dirty="0"/>
          </a:p>
        </p:txBody>
      </p:sp>
      <p:sp>
        <p:nvSpPr>
          <p:cNvPr id="13" name="ANS_417"/>
          <p:cNvSpPr/>
          <p:nvPr/>
        </p:nvSpPr>
        <p:spPr>
          <a:xfrm>
            <a:off x="7616952" y="3513277"/>
            <a:ext cx="91440" cy="91440"/>
          </a:xfrm>
          <a:prstGeom prst="ellipse">
            <a:avLst/>
          </a:prstGeom>
          <a:solidFill>
            <a:srgbClr val="F2B134"/>
          </a:solidFill>
          <a:ln/>
        </p:spPr>
      </p:sp>
      <p:sp>
        <p:nvSpPr>
          <p:cNvPr id="14" name="ANS_418"/>
          <p:cNvSpPr txBox="1"/>
          <p:nvPr/>
        </p:nvSpPr>
        <p:spPr>
          <a:xfrm>
            <a:off x="7818120" y="3416503"/>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第 0 层 0；第 1 层 1–3；第 2 层 4–12；第 3 层 13–39；第 4 层 40–120</a:t>
            </a:r>
            <a:endParaRPr lang="en-US" sz="1700" dirty="0"/>
          </a:p>
        </p:txBody>
      </p:sp>
      <p:sp>
        <p:nvSpPr>
          <p:cNvPr id="15" name="ANS_419"/>
          <p:cNvSpPr/>
          <p:nvPr/>
        </p:nvSpPr>
        <p:spPr>
          <a:xfrm>
            <a:off x="7616952" y="4563008"/>
            <a:ext cx="91440" cy="91440"/>
          </a:xfrm>
          <a:prstGeom prst="ellipse">
            <a:avLst/>
          </a:prstGeom>
          <a:solidFill>
            <a:srgbClr val="F2B134"/>
          </a:solidFill>
          <a:ln/>
        </p:spPr>
      </p:sp>
      <p:sp>
        <p:nvSpPr>
          <p:cNvPr id="16" name="ANS_420"/>
          <p:cNvSpPr txBox="1"/>
          <p:nvPr/>
        </p:nvSpPr>
        <p:spPr>
          <a:xfrm>
            <a:off x="7818120" y="4466234"/>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120 是第 4 层的最后一个结点。</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Q14</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完全三叉树：下标 121</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一棵完全三叉树，下标为 121 的结点在第几层？（下标从 0 开始，根层数为 0）</a:t>
            </a:r>
            <a:endParaRPr lang="en-US" sz="2000" dirty="0"/>
          </a:p>
        </p:txBody>
      </p:sp>
      <p:sp>
        <p:nvSpPr>
          <p:cNvPr id="7" name="ANS_421"/>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8" name="ANS_422"/>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9" name="ANS_423"/>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4400" b="1" dirty="0">
                <a:solidFill>
                  <a:srgbClr val="1E3D34"/>
                </a:solidFill>
                <a:latin typeface="Microsoft YaHei" pitchFamily="34" charset="0"/>
                <a:ea typeface="Microsoft YaHei" pitchFamily="34" charset="-122"/>
                <a:cs typeface="Microsoft YaHei" pitchFamily="34" charset="-120"/>
              </a:rPr>
              <a:t>5</a:t>
            </a:r>
            <a:endParaRPr lang="en-US" sz="4400" dirty="0"/>
          </a:p>
        </p:txBody>
      </p:sp>
      <p:sp>
        <p:nvSpPr>
          <p:cNvPr id="10" name="ANS_424"/>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1" name="ANS_425"/>
          <p:cNvSpPr/>
          <p:nvPr/>
        </p:nvSpPr>
        <p:spPr>
          <a:xfrm>
            <a:off x="7616952" y="2748534"/>
            <a:ext cx="91440" cy="91440"/>
          </a:xfrm>
          <a:prstGeom prst="ellipse">
            <a:avLst/>
          </a:prstGeom>
          <a:solidFill>
            <a:srgbClr val="F2B134"/>
          </a:solidFill>
          <a:ln/>
        </p:spPr>
      </p:sp>
      <p:sp>
        <p:nvSpPr>
          <p:cNvPr id="12" name="ANS_426"/>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第 4 层下标 40–120，第 5 层从 121 开始（121–363）。</a:t>
            </a:r>
            <a:endParaRPr lang="en-US" sz="1700" dirty="0"/>
          </a:p>
        </p:txBody>
      </p:sp>
      <p:sp>
        <p:nvSpPr>
          <p:cNvPr id="13" name="ANS_427"/>
          <p:cNvSpPr/>
          <p:nvPr/>
        </p:nvSpPr>
        <p:spPr>
          <a:xfrm>
            <a:off x="7616952" y="3513277"/>
            <a:ext cx="91440" cy="91440"/>
          </a:xfrm>
          <a:prstGeom prst="ellipse">
            <a:avLst/>
          </a:prstGeom>
          <a:solidFill>
            <a:srgbClr val="F2B134"/>
          </a:solidFill>
          <a:ln/>
        </p:spPr>
      </p:sp>
      <p:sp>
        <p:nvSpPr>
          <p:cNvPr id="14" name="ANS_428"/>
          <p:cNvSpPr txBox="1"/>
          <p:nvPr/>
        </p:nvSpPr>
        <p:spPr>
          <a:xfrm>
            <a:off x="7818120" y="3416503"/>
            <a:ext cx="3520440" cy="339852"/>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121 是第 5 层的第一个结点。</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Q15</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二叉树转森林：后根序</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将下面的二叉树转换为对应的森林，按后根次序列出其结点（字母间无空格）：</a:t>
            </a:r>
            <a:endParaRPr lang="en-US" sz="2000" dirty="0"/>
          </a:p>
        </p:txBody>
      </p:sp>
      <p:sp>
        <p:nvSpPr>
          <p:cNvPr id="7" name="Shape 5"/>
          <p:cNvSpPr/>
          <p:nvPr/>
        </p:nvSpPr>
        <p:spPr>
          <a:xfrm>
            <a:off x="548640" y="2627376"/>
            <a:ext cx="6309360" cy="3224784"/>
          </a:xfrm>
          <a:prstGeom prst="roundRect">
            <a:avLst>
              <a:gd name="adj" fmla="val 2268"/>
            </a:avLst>
          </a:prstGeom>
          <a:solidFill>
            <a:srgbClr val="F1F4F2"/>
          </a:solidFill>
          <a:ln/>
        </p:spPr>
      </p:sp>
      <p:sp>
        <p:nvSpPr>
          <p:cNvPr id="8" name="Text 6"/>
          <p:cNvSpPr txBox="1"/>
          <p:nvPr/>
        </p:nvSpPr>
        <p:spPr>
          <a:xfrm>
            <a:off x="731520" y="2627376"/>
            <a:ext cx="6035040" cy="3224784"/>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A</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B         G</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E   C     H   L</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F   D I</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J</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K</a:t>
            </a:r>
            <a:endParaRPr lang="en-US" sz="1600" dirty="0"/>
          </a:p>
        </p:txBody>
      </p:sp>
      <p:sp>
        <p:nvSpPr>
          <p:cNvPr id="9" name="ANS_429"/>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430"/>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431"/>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3000" b="1" dirty="0">
                <a:solidFill>
                  <a:srgbClr val="1E3D34"/>
                </a:solidFill>
                <a:latin typeface="Microsoft YaHei" pitchFamily="34" charset="0"/>
                <a:ea typeface="Microsoft YaHei" pitchFamily="34" charset="-122"/>
                <a:cs typeface="Microsoft YaHei" pitchFamily="34" charset="-120"/>
              </a:rPr>
              <a:t>EBFCDAIJKHGL</a:t>
            </a:r>
            <a:endParaRPr lang="en-US" sz="3000" dirty="0"/>
          </a:p>
        </p:txBody>
      </p:sp>
      <p:sp>
        <p:nvSpPr>
          <p:cNvPr id="12" name="ANS_432"/>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433"/>
          <p:cNvSpPr/>
          <p:nvPr/>
        </p:nvSpPr>
        <p:spPr>
          <a:xfrm>
            <a:off x="7616952" y="2748534"/>
            <a:ext cx="91440" cy="91440"/>
          </a:xfrm>
          <a:prstGeom prst="ellipse">
            <a:avLst/>
          </a:prstGeom>
          <a:solidFill>
            <a:srgbClr val="F2B134"/>
          </a:solidFill>
          <a:ln/>
        </p:spPr>
      </p:sp>
      <p:sp>
        <p:nvSpPr>
          <p:cNvPr id="14" name="ANS_434"/>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左孩子 = 长子，右孩子 = 下一个兄弟。</a:t>
            </a:r>
            <a:endParaRPr lang="en-US" sz="1700" dirty="0"/>
          </a:p>
        </p:txBody>
      </p:sp>
      <p:sp>
        <p:nvSpPr>
          <p:cNvPr id="15" name="ANS_435"/>
          <p:cNvSpPr/>
          <p:nvPr/>
        </p:nvSpPr>
        <p:spPr>
          <a:xfrm>
            <a:off x="7616952" y="3513277"/>
            <a:ext cx="91440" cy="91440"/>
          </a:xfrm>
          <a:prstGeom prst="ellipse">
            <a:avLst/>
          </a:prstGeom>
          <a:solidFill>
            <a:srgbClr val="F2B134"/>
          </a:solidFill>
          <a:ln/>
        </p:spPr>
      </p:sp>
      <p:sp>
        <p:nvSpPr>
          <p:cNvPr id="16" name="ANS_436"/>
          <p:cNvSpPr txBox="1"/>
          <p:nvPr/>
        </p:nvSpPr>
        <p:spPr>
          <a:xfrm>
            <a:off x="7818120" y="3416503"/>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三棵树：A(B(E), C(F), D)、G(H(I, J, K))、L</a:t>
            </a:r>
            <a:endParaRPr lang="en-US" sz="1700" dirty="0"/>
          </a:p>
        </p:txBody>
      </p:sp>
      <p:sp>
        <p:nvSpPr>
          <p:cNvPr id="17" name="ANS_437"/>
          <p:cNvSpPr/>
          <p:nvPr/>
        </p:nvSpPr>
        <p:spPr>
          <a:xfrm>
            <a:off x="7616952" y="4278020"/>
            <a:ext cx="91440" cy="91440"/>
          </a:xfrm>
          <a:prstGeom prst="ellipse">
            <a:avLst/>
          </a:prstGeom>
          <a:solidFill>
            <a:srgbClr val="F2B134"/>
          </a:solidFill>
          <a:ln/>
        </p:spPr>
      </p:sp>
      <p:sp>
        <p:nvSpPr>
          <p:cNvPr id="18" name="ANS_438"/>
          <p:cNvSpPr txBox="1"/>
          <p:nvPr/>
        </p:nvSpPr>
        <p:spPr>
          <a:xfrm>
            <a:off x="7818120" y="4181246"/>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逐棵后根：EBFCDA · IJKHG · L</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Q16</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二叉树转森林：先根序</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将上题的二叉树转换为对应的森林，按先根次序列出其结点：</a:t>
            </a:r>
            <a:endParaRPr lang="en-US" sz="2000" dirty="0"/>
          </a:p>
        </p:txBody>
      </p:sp>
      <p:sp>
        <p:nvSpPr>
          <p:cNvPr id="7" name="Shape 5"/>
          <p:cNvSpPr/>
          <p:nvPr/>
        </p:nvSpPr>
        <p:spPr>
          <a:xfrm>
            <a:off x="548640" y="2627376"/>
            <a:ext cx="6309360" cy="3224784"/>
          </a:xfrm>
          <a:prstGeom prst="roundRect">
            <a:avLst>
              <a:gd name="adj" fmla="val 2268"/>
            </a:avLst>
          </a:prstGeom>
          <a:solidFill>
            <a:srgbClr val="F1F4F2"/>
          </a:solidFill>
          <a:ln/>
        </p:spPr>
      </p:sp>
      <p:sp>
        <p:nvSpPr>
          <p:cNvPr id="8" name="Text 6"/>
          <p:cNvSpPr txBox="1"/>
          <p:nvPr/>
        </p:nvSpPr>
        <p:spPr>
          <a:xfrm>
            <a:off x="731520" y="2627376"/>
            <a:ext cx="6035040" cy="3224784"/>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A</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B         G</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E   C     H   L</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 \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F   D I</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J</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K</a:t>
            </a:r>
            <a:endParaRPr lang="en-US" sz="1600" dirty="0"/>
          </a:p>
        </p:txBody>
      </p:sp>
      <p:sp>
        <p:nvSpPr>
          <p:cNvPr id="9" name="ANS_439"/>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440"/>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441"/>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3000" b="1" dirty="0">
                <a:solidFill>
                  <a:srgbClr val="1E3D34"/>
                </a:solidFill>
                <a:latin typeface="Microsoft YaHei" pitchFamily="34" charset="0"/>
                <a:ea typeface="Microsoft YaHei" pitchFamily="34" charset="-122"/>
                <a:cs typeface="Microsoft YaHei" pitchFamily="34" charset="-120"/>
              </a:rPr>
              <a:t>ABECFDGHIJKL</a:t>
            </a:r>
            <a:endParaRPr lang="en-US" sz="3000" dirty="0"/>
          </a:p>
        </p:txBody>
      </p:sp>
      <p:sp>
        <p:nvSpPr>
          <p:cNvPr id="12" name="ANS_442"/>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443"/>
          <p:cNvSpPr/>
          <p:nvPr/>
        </p:nvSpPr>
        <p:spPr>
          <a:xfrm>
            <a:off x="7616952" y="2748534"/>
            <a:ext cx="91440" cy="91440"/>
          </a:xfrm>
          <a:prstGeom prst="ellipse">
            <a:avLst/>
          </a:prstGeom>
          <a:solidFill>
            <a:srgbClr val="F2B134"/>
          </a:solidFill>
          <a:ln/>
        </p:spPr>
      </p:sp>
      <p:sp>
        <p:nvSpPr>
          <p:cNvPr id="14" name="ANS_444"/>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森林：A(B(E), C(F), D)、G(H(I, J, K))、L</a:t>
            </a:r>
            <a:endParaRPr lang="en-US" sz="1700" dirty="0"/>
          </a:p>
        </p:txBody>
      </p:sp>
      <p:sp>
        <p:nvSpPr>
          <p:cNvPr id="15" name="ANS_445"/>
          <p:cNvSpPr/>
          <p:nvPr/>
        </p:nvSpPr>
        <p:spPr>
          <a:xfrm>
            <a:off x="7616952" y="3513277"/>
            <a:ext cx="91440" cy="91440"/>
          </a:xfrm>
          <a:prstGeom prst="ellipse">
            <a:avLst/>
          </a:prstGeom>
          <a:solidFill>
            <a:srgbClr val="F2B134"/>
          </a:solidFill>
          <a:ln/>
        </p:spPr>
      </p:sp>
      <p:sp>
        <p:nvSpPr>
          <p:cNvPr id="16" name="ANS_446"/>
          <p:cNvSpPr txBox="1"/>
          <p:nvPr/>
        </p:nvSpPr>
        <p:spPr>
          <a:xfrm>
            <a:off x="7818120" y="3416503"/>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逐棵先根：ABECFD · GHIJK · L</a:t>
            </a:r>
            <a:endParaRPr lang="en-US" sz="1700" dirty="0"/>
          </a:p>
        </p:txBody>
      </p:sp>
      <p:sp>
        <p:nvSpPr>
          <p:cNvPr id="17" name="ANS_447"/>
          <p:cNvSpPr/>
          <p:nvPr/>
        </p:nvSpPr>
        <p:spPr>
          <a:xfrm>
            <a:off x="7616952" y="4278020"/>
            <a:ext cx="91440" cy="91440"/>
          </a:xfrm>
          <a:prstGeom prst="ellipse">
            <a:avLst/>
          </a:prstGeom>
          <a:solidFill>
            <a:srgbClr val="F2B134"/>
          </a:solidFill>
          <a:ln/>
        </p:spPr>
      </p:sp>
      <p:sp>
        <p:nvSpPr>
          <p:cNvPr id="18" name="ANS_448"/>
          <p:cNvSpPr txBox="1"/>
          <p:nvPr/>
        </p:nvSpPr>
        <p:spPr>
          <a:xfrm>
            <a:off x="7818120" y="4181246"/>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森林的先根序 = 对应二叉树的前序。</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Q17</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并查集：加权合并（一）</a:t>
            </a:r>
            <a:endParaRPr lang="en-US" sz="2800" dirty="0"/>
          </a:p>
        </p:txBody>
      </p:sp>
      <p:sp>
        <p:nvSpPr>
          <p:cNvPr id="6" name="Text 4"/>
          <p:cNvSpPr txBox="1"/>
          <p:nvPr/>
        </p:nvSpPr>
        <p:spPr>
          <a:xfrm>
            <a:off x="548640" y="1645920"/>
            <a:ext cx="6309360" cy="139598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对以下等价对，采用「加权合并规则」（小树的根指向大树的根；大小相同时第二棵树的根指向第一棵树的根）进行并查运算，给出最后的父结点数组（根的父结点是它自己）：</a:t>
            </a:r>
            <a:endParaRPr lang="en-US" sz="2000" dirty="0"/>
          </a:p>
        </p:txBody>
      </p:sp>
      <p:sp>
        <p:nvSpPr>
          <p:cNvPr id="7" name="Shape 5"/>
          <p:cNvSpPr/>
          <p:nvPr/>
        </p:nvSpPr>
        <p:spPr>
          <a:xfrm>
            <a:off x="548640" y="3297936"/>
            <a:ext cx="6309360" cy="542544"/>
          </a:xfrm>
          <a:prstGeom prst="roundRect">
            <a:avLst>
              <a:gd name="adj" fmla="val 13483"/>
            </a:avLst>
          </a:prstGeom>
          <a:solidFill>
            <a:srgbClr val="F1F4F2"/>
          </a:solidFill>
          <a:ln/>
        </p:spPr>
      </p:sp>
      <p:sp>
        <p:nvSpPr>
          <p:cNvPr id="8" name="Text 6"/>
          <p:cNvSpPr txBox="1"/>
          <p:nvPr/>
        </p:nvSpPr>
        <p:spPr>
          <a:xfrm>
            <a:off x="731520" y="3297936"/>
            <a:ext cx="6035040" cy="542544"/>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8-9 3-2 7-4 5-9 6-1 8-6 7-3 2-5 8-0</a:t>
            </a:r>
            <a:endParaRPr lang="en-US" sz="1600" dirty="0"/>
          </a:p>
        </p:txBody>
      </p:sp>
      <p:sp>
        <p:nvSpPr>
          <p:cNvPr id="9" name="ANS_449"/>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450"/>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451"/>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2600" b="1" dirty="0">
                <a:solidFill>
                  <a:srgbClr val="1E3D34"/>
                </a:solidFill>
                <a:latin typeface="Microsoft YaHei" pitchFamily="34" charset="0"/>
                <a:ea typeface="Microsoft YaHei" pitchFamily="34" charset="-122"/>
                <a:cs typeface="Microsoft YaHei" pitchFamily="34" charset="-120"/>
              </a:rPr>
              <a:t>8 6 3 7 7 8 8 8 8 8</a:t>
            </a:r>
            <a:endParaRPr lang="en-US" sz="2600" dirty="0"/>
          </a:p>
        </p:txBody>
      </p:sp>
      <p:sp>
        <p:nvSpPr>
          <p:cNvPr id="12" name="ANS_452"/>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453"/>
          <p:cNvSpPr/>
          <p:nvPr/>
        </p:nvSpPr>
        <p:spPr>
          <a:xfrm>
            <a:off x="7616952" y="2740152"/>
            <a:ext cx="91440" cy="91440"/>
          </a:xfrm>
          <a:prstGeom prst="ellipse">
            <a:avLst/>
          </a:prstGeom>
          <a:solidFill>
            <a:srgbClr val="F2B134"/>
          </a:solidFill>
          <a:ln/>
        </p:spPr>
      </p:sp>
      <p:sp>
        <p:nvSpPr>
          <p:cNvPr id="14" name="ANS_454"/>
          <p:cNvSpPr txBox="1"/>
          <p:nvPr/>
        </p:nvSpPr>
        <p:spPr>
          <a:xfrm>
            <a:off x="7818120" y="2651760"/>
            <a:ext cx="3520440" cy="591312"/>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8-9、3-2、7-4：等大，9→8、2→3、4→7</a:t>
            </a:r>
            <a:endParaRPr lang="en-US" sz="1600" dirty="0"/>
          </a:p>
        </p:txBody>
      </p:sp>
      <p:sp>
        <p:nvSpPr>
          <p:cNvPr id="15" name="ANS_455"/>
          <p:cNvSpPr/>
          <p:nvPr/>
        </p:nvSpPr>
        <p:spPr>
          <a:xfrm>
            <a:off x="7616952" y="3463138"/>
            <a:ext cx="91440" cy="91440"/>
          </a:xfrm>
          <a:prstGeom prst="ellipse">
            <a:avLst/>
          </a:prstGeom>
          <a:solidFill>
            <a:srgbClr val="F2B134"/>
          </a:solidFill>
          <a:ln/>
        </p:spPr>
      </p:sp>
      <p:sp>
        <p:nvSpPr>
          <p:cNvPr id="16" name="ANS_456"/>
          <p:cNvSpPr txBox="1"/>
          <p:nvPr/>
        </p:nvSpPr>
        <p:spPr>
          <a:xfrm>
            <a:off x="7818120" y="3374746"/>
            <a:ext cx="3520440" cy="323088"/>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5-9：{8,9} 大，5→8；6-1：1→6</a:t>
            </a:r>
            <a:endParaRPr lang="en-US" sz="1600" dirty="0"/>
          </a:p>
        </p:txBody>
      </p:sp>
      <p:sp>
        <p:nvSpPr>
          <p:cNvPr id="17" name="ANS_457"/>
          <p:cNvSpPr/>
          <p:nvPr/>
        </p:nvSpPr>
        <p:spPr>
          <a:xfrm>
            <a:off x="7616952" y="3917899"/>
            <a:ext cx="91440" cy="91440"/>
          </a:xfrm>
          <a:prstGeom prst="ellipse">
            <a:avLst/>
          </a:prstGeom>
          <a:solidFill>
            <a:srgbClr val="F2B134"/>
          </a:solidFill>
          <a:ln/>
        </p:spPr>
      </p:sp>
      <p:sp>
        <p:nvSpPr>
          <p:cNvPr id="18" name="ANS_458"/>
          <p:cNvSpPr txBox="1"/>
          <p:nvPr/>
        </p:nvSpPr>
        <p:spPr>
          <a:xfrm>
            <a:off x="7818120" y="3829507"/>
            <a:ext cx="3520440" cy="591312"/>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8-6：{8,9,5} 大，6→8；7-3：等大，3→7</a:t>
            </a:r>
            <a:endParaRPr lang="en-US" sz="1600" dirty="0"/>
          </a:p>
        </p:txBody>
      </p:sp>
      <p:sp>
        <p:nvSpPr>
          <p:cNvPr id="19" name="ANS_459"/>
          <p:cNvSpPr/>
          <p:nvPr/>
        </p:nvSpPr>
        <p:spPr>
          <a:xfrm>
            <a:off x="7616952" y="4640885"/>
            <a:ext cx="91440" cy="91440"/>
          </a:xfrm>
          <a:prstGeom prst="ellipse">
            <a:avLst/>
          </a:prstGeom>
          <a:solidFill>
            <a:srgbClr val="F2B134"/>
          </a:solidFill>
          <a:ln/>
        </p:spPr>
      </p:sp>
      <p:sp>
        <p:nvSpPr>
          <p:cNvPr id="20" name="ANS_460"/>
          <p:cNvSpPr txBox="1"/>
          <p:nvPr/>
        </p:nvSpPr>
        <p:spPr>
          <a:xfrm>
            <a:off x="7818120" y="4552493"/>
            <a:ext cx="3520440" cy="591312"/>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2-5：根 7（4 个）并入根 8（5 个），7→8；8-0：0→8</a:t>
            </a:r>
            <a:endParaRPr lang="en-US" sz="1600" dirty="0"/>
          </a:p>
        </p:txBody>
      </p:sp>
      <p:sp>
        <p:nvSpPr>
          <p:cNvPr id="21" name="ANS_461"/>
          <p:cNvSpPr/>
          <p:nvPr/>
        </p:nvSpPr>
        <p:spPr>
          <a:xfrm>
            <a:off x="7616952" y="5363870"/>
            <a:ext cx="91440" cy="91440"/>
          </a:xfrm>
          <a:prstGeom prst="ellipse">
            <a:avLst/>
          </a:prstGeom>
          <a:solidFill>
            <a:srgbClr val="F2B134"/>
          </a:solidFill>
          <a:ln/>
        </p:spPr>
      </p:sp>
      <p:sp>
        <p:nvSpPr>
          <p:cNvPr id="22" name="ANS_462"/>
          <p:cNvSpPr txBox="1"/>
          <p:nvPr/>
        </p:nvSpPr>
        <p:spPr>
          <a:xfrm>
            <a:off x="7818120" y="5275478"/>
            <a:ext cx="3520440" cy="591312"/>
          </a:xfrm>
          <a:prstGeom prst="rect">
            <a:avLst/>
          </a:prstGeom>
          <a:noFill/>
          <a:ln/>
        </p:spPr>
        <p:txBody>
          <a:bodyPr wrap="square" lIns="0" tIns="0" rIns="0" bIns="0" rtlCol="0" anchor="t"/>
          <a:lstStyle/>
          <a:p>
            <a:pPr algn="l" indent="0" marL="0">
              <a:buNone/>
            </a:pPr>
            <a:r>
              <a:rPr lang="en-US" sz="1600" dirty="0">
                <a:solidFill>
                  <a:srgbClr val="2B2B2B"/>
                </a:solidFill>
                <a:latin typeface="Microsoft YaHei" pitchFamily="34" charset="0"/>
                <a:ea typeface="Microsoft YaHei" pitchFamily="34" charset="-122"/>
                <a:cs typeface="Microsoft YaHei" pitchFamily="34" charset="-120"/>
              </a:rPr>
              <a:t>不做路径压缩（压缩后 2 会指向 7）。</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Q18</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800" b="1" dirty="0">
                <a:solidFill>
                  <a:srgbClr val="1E3D34"/>
                </a:solidFill>
                <a:latin typeface="Microsoft YaHei" pitchFamily="34" charset="0"/>
                <a:ea typeface="Microsoft YaHei" pitchFamily="34" charset="-122"/>
                <a:cs typeface="Microsoft YaHei" pitchFamily="34" charset="-120"/>
              </a:rPr>
              <a:t>并查集：加权合并（二）</a:t>
            </a:r>
            <a:endParaRPr lang="en-US" sz="28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采用同样的规则，对下列等价对进行并查运算，给出最后的父结点数组：</a:t>
            </a:r>
            <a:endParaRPr lang="en-US" sz="2000" dirty="0"/>
          </a:p>
        </p:txBody>
      </p:sp>
      <p:sp>
        <p:nvSpPr>
          <p:cNvPr id="7" name="Shape 5"/>
          <p:cNvSpPr/>
          <p:nvPr/>
        </p:nvSpPr>
        <p:spPr>
          <a:xfrm>
            <a:off x="548640" y="2627376"/>
            <a:ext cx="6309360" cy="542544"/>
          </a:xfrm>
          <a:prstGeom prst="roundRect">
            <a:avLst>
              <a:gd name="adj" fmla="val 13483"/>
            </a:avLst>
          </a:prstGeom>
          <a:solidFill>
            <a:srgbClr val="F1F4F2"/>
          </a:solidFill>
          <a:ln/>
        </p:spPr>
      </p:sp>
      <p:sp>
        <p:nvSpPr>
          <p:cNvPr id="8" name="Text 6"/>
          <p:cNvSpPr txBox="1"/>
          <p:nvPr/>
        </p:nvSpPr>
        <p:spPr>
          <a:xfrm>
            <a:off x="731520" y="2627376"/>
            <a:ext cx="6035040" cy="542544"/>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4-0 6-2 8-4 9-4 3-5 9-5 5-2 1-2 7-1</a:t>
            </a:r>
            <a:endParaRPr lang="en-US" sz="1600" dirty="0"/>
          </a:p>
        </p:txBody>
      </p:sp>
      <p:sp>
        <p:nvSpPr>
          <p:cNvPr id="9" name="ANS_463"/>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464"/>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465"/>
          <p:cNvSpPr txBox="1"/>
          <p:nvPr/>
        </p:nvSpPr>
        <p:spPr>
          <a:xfrm>
            <a:off x="7589520" y="1097280"/>
            <a:ext cx="3749040" cy="868680"/>
          </a:xfrm>
          <a:prstGeom prst="rect">
            <a:avLst/>
          </a:prstGeom>
          <a:noFill/>
          <a:ln/>
        </p:spPr>
        <p:txBody>
          <a:bodyPr wrap="square" lIns="0" tIns="0" rIns="0" bIns="0" rtlCol="0" anchor="ctr"/>
          <a:lstStyle/>
          <a:p>
            <a:pPr algn="l" indent="0" marL="0">
              <a:buNone/>
            </a:pPr>
            <a:r>
              <a:rPr lang="en-US" sz="2600" b="1" dirty="0">
                <a:solidFill>
                  <a:srgbClr val="1E3D34"/>
                </a:solidFill>
                <a:latin typeface="Microsoft YaHei" pitchFamily="34" charset="0"/>
                <a:ea typeface="Microsoft YaHei" pitchFamily="34" charset="-122"/>
                <a:cs typeface="Microsoft YaHei" pitchFamily="34" charset="-120"/>
              </a:rPr>
              <a:t>4 4 6 4 4 3 4 4 4 4</a:t>
            </a:r>
            <a:endParaRPr lang="en-US" sz="2600" dirty="0"/>
          </a:p>
        </p:txBody>
      </p:sp>
      <p:sp>
        <p:nvSpPr>
          <p:cNvPr id="12" name="ANS_466"/>
          <p:cNvSpPr txBox="1"/>
          <p:nvPr/>
        </p:nvSpPr>
        <p:spPr>
          <a:xfrm>
            <a:off x="7589520" y="219456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467"/>
          <p:cNvSpPr/>
          <p:nvPr/>
        </p:nvSpPr>
        <p:spPr>
          <a:xfrm>
            <a:off x="7616952" y="2748534"/>
            <a:ext cx="91440" cy="91440"/>
          </a:xfrm>
          <a:prstGeom prst="ellipse">
            <a:avLst/>
          </a:prstGeom>
          <a:solidFill>
            <a:srgbClr val="F2B134"/>
          </a:solidFill>
          <a:ln/>
        </p:spPr>
      </p:sp>
      <p:sp>
        <p:nvSpPr>
          <p:cNvPr id="14" name="ANS_468"/>
          <p:cNvSpPr txBox="1"/>
          <p:nvPr/>
        </p:nvSpPr>
        <p:spPr>
          <a:xfrm>
            <a:off x="7818120" y="265176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4-0：0→4；6-2：2→6；8-4、9-4：8→4、9→4</a:t>
            </a:r>
            <a:endParaRPr lang="en-US" sz="1700" dirty="0"/>
          </a:p>
        </p:txBody>
      </p:sp>
      <p:sp>
        <p:nvSpPr>
          <p:cNvPr id="15" name="ANS_469"/>
          <p:cNvSpPr/>
          <p:nvPr/>
        </p:nvSpPr>
        <p:spPr>
          <a:xfrm>
            <a:off x="7616952" y="3513277"/>
            <a:ext cx="91440" cy="91440"/>
          </a:xfrm>
          <a:prstGeom prst="ellipse">
            <a:avLst/>
          </a:prstGeom>
          <a:solidFill>
            <a:srgbClr val="F2B134"/>
          </a:solidFill>
          <a:ln/>
        </p:spPr>
      </p:sp>
      <p:sp>
        <p:nvSpPr>
          <p:cNvPr id="16" name="ANS_470"/>
          <p:cNvSpPr txBox="1"/>
          <p:nvPr/>
        </p:nvSpPr>
        <p:spPr>
          <a:xfrm>
            <a:off x="7818120" y="3416503"/>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3-5：5→3；9-5：根 3（2 个）→ 根 4（4 个）</a:t>
            </a:r>
            <a:endParaRPr lang="en-US" sz="1700" dirty="0"/>
          </a:p>
        </p:txBody>
      </p:sp>
      <p:sp>
        <p:nvSpPr>
          <p:cNvPr id="17" name="ANS_471"/>
          <p:cNvSpPr/>
          <p:nvPr/>
        </p:nvSpPr>
        <p:spPr>
          <a:xfrm>
            <a:off x="7616952" y="4278020"/>
            <a:ext cx="91440" cy="91440"/>
          </a:xfrm>
          <a:prstGeom prst="ellipse">
            <a:avLst/>
          </a:prstGeom>
          <a:solidFill>
            <a:srgbClr val="F2B134"/>
          </a:solidFill>
          <a:ln/>
        </p:spPr>
      </p:sp>
      <p:sp>
        <p:nvSpPr>
          <p:cNvPr id="18" name="ANS_472"/>
          <p:cNvSpPr txBox="1"/>
          <p:nvPr/>
        </p:nvSpPr>
        <p:spPr>
          <a:xfrm>
            <a:off x="7818120" y="4181246"/>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5-2：根 6（2 个）→ 根 4；1-2：1→4；7-1：7→4</a:t>
            </a:r>
            <a:endParaRPr lang="en-US" sz="1700" dirty="0"/>
          </a:p>
        </p:txBody>
      </p:sp>
      <p:sp>
        <p:nvSpPr>
          <p:cNvPr id="19" name="ANS_473"/>
          <p:cNvSpPr/>
          <p:nvPr/>
        </p:nvSpPr>
        <p:spPr>
          <a:xfrm>
            <a:off x="7616952" y="5042764"/>
            <a:ext cx="91440" cy="91440"/>
          </a:xfrm>
          <a:prstGeom prst="ellipse">
            <a:avLst/>
          </a:prstGeom>
          <a:solidFill>
            <a:srgbClr val="F2B134"/>
          </a:solidFill>
          <a:ln/>
        </p:spPr>
      </p:sp>
      <p:sp>
        <p:nvSpPr>
          <p:cNvPr id="20" name="ANS_474"/>
          <p:cNvSpPr txBox="1"/>
          <p:nvPr/>
        </p:nvSpPr>
        <p:spPr>
          <a:xfrm>
            <a:off x="7818120" y="4945990"/>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2 仍指向 6，5 仍指向 3（不做路径压缩）。</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868680" cy="868680"/>
          </a:xfrm>
          <a:prstGeom prst="ellipse">
            <a:avLst/>
          </a:prstGeom>
          <a:solidFill>
            <a:srgbClr val="1E3D34"/>
          </a:solidFill>
          <a:ln/>
        </p:spPr>
      </p:sp>
      <p:sp>
        <p:nvSpPr>
          <p:cNvPr id="3" name="Text 1"/>
          <p:cNvSpPr txBox="1"/>
          <p:nvPr/>
        </p:nvSpPr>
        <p:spPr>
          <a:xfrm>
            <a:off x="548640" y="411480"/>
            <a:ext cx="868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Q19</a:t>
            </a:r>
            <a:endParaRPr lang="en-US" sz="2400" dirty="0"/>
          </a:p>
        </p:txBody>
      </p:sp>
      <p:sp>
        <p:nvSpPr>
          <p:cNvPr id="4" name="Text 2"/>
          <p:cNvSpPr txBox="1"/>
          <p:nvPr/>
        </p:nvSpPr>
        <p:spPr>
          <a:xfrm>
            <a:off x="1645920" y="411480"/>
            <a:ext cx="5486400" cy="320040"/>
          </a:xfrm>
          <a:prstGeom prst="rect">
            <a:avLst/>
          </a:prstGeom>
          <a:noFill/>
          <a:ln/>
        </p:spPr>
        <p:txBody>
          <a:bodyPr wrap="square" lIns="0" tIns="0" rIns="0" bIns="0" rtlCol="0" anchor="ctr"/>
          <a:lstStyle/>
          <a:p>
            <a:pPr algn="l" indent="0" marL="0">
              <a:buNone/>
            </a:pPr>
            <a:r>
              <a:rPr lang="en-US" sz="1400" b="1" dirty="0">
                <a:solidFill>
                  <a:srgbClr val="3E7C68"/>
                </a:solidFill>
                <a:latin typeface="Microsoft YaHei" pitchFamily="34" charset="0"/>
                <a:ea typeface="Microsoft YaHei" pitchFamily="34" charset="-122"/>
                <a:cs typeface="Microsoft YaHei" pitchFamily="34" charset="-120"/>
              </a:rPr>
              <a:t>第六章 树  ·  填空题</a:t>
            </a:r>
            <a:endParaRPr lang="en-US" sz="1400" dirty="0"/>
          </a:p>
        </p:txBody>
      </p:sp>
      <p:sp>
        <p:nvSpPr>
          <p:cNvPr id="5" name="Text 3"/>
          <p:cNvSpPr txBox="1"/>
          <p:nvPr/>
        </p:nvSpPr>
        <p:spPr>
          <a:xfrm>
            <a:off x="1645920" y="731520"/>
            <a:ext cx="5486400" cy="548640"/>
          </a:xfrm>
          <a:prstGeom prst="rect">
            <a:avLst/>
          </a:prstGeom>
          <a:noFill/>
          <a:ln/>
        </p:spPr>
        <p:txBody>
          <a:bodyPr wrap="square" lIns="0" tIns="0" rIns="0" bIns="0" rtlCol="0" anchor="ctr"/>
          <a:lstStyle/>
          <a:p>
            <a:pPr algn="l" indent="0" marL="0">
              <a:buNone/>
            </a:pPr>
            <a:r>
              <a:rPr lang="en-US" sz="2400" b="1" dirty="0">
                <a:solidFill>
                  <a:srgbClr val="1E3D34"/>
                </a:solidFill>
                <a:latin typeface="Microsoft YaHei" pitchFamily="34" charset="0"/>
                <a:ea typeface="Microsoft YaHei" pitchFamily="34" charset="-122"/>
                <a:cs typeface="Microsoft YaHei" pitchFamily="34" charset="-120"/>
              </a:rPr>
              <a:t>双标记层次序列 → 后根序（三）</a:t>
            </a:r>
            <a:endParaRPr lang="en-US" sz="2400" dirty="0"/>
          </a:p>
        </p:txBody>
      </p:sp>
      <p:sp>
        <p:nvSpPr>
          <p:cNvPr id="6" name="Text 4"/>
          <p:cNvSpPr txBox="1"/>
          <p:nvPr/>
        </p:nvSpPr>
        <p:spPr>
          <a:xfrm>
            <a:off x="548640" y="1645920"/>
            <a:ext cx="6309360" cy="725424"/>
          </a:xfrm>
          <a:prstGeom prst="rect">
            <a:avLst/>
          </a:prstGeom>
          <a:noFill/>
          <a:ln/>
        </p:spPr>
        <p:txBody>
          <a:bodyPr wrap="square" lIns="0" tIns="0" rIns="0" bIns="0" rtlCol="0" anchor="t"/>
          <a:lstStyle/>
          <a:p>
            <a:pPr algn="l" indent="0" marL="0">
              <a:buNone/>
            </a:pPr>
            <a:r>
              <a:rPr lang="en-US" sz="2000" dirty="0">
                <a:solidFill>
                  <a:srgbClr val="222222"/>
                </a:solidFill>
                <a:latin typeface="Microsoft YaHei" pitchFamily="34" charset="0"/>
                <a:ea typeface="Microsoft YaHei" pitchFamily="34" charset="-122"/>
                <a:cs typeface="Microsoft YaHei" pitchFamily="34" charset="-120"/>
              </a:rPr>
              <a:t>同第 11 题规则，求下列双标记层次序列对应的带度数后根序列：</a:t>
            </a:r>
            <a:endParaRPr lang="en-US" sz="2000" dirty="0"/>
          </a:p>
        </p:txBody>
      </p:sp>
      <p:sp>
        <p:nvSpPr>
          <p:cNvPr id="7" name="Shape 5"/>
          <p:cNvSpPr/>
          <p:nvPr/>
        </p:nvSpPr>
        <p:spPr>
          <a:xfrm>
            <a:off x="548640" y="2627376"/>
            <a:ext cx="6309360" cy="1347216"/>
          </a:xfrm>
          <a:prstGeom prst="roundRect">
            <a:avLst>
              <a:gd name="adj" fmla="val 5430"/>
            </a:avLst>
          </a:prstGeom>
          <a:solidFill>
            <a:srgbClr val="F1F4F2"/>
          </a:solidFill>
          <a:ln/>
        </p:spPr>
      </p:sp>
      <p:sp>
        <p:nvSpPr>
          <p:cNvPr id="8" name="Text 6"/>
          <p:cNvSpPr txBox="1"/>
          <p:nvPr/>
        </p:nvSpPr>
        <p:spPr>
          <a:xfrm>
            <a:off x="731520" y="2627376"/>
            <a:ext cx="6035040" cy="1347216"/>
          </a:xfrm>
          <a:prstGeom prst="rect">
            <a:avLst/>
          </a:prstGeom>
          <a:noFill/>
          <a:ln/>
        </p:spPr>
        <p:txBody>
          <a:bodyPr wrap="square" lIns="0" tIns="0" rIns="0" bIns="0" rtlCol="0" anchor="ctr"/>
          <a:lstStyle/>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结点 ltag rtag   结点 ltag rtag   结点 ltag rtag</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A    0    1      B    0    0      G    1    1</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C    0    0      F    0    1      D    1    0</a:t>
            </a:r>
            <a:endParaRPr lang="en-US" sz="1600" dirty="0"/>
          </a:p>
          <a:p>
            <a:pPr indent="0" marL="0">
              <a:lnSpc>
                <a:spcPct val="100000"/>
              </a:lnSpc>
              <a:buNone/>
            </a:pPr>
            <a:r>
              <a:rPr lang="en-US" sz="1600" dirty="0">
                <a:solidFill>
                  <a:srgbClr val="1B2B24"/>
                </a:solidFill>
                <a:latin typeface="Courier New" pitchFamily="34" charset="0"/>
                <a:ea typeface="Courier New" pitchFamily="34" charset="-122"/>
                <a:cs typeface="Courier New" pitchFamily="34" charset="-120"/>
              </a:rPr>
              <a:t> E    1    1      H    1    0      I    1    1</a:t>
            </a:r>
            <a:endParaRPr lang="en-US" sz="1600" dirty="0"/>
          </a:p>
        </p:txBody>
      </p:sp>
      <p:sp>
        <p:nvSpPr>
          <p:cNvPr id="9" name="ANS_475"/>
          <p:cNvSpPr/>
          <p:nvPr/>
        </p:nvSpPr>
        <p:spPr>
          <a:xfrm>
            <a:off x="7269480" y="411480"/>
            <a:ext cx="4389120" cy="6035040"/>
          </a:xfrm>
          <a:prstGeom prst="roundRect">
            <a:avLst>
              <a:gd name="adj" fmla="val 3125"/>
            </a:avLst>
          </a:prstGeom>
          <a:solidFill>
            <a:srgbClr val="FFF6E0"/>
          </a:solidFill>
          <a:ln w="19050">
            <a:solidFill>
              <a:srgbClr val="F2B134"/>
            </a:solidFill>
            <a:prstDash val="solid"/>
          </a:ln>
        </p:spPr>
      </p:sp>
      <p:sp>
        <p:nvSpPr>
          <p:cNvPr id="10" name="ANS_476"/>
          <p:cNvSpPr txBox="1"/>
          <p:nvPr/>
        </p:nvSpPr>
        <p:spPr>
          <a:xfrm>
            <a:off x="7589520" y="685800"/>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答案</a:t>
            </a:r>
            <a:endParaRPr lang="en-US" sz="1600" dirty="0"/>
          </a:p>
        </p:txBody>
      </p:sp>
      <p:sp>
        <p:nvSpPr>
          <p:cNvPr id="11" name="ANS_477"/>
          <p:cNvSpPr txBox="1"/>
          <p:nvPr/>
        </p:nvSpPr>
        <p:spPr>
          <a:xfrm>
            <a:off x="7589520" y="1097280"/>
            <a:ext cx="3749040" cy="926592"/>
          </a:xfrm>
          <a:prstGeom prst="rect">
            <a:avLst/>
          </a:prstGeom>
          <a:noFill/>
          <a:ln/>
        </p:spPr>
        <p:txBody>
          <a:bodyPr wrap="square" lIns="0" tIns="0" rIns="0" bIns="0" rtlCol="0" anchor="ctr"/>
          <a:lstStyle/>
          <a:p>
            <a:pPr algn="l" indent="0" marL="0">
              <a:buNone/>
            </a:pPr>
            <a:r>
              <a:rPr lang="en-US" sz="2600" b="1" dirty="0">
                <a:solidFill>
                  <a:srgbClr val="1E3D34"/>
                </a:solidFill>
                <a:latin typeface="Microsoft YaHei" pitchFamily="34" charset="0"/>
                <a:ea typeface="Microsoft YaHei" pitchFamily="34" charset="-122"/>
                <a:cs typeface="Microsoft YaHei" pitchFamily="34" charset="-120"/>
              </a:rPr>
              <a:t>D0 E0 C2 H0 I0 F2 B2 G0 A2</a:t>
            </a:r>
            <a:endParaRPr lang="en-US" sz="2600" dirty="0"/>
          </a:p>
        </p:txBody>
      </p:sp>
      <p:sp>
        <p:nvSpPr>
          <p:cNvPr id="12" name="ANS_478"/>
          <p:cNvSpPr txBox="1"/>
          <p:nvPr/>
        </p:nvSpPr>
        <p:spPr>
          <a:xfrm>
            <a:off x="7589520" y="2252472"/>
            <a:ext cx="1828800" cy="365760"/>
          </a:xfrm>
          <a:prstGeom prst="rect">
            <a:avLst/>
          </a:prstGeom>
          <a:noFill/>
          <a:ln/>
        </p:spPr>
        <p:txBody>
          <a:bodyPr wrap="square" lIns="0" tIns="0" rIns="0" bIns="0" rtlCol="0" anchor="ctr"/>
          <a:lstStyle/>
          <a:p>
            <a:pPr algn="l" indent="0" marL="0">
              <a:buNone/>
            </a:pPr>
            <a:r>
              <a:rPr lang="en-US" sz="1600" b="1" dirty="0">
                <a:solidFill>
                  <a:srgbClr val="A06A00"/>
                </a:solidFill>
                <a:latin typeface="Microsoft YaHei" pitchFamily="34" charset="0"/>
                <a:ea typeface="Microsoft YaHei" pitchFamily="34" charset="-122"/>
                <a:cs typeface="Microsoft YaHei" pitchFamily="34" charset="-120"/>
              </a:rPr>
              <a:t>解析</a:t>
            </a:r>
            <a:endParaRPr lang="en-US" sz="1600" dirty="0"/>
          </a:p>
        </p:txBody>
      </p:sp>
      <p:sp>
        <p:nvSpPr>
          <p:cNvPr id="13" name="ANS_479"/>
          <p:cNvSpPr/>
          <p:nvPr/>
        </p:nvSpPr>
        <p:spPr>
          <a:xfrm>
            <a:off x="7616952" y="2806446"/>
            <a:ext cx="91440" cy="91440"/>
          </a:xfrm>
          <a:prstGeom prst="ellipse">
            <a:avLst/>
          </a:prstGeom>
          <a:solidFill>
            <a:srgbClr val="F2B134"/>
          </a:solidFill>
          <a:ln/>
        </p:spPr>
      </p:sp>
      <p:sp>
        <p:nvSpPr>
          <p:cNvPr id="14" name="ANS_480"/>
          <p:cNvSpPr txBox="1"/>
          <p:nvPr/>
        </p:nvSpPr>
        <p:spPr>
          <a:xfrm>
            <a:off x="7818120" y="2709672"/>
            <a:ext cx="3520440" cy="909828"/>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ltag = 0：有孩子；ltag = 1：无孩子。rtag = 0：有右兄弟；rtag = 1：是最后一个兄弟。</a:t>
            </a:r>
            <a:endParaRPr lang="en-US" sz="1700" dirty="0"/>
          </a:p>
        </p:txBody>
      </p:sp>
      <p:sp>
        <p:nvSpPr>
          <p:cNvPr id="15" name="ANS_481"/>
          <p:cNvSpPr/>
          <p:nvPr/>
        </p:nvSpPr>
        <p:spPr>
          <a:xfrm>
            <a:off x="7616952" y="3856177"/>
            <a:ext cx="91440" cy="91440"/>
          </a:xfrm>
          <a:prstGeom prst="ellipse">
            <a:avLst/>
          </a:prstGeom>
          <a:solidFill>
            <a:srgbClr val="F2B134"/>
          </a:solidFill>
          <a:ln/>
        </p:spPr>
      </p:sp>
      <p:sp>
        <p:nvSpPr>
          <p:cNvPr id="16" name="ANS_482"/>
          <p:cNvSpPr txBox="1"/>
          <p:nvPr/>
        </p:nvSpPr>
        <p:spPr>
          <a:xfrm>
            <a:off x="7818120" y="3759403"/>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A：B G；B：C F；C：D E；F：H I</a:t>
            </a:r>
            <a:endParaRPr lang="en-US" sz="1700" dirty="0"/>
          </a:p>
        </p:txBody>
      </p:sp>
      <p:sp>
        <p:nvSpPr>
          <p:cNvPr id="17" name="ANS_483"/>
          <p:cNvSpPr/>
          <p:nvPr/>
        </p:nvSpPr>
        <p:spPr>
          <a:xfrm>
            <a:off x="7616952" y="4620920"/>
            <a:ext cx="91440" cy="91440"/>
          </a:xfrm>
          <a:prstGeom prst="ellipse">
            <a:avLst/>
          </a:prstGeom>
          <a:solidFill>
            <a:srgbClr val="F2B134"/>
          </a:solidFill>
          <a:ln/>
        </p:spPr>
      </p:sp>
      <p:sp>
        <p:nvSpPr>
          <p:cNvPr id="18" name="ANS_484"/>
          <p:cNvSpPr txBox="1"/>
          <p:nvPr/>
        </p:nvSpPr>
        <p:spPr>
          <a:xfrm>
            <a:off x="7818120" y="4524146"/>
            <a:ext cx="3520440" cy="624840"/>
          </a:xfrm>
          <a:prstGeom prst="rect">
            <a:avLst/>
          </a:prstGeom>
          <a:noFill/>
          <a:ln/>
        </p:spPr>
        <p:txBody>
          <a:bodyPr wrap="square" lIns="0" tIns="0" rIns="0" bIns="0" rtlCol="0" anchor="t"/>
          <a:lstStyle/>
          <a:p>
            <a:pPr algn="l" indent="0" marL="0">
              <a:buNone/>
            </a:pPr>
            <a:r>
              <a:rPr lang="en-US" sz="1700" dirty="0">
                <a:solidFill>
                  <a:srgbClr val="2B2B2B"/>
                </a:solidFill>
                <a:latin typeface="Microsoft YaHei" pitchFamily="34" charset="0"/>
                <a:ea typeface="Microsoft YaHei" pitchFamily="34" charset="-122"/>
                <a:cs typeface="Microsoft YaHei" pitchFamily="34" charset="-120"/>
              </a:rPr>
              <a:t>后根：D E C H I F B G A，附上各自的孩子数。</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DSA MOOC Quiz CH05-06</dc:title>
  <dc:subject>PptxGenJS Presentation</dc:subject>
  <dc:creator>Hongfei Yan</dc:creator>
  <cp:lastModifiedBy>Hongfei Yan</cp:lastModifiedBy>
  <cp:revision>1</cp:revision>
  <dcterms:created xsi:type="dcterms:W3CDTF">2026-10-28T12:16:17Z</dcterms:created>
  <dcterms:modified xsi:type="dcterms:W3CDTF">2026-10-28T12:16:17Z</dcterms:modified>
</cp:coreProperties>
</file>