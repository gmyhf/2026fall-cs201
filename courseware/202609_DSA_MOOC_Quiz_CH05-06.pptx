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</p:sldIdLst>
  <p:notesMasterIdLst>
    <p:notesMasterId r:id="rId5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notesMaster" Target="notesMasters/notesMaster1.xml"/><Relationship Id="rId52" Type="http://schemas.openxmlformats.org/officeDocument/2006/relationships/presProps" Target="presProps.xml"/><Relationship Id="rId53" Type="http://schemas.openxmlformats.org/officeDocument/2006/relationships/viewProps" Target="viewProps.xml"/><Relationship Id="rId54" Type="http://schemas.openxmlformats.org/officeDocument/2006/relationships/theme" Target="theme/theme1.xml"/><Relationship Id="rId5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讲法：先定树形，再定插入顺序。
1. 深度下限：3 层最多 1+2+4 = 7 个结点，放不下 10 个；4 层最多 15 个，够。要深度 4，根的左、右子树各最多 3 层，即各最多 7 个结点。
2. 选根：按大小排名次 6(1) 9(2) 12(3) 14(4) 29(5) 32(6) 47(7) 63(8) 78(9) 81(10)。名次为 r 的根，左子树 r−1 个、右子树 10−r 个，都 ≤ 7 → 3 ≤ r ≤ 8。根是第一个插入的，要尽量小 → r = 3，根为 12。
   反例：以 6 为根，右子树 9 个；以 9 为根，右子树 8 个，都超过 7，深度至少 5。
3. 子树形状：
   · 左子树 {6, 9} 只有 2 个结点，6 或 9 当根都行。
   · 右子树 {14, 29, 32, 47, 63, 78, 81} 恰好 7 个，必须是 3 层满树，每层取中位数：根 47；左边 {14, 29, 32} 以 29 为根；右边 {63, 78, 81} 以 78 为根。
4. 插入顺序：唯一约束是祖先先于后代。每步插入「当前可插入的元素」中最小的：
   12 → {6/9, 47} 选 6 → {9, 47} 选 9 → 47 → {29, 78} 选 29 → {14, 32, 78} 选 14 → 32 → 78 → {63, 81} 选 63 → 81。
   得 12 6 9 47 29 14 32 78 63 81。
最终的树（可在白板画出）：
          12
        /    \
       6      47
        \    /   \
         9  29    78
           / \   /  \
          14 32 63  81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讲法：先看树长什么样，再数每个关键码的比较次数，最后取平均。
1. 树退化成链：设 k1 &lt; k2 &lt; … &lt; kn，按此顺序插入。k1 成为根；k2 比 k1 大，挂在 k1 右边；k3 比已有的都大，一路向右，挂在 k2 右边……每个新关键码都走到最右端，得到只有右孩子的斜链，深度为 n：
   k1
     \
      k2
        \
         k3
           \
            …
              \
               kn
2. 比较次数：查找从根开始，每经过一个结点比较一次。ki 在第 i 层，要经过 k1, k2, …, ki，所以查 ki 比较 i 次。
3. 取平均：每个关键码被查的概率都是 1/n，
   ASL = (1/n)·(1 + 2 + … + n) = (1/n)·n(n+1)/2 = (n+1)/2。
   验证 n = 3：比较 1、2、3 次，平均 2 = (3+1)/2。
4. 对比（引出平衡树）：同样 n 个结点，若树接近平衡，深度约 log₂n，平均比较 O(log n)；递增插入使 BST 退化为链表，平均比较 O(n)，与顺序查找相同。这正是后面讲 AVL 树、红黑树的动机。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讲法：这段代码就是把递归遍历手工展开，每个结点会被「碰到」三次。
1. 对照递归写法：
   void traverse(node) {
       // ① 刚进入：前序在这里访问
       traverse(node-&gt;left);
       // ② 左子树回来：中序在这里访问
       traverse(node-&gt;right);
       // ③ 右子树也回来：后序在这里访问
   }
   非递归代码里，栈和 tag 一起记住「这个结点走到哪一步了」：
   · 1 号：结点第一次遇到，以 tag = Left 入栈，接着往左走 → ① → 前序。
   · 2 号：弹出时 tag 是 Left，左子树刚处理完；改成 Right 重新入栈，转向右子树 → ② → 中序。
   · 3 号：弹出时 tag 是 Right，右子树也处理完；这次弹出后不再入栈 → ③ → 后序。
2. tag 的作用：后序的难点是一个结点会从栈顶弹出两次（左子树完、右子树完各一次），只有第二次才能访问。tag 用来区分这两次：Left 表示左边刚回来，Right 表示右边也回来了。
   为什么 3 号一定在右子树全部处理完之后：2 号把结点以 Right 重新压栈后才转去右孩子，右子树的结点都压在它上面，要全部出栈后它才会再回到栈顶。
   3 号里的 pointer = NULL 让下一轮跳过「向左走」的内层循环，直接弹出父结点，不会重新往下走。
3. 小例子（白板演示）：A 为根，B、C 分别是左、右孩子。栈从底到顶：
   压入 A        A(L)         1 号：A
   压入 B        A(L) B(L)    1 号：B
   弹出 B(L)，重压  A(L) B(R)    2 号：B
   弹出 B(R)     A(L)         3 号：B
   弹出 A(L)，重压，转向 C  A(R)  2 号：A
   压入 C        A(R) C(L)    1 号：C
   弹出 C(L)，重压  A(R) C(R)    2 号：C
   弹出 C(R)     A(R)         3 号：C
   弹出 A(R)     空           3 号：A
   各访问点触发顺序：1 号 A B C（前序），2 号 B A C（中序），3 号 B C A（后序）。
后面 Q13、Q14 问同一段代码做中序、前序的访问点（答案 2、1），可以用这张表一起讲。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讲法：先说为什么要补虚叶子，再合并，最后用两种方法算 WPL，并和「不补」对比。
1. 为什么补 0：三叉树每合并一次，3 个结点变 1 个，结点数减 2。要最后只剩 1 个根，需要 (n−1) mod (k−1) = 0。
   n = 10：(10−1) mod 2 = 1，不整除；补 1 个权为 0 的叶子，变成 11 个，(11−1) mod 2 = 0。
   直观：10 个叶子凑不满每个内部结点都有 3 个孩子的三叉树，必然空出一个孩子位置。这个空位要放在最深的一层（第一次合并就用掉），不能留到最后让根只有两个孩子。权 0 的虚叶子就是在第一次合并时占掉这个空位，它对 WPL 没有贡献。
2. 每次合并最小的三个（剩余结点）：
   0 + 1 + 4 = 5        剩 5, 9, 16, 25, 36, 49, 64, 81, 100
   5 + 9 + 16 = 30      剩 25, 30, 36, 49, 64, 81, 100
   25 + 30 + 36 = 91    剩 49, 64, 81, 91, 100
   49 + 64 + 81 = 194   剩 91, 100, 194
   91 + 100 + 194 = 385 根
   树（白板画）：385 的孩子是 91、100、194；91 的孩子是 25、30、36；194 的孩子是 49、64、81；30 的孩子是 5、9、16；5 的孩子是 0、1、4。
3. 算 WPL：
   方法一（幻灯片）：内部结点权之和 5 + 30 + 91 + 194 + 385 = 705。
   原因：每个叶子的权在它的每个祖先（内部结点）里都被加了一次，祖先个数就是深度，所以内部结点权之和 = Σ 叶子权 × 深度。
   方法二（验证）：按深度直接算
   深度 1：100 × 1 = 100
   深度 2：(25 + 36 + 49 + 64 + 81) × 2 = 255 × 2 = 510
   深度 3：(9 + 16) × 3 = 75
   深度 4：(0 + 1 + 4) × 4 = 20
   合计 100 + 510 + 75 + 20 = 705。
4. 对比（不补 0 直接合并最小的三个）：
   1 + 4 + 9 = 14，14 + 16 + 25 = 55，36 + 49 + 55 = 140，64 + 81 + 100 = 245，最后只剩 140、245 两个，根只有两个孩子：140 + 245 = 385。
   WPL = 14 + 55 + 140 + 245 + 385 = 839 &gt; 705。
   空位留在根上，相当于让所有叶子都多付代价；放在最底层，只影响权最小的几个叶子。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097280"/>
            <a:ext cx="5029200" cy="5029200"/>
          </a:xfrm>
          <a:prstGeom prst="ellipse">
            <a:avLst/>
          </a:prstGeom>
          <a:solidFill>
            <a:srgbClr val="3E7C68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3931920"/>
            <a:ext cx="2926080" cy="2926080"/>
          </a:xfrm>
          <a:prstGeom prst="ellipse">
            <a:avLst/>
          </a:prstGeom>
          <a:solidFill>
            <a:srgbClr val="F2B134">
              <a:alpha val="3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数据结构与算法 · 2026 Fall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课堂提问：MOOC 习题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1148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二叉树（上）（10 题） · 第五章 二叉树（下）（16 题） · 第六章 树（19 题）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每页先出题，请同学作答；单击显示答案与解析，再单击进入下一题。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097280"/>
            <a:ext cx="5029200" cy="5029200"/>
          </a:xfrm>
          <a:prstGeom prst="ellipse">
            <a:avLst/>
          </a:prstGeom>
          <a:solidFill>
            <a:srgbClr val="3E7C68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3931920"/>
            <a:ext cx="2926080" cy="2926080"/>
          </a:xfrm>
          <a:prstGeom prst="ellipse">
            <a:avLst/>
          </a:prstGeom>
          <a:solidFill>
            <a:srgbClr val="F2B134">
              <a:alpha val="3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Chapter 5 · 上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二叉树（上）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1148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 10 题 · 准备好了吗？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二叉树（上）  ·  多选题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遍历序列何时相同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下列关于二叉树遍历的说法正确的有：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086661"/>
            <a:ext cx="285293" cy="285293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086661"/>
            <a:ext cx="285293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98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055571"/>
            <a:ext cx="5760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前序与中序相同的二叉树，只能是空树或独根树。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510942"/>
            <a:ext cx="285293" cy="285293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510942"/>
            <a:ext cx="285293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98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479853"/>
            <a:ext cx="5760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所有结点左子树为空的二叉树，前序与中序相同。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2935224"/>
            <a:ext cx="285293" cy="285293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2935224"/>
            <a:ext cx="285293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98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2904134"/>
            <a:ext cx="5760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所有结点右子树为空的二叉树，前序与中序相同。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359506"/>
            <a:ext cx="285293" cy="285293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3359506"/>
            <a:ext cx="285293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3328416"/>
            <a:ext cx="5760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只有空树和独根树的前序与后序相同。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783787"/>
            <a:ext cx="285293" cy="285293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3783787"/>
            <a:ext cx="285293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98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3752698"/>
            <a:ext cx="5760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所有结点左子树为空的二叉树，前序与后序相同。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4208069"/>
            <a:ext cx="285293" cy="285293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4208069"/>
            <a:ext cx="285293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98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4176979"/>
            <a:ext cx="5760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所有结点右子树为空的二叉树，前序与后序相同。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" y="4632350"/>
            <a:ext cx="285293" cy="285293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48640" y="4632350"/>
            <a:ext cx="285293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</a:t>
            </a:r>
            <a:endParaRPr lang="en-US" sz="980" dirty="0"/>
          </a:p>
        </p:txBody>
      </p:sp>
      <p:sp>
        <p:nvSpPr>
          <p:cNvPr id="27" name="Text 25"/>
          <p:cNvSpPr txBox="1"/>
          <p:nvPr/>
        </p:nvSpPr>
        <p:spPr>
          <a:xfrm>
            <a:off x="1097280" y="4601261"/>
            <a:ext cx="5760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只有空树和独根树的中序与后序相同。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5056632"/>
            <a:ext cx="285293" cy="285293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48640" y="5056632"/>
            <a:ext cx="285293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endParaRPr lang="en-US" sz="980" dirty="0"/>
          </a:p>
        </p:txBody>
      </p:sp>
      <p:sp>
        <p:nvSpPr>
          <p:cNvPr id="30" name="Text 28"/>
          <p:cNvSpPr txBox="1"/>
          <p:nvPr/>
        </p:nvSpPr>
        <p:spPr>
          <a:xfrm>
            <a:off x="1097280" y="5025542"/>
            <a:ext cx="5760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所有结点左子树为空的二叉树，中序与后序相同。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48640" y="5480914"/>
            <a:ext cx="285293" cy="285293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48640" y="5480914"/>
            <a:ext cx="285293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</a:t>
            </a:r>
            <a:endParaRPr lang="en-US" sz="980" dirty="0"/>
          </a:p>
        </p:txBody>
      </p:sp>
      <p:sp>
        <p:nvSpPr>
          <p:cNvPr id="33" name="Text 31"/>
          <p:cNvSpPr txBox="1"/>
          <p:nvPr/>
        </p:nvSpPr>
        <p:spPr>
          <a:xfrm>
            <a:off x="1097280" y="5449824"/>
            <a:ext cx="5760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所有结点右子树为空的二叉树，中序与后序相同。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48640" y="5905195"/>
            <a:ext cx="285293" cy="285293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48640" y="5905195"/>
            <a:ext cx="285293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</a:t>
            </a:r>
            <a:endParaRPr lang="en-US" sz="980" dirty="0"/>
          </a:p>
        </p:txBody>
      </p:sp>
      <p:sp>
        <p:nvSpPr>
          <p:cNvPr id="36" name="Text 34"/>
          <p:cNvSpPr txBox="1"/>
          <p:nvPr/>
        </p:nvSpPr>
        <p:spPr>
          <a:xfrm>
            <a:off x="1097280" y="5874106"/>
            <a:ext cx="5760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存在一棵非空二叉树，它的前序、中序、后序都相同。</a:t>
            </a:r>
            <a:endParaRPr lang="en-US" sz="1200" dirty="0"/>
          </a:p>
        </p:txBody>
      </p:sp>
      <p:sp>
        <p:nvSpPr>
          <p:cNvPr id="37" name="ANS_0"/>
          <p:cNvSpPr/>
          <p:nvPr/>
        </p:nvSpPr>
        <p:spPr>
          <a:xfrm>
            <a:off x="457200" y="2443277"/>
            <a:ext cx="6492240" cy="420624"/>
          </a:xfrm>
          <a:prstGeom prst="roundRect">
            <a:avLst>
              <a:gd name="adj" fmla="val 21739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38" name="ANS_1"/>
          <p:cNvSpPr/>
          <p:nvPr/>
        </p:nvSpPr>
        <p:spPr>
          <a:xfrm>
            <a:off x="457200" y="3291840"/>
            <a:ext cx="6492240" cy="420624"/>
          </a:xfrm>
          <a:prstGeom prst="roundRect">
            <a:avLst>
              <a:gd name="adj" fmla="val 21739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39" name="ANS_2"/>
          <p:cNvSpPr/>
          <p:nvPr/>
        </p:nvSpPr>
        <p:spPr>
          <a:xfrm>
            <a:off x="457200" y="5413248"/>
            <a:ext cx="6492240" cy="420624"/>
          </a:xfrm>
          <a:prstGeom prst="roundRect">
            <a:avLst>
              <a:gd name="adj" fmla="val 21739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40" name="ANS_3"/>
          <p:cNvSpPr/>
          <p:nvPr/>
        </p:nvSpPr>
        <p:spPr>
          <a:xfrm>
            <a:off x="457200" y="5837530"/>
            <a:ext cx="6492240" cy="420624"/>
          </a:xfrm>
          <a:prstGeom prst="roundRect">
            <a:avLst>
              <a:gd name="adj" fmla="val 21739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41" name="ANS_4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42" name="ANS_5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43" name="ANS_6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B、D、I、J</a:t>
            </a:r>
            <a:endParaRPr lang="en-US" sz="3600" dirty="0"/>
          </a:p>
        </p:txBody>
      </p:sp>
      <p:sp>
        <p:nvSpPr>
          <p:cNvPr id="44" name="ANS_7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45" name="ANS_8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46" name="ANS_9"/>
          <p:cNvSpPr txBox="1"/>
          <p:nvPr/>
        </p:nvSpPr>
        <p:spPr>
          <a:xfrm>
            <a:off x="7818120" y="2651760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左子树全空：前序 = 根,右…，中序 = 根,右… → 相同（B ✓，A ✗）。</a:t>
            </a:r>
            <a:endParaRPr lang="en-US" sz="1700" dirty="0"/>
          </a:p>
        </p:txBody>
      </p:sp>
      <p:sp>
        <p:nvSpPr>
          <p:cNvPr id="47" name="ANS_10"/>
          <p:cNvSpPr/>
          <p:nvPr/>
        </p:nvSpPr>
        <p:spPr>
          <a:xfrm>
            <a:off x="7616952" y="3798265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48" name="ANS_11"/>
          <p:cNvSpPr txBox="1"/>
          <p:nvPr/>
        </p:nvSpPr>
        <p:spPr>
          <a:xfrm>
            <a:off x="7818120" y="3701491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右子树全空：中序 = 左…,根，后序 = 左…,根 → 相同（I ✓，G ✗）。</a:t>
            </a:r>
            <a:endParaRPr lang="en-US" sz="1700" dirty="0"/>
          </a:p>
        </p:txBody>
      </p:sp>
      <p:sp>
        <p:nvSpPr>
          <p:cNvPr id="49" name="ANS_12"/>
          <p:cNvSpPr/>
          <p:nvPr/>
        </p:nvSpPr>
        <p:spPr>
          <a:xfrm>
            <a:off x="7616952" y="484799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50" name="ANS_13"/>
          <p:cNvSpPr txBox="1"/>
          <p:nvPr/>
        </p:nvSpPr>
        <p:spPr>
          <a:xfrm>
            <a:off x="7818120" y="4751222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≥ 2 时根在前序第一、后序最后，二者必不同（D ✓，E、F ✗）。</a:t>
            </a:r>
            <a:endParaRPr lang="en-US" sz="1700" dirty="0"/>
          </a:p>
        </p:txBody>
      </p:sp>
      <p:sp>
        <p:nvSpPr>
          <p:cNvPr id="51" name="ANS_14"/>
          <p:cNvSpPr/>
          <p:nvPr/>
        </p:nvSpPr>
        <p:spPr>
          <a:xfrm>
            <a:off x="7616952" y="589772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52" name="ANS_15"/>
          <p:cNvSpPr txBox="1"/>
          <p:nvPr/>
        </p:nvSpPr>
        <p:spPr>
          <a:xfrm>
            <a:off x="7818120" y="5800954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独根树三种序列都相同（J ✓）。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二叉树（上）  ·  多选题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二叉树的性质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下列关于二叉树性质的说法正确的有：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2243633"/>
            <a:ext cx="381305" cy="381305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243633"/>
            <a:ext cx="3813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33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203399"/>
            <a:ext cx="57607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非空满二叉树的结点个数一定为奇数个。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914040"/>
            <a:ext cx="381305" cy="381305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914040"/>
            <a:ext cx="3813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33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773985"/>
            <a:ext cx="5760720" cy="661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非完全二叉树也可以像完全二叉树那样使用顺序存储结构进行存储。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48640" y="3684270"/>
            <a:ext cx="381305" cy="381305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684270"/>
            <a:ext cx="3813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33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544214"/>
            <a:ext cx="5760720" cy="661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当一棵完全二叉树是满二叉树时，叶子结点不一定集中在最下面一层。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548640" y="4454500"/>
            <a:ext cx="381305" cy="381305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454500"/>
            <a:ext cx="3813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33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314444"/>
            <a:ext cx="5760720" cy="661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完全二叉树最多只有最下面的一层结点度数可以小于 2。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548640" y="5224729"/>
            <a:ext cx="381305" cy="381305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5224729"/>
            <a:ext cx="3813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33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5084674"/>
            <a:ext cx="5760720" cy="661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一棵非空二叉树的为空的外部结点数目等于其结点数加 1。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548640" y="5895137"/>
            <a:ext cx="381305" cy="381305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5895137"/>
            <a:ext cx="3813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133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5854903"/>
            <a:ext cx="57607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满二叉树的所有结点的度均为 2。</a:t>
            </a:r>
            <a:endParaRPr lang="en-US" sz="1700" dirty="0"/>
          </a:p>
        </p:txBody>
      </p:sp>
      <p:sp>
        <p:nvSpPr>
          <p:cNvPr id="25" name="ANS_16"/>
          <p:cNvSpPr/>
          <p:nvPr/>
        </p:nvSpPr>
        <p:spPr>
          <a:xfrm>
            <a:off x="457200" y="2166823"/>
            <a:ext cx="6492240" cy="534924"/>
          </a:xfrm>
          <a:prstGeom prst="roundRect">
            <a:avLst>
              <a:gd name="adj" fmla="val 17094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6" name="ANS_17"/>
          <p:cNvSpPr/>
          <p:nvPr/>
        </p:nvSpPr>
        <p:spPr>
          <a:xfrm>
            <a:off x="457200" y="3507638"/>
            <a:ext cx="6492240" cy="734568"/>
          </a:xfrm>
          <a:prstGeom prst="roundRect">
            <a:avLst>
              <a:gd name="adj" fmla="val 12448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7" name="ANS_18"/>
          <p:cNvSpPr/>
          <p:nvPr/>
        </p:nvSpPr>
        <p:spPr>
          <a:xfrm>
            <a:off x="457200" y="5048098"/>
            <a:ext cx="6492240" cy="734568"/>
          </a:xfrm>
          <a:prstGeom prst="roundRect">
            <a:avLst>
              <a:gd name="adj" fmla="val 12448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8" name="ANS_19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9" name="ANS_20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30" name="ANS_21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A、C、E</a:t>
            </a:r>
            <a:endParaRPr lang="en-US" sz="4400" dirty="0"/>
          </a:p>
        </p:txBody>
      </p:sp>
      <p:sp>
        <p:nvSpPr>
          <p:cNvPr id="31" name="ANS_22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32" name="ANS_23"/>
          <p:cNvSpPr/>
          <p:nvPr/>
        </p:nvSpPr>
        <p:spPr>
          <a:xfrm>
            <a:off x="7616952" y="273177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3" name="ANS_24"/>
          <p:cNvSpPr txBox="1"/>
          <p:nvPr/>
        </p:nvSpPr>
        <p:spPr>
          <a:xfrm>
            <a:off x="7818120" y="2651760"/>
            <a:ext cx="3520440" cy="809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满二叉树：每个结点度为 0 或 2；n</a:t>
            </a:r>
            <a:r>
              <a:rPr lang="en-US" sz="15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n</a:t>
            </a:r>
            <a:r>
              <a:rPr lang="en-US" sz="15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+ 1，总数 2n</a:t>
            </a:r>
            <a:r>
              <a:rPr lang="en-US" sz="15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+ 1 为奇数（A ✓，F ✗ 叶子度为 0）。</a:t>
            </a:r>
            <a:endParaRPr lang="en-US" sz="1500" dirty="0"/>
          </a:p>
        </p:txBody>
      </p:sp>
      <p:sp>
        <p:nvSpPr>
          <p:cNvPr id="34" name="ANS_25"/>
          <p:cNvSpPr/>
          <p:nvPr/>
        </p:nvSpPr>
        <p:spPr>
          <a:xfrm>
            <a:off x="7616952" y="366445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5" name="ANS_26"/>
          <p:cNvSpPr txBox="1"/>
          <p:nvPr/>
        </p:nvSpPr>
        <p:spPr>
          <a:xfrm>
            <a:off x="7818120" y="3584448"/>
            <a:ext cx="35204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满且完全的树，叶子可以分布在最后两层（C ✓）。</a:t>
            </a:r>
            <a:endParaRPr lang="en-US" sz="1500" dirty="0"/>
          </a:p>
        </p:txBody>
      </p:sp>
      <p:sp>
        <p:nvSpPr>
          <p:cNvPr id="36" name="ANS_27"/>
          <p:cNvSpPr/>
          <p:nvPr/>
        </p:nvSpPr>
        <p:spPr>
          <a:xfrm>
            <a:off x="7616952" y="434568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7" name="ANS_28"/>
          <p:cNvSpPr txBox="1"/>
          <p:nvPr/>
        </p:nvSpPr>
        <p:spPr>
          <a:xfrm>
            <a:off x="7818120" y="4265676"/>
            <a:ext cx="35204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✗ 倒数第二层的结点也可能度数小于 2。</a:t>
            </a:r>
            <a:endParaRPr lang="en-US" sz="1500" dirty="0"/>
          </a:p>
        </p:txBody>
      </p:sp>
      <p:sp>
        <p:nvSpPr>
          <p:cNvPr id="38" name="ANS_29"/>
          <p:cNvSpPr/>
          <p:nvPr/>
        </p:nvSpPr>
        <p:spPr>
          <a:xfrm>
            <a:off x="7616952" y="502691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9" name="ANS_30"/>
          <p:cNvSpPr txBox="1"/>
          <p:nvPr/>
        </p:nvSpPr>
        <p:spPr>
          <a:xfrm>
            <a:off x="7818120" y="4946904"/>
            <a:ext cx="35204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个结点有 2n 个指针域，用掉 n−1 个，空指针 n+1 个（E ✓）。</a:t>
            </a:r>
            <a:endParaRPr lang="en-US" sz="1500" dirty="0"/>
          </a:p>
        </p:txBody>
      </p:sp>
      <p:sp>
        <p:nvSpPr>
          <p:cNvPr id="40" name="ANS_31"/>
          <p:cNvSpPr/>
          <p:nvPr/>
        </p:nvSpPr>
        <p:spPr>
          <a:xfrm>
            <a:off x="7616952" y="570814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41" name="ANS_32"/>
          <p:cNvSpPr txBox="1"/>
          <p:nvPr/>
        </p:nvSpPr>
        <p:spPr>
          <a:xfrm>
            <a:off x="7818120" y="5628132"/>
            <a:ext cx="35204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✗ 非完全二叉树要补空位才能按下标存储。</a:t>
            </a:r>
            <a:endParaRPr lang="en-US" sz="1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二叉树（上）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完全二叉树高度（512 个结点）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一棵有 512 个结点的完全二叉树的高度为多少？（独根树高度为 1）</a:t>
            </a:r>
            <a:endParaRPr lang="en-US" sz="2000" dirty="0"/>
          </a:p>
        </p:txBody>
      </p:sp>
      <p:sp>
        <p:nvSpPr>
          <p:cNvPr id="7" name="ANS_33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34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35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4400" dirty="0"/>
          </a:p>
        </p:txBody>
      </p:sp>
      <p:sp>
        <p:nvSpPr>
          <p:cNvPr id="10" name="ANS_36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37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38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个结点的完全二叉树高度为 ⌊log</a:t>
            </a: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n⌋ + 1。</a:t>
            </a:r>
            <a:endParaRPr lang="en-US" sz="1700" dirty="0"/>
          </a:p>
        </p:txBody>
      </p:sp>
      <p:sp>
        <p:nvSpPr>
          <p:cNvPr id="13" name="ANS_39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40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⌊log</a:t>
            </a: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512⌋ + 1 = 9 + 1 = 10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二叉树（上）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完全二叉树高度（510 个结点）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一棵有 510 个结点的完全二叉树的高度为多少？（独根树高度为 1）</a:t>
            </a:r>
            <a:endParaRPr lang="en-US" sz="2000" dirty="0"/>
          </a:p>
        </p:txBody>
      </p:sp>
      <p:sp>
        <p:nvSpPr>
          <p:cNvPr id="7" name="ANS_41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42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43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4400" dirty="0"/>
          </a:p>
        </p:txBody>
      </p:sp>
      <p:sp>
        <p:nvSpPr>
          <p:cNvPr id="10" name="ANS_44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45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46"/>
          <p:cNvSpPr txBox="1"/>
          <p:nvPr/>
        </p:nvSpPr>
        <p:spPr>
          <a:xfrm>
            <a:off x="7818120" y="265176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256 ≤ 510 &lt; 512 = 2</a:t>
            </a: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1700" dirty="0"/>
          </a:p>
        </p:txBody>
      </p:sp>
      <p:sp>
        <p:nvSpPr>
          <p:cNvPr id="13" name="ANS_47"/>
          <p:cNvSpPr/>
          <p:nvPr/>
        </p:nvSpPr>
        <p:spPr>
          <a:xfrm>
            <a:off x="7616952" y="32282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48"/>
          <p:cNvSpPr txBox="1"/>
          <p:nvPr/>
        </p:nvSpPr>
        <p:spPr>
          <a:xfrm>
            <a:off x="7818120" y="3131515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⌊log</a:t>
            </a: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510⌋ + 1 = 8 + 1 = 9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Q5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二叉树（上）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后序遍历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写出下面二叉树的后序遍历序列（字母间无空格；Q 是 H 的左孩子）：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6309360" cy="2151888"/>
          </a:xfrm>
          <a:prstGeom prst="roundRect">
            <a:avLst>
              <a:gd name="adj" fmla="val 339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627376"/>
            <a:ext cx="6035040" cy="2151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/ 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       D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/ \     /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X   K   H   A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/ \ / \  /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  M C  P Q</a:t>
            </a:r>
            <a:endParaRPr lang="en-US" sz="1600" dirty="0"/>
          </a:p>
        </p:txBody>
      </p:sp>
      <p:sp>
        <p:nvSpPr>
          <p:cNvPr id="9" name="ANS_49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50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51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LMXCPKEQHADB</a:t>
            </a:r>
            <a:endParaRPr lang="en-US" sz="3000" dirty="0"/>
          </a:p>
        </p:txBody>
      </p:sp>
      <p:sp>
        <p:nvSpPr>
          <p:cNvPr id="12" name="ANS_52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53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54"/>
          <p:cNvSpPr txBox="1"/>
          <p:nvPr/>
        </p:nvSpPr>
        <p:spPr>
          <a:xfrm>
            <a:off x="7818120" y="265176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后序：左 → 右 → 根。</a:t>
            </a:r>
            <a:endParaRPr lang="en-US" sz="1700" dirty="0"/>
          </a:p>
        </p:txBody>
      </p:sp>
      <p:sp>
        <p:nvSpPr>
          <p:cNvPr id="15" name="ANS_55"/>
          <p:cNvSpPr/>
          <p:nvPr/>
        </p:nvSpPr>
        <p:spPr>
          <a:xfrm>
            <a:off x="7616952" y="32282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56"/>
          <p:cNvSpPr txBox="1"/>
          <p:nvPr/>
        </p:nvSpPr>
        <p:spPr>
          <a:xfrm>
            <a:off x="7818120" y="3131515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左子树 E：L M X C P K E</a:t>
            </a:r>
            <a:endParaRPr lang="en-US" sz="1700" dirty="0"/>
          </a:p>
        </p:txBody>
      </p:sp>
      <p:sp>
        <p:nvSpPr>
          <p:cNvPr id="17" name="ANS_57"/>
          <p:cNvSpPr/>
          <p:nvPr/>
        </p:nvSpPr>
        <p:spPr>
          <a:xfrm>
            <a:off x="7616952" y="370804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58"/>
          <p:cNvSpPr txBox="1"/>
          <p:nvPr/>
        </p:nvSpPr>
        <p:spPr>
          <a:xfrm>
            <a:off x="7818120" y="361127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右子树 D：Q H A D</a:t>
            </a:r>
            <a:endParaRPr lang="en-US" sz="1700" dirty="0"/>
          </a:p>
        </p:txBody>
      </p:sp>
      <p:sp>
        <p:nvSpPr>
          <p:cNvPr id="19" name="ANS_59"/>
          <p:cNvSpPr/>
          <p:nvPr/>
        </p:nvSpPr>
        <p:spPr>
          <a:xfrm>
            <a:off x="7616952" y="418780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0" name="ANS_60"/>
          <p:cNvSpPr txBox="1"/>
          <p:nvPr/>
        </p:nvSpPr>
        <p:spPr>
          <a:xfrm>
            <a:off x="7818120" y="4091026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最后根 B。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Q6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二叉树（上）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中序遍历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写出题 5 二叉树的中序遍历序列（字母间无空格）：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6309360" cy="2151888"/>
          </a:xfrm>
          <a:prstGeom prst="roundRect">
            <a:avLst>
              <a:gd name="adj" fmla="val 339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627376"/>
            <a:ext cx="6035040" cy="2151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/ 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       D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/ \     /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X   K   H   A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/ \ / \  /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  M C  P Q</a:t>
            </a:r>
            <a:endParaRPr lang="en-US" sz="1600" dirty="0"/>
          </a:p>
        </p:txBody>
      </p:sp>
      <p:sp>
        <p:nvSpPr>
          <p:cNvPr id="9" name="ANS_61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62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63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LXMECKPBQHDA</a:t>
            </a:r>
            <a:endParaRPr lang="en-US" sz="3000" dirty="0"/>
          </a:p>
        </p:txBody>
      </p:sp>
      <p:sp>
        <p:nvSpPr>
          <p:cNvPr id="12" name="ANS_64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65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66"/>
          <p:cNvSpPr txBox="1"/>
          <p:nvPr/>
        </p:nvSpPr>
        <p:spPr>
          <a:xfrm>
            <a:off x="7818120" y="265176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中序：左 → 根 → 右。</a:t>
            </a:r>
            <a:endParaRPr lang="en-US" sz="1700" dirty="0"/>
          </a:p>
        </p:txBody>
      </p:sp>
      <p:sp>
        <p:nvSpPr>
          <p:cNvPr id="15" name="ANS_67"/>
          <p:cNvSpPr/>
          <p:nvPr/>
        </p:nvSpPr>
        <p:spPr>
          <a:xfrm>
            <a:off x="7616952" y="32282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68"/>
          <p:cNvSpPr txBox="1"/>
          <p:nvPr/>
        </p:nvSpPr>
        <p:spPr>
          <a:xfrm>
            <a:off x="7818120" y="3131515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左子树 E：L X M E C K P</a:t>
            </a:r>
            <a:endParaRPr lang="en-US" sz="1700" dirty="0"/>
          </a:p>
        </p:txBody>
      </p:sp>
      <p:sp>
        <p:nvSpPr>
          <p:cNvPr id="17" name="ANS_69"/>
          <p:cNvSpPr/>
          <p:nvPr/>
        </p:nvSpPr>
        <p:spPr>
          <a:xfrm>
            <a:off x="7616952" y="370804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70"/>
          <p:cNvSpPr txBox="1"/>
          <p:nvPr/>
        </p:nvSpPr>
        <p:spPr>
          <a:xfrm>
            <a:off x="7818120" y="361127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 B，右子树 D：Q H D A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Q7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二叉树（上）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前序遍历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写出题 5 二叉树的前序遍历序列（字母间无空格）：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6309360" cy="2151888"/>
          </a:xfrm>
          <a:prstGeom prst="roundRect">
            <a:avLst>
              <a:gd name="adj" fmla="val 339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627376"/>
            <a:ext cx="6035040" cy="2151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/ 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       D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/ \     /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X   K   H   A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/ \ / \  /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  M C  P Q</a:t>
            </a:r>
            <a:endParaRPr lang="en-US" sz="1600" dirty="0"/>
          </a:p>
        </p:txBody>
      </p:sp>
      <p:sp>
        <p:nvSpPr>
          <p:cNvPr id="9" name="ANS_71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72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73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BEXLMKCPDHQA</a:t>
            </a:r>
            <a:endParaRPr lang="en-US" sz="3000" dirty="0"/>
          </a:p>
        </p:txBody>
      </p:sp>
      <p:sp>
        <p:nvSpPr>
          <p:cNvPr id="12" name="ANS_74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75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76"/>
          <p:cNvSpPr txBox="1"/>
          <p:nvPr/>
        </p:nvSpPr>
        <p:spPr>
          <a:xfrm>
            <a:off x="7818120" y="265176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前序：根 → 左 → 右。</a:t>
            </a:r>
            <a:endParaRPr lang="en-US" sz="1700" dirty="0"/>
          </a:p>
        </p:txBody>
      </p:sp>
      <p:sp>
        <p:nvSpPr>
          <p:cNvPr id="15" name="ANS_77"/>
          <p:cNvSpPr/>
          <p:nvPr/>
        </p:nvSpPr>
        <p:spPr>
          <a:xfrm>
            <a:off x="7616952" y="32282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78"/>
          <p:cNvSpPr txBox="1"/>
          <p:nvPr/>
        </p:nvSpPr>
        <p:spPr>
          <a:xfrm>
            <a:off x="7818120" y="3131515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B，左子树 E X L M K C P</a:t>
            </a:r>
            <a:endParaRPr lang="en-US" sz="1700" dirty="0"/>
          </a:p>
        </p:txBody>
      </p:sp>
      <p:sp>
        <p:nvSpPr>
          <p:cNvPr id="17" name="ANS_79"/>
          <p:cNvSpPr/>
          <p:nvPr/>
        </p:nvSpPr>
        <p:spPr>
          <a:xfrm>
            <a:off x="7616952" y="370804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80"/>
          <p:cNvSpPr txBox="1"/>
          <p:nvPr/>
        </p:nvSpPr>
        <p:spPr>
          <a:xfrm>
            <a:off x="7818120" y="361127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右子树 D H Q A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Q8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二叉树（上）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 + 后序 → 前序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已知一棵二叉树的中序遍历为 DBGEACF，后序遍历为 DGEBFCA，求其前序遍历序列。</a:t>
            </a:r>
            <a:endParaRPr lang="en-US" sz="2000" dirty="0"/>
          </a:p>
        </p:txBody>
      </p:sp>
      <p:sp>
        <p:nvSpPr>
          <p:cNvPr id="7" name="ANS_81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82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83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ABDEGCF</a:t>
            </a:r>
            <a:endParaRPr lang="en-US" sz="4400" dirty="0"/>
          </a:p>
        </p:txBody>
      </p:sp>
      <p:sp>
        <p:nvSpPr>
          <p:cNvPr id="10" name="ANS_84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85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86"/>
          <p:cNvSpPr txBox="1"/>
          <p:nvPr/>
        </p:nvSpPr>
        <p:spPr>
          <a:xfrm>
            <a:off x="7818120" y="2651760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后序最后一个 A 是根；中序中 A 左边 DBGE 是左子树，右边 CF 是右子树。</a:t>
            </a:r>
            <a:endParaRPr lang="en-US" sz="1700" dirty="0"/>
          </a:p>
        </p:txBody>
      </p:sp>
      <p:sp>
        <p:nvSpPr>
          <p:cNvPr id="13" name="ANS_87"/>
          <p:cNvSpPr/>
          <p:nvPr/>
        </p:nvSpPr>
        <p:spPr>
          <a:xfrm>
            <a:off x="7616952" y="3798265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88"/>
          <p:cNvSpPr txBox="1"/>
          <p:nvPr/>
        </p:nvSpPr>
        <p:spPr>
          <a:xfrm>
            <a:off x="7818120" y="3701491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左子树后序 DGEB → 根 B，左 D，右 GE（后序 GE → 根 E，左孩子 G）。</a:t>
            </a:r>
            <a:endParaRPr lang="en-US" sz="1700" dirty="0"/>
          </a:p>
        </p:txBody>
      </p:sp>
      <p:sp>
        <p:nvSpPr>
          <p:cNvPr id="15" name="ANS_89"/>
          <p:cNvSpPr/>
          <p:nvPr/>
        </p:nvSpPr>
        <p:spPr>
          <a:xfrm>
            <a:off x="7616952" y="484799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90"/>
          <p:cNvSpPr txBox="1"/>
          <p:nvPr/>
        </p:nvSpPr>
        <p:spPr>
          <a:xfrm>
            <a:off x="7818120" y="4751222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右子树后序 FC → 根 C，右孩子 F。</a:t>
            </a:r>
            <a:endParaRPr lang="en-US" sz="1700" dirty="0"/>
          </a:p>
        </p:txBody>
      </p:sp>
      <p:sp>
        <p:nvSpPr>
          <p:cNvPr id="17" name="ANS_91"/>
          <p:cNvSpPr/>
          <p:nvPr/>
        </p:nvSpPr>
        <p:spPr>
          <a:xfrm>
            <a:off x="7616952" y="561274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92"/>
          <p:cNvSpPr txBox="1"/>
          <p:nvPr/>
        </p:nvSpPr>
        <p:spPr>
          <a:xfrm>
            <a:off x="7818120" y="5515966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前序：A B D E G C F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Q9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二叉树（上）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 + 中序 → 后序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已知一棵二叉树的前序遍历为 ABDEGCF，中序遍历为 DBGEACF，求其后序遍历序列。</a:t>
            </a:r>
            <a:endParaRPr lang="en-US" sz="2000" dirty="0"/>
          </a:p>
        </p:txBody>
      </p:sp>
      <p:sp>
        <p:nvSpPr>
          <p:cNvPr id="7" name="ANS_93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94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95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DGEBFCA</a:t>
            </a:r>
            <a:endParaRPr lang="en-US" sz="4400" dirty="0"/>
          </a:p>
        </p:txBody>
      </p:sp>
      <p:sp>
        <p:nvSpPr>
          <p:cNvPr id="10" name="ANS_96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97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98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与上一题是同一棵树：前序第一个 A 为根，中序切分左右子树。</a:t>
            </a:r>
            <a:endParaRPr lang="en-US" sz="1700" dirty="0"/>
          </a:p>
        </p:txBody>
      </p:sp>
      <p:sp>
        <p:nvSpPr>
          <p:cNvPr id="13" name="ANS_99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100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左子树 B（左 D，右 E，E 的左孩子 G）→ 后序 D G E B</a:t>
            </a:r>
            <a:endParaRPr lang="en-US" sz="1700" dirty="0"/>
          </a:p>
        </p:txBody>
      </p:sp>
      <p:sp>
        <p:nvSpPr>
          <p:cNvPr id="15" name="ANS_101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102"/>
          <p:cNvSpPr txBox="1"/>
          <p:nvPr/>
        </p:nvSpPr>
        <p:spPr>
          <a:xfrm>
            <a:off x="7818120" y="4181246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右子树 C（右孩子 F）→ 后序 F C，最后根 A。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Q10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二叉树（上）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度数定理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在一棵非空二叉树中，若度为 0 的结点个数为 n，度为 2 的结点个数为 m，则有 n = ____（不含空格）。</a:t>
            </a:r>
            <a:endParaRPr lang="en-US" sz="2000" dirty="0"/>
          </a:p>
        </p:txBody>
      </p:sp>
      <p:sp>
        <p:nvSpPr>
          <p:cNvPr id="7" name="ANS_103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104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105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m+1</a:t>
            </a:r>
            <a:endParaRPr lang="en-US" sz="4400" dirty="0"/>
          </a:p>
        </p:txBody>
      </p:sp>
      <p:sp>
        <p:nvSpPr>
          <p:cNvPr id="10" name="ANS_106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107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108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结点数 N = n</a:t>
            </a: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n</a:t>
            </a: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n</a:t>
            </a: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，边数 = N − 1。</a:t>
            </a:r>
            <a:endParaRPr lang="en-US" sz="1700" dirty="0"/>
          </a:p>
        </p:txBody>
      </p:sp>
      <p:sp>
        <p:nvSpPr>
          <p:cNvPr id="13" name="ANS_109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110"/>
          <p:cNvSpPr txBox="1"/>
          <p:nvPr/>
        </p:nvSpPr>
        <p:spPr>
          <a:xfrm>
            <a:off x="7818120" y="3416503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边数也等于 n</a:t>
            </a: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+ 2n</a:t>
            </a: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700" dirty="0"/>
          </a:p>
        </p:txBody>
      </p:sp>
      <p:sp>
        <p:nvSpPr>
          <p:cNvPr id="15" name="ANS_111"/>
          <p:cNvSpPr/>
          <p:nvPr/>
        </p:nvSpPr>
        <p:spPr>
          <a:xfrm>
            <a:off x="7616952" y="399303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112"/>
          <p:cNvSpPr txBox="1"/>
          <p:nvPr/>
        </p:nvSpPr>
        <p:spPr>
          <a:xfrm>
            <a:off x="7818120" y="3896258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两式相等得 n</a:t>
            </a: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n</a:t>
            </a: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+ 1，即 n = m + 1。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097280"/>
            <a:ext cx="5029200" cy="5029200"/>
          </a:xfrm>
          <a:prstGeom prst="ellipse">
            <a:avLst/>
          </a:prstGeom>
          <a:solidFill>
            <a:srgbClr val="3E7C68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3931920"/>
            <a:ext cx="2926080" cy="2926080"/>
          </a:xfrm>
          <a:prstGeom prst="ellipse">
            <a:avLst/>
          </a:prstGeom>
          <a:solidFill>
            <a:srgbClr val="F2B134">
              <a:alpha val="3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Chapter 5 · 下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1148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 16 题 · 准备好了吗？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多选题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二叉搜索树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363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下列关于二叉搜索树的说法正确的有：</a:t>
            </a:r>
            <a:endParaRPr lang="en-US" sz="1840" dirty="0"/>
          </a:p>
        </p:txBody>
      </p:sp>
      <p:sp>
        <p:nvSpPr>
          <p:cNvPr id="7" name="Shape 5"/>
          <p:cNvSpPr/>
          <p:nvPr/>
        </p:nvSpPr>
        <p:spPr>
          <a:xfrm>
            <a:off x="548640" y="2299655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29965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244791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按中序遍历打印各结点，得到由小到大的排列。</a:t>
            </a:r>
            <a:endParaRPr lang="en-US" sz="1840" dirty="0"/>
          </a:p>
        </p:txBody>
      </p:sp>
      <p:sp>
        <p:nvSpPr>
          <p:cNvPr id="10" name="Shape 8"/>
          <p:cNvSpPr/>
          <p:nvPr/>
        </p:nvSpPr>
        <p:spPr>
          <a:xfrm>
            <a:off x="548640" y="3018495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01849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856342"/>
            <a:ext cx="5760720" cy="708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若结点 x 的左子树有右子树，则 x 的左子树中存在某个结点，其值介于 x 与 x 左儿子的值之间。</a:t>
            </a:r>
            <a:endParaRPr lang="en-US" sz="1840" dirty="0"/>
          </a:p>
        </p:txBody>
      </p:sp>
      <p:sp>
        <p:nvSpPr>
          <p:cNvPr id="13" name="Shape 11"/>
          <p:cNvSpPr/>
          <p:nvPr/>
        </p:nvSpPr>
        <p:spPr>
          <a:xfrm>
            <a:off x="548640" y="3844625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4462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682472"/>
            <a:ext cx="5760720" cy="708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当根结点没有左儿子时，根结点一定是值最小的结点。</a:t>
            </a:r>
            <a:endParaRPr lang="en-US" sz="1840" dirty="0"/>
          </a:p>
        </p:txBody>
      </p:sp>
      <p:sp>
        <p:nvSpPr>
          <p:cNvPr id="16" name="Shape 14"/>
          <p:cNvSpPr/>
          <p:nvPr/>
        </p:nvSpPr>
        <p:spPr>
          <a:xfrm>
            <a:off x="548640" y="456346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56346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508602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二叉搜索树一定是满二叉树。</a:t>
            </a:r>
            <a:endParaRPr lang="en-US" sz="1840" dirty="0"/>
          </a:p>
        </p:txBody>
      </p:sp>
      <p:sp>
        <p:nvSpPr>
          <p:cNvPr id="19" name="Shape 17"/>
          <p:cNvSpPr/>
          <p:nvPr/>
        </p:nvSpPr>
        <p:spPr>
          <a:xfrm>
            <a:off x="548640" y="517501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5175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5120152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二叉搜索树一定是完全二叉树。</a:t>
            </a:r>
            <a:endParaRPr lang="en-US" sz="1840" dirty="0"/>
          </a:p>
        </p:txBody>
      </p:sp>
      <p:sp>
        <p:nvSpPr>
          <p:cNvPr id="22" name="Shape 20"/>
          <p:cNvSpPr/>
          <p:nvPr/>
        </p:nvSpPr>
        <p:spPr>
          <a:xfrm>
            <a:off x="548640" y="5893857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589385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5731703"/>
            <a:ext cx="5760720" cy="708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从根一直沿右儿子向下找，不一定能找到值最大的结点。</a:t>
            </a:r>
            <a:endParaRPr lang="en-US" sz="1840" dirty="0"/>
          </a:p>
        </p:txBody>
      </p:sp>
      <p:sp>
        <p:nvSpPr>
          <p:cNvPr id="25" name="ANS_113"/>
          <p:cNvSpPr/>
          <p:nvPr/>
        </p:nvSpPr>
        <p:spPr>
          <a:xfrm>
            <a:off x="457200" y="2208215"/>
            <a:ext cx="6492240" cy="566928"/>
          </a:xfrm>
          <a:prstGeom prst="roundRect">
            <a:avLst>
              <a:gd name="adj" fmla="val 16129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6" name="ANS_114"/>
          <p:cNvSpPr/>
          <p:nvPr/>
        </p:nvSpPr>
        <p:spPr>
          <a:xfrm>
            <a:off x="457200" y="2819766"/>
            <a:ext cx="6492240" cy="781507"/>
          </a:xfrm>
          <a:prstGeom prst="roundRect">
            <a:avLst>
              <a:gd name="adj" fmla="val 11700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7" name="ANS_115"/>
          <p:cNvSpPr/>
          <p:nvPr/>
        </p:nvSpPr>
        <p:spPr>
          <a:xfrm>
            <a:off x="457200" y="3645896"/>
            <a:ext cx="6492240" cy="781507"/>
          </a:xfrm>
          <a:prstGeom prst="roundRect">
            <a:avLst>
              <a:gd name="adj" fmla="val 11700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8" name="ANS_116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9" name="ANS_117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30" name="ANS_118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A、B、C</a:t>
            </a:r>
            <a:endParaRPr lang="en-US" sz="4400" dirty="0"/>
          </a:p>
        </p:txBody>
      </p:sp>
      <p:sp>
        <p:nvSpPr>
          <p:cNvPr id="31" name="ANS_119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32" name="ANS_120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3" name="ANS_121"/>
          <p:cNvSpPr txBox="1"/>
          <p:nvPr/>
        </p:nvSpPr>
        <p:spPr>
          <a:xfrm>
            <a:off x="7818120" y="265176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✓ BST 的中序序列递增。</a:t>
            </a:r>
            <a:endParaRPr lang="en-US" sz="1700" dirty="0"/>
          </a:p>
        </p:txBody>
      </p:sp>
      <p:sp>
        <p:nvSpPr>
          <p:cNvPr id="34" name="ANS_122"/>
          <p:cNvSpPr/>
          <p:nvPr/>
        </p:nvSpPr>
        <p:spPr>
          <a:xfrm>
            <a:off x="7616952" y="32282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5" name="ANS_123"/>
          <p:cNvSpPr txBox="1"/>
          <p:nvPr/>
        </p:nvSpPr>
        <p:spPr>
          <a:xfrm>
            <a:off x="7818120" y="3131515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✓ x 左儿子的右子树里的值，都大于左儿子、小于 x。</a:t>
            </a:r>
            <a:endParaRPr lang="en-US" sz="1700" dirty="0"/>
          </a:p>
        </p:txBody>
      </p:sp>
      <p:sp>
        <p:nvSpPr>
          <p:cNvPr id="36" name="ANS_124"/>
          <p:cNvSpPr/>
          <p:nvPr/>
        </p:nvSpPr>
        <p:spPr>
          <a:xfrm>
            <a:off x="7616952" y="399303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7" name="ANS_125"/>
          <p:cNvSpPr txBox="1"/>
          <p:nvPr/>
        </p:nvSpPr>
        <p:spPr>
          <a:xfrm>
            <a:off x="7818120" y="3896258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✓ 比根小的值都在左子树，左子树空则根最小。</a:t>
            </a:r>
            <a:endParaRPr lang="en-US" sz="1700" dirty="0"/>
          </a:p>
        </p:txBody>
      </p:sp>
      <p:sp>
        <p:nvSpPr>
          <p:cNvPr id="38" name="ANS_126"/>
          <p:cNvSpPr/>
          <p:nvPr/>
        </p:nvSpPr>
        <p:spPr>
          <a:xfrm>
            <a:off x="7616952" y="475777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9" name="ANS_127"/>
          <p:cNvSpPr txBox="1"/>
          <p:nvPr/>
        </p:nvSpPr>
        <p:spPr>
          <a:xfrm>
            <a:off x="7818120" y="4661002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D、E ✗ BST 形状任意；F ✗ 最右结点一定最大。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多选题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363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下列关于堆的说法正确的有：</a:t>
            </a:r>
            <a:endParaRPr lang="en-US" sz="1840" dirty="0"/>
          </a:p>
        </p:txBody>
      </p:sp>
      <p:sp>
        <p:nvSpPr>
          <p:cNvPr id="7" name="Shape 5"/>
          <p:cNvSpPr/>
          <p:nvPr/>
        </p:nvSpPr>
        <p:spPr>
          <a:xfrm>
            <a:off x="548640" y="2299655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29965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244791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堆一定是满二叉树。</a:t>
            </a:r>
            <a:endParaRPr lang="en-US" sz="1840" dirty="0"/>
          </a:p>
        </p:txBody>
      </p:sp>
      <p:sp>
        <p:nvSpPr>
          <p:cNvPr id="10" name="Shape 8"/>
          <p:cNvSpPr/>
          <p:nvPr/>
        </p:nvSpPr>
        <p:spPr>
          <a:xfrm>
            <a:off x="548640" y="3018495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01849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856342"/>
            <a:ext cx="5760720" cy="708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最小堆中，最下面一层最靠右的结点一定是权值最大的结点。</a:t>
            </a:r>
            <a:endParaRPr lang="en-US" sz="1840" dirty="0"/>
          </a:p>
        </p:txBody>
      </p:sp>
      <p:sp>
        <p:nvSpPr>
          <p:cNvPr id="13" name="Shape 11"/>
          <p:cNvSpPr/>
          <p:nvPr/>
        </p:nvSpPr>
        <p:spPr>
          <a:xfrm>
            <a:off x="548640" y="373733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737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682472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堆是实现优先队列的唯一方法。</a:t>
            </a:r>
            <a:endParaRPr lang="en-US" sz="1840" dirty="0"/>
          </a:p>
        </p:txBody>
      </p:sp>
      <p:sp>
        <p:nvSpPr>
          <p:cNvPr id="16" name="Shape 14"/>
          <p:cNvSpPr/>
          <p:nvPr/>
        </p:nvSpPr>
        <p:spPr>
          <a:xfrm>
            <a:off x="548640" y="434888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34888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294022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堆一定是完全二叉树。</a:t>
            </a:r>
            <a:endParaRPr lang="en-US" sz="1840" dirty="0"/>
          </a:p>
        </p:txBody>
      </p:sp>
      <p:sp>
        <p:nvSpPr>
          <p:cNvPr id="19" name="Shape 17"/>
          <p:cNvSpPr/>
          <p:nvPr/>
        </p:nvSpPr>
        <p:spPr>
          <a:xfrm>
            <a:off x="548640" y="5067727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506772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4905573"/>
            <a:ext cx="5760720" cy="708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最小堆中，某个结点左子树中最大的结点可能比右子树中最小的结点小。</a:t>
            </a:r>
            <a:endParaRPr lang="en-US" sz="1840" dirty="0"/>
          </a:p>
        </p:txBody>
      </p:sp>
      <p:sp>
        <p:nvSpPr>
          <p:cNvPr id="22" name="Shape 20"/>
          <p:cNvSpPr/>
          <p:nvPr/>
        </p:nvSpPr>
        <p:spPr>
          <a:xfrm>
            <a:off x="548640" y="5893857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589385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5731703"/>
            <a:ext cx="5760720" cy="708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使用筛选法建堆要比将元素一个一个插入堆来建堆效率高。</a:t>
            </a:r>
            <a:endParaRPr lang="en-US" sz="1840" dirty="0"/>
          </a:p>
        </p:txBody>
      </p:sp>
      <p:sp>
        <p:nvSpPr>
          <p:cNvPr id="25" name="ANS_128"/>
          <p:cNvSpPr/>
          <p:nvPr/>
        </p:nvSpPr>
        <p:spPr>
          <a:xfrm>
            <a:off x="457200" y="4257446"/>
            <a:ext cx="6492240" cy="566928"/>
          </a:xfrm>
          <a:prstGeom prst="roundRect">
            <a:avLst>
              <a:gd name="adj" fmla="val 16129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6" name="ANS_129"/>
          <p:cNvSpPr/>
          <p:nvPr/>
        </p:nvSpPr>
        <p:spPr>
          <a:xfrm>
            <a:off x="457200" y="4868997"/>
            <a:ext cx="6492240" cy="781507"/>
          </a:xfrm>
          <a:prstGeom prst="roundRect">
            <a:avLst>
              <a:gd name="adj" fmla="val 11700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7" name="ANS_130"/>
          <p:cNvSpPr/>
          <p:nvPr/>
        </p:nvSpPr>
        <p:spPr>
          <a:xfrm>
            <a:off x="457200" y="5695127"/>
            <a:ext cx="6492240" cy="781507"/>
          </a:xfrm>
          <a:prstGeom prst="roundRect">
            <a:avLst>
              <a:gd name="adj" fmla="val 11700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8" name="ANS_131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9" name="ANS_132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30" name="ANS_133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D、E、F</a:t>
            </a:r>
            <a:endParaRPr lang="en-US" sz="4400" dirty="0"/>
          </a:p>
        </p:txBody>
      </p:sp>
      <p:sp>
        <p:nvSpPr>
          <p:cNvPr id="31" name="ANS_134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32" name="ANS_135"/>
          <p:cNvSpPr/>
          <p:nvPr/>
        </p:nvSpPr>
        <p:spPr>
          <a:xfrm>
            <a:off x="7616952" y="274015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3" name="ANS_136"/>
          <p:cNvSpPr txBox="1"/>
          <p:nvPr/>
        </p:nvSpPr>
        <p:spPr>
          <a:xfrm>
            <a:off x="7818120" y="2651760"/>
            <a:ext cx="352044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✓ 堆是完全二叉树，A ✗ 不一定满。</a:t>
            </a:r>
            <a:endParaRPr lang="en-US" sz="1600" dirty="0"/>
          </a:p>
        </p:txBody>
      </p:sp>
      <p:sp>
        <p:nvSpPr>
          <p:cNvPr id="34" name="ANS_137"/>
          <p:cNvSpPr/>
          <p:nvPr/>
        </p:nvSpPr>
        <p:spPr>
          <a:xfrm>
            <a:off x="7616952" y="346313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5" name="ANS_138"/>
          <p:cNvSpPr txBox="1"/>
          <p:nvPr/>
        </p:nvSpPr>
        <p:spPr>
          <a:xfrm>
            <a:off x="7818120" y="3374746"/>
            <a:ext cx="352044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✗ 堆只约束父子，最大值可以在任意一个叶子。</a:t>
            </a:r>
            <a:endParaRPr lang="en-US" sz="1600" dirty="0"/>
          </a:p>
        </p:txBody>
      </p:sp>
      <p:sp>
        <p:nvSpPr>
          <p:cNvPr id="36" name="ANS_139"/>
          <p:cNvSpPr/>
          <p:nvPr/>
        </p:nvSpPr>
        <p:spPr>
          <a:xfrm>
            <a:off x="7616952" y="4186123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7" name="ANS_140"/>
          <p:cNvSpPr txBox="1"/>
          <p:nvPr/>
        </p:nvSpPr>
        <p:spPr>
          <a:xfrm>
            <a:off x="7818120" y="4097731"/>
            <a:ext cx="352044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✗ 也可以用有序表、BST 等实现优先队列。</a:t>
            </a:r>
            <a:endParaRPr lang="en-US" sz="1600" dirty="0"/>
          </a:p>
        </p:txBody>
      </p:sp>
      <p:sp>
        <p:nvSpPr>
          <p:cNvPr id="38" name="ANS_141"/>
          <p:cNvSpPr/>
          <p:nvPr/>
        </p:nvSpPr>
        <p:spPr>
          <a:xfrm>
            <a:off x="7616952" y="490910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9" name="ANS_142"/>
          <p:cNvSpPr txBox="1"/>
          <p:nvPr/>
        </p:nvSpPr>
        <p:spPr>
          <a:xfrm>
            <a:off x="7818120" y="4820717"/>
            <a:ext cx="3520440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 ✓ 左右子树之间没有大小约束。</a:t>
            </a:r>
            <a:endParaRPr lang="en-US" sz="1600" dirty="0"/>
          </a:p>
        </p:txBody>
      </p:sp>
      <p:sp>
        <p:nvSpPr>
          <p:cNvPr id="40" name="ANS_143"/>
          <p:cNvSpPr/>
          <p:nvPr/>
        </p:nvSpPr>
        <p:spPr>
          <a:xfrm>
            <a:off x="7616952" y="536387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41" name="ANS_144"/>
          <p:cNvSpPr txBox="1"/>
          <p:nvPr/>
        </p:nvSpPr>
        <p:spPr>
          <a:xfrm>
            <a:off x="7818120" y="5275478"/>
            <a:ext cx="352044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 ✓ 筛选法 O(n)，逐个插入 O(n log n)。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多选题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编码的前缀性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一组权值各不相同的字母已构造好 Huffman 编码。若某字母的编码为 001，下列说法正确的是：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70052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700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627376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 001 开头的编码不可能对应其他字母。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35889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358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285744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 000 开头的编码不可能对应任何字母。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413308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944112"/>
            <a:ext cx="57607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 01 开头和以 1 开头的编码肯定对应某个字母。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4907280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907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834128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建好的 Huffman 树至少包含 4 个叶结点。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556564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556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5492496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编码 0 和 00 可能对应于其他字母。</a:t>
            </a:r>
            <a:endParaRPr lang="en-US" sz="2000" dirty="0"/>
          </a:p>
        </p:txBody>
      </p:sp>
      <p:sp>
        <p:nvSpPr>
          <p:cNvPr id="22" name="ANS_145"/>
          <p:cNvSpPr/>
          <p:nvPr/>
        </p:nvSpPr>
        <p:spPr>
          <a:xfrm>
            <a:off x="457200" y="2590800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3" name="ANS_146"/>
          <p:cNvSpPr/>
          <p:nvPr/>
        </p:nvSpPr>
        <p:spPr>
          <a:xfrm>
            <a:off x="457200" y="3907536"/>
            <a:ext cx="6492240" cy="835152"/>
          </a:xfrm>
          <a:prstGeom prst="roundRect">
            <a:avLst>
              <a:gd name="adj" fmla="val 10949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4" name="ANS_147"/>
          <p:cNvSpPr/>
          <p:nvPr/>
        </p:nvSpPr>
        <p:spPr>
          <a:xfrm>
            <a:off x="457200" y="4797552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5" name="ANS_148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6" name="ANS_149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7" name="ANS_150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A、C、D</a:t>
            </a:r>
            <a:endParaRPr lang="en-US" sz="4400" dirty="0"/>
          </a:p>
        </p:txBody>
      </p:sp>
      <p:sp>
        <p:nvSpPr>
          <p:cNvPr id="28" name="ANS_151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9" name="ANS_152"/>
          <p:cNvSpPr/>
          <p:nvPr/>
        </p:nvSpPr>
        <p:spPr>
          <a:xfrm>
            <a:off x="7616952" y="274015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0" name="ANS_153"/>
          <p:cNvSpPr txBox="1"/>
          <p:nvPr/>
        </p:nvSpPr>
        <p:spPr>
          <a:xfrm>
            <a:off x="7818120" y="2651760"/>
            <a:ext cx="352044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树中内部结点都有两个孩子（满二叉树）。</a:t>
            </a:r>
            <a:endParaRPr lang="en-US" sz="1600" dirty="0"/>
          </a:p>
        </p:txBody>
      </p:sp>
      <p:sp>
        <p:nvSpPr>
          <p:cNvPr id="31" name="ANS_154"/>
          <p:cNvSpPr/>
          <p:nvPr/>
        </p:nvSpPr>
        <p:spPr>
          <a:xfrm>
            <a:off x="7616952" y="346313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2" name="ANS_155"/>
          <p:cNvSpPr txBox="1"/>
          <p:nvPr/>
        </p:nvSpPr>
        <p:spPr>
          <a:xfrm>
            <a:off x="7818120" y="3374746"/>
            <a:ext cx="3520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001 是叶子，所以 00 有兄弟 000，0 有兄弟 1，00 有兄弟 01，各子树下都有叶子（B ✗，C ✓）。</a:t>
            </a:r>
            <a:endParaRPr lang="en-US" sz="1600" dirty="0"/>
          </a:p>
        </p:txBody>
      </p:sp>
      <p:sp>
        <p:nvSpPr>
          <p:cNvPr id="33" name="ANS_156"/>
          <p:cNvSpPr/>
          <p:nvPr/>
        </p:nvSpPr>
        <p:spPr>
          <a:xfrm>
            <a:off x="7616952" y="445434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4" name="ANS_157"/>
          <p:cNvSpPr txBox="1"/>
          <p:nvPr/>
        </p:nvSpPr>
        <p:spPr>
          <a:xfrm>
            <a:off x="7818120" y="4365955"/>
            <a:ext cx="352044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000、001、01、1 下至少各一个叶子 → 至少 4 个叶子（D ✓）。</a:t>
            </a:r>
            <a:endParaRPr lang="en-US" sz="1600" dirty="0"/>
          </a:p>
        </p:txBody>
      </p:sp>
      <p:sp>
        <p:nvSpPr>
          <p:cNvPr id="35" name="ANS_158"/>
          <p:cNvSpPr/>
          <p:nvPr/>
        </p:nvSpPr>
        <p:spPr>
          <a:xfrm>
            <a:off x="7616952" y="5177333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6" name="ANS_159"/>
          <p:cNvSpPr txBox="1"/>
          <p:nvPr/>
        </p:nvSpPr>
        <p:spPr>
          <a:xfrm>
            <a:off x="7818120" y="5088941"/>
            <a:ext cx="3520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前缀码：001 不是别的编码的前缀（A ✓）；0、00 是内部结点（E ✗）。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多选题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树与编码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6717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下列关于 Huffman 树和 Huffman 编码的说法正确的有：</a:t>
            </a:r>
            <a:endParaRPr lang="en-US" sz="1840" dirty="0"/>
          </a:p>
        </p:txBody>
      </p:sp>
      <p:sp>
        <p:nvSpPr>
          <p:cNvPr id="7" name="Shape 5"/>
          <p:cNvSpPr/>
          <p:nvPr/>
        </p:nvSpPr>
        <p:spPr>
          <a:xfrm>
            <a:off x="548640" y="2608113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60811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553249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树一定是满二叉树。</a:t>
            </a:r>
            <a:endParaRPr lang="en-US" sz="1840" dirty="0"/>
          </a:p>
        </p:txBody>
      </p:sp>
      <p:sp>
        <p:nvSpPr>
          <p:cNvPr id="10" name="Shape 8"/>
          <p:cNvSpPr/>
          <p:nvPr/>
        </p:nvSpPr>
        <p:spPr>
          <a:xfrm>
            <a:off x="548640" y="3219663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21966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164799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编码是一种前缀编码。</a:t>
            </a:r>
            <a:endParaRPr lang="en-US" sz="1840" dirty="0"/>
          </a:p>
        </p:txBody>
      </p:sp>
      <p:sp>
        <p:nvSpPr>
          <p:cNvPr id="13" name="Shape 11"/>
          <p:cNvSpPr/>
          <p:nvPr/>
        </p:nvSpPr>
        <p:spPr>
          <a:xfrm>
            <a:off x="548640" y="383121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21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776350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树一定是完全二叉树。</a:t>
            </a:r>
            <a:endParaRPr lang="en-US" sz="1840" dirty="0"/>
          </a:p>
        </p:txBody>
      </p:sp>
      <p:sp>
        <p:nvSpPr>
          <p:cNvPr id="16" name="Shape 14"/>
          <p:cNvSpPr/>
          <p:nvPr/>
        </p:nvSpPr>
        <p:spPr>
          <a:xfrm>
            <a:off x="548640" y="4442765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44276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387901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编码中所有编码都是等长的。</a:t>
            </a:r>
            <a:endParaRPr lang="en-US" sz="1840" dirty="0"/>
          </a:p>
        </p:txBody>
      </p:sp>
      <p:sp>
        <p:nvSpPr>
          <p:cNvPr id="19" name="Shape 17"/>
          <p:cNvSpPr/>
          <p:nvPr/>
        </p:nvSpPr>
        <p:spPr>
          <a:xfrm>
            <a:off x="548640" y="5161605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516160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4999452"/>
            <a:ext cx="5760720" cy="708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对于同样一组两两不同的权值，可以得到不同的 Huffman 编码方案。</a:t>
            </a:r>
            <a:endParaRPr lang="en-US" sz="1840" dirty="0"/>
          </a:p>
        </p:txBody>
      </p:sp>
      <p:sp>
        <p:nvSpPr>
          <p:cNvPr id="22" name="Shape 20"/>
          <p:cNvSpPr/>
          <p:nvPr/>
        </p:nvSpPr>
        <p:spPr>
          <a:xfrm>
            <a:off x="548640" y="5880445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588044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5825581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使用频率越高的字母，Huffman 编码越长。</a:t>
            </a:r>
            <a:endParaRPr lang="en-US" sz="1840" dirty="0"/>
          </a:p>
        </p:txBody>
      </p:sp>
      <p:sp>
        <p:nvSpPr>
          <p:cNvPr id="25" name="ANS_160"/>
          <p:cNvSpPr/>
          <p:nvPr/>
        </p:nvSpPr>
        <p:spPr>
          <a:xfrm>
            <a:off x="457200" y="2516673"/>
            <a:ext cx="6492240" cy="566928"/>
          </a:xfrm>
          <a:prstGeom prst="roundRect">
            <a:avLst>
              <a:gd name="adj" fmla="val 16129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6" name="ANS_161"/>
          <p:cNvSpPr/>
          <p:nvPr/>
        </p:nvSpPr>
        <p:spPr>
          <a:xfrm>
            <a:off x="457200" y="3128223"/>
            <a:ext cx="6492240" cy="566928"/>
          </a:xfrm>
          <a:prstGeom prst="roundRect">
            <a:avLst>
              <a:gd name="adj" fmla="val 16129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7" name="ANS_162"/>
          <p:cNvSpPr/>
          <p:nvPr/>
        </p:nvSpPr>
        <p:spPr>
          <a:xfrm>
            <a:off x="457200" y="4962876"/>
            <a:ext cx="6492240" cy="781507"/>
          </a:xfrm>
          <a:prstGeom prst="roundRect">
            <a:avLst>
              <a:gd name="adj" fmla="val 11700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8" name="ANS_163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9" name="ANS_164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30" name="ANS_165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A、B、E</a:t>
            </a:r>
            <a:endParaRPr lang="en-US" sz="4400" dirty="0"/>
          </a:p>
        </p:txBody>
      </p:sp>
      <p:sp>
        <p:nvSpPr>
          <p:cNvPr id="31" name="ANS_166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32" name="ANS_167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3" name="ANS_168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✓ 每次合并两棵树，内部结点度都为 2；C ✗ 不一定完全。</a:t>
            </a:r>
            <a:endParaRPr lang="en-US" sz="1700" dirty="0"/>
          </a:p>
        </p:txBody>
      </p:sp>
      <p:sp>
        <p:nvSpPr>
          <p:cNvPr id="34" name="ANS_169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5" name="ANS_170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✓ 字母都在叶子上，编码互不为前缀。</a:t>
            </a:r>
            <a:endParaRPr lang="en-US" sz="1700" dirty="0"/>
          </a:p>
        </p:txBody>
      </p:sp>
      <p:sp>
        <p:nvSpPr>
          <p:cNvPr id="36" name="ANS_171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7" name="ANS_172"/>
          <p:cNvSpPr txBox="1"/>
          <p:nvPr/>
        </p:nvSpPr>
        <p:spPr>
          <a:xfrm>
            <a:off x="7818120" y="4181246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 ✓ 左右孩子标 0/1 可以互换，编码不同而总长相同。</a:t>
            </a:r>
            <a:endParaRPr lang="en-US" sz="1700" dirty="0"/>
          </a:p>
        </p:txBody>
      </p:sp>
      <p:sp>
        <p:nvSpPr>
          <p:cNvPr id="38" name="ANS_173"/>
          <p:cNvSpPr/>
          <p:nvPr/>
        </p:nvSpPr>
        <p:spPr>
          <a:xfrm>
            <a:off x="7616952" y="504276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9" name="ANS_174"/>
          <p:cNvSpPr txBox="1"/>
          <p:nvPr/>
        </p:nvSpPr>
        <p:spPr>
          <a:xfrm>
            <a:off x="7818120" y="494599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✗ 变长编码；F ✗ 频率越高编码越短。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Q5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删除堆顶后的后序遍历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对于下面的最大堆，删除最大元素后，堆的后序遍历结果是（数字间用空格隔开）：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6309360" cy="2151888"/>
          </a:xfrm>
          <a:prstGeom prst="roundRect">
            <a:avLst>
              <a:gd name="adj" fmla="val 339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627376"/>
            <a:ext cx="6035040" cy="2151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65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/    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43        59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/  \      /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24    37   48    57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/ \   / \   /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12 23 28  5 3</a:t>
            </a:r>
            <a:endParaRPr lang="en-US" sz="1600" dirty="0"/>
          </a:p>
        </p:txBody>
      </p:sp>
      <p:sp>
        <p:nvSpPr>
          <p:cNvPr id="9" name="ANS_175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176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177"/>
          <p:cNvSpPr txBox="1"/>
          <p:nvPr/>
        </p:nvSpPr>
        <p:spPr>
          <a:xfrm>
            <a:off x="7589520" y="1097280"/>
            <a:ext cx="3749040" cy="926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12 23 24 28 5 37 43 48 3 57 59</a:t>
            </a:r>
            <a:endParaRPr lang="en-US" sz="2600" dirty="0"/>
          </a:p>
        </p:txBody>
      </p:sp>
      <p:sp>
        <p:nvSpPr>
          <p:cNvPr id="12" name="ANS_178"/>
          <p:cNvSpPr txBox="1"/>
          <p:nvPr/>
        </p:nvSpPr>
        <p:spPr>
          <a:xfrm>
            <a:off x="7589520" y="2252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179"/>
          <p:cNvSpPr/>
          <p:nvPr/>
        </p:nvSpPr>
        <p:spPr>
          <a:xfrm>
            <a:off x="7616952" y="280644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180"/>
          <p:cNvSpPr txBox="1"/>
          <p:nvPr/>
        </p:nvSpPr>
        <p:spPr>
          <a:xfrm>
            <a:off x="7818120" y="2709672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 65，把堆尾 3 移到堆顶。</a:t>
            </a:r>
            <a:endParaRPr lang="en-US" sz="1700" dirty="0"/>
          </a:p>
        </p:txBody>
      </p:sp>
      <p:sp>
        <p:nvSpPr>
          <p:cNvPr id="15" name="ANS_181"/>
          <p:cNvSpPr/>
          <p:nvPr/>
        </p:nvSpPr>
        <p:spPr>
          <a:xfrm>
            <a:off x="7616952" y="3286201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182"/>
          <p:cNvSpPr txBox="1"/>
          <p:nvPr/>
        </p:nvSpPr>
        <p:spPr>
          <a:xfrm>
            <a:off x="7818120" y="3189427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下沉：与较大孩子 59 交换，再与较大孩子 57 交换，落在叶子。</a:t>
            </a:r>
            <a:endParaRPr lang="en-US" sz="1700" dirty="0"/>
          </a:p>
        </p:txBody>
      </p:sp>
      <p:sp>
        <p:nvSpPr>
          <p:cNvPr id="17" name="ANS_183"/>
          <p:cNvSpPr/>
          <p:nvPr/>
        </p:nvSpPr>
        <p:spPr>
          <a:xfrm>
            <a:off x="7616952" y="405094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184"/>
          <p:cNvSpPr txBox="1"/>
          <p:nvPr/>
        </p:nvSpPr>
        <p:spPr>
          <a:xfrm>
            <a:off x="7818120" y="395417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新堆：59；43、57；24、37、48、3；12、23、28、5</a:t>
            </a:r>
            <a:endParaRPr lang="en-US" sz="1700" dirty="0"/>
          </a:p>
        </p:txBody>
      </p:sp>
      <p:sp>
        <p:nvSpPr>
          <p:cNvPr id="19" name="ANS_185"/>
          <p:cNvSpPr/>
          <p:nvPr/>
        </p:nvSpPr>
        <p:spPr>
          <a:xfrm>
            <a:off x="7616952" y="481568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0" name="ANS_186"/>
          <p:cNvSpPr txBox="1"/>
          <p:nvPr/>
        </p:nvSpPr>
        <p:spPr>
          <a:xfrm>
            <a:off x="7818120" y="4718914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后序：左 → 右 → 根。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Q6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删除堆顶后的前序遍历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对于题 5 的最大堆，删除最大元素后，堆的前序遍历结果是（数字间用空格隔开）：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6309360" cy="2151888"/>
          </a:xfrm>
          <a:prstGeom prst="roundRect">
            <a:avLst>
              <a:gd name="adj" fmla="val 339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627376"/>
            <a:ext cx="6035040" cy="2151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65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/    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43        59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/  \      /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24    37   48    57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/ \   / \   /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12 23 28  5 3</a:t>
            </a:r>
            <a:endParaRPr lang="en-US" sz="1600" dirty="0"/>
          </a:p>
        </p:txBody>
      </p:sp>
      <p:sp>
        <p:nvSpPr>
          <p:cNvPr id="9" name="ANS_187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188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189"/>
          <p:cNvSpPr txBox="1"/>
          <p:nvPr/>
        </p:nvSpPr>
        <p:spPr>
          <a:xfrm>
            <a:off x="7589520" y="1097280"/>
            <a:ext cx="3749040" cy="926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59 43 24 12 23 37 28 5 57 48 3</a:t>
            </a:r>
            <a:endParaRPr lang="en-US" sz="2600" dirty="0"/>
          </a:p>
        </p:txBody>
      </p:sp>
      <p:sp>
        <p:nvSpPr>
          <p:cNvPr id="12" name="ANS_190"/>
          <p:cNvSpPr txBox="1"/>
          <p:nvPr/>
        </p:nvSpPr>
        <p:spPr>
          <a:xfrm>
            <a:off x="7589520" y="2252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191"/>
          <p:cNvSpPr/>
          <p:nvPr/>
        </p:nvSpPr>
        <p:spPr>
          <a:xfrm>
            <a:off x="7616952" y="280644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192"/>
          <p:cNvSpPr txBox="1"/>
          <p:nvPr/>
        </p:nvSpPr>
        <p:spPr>
          <a:xfrm>
            <a:off x="7818120" y="2709672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调整后的堆同上题（根为 59）。</a:t>
            </a:r>
            <a:endParaRPr lang="en-US" sz="1700" dirty="0"/>
          </a:p>
        </p:txBody>
      </p:sp>
      <p:sp>
        <p:nvSpPr>
          <p:cNvPr id="15" name="ANS_193"/>
          <p:cNvSpPr/>
          <p:nvPr/>
        </p:nvSpPr>
        <p:spPr>
          <a:xfrm>
            <a:off x="7616952" y="3286201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194"/>
          <p:cNvSpPr txBox="1"/>
          <p:nvPr/>
        </p:nvSpPr>
        <p:spPr>
          <a:xfrm>
            <a:off x="7818120" y="3189427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前序：根 → 左 → 右。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Q7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筛选法建最小堆的交换次数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对关键码序列 {38, 64, 52, 15, 73, 40, 48, 55, 26, 12} 用筛选法建最小值堆，若一旦发现逆序对就进行交换，共需要交换元素多少次？</a:t>
            </a:r>
            <a:endParaRPr lang="en-US" sz="2000" dirty="0"/>
          </a:p>
        </p:txBody>
      </p:sp>
      <p:sp>
        <p:nvSpPr>
          <p:cNvPr id="7" name="ANS_195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196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197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4400" dirty="0"/>
          </a:p>
        </p:txBody>
      </p:sp>
      <p:sp>
        <p:nvSpPr>
          <p:cNvPr id="10" name="ANS_198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199"/>
          <p:cNvSpPr/>
          <p:nvPr/>
        </p:nvSpPr>
        <p:spPr>
          <a:xfrm>
            <a:off x="7616952" y="274015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200"/>
          <p:cNvSpPr txBox="1"/>
          <p:nvPr/>
        </p:nvSpPr>
        <p:spPr>
          <a:xfrm>
            <a:off x="7818120" y="2651760"/>
            <a:ext cx="352044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从最后一个分支结点（第 5 个）往前逐个下沉。</a:t>
            </a:r>
            <a:endParaRPr lang="en-US" sz="1600" dirty="0"/>
          </a:p>
        </p:txBody>
      </p:sp>
      <p:sp>
        <p:nvSpPr>
          <p:cNvPr id="13" name="ANS_201"/>
          <p:cNvSpPr/>
          <p:nvPr/>
        </p:nvSpPr>
        <p:spPr>
          <a:xfrm>
            <a:off x="7616952" y="346313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202"/>
          <p:cNvSpPr txBox="1"/>
          <p:nvPr/>
        </p:nvSpPr>
        <p:spPr>
          <a:xfrm>
            <a:off x="7818120" y="3374746"/>
            <a:ext cx="352044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73 与 12 交换：1 次；15 不动：0 次</a:t>
            </a:r>
            <a:endParaRPr lang="en-US" sz="1600" dirty="0"/>
          </a:p>
        </p:txBody>
      </p:sp>
      <p:sp>
        <p:nvSpPr>
          <p:cNvPr id="15" name="ANS_203"/>
          <p:cNvSpPr/>
          <p:nvPr/>
        </p:nvSpPr>
        <p:spPr>
          <a:xfrm>
            <a:off x="7616952" y="4186123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204"/>
          <p:cNvSpPr txBox="1"/>
          <p:nvPr/>
        </p:nvSpPr>
        <p:spPr>
          <a:xfrm>
            <a:off x="7818120" y="4097731"/>
            <a:ext cx="352044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52 与 40 交换：1 次；64 与 12 交换：1 次</a:t>
            </a:r>
            <a:endParaRPr lang="en-US" sz="1600" dirty="0"/>
          </a:p>
        </p:txBody>
      </p:sp>
      <p:sp>
        <p:nvSpPr>
          <p:cNvPr id="17" name="ANS_205"/>
          <p:cNvSpPr/>
          <p:nvPr/>
        </p:nvSpPr>
        <p:spPr>
          <a:xfrm>
            <a:off x="7616952" y="490910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206"/>
          <p:cNvSpPr txBox="1"/>
          <p:nvPr/>
        </p:nvSpPr>
        <p:spPr>
          <a:xfrm>
            <a:off x="7818120" y="4820717"/>
            <a:ext cx="3520440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 依次与 12、15、26 交换：3 次</a:t>
            </a:r>
            <a:endParaRPr lang="en-US" sz="1600" dirty="0"/>
          </a:p>
        </p:txBody>
      </p:sp>
      <p:sp>
        <p:nvSpPr>
          <p:cNvPr id="19" name="ANS_207"/>
          <p:cNvSpPr/>
          <p:nvPr/>
        </p:nvSpPr>
        <p:spPr>
          <a:xfrm>
            <a:off x="7616952" y="536387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0" name="ANS_208"/>
          <p:cNvSpPr txBox="1"/>
          <p:nvPr/>
        </p:nvSpPr>
        <p:spPr>
          <a:xfrm>
            <a:off x="7818120" y="5275478"/>
            <a:ext cx="352044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 6 次，得 [12, 15, 40, 26, 64, 52, 48, 55, 38, 73]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Q8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深度最小的插入顺序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395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从空二叉树开始，按二叉搜索树插入算法，以怎样的顺序插入 {14, 32, 47, 6, 9, 12, 78, 63, 29, 81} 可使树的深度最小？（有多种时，使先插入的元素尽可能小，数字间用单空格隔开）</a:t>
            </a:r>
            <a:endParaRPr lang="en-US" sz="2000" dirty="0"/>
          </a:p>
        </p:txBody>
      </p:sp>
      <p:sp>
        <p:nvSpPr>
          <p:cNvPr id="7" name="ANS_209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210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211"/>
          <p:cNvSpPr txBox="1"/>
          <p:nvPr/>
        </p:nvSpPr>
        <p:spPr>
          <a:xfrm>
            <a:off x="7589520" y="1097280"/>
            <a:ext cx="3749040" cy="926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12 6 9 47 29 14 32 78 63 81</a:t>
            </a:r>
            <a:endParaRPr lang="en-US" sz="2600" dirty="0"/>
          </a:p>
        </p:txBody>
      </p:sp>
      <p:sp>
        <p:nvSpPr>
          <p:cNvPr id="10" name="ANS_212"/>
          <p:cNvSpPr txBox="1"/>
          <p:nvPr/>
        </p:nvSpPr>
        <p:spPr>
          <a:xfrm>
            <a:off x="7589520" y="2252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213"/>
          <p:cNvSpPr/>
          <p:nvPr/>
        </p:nvSpPr>
        <p:spPr>
          <a:xfrm>
            <a:off x="7616952" y="280644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214"/>
          <p:cNvSpPr txBox="1"/>
          <p:nvPr/>
        </p:nvSpPr>
        <p:spPr>
          <a:xfrm>
            <a:off x="7818120" y="2709672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个结点最小深度为 4，左右子树各最多 7 个结点。</a:t>
            </a:r>
            <a:endParaRPr lang="en-US" sz="1700" dirty="0"/>
          </a:p>
        </p:txBody>
      </p:sp>
      <p:sp>
        <p:nvSpPr>
          <p:cNvPr id="13" name="ANS_215"/>
          <p:cNvSpPr/>
          <p:nvPr/>
        </p:nvSpPr>
        <p:spPr>
          <a:xfrm>
            <a:off x="7616952" y="35711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216"/>
          <p:cNvSpPr txBox="1"/>
          <p:nvPr/>
        </p:nvSpPr>
        <p:spPr>
          <a:xfrm>
            <a:off x="7818120" y="3474415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根的名次至少为 3 → 最小的可行根是 12，左子树 {6, 9}。</a:t>
            </a:r>
            <a:endParaRPr lang="en-US" sz="1700" dirty="0"/>
          </a:p>
        </p:txBody>
      </p:sp>
      <p:sp>
        <p:nvSpPr>
          <p:cNvPr id="15" name="ANS_217"/>
          <p:cNvSpPr/>
          <p:nvPr/>
        </p:nvSpPr>
        <p:spPr>
          <a:xfrm>
            <a:off x="7616952" y="433593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218"/>
          <p:cNvSpPr txBox="1"/>
          <p:nvPr/>
        </p:nvSpPr>
        <p:spPr>
          <a:xfrm>
            <a:off x="7818120" y="4239158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右子树 7 个结点须是满树：根 47，再分别以 29、78 为根。</a:t>
            </a:r>
            <a:endParaRPr lang="en-US" sz="1700" dirty="0"/>
          </a:p>
        </p:txBody>
      </p:sp>
      <p:sp>
        <p:nvSpPr>
          <p:cNvPr id="17" name="ANS_219"/>
          <p:cNvSpPr/>
          <p:nvPr/>
        </p:nvSpPr>
        <p:spPr>
          <a:xfrm>
            <a:off x="7616952" y="510067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220"/>
          <p:cNvSpPr txBox="1"/>
          <p:nvPr/>
        </p:nvSpPr>
        <p:spPr>
          <a:xfrm>
            <a:off x="7818120" y="5003902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每步都选当前能保证深度 4 的最小元素。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Q9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BST 的后序遍历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从空二叉树开始，逐个插入关键码 {18, 73, 10, 5, 68, 99, 27, 41, 51, 32, 25} 构造二叉搜索树，其后序遍历结果为：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962656"/>
            <a:ext cx="6309360" cy="3224784"/>
          </a:xfrm>
          <a:prstGeom prst="roundRect">
            <a:avLst>
              <a:gd name="adj" fmla="val 226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962656"/>
            <a:ext cx="6035040" cy="3224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18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/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10    73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     /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5    68    99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/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27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25    41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/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32    51</a:t>
            </a:r>
            <a:endParaRPr lang="en-US" sz="1600" dirty="0"/>
          </a:p>
        </p:txBody>
      </p:sp>
      <p:sp>
        <p:nvSpPr>
          <p:cNvPr id="9" name="ANS_221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222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223"/>
          <p:cNvSpPr txBox="1"/>
          <p:nvPr/>
        </p:nvSpPr>
        <p:spPr>
          <a:xfrm>
            <a:off x="7589520" y="1097280"/>
            <a:ext cx="3749040" cy="926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5 10 25 32 51 41 27 68 99 73 18</a:t>
            </a:r>
            <a:endParaRPr lang="en-US" sz="2600" dirty="0"/>
          </a:p>
        </p:txBody>
      </p:sp>
      <p:sp>
        <p:nvSpPr>
          <p:cNvPr id="12" name="ANS_224"/>
          <p:cNvSpPr txBox="1"/>
          <p:nvPr/>
        </p:nvSpPr>
        <p:spPr>
          <a:xfrm>
            <a:off x="7589520" y="2252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225"/>
          <p:cNvSpPr/>
          <p:nvPr/>
        </p:nvSpPr>
        <p:spPr>
          <a:xfrm>
            <a:off x="7616952" y="280644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226"/>
          <p:cNvSpPr txBox="1"/>
          <p:nvPr/>
        </p:nvSpPr>
        <p:spPr>
          <a:xfrm>
            <a:off x="7818120" y="2709672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按插入顺序逐个比较落位，得到左图的树。</a:t>
            </a:r>
            <a:endParaRPr lang="en-US" sz="1700" dirty="0"/>
          </a:p>
        </p:txBody>
      </p:sp>
      <p:sp>
        <p:nvSpPr>
          <p:cNvPr id="15" name="ANS_227"/>
          <p:cNvSpPr/>
          <p:nvPr/>
        </p:nvSpPr>
        <p:spPr>
          <a:xfrm>
            <a:off x="7616952" y="35711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228"/>
          <p:cNvSpPr txBox="1"/>
          <p:nvPr/>
        </p:nvSpPr>
        <p:spPr>
          <a:xfrm>
            <a:off x="7818120" y="3474415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后序：左 → 右 → 根。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Q10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BST 的前序遍历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如题 9 同样地，该树的前序遍历结果为：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292096"/>
            <a:ext cx="6309360" cy="3224784"/>
          </a:xfrm>
          <a:prstGeom prst="roundRect">
            <a:avLst>
              <a:gd name="adj" fmla="val 226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292096"/>
            <a:ext cx="6035040" cy="3224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18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/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10    73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     /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5    68    99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/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27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25    41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/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32    51</a:t>
            </a:r>
            <a:endParaRPr lang="en-US" sz="1600" dirty="0"/>
          </a:p>
        </p:txBody>
      </p:sp>
      <p:sp>
        <p:nvSpPr>
          <p:cNvPr id="9" name="ANS_229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230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231"/>
          <p:cNvSpPr txBox="1"/>
          <p:nvPr/>
        </p:nvSpPr>
        <p:spPr>
          <a:xfrm>
            <a:off x="7589520" y="1097280"/>
            <a:ext cx="3749040" cy="926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18 10 5 73 68 27 25 41 32 51 99</a:t>
            </a:r>
            <a:endParaRPr lang="en-US" sz="2600" dirty="0"/>
          </a:p>
        </p:txBody>
      </p:sp>
      <p:sp>
        <p:nvSpPr>
          <p:cNvPr id="12" name="ANS_232"/>
          <p:cNvSpPr txBox="1"/>
          <p:nvPr/>
        </p:nvSpPr>
        <p:spPr>
          <a:xfrm>
            <a:off x="7589520" y="2252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233"/>
          <p:cNvSpPr/>
          <p:nvPr/>
        </p:nvSpPr>
        <p:spPr>
          <a:xfrm>
            <a:off x="7616952" y="280644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234"/>
          <p:cNvSpPr txBox="1"/>
          <p:nvPr/>
        </p:nvSpPr>
        <p:spPr>
          <a:xfrm>
            <a:off x="7818120" y="2709672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前序：根 → 左 → 右。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Q11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递增插入的平均比较次数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按关键码递增的顺序依次将 n 个关键码插入二叉搜索树，检索时每个关键码等概率被选取，平均比较次数为多少？</a:t>
            </a:r>
            <a:endParaRPr lang="en-US" sz="2000" dirty="0"/>
          </a:p>
        </p:txBody>
      </p:sp>
      <p:sp>
        <p:nvSpPr>
          <p:cNvPr id="7" name="ANS_235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236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237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(n+1)/2</a:t>
            </a:r>
            <a:endParaRPr lang="en-US" sz="4400" dirty="0"/>
          </a:p>
        </p:txBody>
      </p:sp>
      <p:sp>
        <p:nvSpPr>
          <p:cNvPr id="10" name="ANS_238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239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240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递增插入时 BST 退化为一条右斜链。</a:t>
            </a:r>
            <a:endParaRPr lang="en-US" sz="1700" dirty="0"/>
          </a:p>
        </p:txBody>
      </p:sp>
      <p:sp>
        <p:nvSpPr>
          <p:cNvPr id="13" name="ANS_241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242"/>
          <p:cNvSpPr txBox="1"/>
          <p:nvPr/>
        </p:nvSpPr>
        <p:spPr>
          <a:xfrm>
            <a:off x="7818120" y="3416503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查第 i 个关键码要比较 i 次。</a:t>
            </a:r>
            <a:endParaRPr lang="en-US" sz="1700" dirty="0"/>
          </a:p>
        </p:txBody>
      </p:sp>
      <p:sp>
        <p:nvSpPr>
          <p:cNvPr id="15" name="ANS_243"/>
          <p:cNvSpPr/>
          <p:nvPr/>
        </p:nvSpPr>
        <p:spPr>
          <a:xfrm>
            <a:off x="7616952" y="399303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244"/>
          <p:cNvSpPr txBox="1"/>
          <p:nvPr/>
        </p:nvSpPr>
        <p:spPr>
          <a:xfrm>
            <a:off x="7818120" y="3896258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ASL = (1 + 2 + … + n) / n = (n+1)/2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Q12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状态栈：后序访问点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下面用栈与 tag 标记模拟递归遍历。若用它做后序遍历，应在几号访问点访问？（只填数字）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6309360" cy="3267477"/>
          </a:xfrm>
          <a:prstGeom prst="roundRect">
            <a:avLst>
              <a:gd name="adj" fmla="val 223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627376"/>
            <a:ext cx="6035040" cy="32674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(!aStack.empty() || pointer) {</a:t>
            </a:r>
            <a:endParaRPr lang="en-US" sz="111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(pointer != NULL) {</a:t>
            </a:r>
            <a:endParaRPr lang="en-US" sz="111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// 1号访问点</a:t>
            </a:r>
            <a:endParaRPr lang="en-US" sz="111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element.pointer = pointer; element.tag = Left;</a:t>
            </a:r>
            <a:endParaRPr lang="en-US" sz="111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aStack.push(element); pointer = pointer-&gt;leftchild();</a:t>
            </a:r>
            <a:endParaRPr lang="en-US" sz="111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11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element = aStack.top(); aStack.pop(); pointer = element.pointer;</a:t>
            </a:r>
            <a:endParaRPr lang="en-US" sz="111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(element.tag == Left) {</a:t>
            </a:r>
            <a:endParaRPr lang="en-US" sz="111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// 2号访问点</a:t>
            </a:r>
            <a:endParaRPr lang="en-US" sz="111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element.tag = Right; aStack.push(element);</a:t>
            </a:r>
            <a:endParaRPr lang="en-US" sz="111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pointer = pointer-&gt;rightchild();</a:t>
            </a:r>
            <a:endParaRPr lang="en-US" sz="111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else {</a:t>
            </a:r>
            <a:endParaRPr lang="en-US" sz="111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// 3号访问点</a:t>
            </a:r>
            <a:endParaRPr lang="en-US" sz="111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pointer = NULL;</a:t>
            </a:r>
            <a:endParaRPr lang="en-US" sz="111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11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16" dirty="0"/>
          </a:p>
        </p:txBody>
      </p:sp>
      <p:sp>
        <p:nvSpPr>
          <p:cNvPr id="9" name="ANS_245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246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247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4400" dirty="0"/>
          </a:p>
        </p:txBody>
      </p:sp>
      <p:sp>
        <p:nvSpPr>
          <p:cNvPr id="12" name="ANS_248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249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250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号：第一次遇到结点、准备向左走 → 前序位置。</a:t>
            </a:r>
            <a:endParaRPr lang="en-US" sz="1700" dirty="0"/>
          </a:p>
        </p:txBody>
      </p:sp>
      <p:sp>
        <p:nvSpPr>
          <p:cNvPr id="15" name="ANS_251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252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号：左子树处理完、tag 改为 Right 转向右子树 → 中序位置。</a:t>
            </a:r>
            <a:endParaRPr lang="en-US" sz="1700" dirty="0"/>
          </a:p>
        </p:txBody>
      </p:sp>
      <p:sp>
        <p:nvSpPr>
          <p:cNvPr id="17" name="ANS_253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254"/>
          <p:cNvSpPr txBox="1"/>
          <p:nvPr/>
        </p:nvSpPr>
        <p:spPr>
          <a:xfrm>
            <a:off x="7818120" y="4181246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号：右子树也处理完、结点最终出栈 → </a:t>
            </a: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后序位置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700" dirty="0"/>
          </a:p>
        </p:txBody>
      </p:sp>
      <p:sp>
        <p:nvSpPr>
          <p:cNvPr id="19" name="ANS_255"/>
          <p:cNvSpPr/>
          <p:nvPr/>
        </p:nvSpPr>
        <p:spPr>
          <a:xfrm>
            <a:off x="7616952" y="504276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0" name="ANS_256"/>
          <p:cNvSpPr txBox="1"/>
          <p:nvPr/>
        </p:nvSpPr>
        <p:spPr>
          <a:xfrm>
            <a:off x="7818120" y="494599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tag 用来区分结点是从左子树还是从右子树返回。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Q13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状态栈：中序访问点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若题 12 的代码用来进行中序遍历，应在几号访问点访问？（只填数字）</a:t>
            </a:r>
            <a:endParaRPr lang="en-US" sz="2000" dirty="0"/>
          </a:p>
        </p:txBody>
      </p:sp>
      <p:sp>
        <p:nvSpPr>
          <p:cNvPr id="7" name="ANS_257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258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259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4400" dirty="0"/>
          </a:p>
        </p:txBody>
      </p:sp>
      <p:sp>
        <p:nvSpPr>
          <p:cNvPr id="10" name="ANS_260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261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262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号访问点在左子树遍历完、转向右子树之前 → 中序。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Q14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状态栈：前序访问点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若题 12 的代码用来进行前序遍历，应在几号访问点访问？（只填数字）</a:t>
            </a:r>
            <a:endParaRPr lang="en-US" sz="2000" dirty="0"/>
          </a:p>
        </p:txBody>
      </p:sp>
      <p:sp>
        <p:nvSpPr>
          <p:cNvPr id="7" name="ANS_263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264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265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4400" dirty="0"/>
          </a:p>
        </p:txBody>
      </p:sp>
      <p:sp>
        <p:nvSpPr>
          <p:cNvPr id="10" name="ANS_266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267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268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号访问点在结点第一次入栈、还没进入左子树时 → 前序。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Q15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三叉 Huffman 树的 WPL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对于权值 W = {1, 4, 9, 16, 25, 36, 49, 64, 81, 100}，构造一棵具有最小带权外部路径长度的三叉树，写出其带权外部路径长度。</a:t>
            </a:r>
            <a:endParaRPr lang="en-US" sz="2000" dirty="0"/>
          </a:p>
        </p:txBody>
      </p:sp>
      <p:sp>
        <p:nvSpPr>
          <p:cNvPr id="7" name="ANS_269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270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271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705</a:t>
            </a:r>
            <a:endParaRPr lang="en-US" sz="4400" dirty="0"/>
          </a:p>
        </p:txBody>
      </p:sp>
      <p:sp>
        <p:nvSpPr>
          <p:cNvPr id="10" name="ANS_272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273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274"/>
          <p:cNvSpPr txBox="1"/>
          <p:nvPr/>
        </p:nvSpPr>
        <p:spPr>
          <a:xfrm>
            <a:off x="7818120" y="2651760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 叉 Huffman 需 (n−1) mod (k−1) = 0；(10−1) mod 2 = 1，补 1 个权为 0 的虚叶子。</a:t>
            </a:r>
            <a:endParaRPr lang="en-US" sz="1700" dirty="0"/>
          </a:p>
        </p:txBody>
      </p:sp>
      <p:sp>
        <p:nvSpPr>
          <p:cNvPr id="13" name="ANS_275"/>
          <p:cNvSpPr/>
          <p:nvPr/>
        </p:nvSpPr>
        <p:spPr>
          <a:xfrm>
            <a:off x="7616952" y="3798265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276"/>
          <p:cNvSpPr txBox="1"/>
          <p:nvPr/>
        </p:nvSpPr>
        <p:spPr>
          <a:xfrm>
            <a:off x="7818120" y="3701491"/>
            <a:ext cx="3520440" cy="1194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每次合并最小的三个：0+1+4 = 5，5+9+16 = 30，25+30+36 = 91，49+64+81 = 194，91+100+194 = 385</a:t>
            </a:r>
            <a:endParaRPr lang="en-US" sz="1700" dirty="0"/>
          </a:p>
        </p:txBody>
      </p:sp>
      <p:sp>
        <p:nvSpPr>
          <p:cNvPr id="15" name="ANS_277"/>
          <p:cNvSpPr/>
          <p:nvPr/>
        </p:nvSpPr>
        <p:spPr>
          <a:xfrm>
            <a:off x="7616952" y="513298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278"/>
          <p:cNvSpPr txBox="1"/>
          <p:nvPr/>
        </p:nvSpPr>
        <p:spPr>
          <a:xfrm>
            <a:off x="7818120" y="503621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WPL = 各内部结点权之和 = 5 + 30 + 91 + 194 + 385 = 705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Q16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节约的比特数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下表是一段文本中每个字母出现的次数。对这段文本使用 Huffman 编码，相较于等长编码可以节约多少比特？</a:t>
            </a:r>
            <a:endParaRPr lang="en-US" sz="20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62656"/>
          <a:ext cx="630936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051560"/>
                <a:gridCol w="1051560"/>
                <a:gridCol w="1051560"/>
                <a:gridCol w="1051560"/>
                <a:gridCol w="1051560"/>
              </a:tblGrid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字母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频率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ANS_279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9" name="ANS_280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0" name="ANS_281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4400" dirty="0"/>
          </a:p>
        </p:txBody>
      </p:sp>
      <p:sp>
        <p:nvSpPr>
          <p:cNvPr id="11" name="ANS_282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2" name="ANS_283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3" name="ANS_284"/>
          <p:cNvSpPr txBox="1"/>
          <p:nvPr/>
        </p:nvSpPr>
        <p:spPr>
          <a:xfrm>
            <a:off x="7818120" y="2651760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 49 个字符；5 种字母等长编码需 3 位：49 × 3 = 147 bits。</a:t>
            </a:r>
            <a:endParaRPr lang="en-US" sz="1700" dirty="0"/>
          </a:p>
        </p:txBody>
      </p:sp>
      <p:sp>
        <p:nvSpPr>
          <p:cNvPr id="14" name="ANS_285"/>
          <p:cNvSpPr/>
          <p:nvPr/>
        </p:nvSpPr>
        <p:spPr>
          <a:xfrm>
            <a:off x="7616952" y="3798265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5" name="ANS_286"/>
          <p:cNvSpPr txBox="1"/>
          <p:nvPr/>
        </p:nvSpPr>
        <p:spPr>
          <a:xfrm>
            <a:off x="7818120" y="3701491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合并：4+8 = 12，9+12 = 21，12+16 = 28，21+28 = 49</a:t>
            </a:r>
            <a:endParaRPr lang="en-US" sz="1700" dirty="0"/>
          </a:p>
        </p:txBody>
      </p:sp>
      <p:sp>
        <p:nvSpPr>
          <p:cNvPr id="16" name="ANS_287"/>
          <p:cNvSpPr/>
          <p:nvPr/>
        </p:nvSpPr>
        <p:spPr>
          <a:xfrm>
            <a:off x="7616952" y="456300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7" name="ANS_288"/>
          <p:cNvSpPr txBox="1"/>
          <p:nvPr/>
        </p:nvSpPr>
        <p:spPr>
          <a:xfrm>
            <a:off x="7818120" y="4466234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总长 = 12 + 21 + 28 + 49 = 110 bits</a:t>
            </a:r>
            <a:endParaRPr lang="en-US" sz="1700" dirty="0"/>
          </a:p>
        </p:txBody>
      </p:sp>
      <p:sp>
        <p:nvSpPr>
          <p:cNvPr id="18" name="ANS_289"/>
          <p:cNvSpPr/>
          <p:nvPr/>
        </p:nvSpPr>
        <p:spPr>
          <a:xfrm>
            <a:off x="7616952" y="532775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9" name="ANS_290"/>
          <p:cNvSpPr txBox="1"/>
          <p:nvPr/>
        </p:nvSpPr>
        <p:spPr>
          <a:xfrm>
            <a:off x="7818120" y="5230978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节约 147 − 110 = 37 bits。</a:t>
            </a:r>
            <a:endParaRPr lang="en-US" sz="1700" dirty="0"/>
          </a:p>
        </p:txBody>
      </p:sp>
      <p:sp>
        <p:nvSpPr>
          <p:cNvPr id="20" name="ANS_291"/>
          <p:cNvSpPr/>
          <p:nvPr/>
        </p:nvSpPr>
        <p:spPr>
          <a:xfrm>
            <a:off x="7616952" y="580750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ANS_292"/>
          <p:cNvSpPr txBox="1"/>
          <p:nvPr/>
        </p:nvSpPr>
        <p:spPr>
          <a:xfrm>
            <a:off x="7818120" y="5710733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注：题库原答案为 36。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097280"/>
            <a:ext cx="5029200" cy="5029200"/>
          </a:xfrm>
          <a:prstGeom prst="ellipse">
            <a:avLst/>
          </a:prstGeom>
          <a:solidFill>
            <a:srgbClr val="3E7C68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3931920"/>
            <a:ext cx="2926080" cy="2926080"/>
          </a:xfrm>
          <a:prstGeom prst="ellipse">
            <a:avLst/>
          </a:prstGeom>
          <a:solidFill>
            <a:srgbClr val="F2B134">
              <a:alpha val="3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Chapter 6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1148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 19 题 · 准备好了吗？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森林转二叉树：右子树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森林 F 由 T1、T2、T3 三棵树组成，结点数分别为 n1、n2、n3。与 F 对应的二叉树为 B，则 B 的右子树中有多少个结点？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96265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96265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n2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160270" y="296265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60270" y="296265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n3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771900" y="296265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771900" y="296265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n1+n3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383530" y="296265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83530" y="296265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n2+n3</a:t>
            </a:r>
            <a:endParaRPr lang="en-US" sz="2000" dirty="0"/>
          </a:p>
        </p:txBody>
      </p:sp>
      <p:sp>
        <p:nvSpPr>
          <p:cNvPr id="15" name="ANS_293"/>
          <p:cNvSpPr/>
          <p:nvPr/>
        </p:nvSpPr>
        <p:spPr>
          <a:xfrm>
            <a:off x="5383530" y="2962656"/>
            <a:ext cx="1474470" cy="822960"/>
          </a:xfrm>
          <a:prstGeom prst="roundRect">
            <a:avLst>
              <a:gd name="adj" fmla="val 11111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16" name="ANS_294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7" name="ANS_295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8" name="ANS_296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4400" dirty="0"/>
          </a:p>
        </p:txBody>
      </p:sp>
      <p:sp>
        <p:nvSpPr>
          <p:cNvPr id="19" name="ANS_297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0" name="ANS_298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ANS_299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T1 的根是 B 的根；T1 根的子树们转成 B 的左子树。</a:t>
            </a:r>
            <a:endParaRPr lang="en-US" sz="1700" dirty="0"/>
          </a:p>
        </p:txBody>
      </p:sp>
      <p:sp>
        <p:nvSpPr>
          <p:cNvPr id="22" name="ANS_300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3" name="ANS_301"/>
          <p:cNvSpPr txBox="1"/>
          <p:nvPr/>
        </p:nvSpPr>
        <p:spPr>
          <a:xfrm>
            <a:off x="7818120" y="3416503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T2、T3 作为 T1 根的「右兄弟」，转成 B 的右子树：n2 + n3 个结点。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 k 叉树的结点数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一个深度为 h 的满 k 叉树，最多有多少个结点？（独根树深度为 0）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70052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700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627376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</a:t>
            </a:r>
            <a:r>
              <a:rPr lang="en-US" sz="2000" baseline="3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h−1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35889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358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285744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</a:t>
            </a:r>
            <a:r>
              <a:rPr lang="en-US" sz="2000" baseline="3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401726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017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944112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(k</a:t>
            </a:r>
            <a:r>
              <a:rPr lang="en-US" sz="2000" baseline="3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h+1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− 1)/(k − 1)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4675632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675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602480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(k</a:t>
            </a:r>
            <a:r>
              <a:rPr lang="en-US" sz="2000" baseline="3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− 1)/(k − 1)</a:t>
            </a:r>
            <a:endParaRPr lang="en-US" sz="2000" dirty="0"/>
          </a:p>
        </p:txBody>
      </p:sp>
      <p:sp>
        <p:nvSpPr>
          <p:cNvPr id="19" name="ANS_302"/>
          <p:cNvSpPr/>
          <p:nvPr/>
        </p:nvSpPr>
        <p:spPr>
          <a:xfrm>
            <a:off x="457200" y="3907536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0" name="ANS_303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1" name="ANS_304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2" name="ANS_305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4400" dirty="0"/>
          </a:p>
        </p:txBody>
      </p:sp>
      <p:sp>
        <p:nvSpPr>
          <p:cNvPr id="23" name="ANS_306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4" name="ANS_307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5" name="ANS_308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i 层最多 k</a:t>
            </a: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个结点，i = 0…h。</a:t>
            </a:r>
            <a:endParaRPr lang="en-US" sz="1700" dirty="0"/>
          </a:p>
        </p:txBody>
      </p:sp>
      <p:sp>
        <p:nvSpPr>
          <p:cNvPr id="26" name="ANS_309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7" name="ANS_310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+ k + … + k</a:t>
            </a: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(k</a:t>
            </a: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h+1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− 1)/(k − 1)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 k 叉树的叶结点数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一个深度为 h 的满 k 叉树，最多有多少个叶结点？（独根树深度为 0）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70052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700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627376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</a:t>
            </a:r>
            <a:r>
              <a:rPr lang="en-US" sz="2000" baseline="3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h−1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35889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358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285744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</a:t>
            </a:r>
            <a:r>
              <a:rPr lang="en-US" sz="2000" baseline="3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401726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017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944112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(k</a:t>
            </a:r>
            <a:r>
              <a:rPr lang="en-US" sz="2000" baseline="3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h+1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− 1)/(k − 1)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4675632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675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602480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(k</a:t>
            </a:r>
            <a:r>
              <a:rPr lang="en-US" sz="2000" baseline="3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− 1)/(k − 1)</a:t>
            </a:r>
            <a:endParaRPr lang="en-US" sz="2000" dirty="0"/>
          </a:p>
        </p:txBody>
      </p:sp>
      <p:sp>
        <p:nvSpPr>
          <p:cNvPr id="19" name="ANS_311"/>
          <p:cNvSpPr/>
          <p:nvPr/>
        </p:nvSpPr>
        <p:spPr>
          <a:xfrm>
            <a:off x="457200" y="3249168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0" name="ANS_312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1" name="ANS_313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2" name="ANS_314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4400" dirty="0"/>
          </a:p>
        </p:txBody>
      </p:sp>
      <p:sp>
        <p:nvSpPr>
          <p:cNvPr id="23" name="ANS_315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4" name="ANS_316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5" name="ANS_317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叶结点全在最后一层（第 h 层），最多 k</a:t>
            </a: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树的后根序 = 二叉树的？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将一棵树 T 转换为左子/右兄链表表示的二叉树 B，则 T 的后根次序遍历序列是 B 的相应 ____ 序列。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03580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035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962656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前序遍历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69417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621024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后序遍历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435254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352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279392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中序遍历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5010912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5010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937760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层次遍历</a:t>
            </a:r>
            <a:endParaRPr lang="en-US" sz="2000" dirty="0"/>
          </a:p>
        </p:txBody>
      </p:sp>
      <p:sp>
        <p:nvSpPr>
          <p:cNvPr id="19" name="ANS_318"/>
          <p:cNvSpPr/>
          <p:nvPr/>
        </p:nvSpPr>
        <p:spPr>
          <a:xfrm>
            <a:off x="457200" y="4242816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0" name="ANS_319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1" name="ANS_320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2" name="ANS_321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4400" dirty="0"/>
          </a:p>
        </p:txBody>
      </p:sp>
      <p:sp>
        <p:nvSpPr>
          <p:cNvPr id="23" name="ANS_322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4" name="ANS_323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5" name="ANS_324"/>
          <p:cNvSpPr txBox="1"/>
          <p:nvPr/>
        </p:nvSpPr>
        <p:spPr>
          <a:xfrm>
            <a:off x="7818120" y="265176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树的先根序 = 二叉树的前序。</a:t>
            </a:r>
            <a:endParaRPr lang="en-US" sz="1700" dirty="0"/>
          </a:p>
        </p:txBody>
      </p:sp>
      <p:sp>
        <p:nvSpPr>
          <p:cNvPr id="26" name="ANS_325"/>
          <p:cNvSpPr/>
          <p:nvPr/>
        </p:nvSpPr>
        <p:spPr>
          <a:xfrm>
            <a:off x="7616952" y="32282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7" name="ANS_326"/>
          <p:cNvSpPr txBox="1"/>
          <p:nvPr/>
        </p:nvSpPr>
        <p:spPr>
          <a:xfrm>
            <a:off x="7818120" y="3131515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树的后根序：先各子树、后根；在二叉树里子树在根的左子树中，兄弟在右子树中 → 恰是中序。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Q5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森林转二叉树：左子树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森林 F 由 T1、T2、T3 三棵树组成，结点数分别为 n1、n2、n3。与 F 对应的二叉树为 B，则 B 的左子树中有多少个结点？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96265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96265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n2−1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160270" y="296265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60270" y="296265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n3−1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771900" y="296265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771900" y="296265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n1−1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383530" y="296265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83530" y="296265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n2</a:t>
            </a:r>
            <a:endParaRPr lang="en-US" sz="2000" dirty="0"/>
          </a:p>
        </p:txBody>
      </p:sp>
      <p:sp>
        <p:nvSpPr>
          <p:cNvPr id="15" name="ANS_327"/>
          <p:cNvSpPr/>
          <p:nvPr/>
        </p:nvSpPr>
        <p:spPr>
          <a:xfrm>
            <a:off x="3771900" y="2962656"/>
            <a:ext cx="1474470" cy="822960"/>
          </a:xfrm>
          <a:prstGeom prst="roundRect">
            <a:avLst>
              <a:gd name="adj" fmla="val 11111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16" name="ANS_328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7" name="ANS_329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8" name="ANS_330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4400" dirty="0"/>
          </a:p>
        </p:txBody>
      </p:sp>
      <p:sp>
        <p:nvSpPr>
          <p:cNvPr id="19" name="ANS_331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0" name="ANS_332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ANS_333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的左子树由 T1 去掉根后的子树们转成：n1 − 1 个结点。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Q6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多选题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2-3 树的非叶结点数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若一棵 2-3 树有 9 个叶结点，那么它可能有多少个非叶结点？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62737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160270" y="262737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60270" y="262737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771900" y="262737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771900" y="262737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383530" y="262737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83530" y="262737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2000" dirty="0"/>
          </a:p>
        </p:txBody>
      </p:sp>
      <p:sp>
        <p:nvSpPr>
          <p:cNvPr id="15" name="ANS_334"/>
          <p:cNvSpPr/>
          <p:nvPr/>
        </p:nvSpPr>
        <p:spPr>
          <a:xfrm>
            <a:off x="548640" y="2627376"/>
            <a:ext cx="1474470" cy="822960"/>
          </a:xfrm>
          <a:prstGeom prst="roundRect">
            <a:avLst>
              <a:gd name="adj" fmla="val 11111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16" name="ANS_335"/>
          <p:cNvSpPr/>
          <p:nvPr/>
        </p:nvSpPr>
        <p:spPr>
          <a:xfrm>
            <a:off x="5383530" y="2627376"/>
            <a:ext cx="1474470" cy="822960"/>
          </a:xfrm>
          <a:prstGeom prst="roundRect">
            <a:avLst>
              <a:gd name="adj" fmla="val 11111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17" name="ANS_336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8" name="ANS_337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9" name="ANS_338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A、D</a:t>
            </a:r>
            <a:endParaRPr lang="en-US" sz="4400" dirty="0"/>
          </a:p>
        </p:txBody>
      </p:sp>
      <p:sp>
        <p:nvSpPr>
          <p:cNvPr id="20" name="ANS_339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1" name="ANS_340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2" name="ANS_341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2-3 树的叶子都在同一层，每个非叶结点有 2 或 3 个孩子。</a:t>
            </a:r>
            <a:endParaRPr lang="en-US" sz="1700" dirty="0"/>
          </a:p>
        </p:txBody>
      </p:sp>
      <p:sp>
        <p:nvSpPr>
          <p:cNvPr id="23" name="ANS_342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4" name="ANS_343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叶子上一层 3 个结点（各 3 个叶子）+ 根 → 4 个。</a:t>
            </a:r>
            <a:endParaRPr lang="en-US" sz="1700" dirty="0"/>
          </a:p>
        </p:txBody>
      </p:sp>
      <p:sp>
        <p:nvSpPr>
          <p:cNvPr id="25" name="ANS_344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ANS_345"/>
          <p:cNvSpPr txBox="1"/>
          <p:nvPr/>
        </p:nvSpPr>
        <p:spPr>
          <a:xfrm>
            <a:off x="7818120" y="4181246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再高一层：叶子上一层需 4 个结点（3 + 2 + 2 + 2），它们挂在 2 个结点下，再加根 → 7 个。</a:t>
            </a:r>
            <a:endParaRPr lang="en-US" sz="1700" dirty="0"/>
          </a:p>
        </p:txBody>
      </p:sp>
      <p:sp>
        <p:nvSpPr>
          <p:cNvPr id="27" name="ANS_346"/>
          <p:cNvSpPr/>
          <p:nvPr/>
        </p:nvSpPr>
        <p:spPr>
          <a:xfrm>
            <a:off x="7616952" y="532775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8" name="ANS_347"/>
          <p:cNvSpPr txBox="1"/>
          <p:nvPr/>
        </p:nvSpPr>
        <p:spPr>
          <a:xfrm>
            <a:off x="7818120" y="5230978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更高时叶子至少 16 个，不可能；5、6 凑不出来。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Q7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森林中树的棵数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若一个具有 N 个顶点、K 条边的无向图是一个森林（N &gt; K 且 2K ≥ N），则该森林有多少棵树？</a:t>
            </a:r>
            <a:endParaRPr lang="en-US" sz="2000" dirty="0"/>
          </a:p>
        </p:txBody>
      </p:sp>
      <p:sp>
        <p:nvSpPr>
          <p:cNvPr id="7" name="ANS_348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349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350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N−K</a:t>
            </a:r>
            <a:endParaRPr lang="en-US" sz="4400" dirty="0"/>
          </a:p>
        </p:txBody>
      </p:sp>
      <p:sp>
        <p:nvSpPr>
          <p:cNvPr id="10" name="ANS_351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352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353"/>
          <p:cNvSpPr txBox="1"/>
          <p:nvPr/>
        </p:nvSpPr>
        <p:spPr>
          <a:xfrm>
            <a:off x="7818120" y="265176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每棵树：边数 = 顶点数 − 1。</a:t>
            </a:r>
            <a:endParaRPr lang="en-US" sz="1700" dirty="0"/>
          </a:p>
        </p:txBody>
      </p:sp>
      <p:sp>
        <p:nvSpPr>
          <p:cNvPr id="13" name="ANS_354"/>
          <p:cNvSpPr/>
          <p:nvPr/>
        </p:nvSpPr>
        <p:spPr>
          <a:xfrm>
            <a:off x="7616952" y="32282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355"/>
          <p:cNvSpPr txBox="1"/>
          <p:nvPr/>
        </p:nvSpPr>
        <p:spPr>
          <a:xfrm>
            <a:off x="7818120" y="3131515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设有 T 棵树：K = N − T，所以 T = N − K。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Q8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问答题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树的逻辑结构（一）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395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 T = (N, R)，N = {A, B, …, K}。回答：(1) 哪些是叶结点？(2) 哪些是 F 的祖先？(3) 树的深度？（根层数为 0；多个字母按字典序连写，小题之间用空格隔开）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297936"/>
            <a:ext cx="6309360" cy="810768"/>
          </a:xfrm>
          <a:prstGeom prst="roundRect">
            <a:avLst>
              <a:gd name="adj" fmla="val 902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3297936"/>
            <a:ext cx="6035040" cy="810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= { (A,B), (B,E), (B,F), (F,G), (F,H),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(A,C), (C,I), (C,J), (J,K), (A,D) }</a:t>
            </a:r>
            <a:endParaRPr lang="en-US" sz="1600" dirty="0"/>
          </a:p>
        </p:txBody>
      </p:sp>
      <p:sp>
        <p:nvSpPr>
          <p:cNvPr id="9" name="ANS_356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357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358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DEGHIK AB 3</a:t>
            </a:r>
            <a:endParaRPr lang="en-US" sz="3000" dirty="0"/>
          </a:p>
        </p:txBody>
      </p:sp>
      <p:sp>
        <p:nvSpPr>
          <p:cNvPr id="12" name="ANS_359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360"/>
          <p:cNvSpPr/>
          <p:nvPr/>
        </p:nvSpPr>
        <p:spPr>
          <a:xfrm>
            <a:off x="7726680" y="2651760"/>
            <a:ext cx="3611880" cy="1841983"/>
          </a:xfrm>
          <a:prstGeom prst="roundRect">
            <a:avLst>
              <a:gd name="adj" fmla="val 2979"/>
            </a:avLst>
          </a:prstGeom>
          <a:solidFill>
            <a:srgbClr val="FFFFFF"/>
          </a:solidFill>
          <a:ln/>
        </p:spPr>
      </p:sp>
      <p:sp>
        <p:nvSpPr>
          <p:cNvPr id="14" name="ANS_361"/>
          <p:cNvSpPr txBox="1"/>
          <p:nvPr/>
        </p:nvSpPr>
        <p:spPr>
          <a:xfrm>
            <a:off x="7818120" y="2651760"/>
            <a:ext cx="3474720" cy="18419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5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</a:t>
            </a:r>
            <a:endParaRPr lang="en-US" sz="1445" dirty="0"/>
          </a:p>
          <a:p>
            <a:pPr indent="0" marL="0">
              <a:buNone/>
            </a:pPr>
            <a:r>
              <a:rPr lang="en-US" sz="1445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/  |  \</a:t>
            </a:r>
            <a:endParaRPr lang="en-US" sz="1445" dirty="0"/>
          </a:p>
          <a:p>
            <a:pPr indent="0" marL="0">
              <a:buNone/>
            </a:pPr>
            <a:r>
              <a:rPr lang="en-US" sz="1445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   C   D</a:t>
            </a:r>
            <a:endParaRPr lang="en-US" sz="1445" dirty="0"/>
          </a:p>
          <a:p>
            <a:pPr indent="0" marL="0">
              <a:buNone/>
            </a:pPr>
            <a:r>
              <a:rPr lang="en-US" sz="1445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/ \  / \</a:t>
            </a:r>
            <a:endParaRPr lang="en-US" sz="1445" dirty="0"/>
          </a:p>
          <a:p>
            <a:pPr indent="0" marL="0">
              <a:buNone/>
            </a:pPr>
            <a:r>
              <a:rPr lang="en-US" sz="1445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  F I   J</a:t>
            </a:r>
            <a:endParaRPr lang="en-US" sz="1445" dirty="0"/>
          </a:p>
          <a:p>
            <a:pPr indent="0" marL="0">
              <a:buNone/>
            </a:pPr>
            <a:r>
              <a:rPr lang="en-US" sz="1445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 \     \</a:t>
            </a:r>
            <a:endParaRPr lang="en-US" sz="1445" dirty="0"/>
          </a:p>
          <a:p>
            <a:pPr indent="0" marL="0">
              <a:buNone/>
            </a:pPr>
            <a:r>
              <a:rPr lang="en-US" sz="1445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G   H     K</a:t>
            </a:r>
            <a:endParaRPr lang="en-US" sz="1445" dirty="0"/>
          </a:p>
        </p:txBody>
      </p:sp>
      <p:sp>
        <p:nvSpPr>
          <p:cNvPr id="15" name="ANS_362"/>
          <p:cNvSpPr/>
          <p:nvPr/>
        </p:nvSpPr>
        <p:spPr>
          <a:xfrm>
            <a:off x="7616952" y="47304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363"/>
          <p:cNvSpPr txBox="1"/>
          <p:nvPr/>
        </p:nvSpPr>
        <p:spPr>
          <a:xfrm>
            <a:off x="7818120" y="4633646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叶结点：D E G H I K</a:t>
            </a:r>
            <a:endParaRPr lang="en-US" sz="1700" dirty="0"/>
          </a:p>
        </p:txBody>
      </p:sp>
      <p:sp>
        <p:nvSpPr>
          <p:cNvPr id="17" name="ANS_364"/>
          <p:cNvSpPr/>
          <p:nvPr/>
        </p:nvSpPr>
        <p:spPr>
          <a:xfrm>
            <a:off x="7616952" y="5210175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365"/>
          <p:cNvSpPr txBox="1"/>
          <p:nvPr/>
        </p:nvSpPr>
        <p:spPr>
          <a:xfrm>
            <a:off x="7818120" y="5113401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 的祖先：A、B</a:t>
            </a:r>
            <a:endParaRPr lang="en-US" sz="1700" dirty="0"/>
          </a:p>
        </p:txBody>
      </p:sp>
      <p:sp>
        <p:nvSpPr>
          <p:cNvPr id="19" name="ANS_366"/>
          <p:cNvSpPr/>
          <p:nvPr/>
        </p:nvSpPr>
        <p:spPr>
          <a:xfrm>
            <a:off x="7616952" y="568993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0" name="ANS_367"/>
          <p:cNvSpPr txBox="1"/>
          <p:nvPr/>
        </p:nvSpPr>
        <p:spPr>
          <a:xfrm>
            <a:off x="7818120" y="5593156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G、H、K 在第 3 层 → 深度 3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Q9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问答题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树的逻辑结构（二）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同上题的树 T，回答：(1) 哪个是 F 的父结点？(2) 哪些是 B 的子孙？(3) 以 C 为根的子树深度是多少？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962656"/>
            <a:ext cx="6309360" cy="810768"/>
          </a:xfrm>
          <a:prstGeom prst="roundRect">
            <a:avLst>
              <a:gd name="adj" fmla="val 902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962656"/>
            <a:ext cx="6035040" cy="810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= { (A,B), (B,E), (B,F), (F,G), (F,H),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(A,C), (C,I), (C,J), (J,K), (A,D) }</a:t>
            </a:r>
            <a:endParaRPr lang="en-US" sz="1600" dirty="0"/>
          </a:p>
        </p:txBody>
      </p:sp>
      <p:sp>
        <p:nvSpPr>
          <p:cNvPr id="9" name="ANS_368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369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370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EFGH 2</a:t>
            </a:r>
            <a:endParaRPr lang="en-US" sz="4400" dirty="0"/>
          </a:p>
        </p:txBody>
      </p:sp>
      <p:sp>
        <p:nvSpPr>
          <p:cNvPr id="12" name="ANS_371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372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373"/>
          <p:cNvSpPr txBox="1"/>
          <p:nvPr/>
        </p:nvSpPr>
        <p:spPr>
          <a:xfrm>
            <a:off x="7818120" y="265176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(1) 边 (B,F)：F 的父结点是 B</a:t>
            </a:r>
            <a:endParaRPr lang="en-US" sz="1700" dirty="0"/>
          </a:p>
        </p:txBody>
      </p:sp>
      <p:sp>
        <p:nvSpPr>
          <p:cNvPr id="15" name="ANS_374"/>
          <p:cNvSpPr/>
          <p:nvPr/>
        </p:nvSpPr>
        <p:spPr>
          <a:xfrm>
            <a:off x="7616952" y="32282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375"/>
          <p:cNvSpPr txBox="1"/>
          <p:nvPr/>
        </p:nvSpPr>
        <p:spPr>
          <a:xfrm>
            <a:off x="7818120" y="3131515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(2) B 的子孙：E、F 及 F 的孩子 G、H</a:t>
            </a:r>
            <a:endParaRPr lang="en-US" sz="1700" dirty="0"/>
          </a:p>
        </p:txBody>
      </p:sp>
      <p:sp>
        <p:nvSpPr>
          <p:cNvPr id="17" name="ANS_376"/>
          <p:cNvSpPr/>
          <p:nvPr/>
        </p:nvSpPr>
        <p:spPr>
          <a:xfrm>
            <a:off x="7616952" y="399303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377"/>
          <p:cNvSpPr txBox="1"/>
          <p:nvPr/>
        </p:nvSpPr>
        <p:spPr>
          <a:xfrm>
            <a:off x="7818120" y="3896258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(3) C → J → K，子树深度 2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Q10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问答题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树的逻辑结构（三）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同上题的树 T，回答：(1) 哪个是根结点？(2) 哪些是 F 的孩子？(3) 结点 K 的层次是多少？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6309360" cy="810768"/>
          </a:xfrm>
          <a:prstGeom prst="roundRect">
            <a:avLst>
              <a:gd name="adj" fmla="val 902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627376"/>
            <a:ext cx="6035040" cy="810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= { (A,B), (B,E), (B,F), (F,G), (F,H),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(A,C), (C,I), (C,J), (J,K), (A,D) }</a:t>
            </a:r>
            <a:endParaRPr lang="en-US" sz="1600" dirty="0"/>
          </a:p>
        </p:txBody>
      </p:sp>
      <p:sp>
        <p:nvSpPr>
          <p:cNvPr id="9" name="ANS_378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379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380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GH 3</a:t>
            </a:r>
            <a:endParaRPr lang="en-US" sz="4400" dirty="0"/>
          </a:p>
        </p:txBody>
      </p:sp>
      <p:sp>
        <p:nvSpPr>
          <p:cNvPr id="12" name="ANS_381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382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383"/>
          <p:cNvSpPr txBox="1"/>
          <p:nvPr/>
        </p:nvSpPr>
        <p:spPr>
          <a:xfrm>
            <a:off x="7818120" y="265176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(1) A 只出现在边的左端，是根</a:t>
            </a:r>
            <a:endParaRPr lang="en-US" sz="1700" dirty="0"/>
          </a:p>
        </p:txBody>
      </p:sp>
      <p:sp>
        <p:nvSpPr>
          <p:cNvPr id="15" name="ANS_384"/>
          <p:cNvSpPr/>
          <p:nvPr/>
        </p:nvSpPr>
        <p:spPr>
          <a:xfrm>
            <a:off x="7616952" y="32282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385"/>
          <p:cNvSpPr txBox="1"/>
          <p:nvPr/>
        </p:nvSpPr>
        <p:spPr>
          <a:xfrm>
            <a:off x="7818120" y="3131515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(2) F 的孩子：G、H</a:t>
            </a:r>
            <a:endParaRPr lang="en-US" sz="1700" dirty="0"/>
          </a:p>
        </p:txBody>
      </p:sp>
      <p:sp>
        <p:nvSpPr>
          <p:cNvPr id="17" name="ANS_386"/>
          <p:cNvSpPr/>
          <p:nvPr/>
        </p:nvSpPr>
        <p:spPr>
          <a:xfrm>
            <a:off x="7616952" y="370804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387"/>
          <p:cNvSpPr txBox="1"/>
          <p:nvPr/>
        </p:nvSpPr>
        <p:spPr>
          <a:xfrm>
            <a:off x="7818120" y="361127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(3) A(0) → C(1) → J(2) → K(3)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Q11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双标记层次序列 → 后根序（一）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395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例：序列 A01 B00 C01 D10 G01 E01 H11 F10 I11 对应的带度数后根序列为 D0 H0 G1 B2 F0 I0 E2 C1 A2。求下列双标记层次序列对应的带度数后根序列：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297936"/>
            <a:ext cx="6309360" cy="1347216"/>
          </a:xfrm>
          <a:prstGeom prst="roundRect">
            <a:avLst>
              <a:gd name="adj" fmla="val 543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3297936"/>
            <a:ext cx="6035040" cy="1347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结点 ltag rtag   结点 ltag rtag   结点 ltag rtag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    0    1      B    0    0      C    0    0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    1    0      F    0    1      G    1    1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    0    1      I    1    1      H    1    1</a:t>
            </a:r>
            <a:endParaRPr lang="en-US" sz="1600" dirty="0"/>
          </a:p>
        </p:txBody>
      </p:sp>
      <p:sp>
        <p:nvSpPr>
          <p:cNvPr id="9" name="ANS_388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389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390"/>
          <p:cNvSpPr txBox="1"/>
          <p:nvPr/>
        </p:nvSpPr>
        <p:spPr>
          <a:xfrm>
            <a:off x="7589520" y="1097280"/>
            <a:ext cx="3749040" cy="926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G0 B1 H0 D1 C1 E0 I0 F1 A4</a:t>
            </a:r>
            <a:endParaRPr lang="en-US" sz="2600" dirty="0"/>
          </a:p>
        </p:txBody>
      </p:sp>
      <p:sp>
        <p:nvSpPr>
          <p:cNvPr id="12" name="ANS_391"/>
          <p:cNvSpPr txBox="1"/>
          <p:nvPr/>
        </p:nvSpPr>
        <p:spPr>
          <a:xfrm>
            <a:off x="7589520" y="2252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392"/>
          <p:cNvSpPr/>
          <p:nvPr/>
        </p:nvSpPr>
        <p:spPr>
          <a:xfrm>
            <a:off x="7616952" y="280644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393"/>
          <p:cNvSpPr txBox="1"/>
          <p:nvPr/>
        </p:nvSpPr>
        <p:spPr>
          <a:xfrm>
            <a:off x="7818120" y="2709672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ltag = 0：有孩子；ltag = 1：无孩子。rtag = 0：有右兄弟；rtag = 1：是最后一个兄弟。</a:t>
            </a:r>
            <a:endParaRPr lang="en-US" sz="1700" dirty="0"/>
          </a:p>
        </p:txBody>
      </p:sp>
      <p:sp>
        <p:nvSpPr>
          <p:cNvPr id="15" name="ANS_394"/>
          <p:cNvSpPr/>
          <p:nvPr/>
        </p:nvSpPr>
        <p:spPr>
          <a:xfrm>
            <a:off x="7616952" y="38561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395"/>
          <p:cNvSpPr txBox="1"/>
          <p:nvPr/>
        </p:nvSpPr>
        <p:spPr>
          <a:xfrm>
            <a:off x="7818120" y="3759403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按层次顺序，给每个 ltag = 0 的结点依次分一组孩子，每组到 rtag = 1 为止。</a:t>
            </a:r>
            <a:endParaRPr lang="en-US" sz="1700" dirty="0"/>
          </a:p>
        </p:txBody>
      </p:sp>
      <p:sp>
        <p:nvSpPr>
          <p:cNvPr id="17" name="ANS_396"/>
          <p:cNvSpPr/>
          <p:nvPr/>
        </p:nvSpPr>
        <p:spPr>
          <a:xfrm>
            <a:off x="7616952" y="490590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397"/>
          <p:cNvSpPr txBox="1"/>
          <p:nvPr/>
        </p:nvSpPr>
        <p:spPr>
          <a:xfrm>
            <a:off x="7818120" y="4809134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A：B C E F；B：G；C：D；F：I；D：H</a:t>
            </a:r>
            <a:endParaRPr lang="en-US" sz="1700" dirty="0"/>
          </a:p>
        </p:txBody>
      </p:sp>
      <p:sp>
        <p:nvSpPr>
          <p:cNvPr id="19" name="ANS_398"/>
          <p:cNvSpPr/>
          <p:nvPr/>
        </p:nvSpPr>
        <p:spPr>
          <a:xfrm>
            <a:off x="7616952" y="567065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0" name="ANS_399"/>
          <p:cNvSpPr txBox="1"/>
          <p:nvPr/>
        </p:nvSpPr>
        <p:spPr>
          <a:xfrm>
            <a:off x="7818120" y="5573878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后根遍历并写出度数即得答案。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Q12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双标记层次序列 → 后根序（二）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同上题规则，求下列双标记层次序列对应的带度数后根序列：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6309360" cy="1347216"/>
          </a:xfrm>
          <a:prstGeom prst="roundRect">
            <a:avLst>
              <a:gd name="adj" fmla="val 543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627376"/>
            <a:ext cx="6035040" cy="1347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结点 ltag rtag   结点 ltag rtag   结点 ltag rtag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    0    1      B    0    0      E    0    1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    0    0      D    1    0      G    1    1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    1    0      I    1    1      H    1    1</a:t>
            </a:r>
            <a:endParaRPr lang="en-US" sz="1600" dirty="0"/>
          </a:p>
        </p:txBody>
      </p:sp>
      <p:sp>
        <p:nvSpPr>
          <p:cNvPr id="9" name="ANS_400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401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402"/>
          <p:cNvSpPr txBox="1"/>
          <p:nvPr/>
        </p:nvSpPr>
        <p:spPr>
          <a:xfrm>
            <a:off x="7589520" y="1097280"/>
            <a:ext cx="3749040" cy="926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H0 C1 D0 G0 B3 F0 I0 E2 A2</a:t>
            </a:r>
            <a:endParaRPr lang="en-US" sz="2600" dirty="0"/>
          </a:p>
        </p:txBody>
      </p:sp>
      <p:sp>
        <p:nvSpPr>
          <p:cNvPr id="12" name="ANS_403"/>
          <p:cNvSpPr txBox="1"/>
          <p:nvPr/>
        </p:nvSpPr>
        <p:spPr>
          <a:xfrm>
            <a:off x="7589520" y="2252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404"/>
          <p:cNvSpPr/>
          <p:nvPr/>
        </p:nvSpPr>
        <p:spPr>
          <a:xfrm>
            <a:off x="7616952" y="280644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405"/>
          <p:cNvSpPr txBox="1"/>
          <p:nvPr/>
        </p:nvSpPr>
        <p:spPr>
          <a:xfrm>
            <a:off x="7818120" y="2709672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ltag = 0：有孩子；ltag = 1：无孩子。rtag = 0：有右兄弟；rtag = 1：是最后一个兄弟。</a:t>
            </a:r>
            <a:endParaRPr lang="en-US" sz="1700" dirty="0"/>
          </a:p>
        </p:txBody>
      </p:sp>
      <p:sp>
        <p:nvSpPr>
          <p:cNvPr id="15" name="ANS_406"/>
          <p:cNvSpPr/>
          <p:nvPr/>
        </p:nvSpPr>
        <p:spPr>
          <a:xfrm>
            <a:off x="7616952" y="38561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407"/>
          <p:cNvSpPr txBox="1"/>
          <p:nvPr/>
        </p:nvSpPr>
        <p:spPr>
          <a:xfrm>
            <a:off x="7818120" y="37594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A：B E；B：C D G；E：F I；C：H</a:t>
            </a:r>
            <a:endParaRPr lang="en-US" sz="1700" dirty="0"/>
          </a:p>
        </p:txBody>
      </p:sp>
      <p:sp>
        <p:nvSpPr>
          <p:cNvPr id="17" name="ANS_408"/>
          <p:cNvSpPr/>
          <p:nvPr/>
        </p:nvSpPr>
        <p:spPr>
          <a:xfrm>
            <a:off x="7616952" y="46209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409"/>
          <p:cNvSpPr txBox="1"/>
          <p:nvPr/>
        </p:nvSpPr>
        <p:spPr>
          <a:xfrm>
            <a:off x="7818120" y="4524146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后根：H C D G B F I E A，附上各自的孩子数。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Q13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完全三叉树：下标 120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一棵完全三叉树，下标为 120 的结点在第几层？（下标从 0 开始，根层数为 0）</a:t>
            </a:r>
            <a:endParaRPr lang="en-US" sz="2000" dirty="0"/>
          </a:p>
        </p:txBody>
      </p:sp>
      <p:sp>
        <p:nvSpPr>
          <p:cNvPr id="7" name="ANS_410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411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412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4400" dirty="0"/>
          </a:p>
        </p:txBody>
      </p:sp>
      <p:sp>
        <p:nvSpPr>
          <p:cNvPr id="10" name="ANS_413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414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415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i 层有 3</a:t>
            </a: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个结点，下标范围：</a:t>
            </a:r>
            <a:endParaRPr lang="en-US" sz="1700" dirty="0"/>
          </a:p>
        </p:txBody>
      </p:sp>
      <p:sp>
        <p:nvSpPr>
          <p:cNvPr id="13" name="ANS_416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417"/>
          <p:cNvSpPr txBox="1"/>
          <p:nvPr/>
        </p:nvSpPr>
        <p:spPr>
          <a:xfrm>
            <a:off x="7818120" y="3416503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0 层 0；第 1 层 1–3；第 2 层 4–12；第 3 层 13–39；第 4 层 40–120</a:t>
            </a:r>
            <a:endParaRPr lang="en-US" sz="1700" dirty="0"/>
          </a:p>
        </p:txBody>
      </p:sp>
      <p:sp>
        <p:nvSpPr>
          <p:cNvPr id="15" name="ANS_418"/>
          <p:cNvSpPr/>
          <p:nvPr/>
        </p:nvSpPr>
        <p:spPr>
          <a:xfrm>
            <a:off x="7616952" y="456300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419"/>
          <p:cNvSpPr txBox="1"/>
          <p:nvPr/>
        </p:nvSpPr>
        <p:spPr>
          <a:xfrm>
            <a:off x="7818120" y="4466234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120 是第 4 层的最后一个结点。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Q14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完全三叉树：下标 121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一棵完全三叉树，下标为 121 的结点在第几层？（下标从 0 开始，根层数为 0）</a:t>
            </a:r>
            <a:endParaRPr lang="en-US" sz="2000" dirty="0"/>
          </a:p>
        </p:txBody>
      </p:sp>
      <p:sp>
        <p:nvSpPr>
          <p:cNvPr id="7" name="ANS_420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421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422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4400" dirty="0"/>
          </a:p>
        </p:txBody>
      </p:sp>
      <p:sp>
        <p:nvSpPr>
          <p:cNvPr id="10" name="ANS_423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424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425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4 层下标 40–120，第 5 层从 121 开始（121–363）。</a:t>
            </a:r>
            <a:endParaRPr lang="en-US" sz="1700" dirty="0"/>
          </a:p>
        </p:txBody>
      </p:sp>
      <p:sp>
        <p:nvSpPr>
          <p:cNvPr id="13" name="ANS_426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427"/>
          <p:cNvSpPr txBox="1"/>
          <p:nvPr/>
        </p:nvSpPr>
        <p:spPr>
          <a:xfrm>
            <a:off x="7818120" y="3416503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121 是第 5 层的第一个结点。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Q15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二叉树转森林：后根序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将下面的二叉树转换为对应的森林，按后根次序列出其结点（字母间无空格）：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6309360" cy="3224784"/>
          </a:xfrm>
          <a:prstGeom prst="roundRect">
            <a:avLst>
              <a:gd name="adj" fmla="val 226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627376"/>
            <a:ext cx="6035040" cy="3224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A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/    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B         G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/ \       /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E   C     H   L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/ \   /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F   D I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J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K</a:t>
            </a:r>
            <a:endParaRPr lang="en-US" sz="1600" dirty="0"/>
          </a:p>
        </p:txBody>
      </p:sp>
      <p:sp>
        <p:nvSpPr>
          <p:cNvPr id="9" name="ANS_428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429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430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EBFCDAIJKHGL</a:t>
            </a:r>
            <a:endParaRPr lang="en-US" sz="3000" dirty="0"/>
          </a:p>
        </p:txBody>
      </p:sp>
      <p:sp>
        <p:nvSpPr>
          <p:cNvPr id="12" name="ANS_431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432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433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左孩子 = 长子，右孩子 = 下一个兄弟。</a:t>
            </a:r>
            <a:endParaRPr lang="en-US" sz="1700" dirty="0"/>
          </a:p>
        </p:txBody>
      </p:sp>
      <p:sp>
        <p:nvSpPr>
          <p:cNvPr id="15" name="ANS_434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435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三棵树：A(B(E), C(F), D)、G(H(I, J, K))、L</a:t>
            </a:r>
            <a:endParaRPr lang="en-US" sz="1700" dirty="0"/>
          </a:p>
        </p:txBody>
      </p:sp>
      <p:sp>
        <p:nvSpPr>
          <p:cNvPr id="17" name="ANS_436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437"/>
          <p:cNvSpPr txBox="1"/>
          <p:nvPr/>
        </p:nvSpPr>
        <p:spPr>
          <a:xfrm>
            <a:off x="7818120" y="4181246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逐棵后根：EBFCDA · IJKHG · L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Q16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二叉树转森林：先根序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将上题的二叉树转换为对应的森林，按先根次序列出其结点：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6309360" cy="3224784"/>
          </a:xfrm>
          <a:prstGeom prst="roundRect">
            <a:avLst>
              <a:gd name="adj" fmla="val 226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627376"/>
            <a:ext cx="6035040" cy="3224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A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/    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B         G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/ \       /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E   C     H   L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/ \   /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F   D I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J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K</a:t>
            </a:r>
            <a:endParaRPr lang="en-US" sz="1600" dirty="0"/>
          </a:p>
        </p:txBody>
      </p:sp>
      <p:sp>
        <p:nvSpPr>
          <p:cNvPr id="9" name="ANS_438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439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440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ABECFDGHIJKL</a:t>
            </a:r>
            <a:endParaRPr lang="en-US" sz="3000" dirty="0"/>
          </a:p>
        </p:txBody>
      </p:sp>
      <p:sp>
        <p:nvSpPr>
          <p:cNvPr id="12" name="ANS_441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442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443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森林：A(B(E), C(F), D)、G(H(I, J, K))、L</a:t>
            </a:r>
            <a:endParaRPr lang="en-US" sz="1700" dirty="0"/>
          </a:p>
        </p:txBody>
      </p:sp>
      <p:sp>
        <p:nvSpPr>
          <p:cNvPr id="15" name="ANS_444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445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逐棵先根：ABECFD · GHIJK · L</a:t>
            </a:r>
            <a:endParaRPr lang="en-US" sz="1700" dirty="0"/>
          </a:p>
        </p:txBody>
      </p:sp>
      <p:sp>
        <p:nvSpPr>
          <p:cNvPr id="17" name="ANS_446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447"/>
          <p:cNvSpPr txBox="1"/>
          <p:nvPr/>
        </p:nvSpPr>
        <p:spPr>
          <a:xfrm>
            <a:off x="7818120" y="4181246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森林的先根序 = 对应二叉树的前序。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Q17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并查集：加权合并（一）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395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对以下等价对，采用「加权合并规则」（小树的根指向大树的根；大小相同时第二棵树的根指向第一棵树的根）进行并查运算，给出最后的父结点数组（根的父结点是它自己）：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297936"/>
            <a:ext cx="6309360" cy="542544"/>
          </a:xfrm>
          <a:prstGeom prst="roundRect">
            <a:avLst>
              <a:gd name="adj" fmla="val 1348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3297936"/>
            <a:ext cx="6035040" cy="542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8-9 3-2 7-4 5-9 6-1 8-6 7-3 2-5 8-0</a:t>
            </a:r>
            <a:endParaRPr lang="en-US" sz="1600" dirty="0"/>
          </a:p>
        </p:txBody>
      </p:sp>
      <p:sp>
        <p:nvSpPr>
          <p:cNvPr id="9" name="ANS_448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449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450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8 6 3 7 7 8 8 8 8 8</a:t>
            </a:r>
            <a:endParaRPr lang="en-US" sz="2600" dirty="0"/>
          </a:p>
        </p:txBody>
      </p:sp>
      <p:sp>
        <p:nvSpPr>
          <p:cNvPr id="12" name="ANS_451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452"/>
          <p:cNvSpPr/>
          <p:nvPr/>
        </p:nvSpPr>
        <p:spPr>
          <a:xfrm>
            <a:off x="7616952" y="274015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453"/>
          <p:cNvSpPr txBox="1"/>
          <p:nvPr/>
        </p:nvSpPr>
        <p:spPr>
          <a:xfrm>
            <a:off x="7818120" y="2651760"/>
            <a:ext cx="352044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8-9、3-2、7-4：等大，9→8、2→3、4→7</a:t>
            </a:r>
            <a:endParaRPr lang="en-US" sz="1600" dirty="0"/>
          </a:p>
        </p:txBody>
      </p:sp>
      <p:sp>
        <p:nvSpPr>
          <p:cNvPr id="15" name="ANS_454"/>
          <p:cNvSpPr/>
          <p:nvPr/>
        </p:nvSpPr>
        <p:spPr>
          <a:xfrm>
            <a:off x="7616952" y="346313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455"/>
          <p:cNvSpPr txBox="1"/>
          <p:nvPr/>
        </p:nvSpPr>
        <p:spPr>
          <a:xfrm>
            <a:off x="7818120" y="3374746"/>
            <a:ext cx="3520440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5-9：{8,9} 大，5→8；6-1：1→6</a:t>
            </a:r>
            <a:endParaRPr lang="en-US" sz="1600" dirty="0"/>
          </a:p>
        </p:txBody>
      </p:sp>
      <p:sp>
        <p:nvSpPr>
          <p:cNvPr id="17" name="ANS_456"/>
          <p:cNvSpPr/>
          <p:nvPr/>
        </p:nvSpPr>
        <p:spPr>
          <a:xfrm>
            <a:off x="7616952" y="391789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457"/>
          <p:cNvSpPr txBox="1"/>
          <p:nvPr/>
        </p:nvSpPr>
        <p:spPr>
          <a:xfrm>
            <a:off x="7818120" y="3829507"/>
            <a:ext cx="352044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8-6：{8,9,5} 大，6→8；7-3：等大，3→7</a:t>
            </a:r>
            <a:endParaRPr lang="en-US" sz="1600" dirty="0"/>
          </a:p>
        </p:txBody>
      </p:sp>
      <p:sp>
        <p:nvSpPr>
          <p:cNvPr id="19" name="ANS_458"/>
          <p:cNvSpPr/>
          <p:nvPr/>
        </p:nvSpPr>
        <p:spPr>
          <a:xfrm>
            <a:off x="7616952" y="4640885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0" name="ANS_459"/>
          <p:cNvSpPr txBox="1"/>
          <p:nvPr/>
        </p:nvSpPr>
        <p:spPr>
          <a:xfrm>
            <a:off x="7818120" y="4552493"/>
            <a:ext cx="352044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2-5：根 7（4 个）并入根 8（5 个），7→8；8-0：0→8</a:t>
            </a:r>
            <a:endParaRPr lang="en-US" sz="1600" dirty="0"/>
          </a:p>
        </p:txBody>
      </p:sp>
      <p:sp>
        <p:nvSpPr>
          <p:cNvPr id="21" name="ANS_460"/>
          <p:cNvSpPr/>
          <p:nvPr/>
        </p:nvSpPr>
        <p:spPr>
          <a:xfrm>
            <a:off x="7616952" y="536387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2" name="ANS_461"/>
          <p:cNvSpPr txBox="1"/>
          <p:nvPr/>
        </p:nvSpPr>
        <p:spPr>
          <a:xfrm>
            <a:off x="7818120" y="5275478"/>
            <a:ext cx="352044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不做路径压缩（压缩后 2 会指向 7）。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Q18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并查集：加权合并（二）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采用同样的规则，对下列等价对进行并查运算，给出最后的父结点数组：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6309360" cy="542544"/>
          </a:xfrm>
          <a:prstGeom prst="roundRect">
            <a:avLst>
              <a:gd name="adj" fmla="val 1348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627376"/>
            <a:ext cx="6035040" cy="542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4-0 6-2 8-4 9-4 3-5 9-5 5-2 1-2 7-1</a:t>
            </a:r>
            <a:endParaRPr lang="en-US" sz="1600" dirty="0"/>
          </a:p>
        </p:txBody>
      </p:sp>
      <p:sp>
        <p:nvSpPr>
          <p:cNvPr id="9" name="ANS_462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463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464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4 4 6 4 4 3 4 4 4 4</a:t>
            </a:r>
            <a:endParaRPr lang="en-US" sz="2600" dirty="0"/>
          </a:p>
        </p:txBody>
      </p:sp>
      <p:sp>
        <p:nvSpPr>
          <p:cNvPr id="12" name="ANS_465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466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467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4-0：0→4；6-2：2→6；8-4、9-4：8→4、9→4</a:t>
            </a:r>
            <a:endParaRPr lang="en-US" sz="1700" dirty="0"/>
          </a:p>
        </p:txBody>
      </p:sp>
      <p:sp>
        <p:nvSpPr>
          <p:cNvPr id="15" name="ANS_468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469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3-5：5→3；9-5：根 3（2 个）→ 根 4（4 个）</a:t>
            </a:r>
            <a:endParaRPr lang="en-US" sz="1700" dirty="0"/>
          </a:p>
        </p:txBody>
      </p:sp>
      <p:sp>
        <p:nvSpPr>
          <p:cNvPr id="17" name="ANS_470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471"/>
          <p:cNvSpPr txBox="1"/>
          <p:nvPr/>
        </p:nvSpPr>
        <p:spPr>
          <a:xfrm>
            <a:off x="7818120" y="4181246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5-2：根 6（2 个）→ 根 4；1-2：1→4；7-1：7→4</a:t>
            </a:r>
            <a:endParaRPr lang="en-US" sz="1700" dirty="0"/>
          </a:p>
        </p:txBody>
      </p:sp>
      <p:sp>
        <p:nvSpPr>
          <p:cNvPr id="19" name="ANS_472"/>
          <p:cNvSpPr/>
          <p:nvPr/>
        </p:nvSpPr>
        <p:spPr>
          <a:xfrm>
            <a:off x="7616952" y="504276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0" name="ANS_473"/>
          <p:cNvSpPr txBox="1"/>
          <p:nvPr/>
        </p:nvSpPr>
        <p:spPr>
          <a:xfrm>
            <a:off x="7818120" y="494599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仍指向 6，5 仍指向 3（不做路径压缩）。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Q19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双标记层次序列 → 后根序（三）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同第 11 题规则，求下列双标记层次序列对应的带度数后根序列：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6309360" cy="1347216"/>
          </a:xfrm>
          <a:prstGeom prst="roundRect">
            <a:avLst>
              <a:gd name="adj" fmla="val 543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627376"/>
            <a:ext cx="6035040" cy="1347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结点 ltag rtag   结点 ltag rtag   结点 ltag rtag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    0    1      B    0    0      G    1    1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    0    0      F    0    1      D    1    0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    1    1      H    1    0      I    1    1</a:t>
            </a:r>
            <a:endParaRPr lang="en-US" sz="1600" dirty="0"/>
          </a:p>
        </p:txBody>
      </p:sp>
      <p:sp>
        <p:nvSpPr>
          <p:cNvPr id="9" name="ANS_474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475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476"/>
          <p:cNvSpPr txBox="1"/>
          <p:nvPr/>
        </p:nvSpPr>
        <p:spPr>
          <a:xfrm>
            <a:off x="7589520" y="1097280"/>
            <a:ext cx="3749040" cy="926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D0 E0 C2 H0 I0 F2 B2 G0 A2</a:t>
            </a:r>
            <a:endParaRPr lang="en-US" sz="2600" dirty="0"/>
          </a:p>
        </p:txBody>
      </p:sp>
      <p:sp>
        <p:nvSpPr>
          <p:cNvPr id="12" name="ANS_477"/>
          <p:cNvSpPr txBox="1"/>
          <p:nvPr/>
        </p:nvSpPr>
        <p:spPr>
          <a:xfrm>
            <a:off x="7589520" y="2252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478"/>
          <p:cNvSpPr/>
          <p:nvPr/>
        </p:nvSpPr>
        <p:spPr>
          <a:xfrm>
            <a:off x="7616952" y="280644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479"/>
          <p:cNvSpPr txBox="1"/>
          <p:nvPr/>
        </p:nvSpPr>
        <p:spPr>
          <a:xfrm>
            <a:off x="7818120" y="2709672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ltag = 0：有孩子；ltag = 1：无孩子。rtag = 0：有右兄弟；rtag = 1：是最后一个兄弟。</a:t>
            </a:r>
            <a:endParaRPr lang="en-US" sz="1700" dirty="0"/>
          </a:p>
        </p:txBody>
      </p:sp>
      <p:sp>
        <p:nvSpPr>
          <p:cNvPr id="15" name="ANS_480"/>
          <p:cNvSpPr/>
          <p:nvPr/>
        </p:nvSpPr>
        <p:spPr>
          <a:xfrm>
            <a:off x="7616952" y="38561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481"/>
          <p:cNvSpPr txBox="1"/>
          <p:nvPr/>
        </p:nvSpPr>
        <p:spPr>
          <a:xfrm>
            <a:off x="7818120" y="37594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A：B G；B：C F；C：D E；F：H I</a:t>
            </a:r>
            <a:endParaRPr lang="en-US" sz="1700" dirty="0"/>
          </a:p>
        </p:txBody>
      </p:sp>
      <p:sp>
        <p:nvSpPr>
          <p:cNvPr id="17" name="ANS_482"/>
          <p:cNvSpPr/>
          <p:nvPr/>
        </p:nvSpPr>
        <p:spPr>
          <a:xfrm>
            <a:off x="7616952" y="46209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483"/>
          <p:cNvSpPr txBox="1"/>
          <p:nvPr/>
        </p:nvSpPr>
        <p:spPr>
          <a:xfrm>
            <a:off x="7818120" y="4524146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后根：D E C H I F B G A，附上各自的孩子数。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49</Slides>
  <Notes>49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5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DSA MOOC Quiz CH05-06</dc:title>
  <dc:subject>PptxGenJS Presentation</dc:subject>
  <dc:creator>Hongfei Yan</dc:creator>
  <cp:lastModifiedBy>Hongfei Yan</cp:lastModifiedBy>
  <cp:revision>1</cp:revision>
  <dcterms:created xsi:type="dcterms:W3CDTF">2026-10-18T12:30:38Z</dcterms:created>
  <dcterms:modified xsi:type="dcterms:W3CDTF">2026-10-18T12:30:38Z</dcterms:modified>
</cp:coreProperties>
</file>