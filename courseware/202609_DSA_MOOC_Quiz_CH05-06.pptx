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讲法：先定树形，再定插入顺序。
1. 深度下限：3 层最多 1+2+4 = 7 个结点，放不下 10 个；4 层最多 15 个，够。要深度 4，根的左、右子树各最多 3 层，即各最多 7 个结点。
2. 选根：按大小排名次 6(1) 9(2) 12(3) 14(4) 29(5) 32(6) 47(7) 63(8) 78(9) 81(10)。名次为 r 的根，左子树 r−1 个、右子树 10−r 个，都 ≤ 7 → 3 ≤ r ≤ 8。根是第一个插入的，要尽量小 → r = 3，根为 12。
   反例：以 6 为根，右子树 9 个；以 9 为根，右子树 8 个，都超过 7，深度至少 5。
3. 子树形状：
   · 左子树 {6, 9} 只有 2 个结点，6 或 9 当根都行。
   · 右子树 {14, 29, 32, 47, 63, 78, 81} 恰好 7 个，必须是 3 层满树，每层取中位数：根 47；左边 {14, 29, 32} 以 29 为根；右边 {63, 78, 81} 以 78 为根。
4. 插入顺序：唯一约束是祖先先于后代。每步插入「当前可插入的元素」中最小的：
   12 → {6/9, 47} 选 6 → {9, 47} 选 9 → 47 → {29, 78} 选 29 → {14, 32, 78} 选 14 → 32 → 78 → {63, 81} 选 63 → 81。
   得 12 6 9 47 29 14 32 78 63 81。
最终的树（可在白板画出）：
          12
        /    \
       6      47
        \    /   \
         9  29    78
           / \   /  \
          14 32 63  81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讲法：先看树长什么样，再数每个关键码的比较次数，最后取平均。
1. 树退化成链：设 k1 &lt; k2 &lt; … &lt; kn，按此顺序插入。k1 成为根；k2 比 k1 大，挂在 k1 右边；k3 比已有的都大，一路向右，挂在 k2 右边……每个新关键码都走到最右端，得到只有右孩子的斜链，深度为 n：
   k1
     \
      k2
        \
         k3
           \
            …
              \
               kn
2. 比较次数：查找从根开始，每经过一个结点比较一次。ki 在第 i 层，要经过 k1, k2, …, ki，所以查 ki 比较 i 次。
3. 取平均：每个关键码被查的概率都是 1/n，
   ASL = (1/n)·(1 + 2 + … + n) = (1/n)·n(n+1)/2 = (n+1)/2。
   验证 n = 3：比较 1、2、3 次，平均 2 = (3+1)/2。
4. 对比（引出平衡树）：同样 n 个结点，若树接近平衡，深度约 log₂n，平均比较 O(log n)；递增插入使 BST 退化为链表，平均比较 O(n)，与顺序查找相同。这正是后面讲 AVL 树、红黑树的动机。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二叉树（上）（10 题） · 第五章 二叉树（下）（16 题） · 第六章 树（19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遍历序列何时相同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下列关于二叉树遍历的说法正确的有：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86661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86661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557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前序与中序相同的二叉树，只能是空树或独根树。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094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1094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79853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所有结点左子树为空的二叉树，前序与中序相同。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3522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0413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所有结点右子树为空的二叉树，前序与中序相同。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59506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359506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2841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只有空树和独根树的前序与后序相同。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83787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83787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5269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所有结点左子树为空的二叉树，前序与后序相同。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08069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8069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76979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所有结点右子树为空的二叉树，前序与后序相同。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632350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632350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60126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只有空树和独根树的中序与后序相同。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05663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02554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所有结点左子树为空的二叉树，中序与后序相同。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48091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48091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982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所有结点右子树为空的二叉树，中序与后序相同。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905195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905195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587410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存在一棵非空二叉树，它的前序、中序、后序都相同。</a:t>
            </a:r>
            <a:endParaRPr lang="en-US" sz="1200" dirty="0"/>
          </a:p>
        </p:txBody>
      </p:sp>
      <p:sp>
        <p:nvSpPr>
          <p:cNvPr id="37" name="ANS_0"/>
          <p:cNvSpPr/>
          <p:nvPr/>
        </p:nvSpPr>
        <p:spPr>
          <a:xfrm>
            <a:off x="457200" y="2443277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8" name="ANS_1"/>
          <p:cNvSpPr/>
          <p:nvPr/>
        </p:nvSpPr>
        <p:spPr>
          <a:xfrm>
            <a:off x="457200" y="329184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9" name="ANS_2"/>
          <p:cNvSpPr/>
          <p:nvPr/>
        </p:nvSpPr>
        <p:spPr>
          <a:xfrm>
            <a:off x="457200" y="5413248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0" name="ANS_3"/>
          <p:cNvSpPr/>
          <p:nvPr/>
        </p:nvSpPr>
        <p:spPr>
          <a:xfrm>
            <a:off x="457200" y="583753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1" name="ANS_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42" name="ANS_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43" name="ANS_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B、D、I、J</a:t>
            </a:r>
            <a:endParaRPr lang="en-US" sz="3600" dirty="0"/>
          </a:p>
        </p:txBody>
      </p:sp>
      <p:sp>
        <p:nvSpPr>
          <p:cNvPr id="44" name="ANS_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45" name="ANS_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6" name="ANS_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左子树全空：前序 = 根,右…，中序 = 根,右… → 相同（B ✓，A ✗）。</a:t>
            </a:r>
            <a:endParaRPr lang="en-US" sz="1700" dirty="0"/>
          </a:p>
        </p:txBody>
      </p:sp>
      <p:sp>
        <p:nvSpPr>
          <p:cNvPr id="47" name="ANS_1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8" name="ANS_11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右子树全空：中序 = 左…,根，后序 = 左…,根 → 相同（I ✓，G ✗）。</a:t>
            </a:r>
            <a:endParaRPr lang="en-US" sz="1700" dirty="0"/>
          </a:p>
        </p:txBody>
      </p:sp>
      <p:sp>
        <p:nvSpPr>
          <p:cNvPr id="49" name="ANS_12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0" name="ANS_13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2 时根在前序第一、后序最后，二者必不同（D ✓，E、F ✗）。</a:t>
            </a:r>
            <a:endParaRPr lang="en-US" sz="1700" dirty="0"/>
          </a:p>
        </p:txBody>
      </p:sp>
      <p:sp>
        <p:nvSpPr>
          <p:cNvPr id="51" name="ANS_14"/>
          <p:cNvSpPr/>
          <p:nvPr/>
        </p:nvSpPr>
        <p:spPr>
          <a:xfrm>
            <a:off x="7616952" y="589772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2" name="ANS_15"/>
          <p:cNvSpPr txBox="1"/>
          <p:nvPr/>
        </p:nvSpPr>
        <p:spPr>
          <a:xfrm>
            <a:off x="7818120" y="580095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独根树三种序列都相同（J ✓）。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下列关于二叉树性质的说法正确的有：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363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363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03399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非空满二叉树的结点个数一定为奇数个。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404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404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73985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非完全二叉树也可以像完全二叉树那样使用顺序存储结构进行存储。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8427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427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421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当一棵完全二叉树是满二叉树时，叶子结点不一定集中在最下面一层。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45450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450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444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完全二叉树最多只有最下面的一层结点度数可以小于 2。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22472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2472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8467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一棵非空二叉树的为空的外部结点数目等于其结点数加 1。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895137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5137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54903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满二叉树的所有结点的度均为 2。</a:t>
            </a:r>
            <a:endParaRPr lang="en-US" sz="1700" dirty="0"/>
          </a:p>
        </p:txBody>
      </p:sp>
      <p:sp>
        <p:nvSpPr>
          <p:cNvPr id="25" name="ANS_16"/>
          <p:cNvSpPr/>
          <p:nvPr/>
        </p:nvSpPr>
        <p:spPr>
          <a:xfrm>
            <a:off x="457200" y="2166823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7"/>
          <p:cNvSpPr/>
          <p:nvPr/>
        </p:nvSpPr>
        <p:spPr>
          <a:xfrm>
            <a:off x="457200" y="350763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8"/>
          <p:cNvSpPr/>
          <p:nvPr/>
        </p:nvSpPr>
        <p:spPr>
          <a:xfrm>
            <a:off x="457200" y="504809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23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24"/>
          <p:cNvSpPr txBox="1"/>
          <p:nvPr/>
        </p:nvSpPr>
        <p:spPr>
          <a:xfrm>
            <a:off x="7818120" y="2651760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满二叉树：每个结点度为 0 或 2；n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+ 1，总数 2n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 为奇数（A ✓，F ✗ 叶子度为 0）。</a:t>
            </a:r>
            <a:endParaRPr lang="en-US" sz="1500" dirty="0"/>
          </a:p>
        </p:txBody>
      </p:sp>
      <p:sp>
        <p:nvSpPr>
          <p:cNvPr id="34" name="ANS_25"/>
          <p:cNvSpPr/>
          <p:nvPr/>
        </p:nvSpPr>
        <p:spPr>
          <a:xfrm>
            <a:off x="7616952" y="366445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26"/>
          <p:cNvSpPr txBox="1"/>
          <p:nvPr/>
        </p:nvSpPr>
        <p:spPr>
          <a:xfrm>
            <a:off x="7818120" y="358444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满且完全的树，叶子可以分布在最后两层（C ✓）。</a:t>
            </a:r>
            <a:endParaRPr lang="en-US" sz="1500" dirty="0"/>
          </a:p>
        </p:txBody>
      </p:sp>
      <p:sp>
        <p:nvSpPr>
          <p:cNvPr id="36" name="ANS_27"/>
          <p:cNvSpPr/>
          <p:nvPr/>
        </p:nvSpPr>
        <p:spPr>
          <a:xfrm>
            <a:off x="7616952" y="434568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28"/>
          <p:cNvSpPr txBox="1"/>
          <p:nvPr/>
        </p:nvSpPr>
        <p:spPr>
          <a:xfrm>
            <a:off x="7818120" y="426567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倒数第二层的结点也可能度数小于 2。</a:t>
            </a:r>
            <a:endParaRPr lang="en-US" sz="1500" dirty="0"/>
          </a:p>
        </p:txBody>
      </p:sp>
      <p:sp>
        <p:nvSpPr>
          <p:cNvPr id="38" name="ANS_29"/>
          <p:cNvSpPr/>
          <p:nvPr/>
        </p:nvSpPr>
        <p:spPr>
          <a:xfrm>
            <a:off x="7616952" y="502691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0"/>
          <p:cNvSpPr txBox="1"/>
          <p:nvPr/>
        </p:nvSpPr>
        <p:spPr>
          <a:xfrm>
            <a:off x="7818120" y="4946904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个结点有 2n 个指针域，用掉 n−1 个，空指针 n+1 个（E ✓）。</a:t>
            </a:r>
            <a:endParaRPr lang="en-US" sz="1500" dirty="0"/>
          </a:p>
        </p:txBody>
      </p:sp>
      <p:sp>
        <p:nvSpPr>
          <p:cNvPr id="40" name="ANS_31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32"/>
          <p:cNvSpPr txBox="1"/>
          <p:nvPr/>
        </p:nvSpPr>
        <p:spPr>
          <a:xfrm>
            <a:off x="7818120" y="562813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非完全二叉树要补空位才能按下标存储。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完全二叉树高度（512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512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3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3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n⌋ + 1。</a:t>
            </a:r>
            <a:endParaRPr lang="en-US" sz="1700" dirty="0"/>
          </a:p>
        </p:txBody>
      </p:sp>
      <p:sp>
        <p:nvSpPr>
          <p:cNvPr id="13" name="ANS_3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512⌋ + 1 = 9 + 1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完全二叉树高度（510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510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4400" dirty="0"/>
          </a:p>
        </p:txBody>
      </p:sp>
      <p:sp>
        <p:nvSpPr>
          <p:cNvPr id="10" name="ANS_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256 ≤ 510 &lt;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700" dirty="0"/>
          </a:p>
        </p:txBody>
      </p:sp>
      <p:sp>
        <p:nvSpPr>
          <p:cNvPr id="13" name="ANS_4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510⌋ + 1 = 8 + 1 = 9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写出下面二叉树的后序遍历序列（字母间无空格；Q 是 H 的左孩子）：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LMXCPKEQHADB</a:t>
            </a:r>
            <a:endParaRPr lang="en-US" sz="3000" dirty="0"/>
          </a:p>
        </p:txBody>
      </p:sp>
      <p:sp>
        <p:nvSpPr>
          <p:cNvPr id="12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  <p:sp>
        <p:nvSpPr>
          <p:cNvPr id="15" name="ANS_5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6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M X C P K E</a:t>
            </a:r>
            <a:endParaRPr lang="en-US" sz="1700" dirty="0"/>
          </a:p>
        </p:txBody>
      </p:sp>
      <p:sp>
        <p:nvSpPr>
          <p:cNvPr id="17" name="ANS_57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58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D：Q H A D</a:t>
            </a:r>
            <a:endParaRPr lang="en-US" sz="1700" dirty="0"/>
          </a:p>
        </p:txBody>
      </p:sp>
      <p:sp>
        <p:nvSpPr>
          <p:cNvPr id="19" name="ANS_59"/>
          <p:cNvSpPr/>
          <p:nvPr/>
        </p:nvSpPr>
        <p:spPr>
          <a:xfrm>
            <a:off x="7616952" y="418780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60"/>
          <p:cNvSpPr txBox="1"/>
          <p:nvPr/>
        </p:nvSpPr>
        <p:spPr>
          <a:xfrm>
            <a:off x="7818120" y="409102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最后根 B。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二叉树的中序遍历序列（字母间无空格）：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LXMECKPBQHDA</a:t>
            </a:r>
            <a:endParaRPr lang="en-US" sz="3000" dirty="0"/>
          </a:p>
        </p:txBody>
      </p:sp>
      <p:sp>
        <p:nvSpPr>
          <p:cNvPr id="12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中序：左 → 根 → 右。</a:t>
            </a:r>
            <a:endParaRPr lang="en-US" sz="1700" dirty="0"/>
          </a:p>
        </p:txBody>
      </p:sp>
      <p:sp>
        <p:nvSpPr>
          <p:cNvPr id="15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X M E C K P</a:t>
            </a:r>
            <a:endParaRPr lang="en-US" sz="1700" dirty="0"/>
          </a:p>
        </p:txBody>
      </p:sp>
      <p:sp>
        <p:nvSpPr>
          <p:cNvPr id="17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B，右子树 D：Q H D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二叉树的前序遍历序列（字母间无空格）：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BEXLMKCPDHQA</a:t>
            </a:r>
            <a:endParaRPr lang="en-US" sz="3000" dirty="0"/>
          </a:p>
        </p:txBody>
      </p:sp>
      <p:sp>
        <p:nvSpPr>
          <p:cNvPr id="12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  <p:sp>
        <p:nvSpPr>
          <p:cNvPr id="15" name="ANS_7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B，左子树 E X L M K C P</a:t>
            </a:r>
            <a:endParaRPr lang="en-US" sz="1700" dirty="0"/>
          </a:p>
        </p:txBody>
      </p:sp>
      <p:sp>
        <p:nvSpPr>
          <p:cNvPr id="17" name="ANS_7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8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 H Q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+ 后序 → 前序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已知一棵二叉树的中序遍历为 DBGEACF，后序遍历为 DGEBFCA，求其前序遍历序列。</a:t>
            </a:r>
            <a:endParaRPr lang="en-US" sz="2000" dirty="0"/>
          </a:p>
        </p:txBody>
      </p:sp>
      <p:sp>
        <p:nvSpPr>
          <p:cNvPr id="7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ABDEGCF</a:t>
            </a:r>
            <a:endParaRPr lang="en-US" sz="4400" dirty="0"/>
          </a:p>
        </p:txBody>
      </p:sp>
      <p:sp>
        <p:nvSpPr>
          <p:cNvPr id="10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后序最后一个 A 是根；中序中 A 左边 DBGE 是左子树，右边 CF 是右子树。</a:t>
            </a:r>
            <a:endParaRPr lang="en-US" sz="1700" dirty="0"/>
          </a:p>
        </p:txBody>
      </p:sp>
      <p:sp>
        <p:nvSpPr>
          <p:cNvPr id="13" name="ANS_8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8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左子树后序 DGEB → 根 B，左 D，右 GE（后序 GE → 根 E，左孩子 G）。</a:t>
            </a:r>
            <a:endParaRPr lang="en-US" sz="1700" dirty="0"/>
          </a:p>
        </p:txBody>
      </p:sp>
      <p:sp>
        <p:nvSpPr>
          <p:cNvPr id="15" name="ANS_8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9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右子树后序 FC → 根 C，右孩子 F。</a:t>
            </a:r>
            <a:endParaRPr lang="en-US" sz="1700" dirty="0"/>
          </a:p>
        </p:txBody>
      </p:sp>
      <p:sp>
        <p:nvSpPr>
          <p:cNvPr id="17" name="ANS_9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92"/>
          <p:cNvSpPr txBox="1"/>
          <p:nvPr/>
        </p:nvSpPr>
        <p:spPr>
          <a:xfrm>
            <a:off x="7818120" y="551596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前序：A B D E G C F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中序 → 后序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已知一棵二叉树的前序遍历为 ABDEGCF，中序遍历为 DBGEACF，求其后序遍历序列。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DGEBFCA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与上一题是同一棵树：前序第一个 A 为根，中序切分左右子树。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B（左 D，右 E，E 的左孩子 G）→ 后序 D G E B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C（右孩子 F）→ 后序 F C，最后根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度数定理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在一棵非空二叉树中，若度为 0 的结点个数为 n，度为 2 的结点个数为 m，则有 n = ____（不含空格）。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 N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，边数 = N − 1。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边数也等于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两式相等得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+ 1，即 n = m + 1。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下列关于二叉搜索树的说法正确的有：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按中序遍历打印各结点，得到由小到大的排列。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若结点 x 的左子树有右子树，则 x 的左子树中存在某个结点，其值介于 x 与 x 左儿子的值之间。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4462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46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当根结点没有左儿子时，根结点一定是值最小的结点。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56346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634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0860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二叉搜索树一定是满二叉树。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750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75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12015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二叉搜索树一定是完全二叉树。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从根一直沿右儿子向下找，不一定能找到值最大的结点。</a:t>
            </a:r>
            <a:endParaRPr lang="en-US" sz="1840" dirty="0"/>
          </a:p>
        </p:txBody>
      </p:sp>
      <p:sp>
        <p:nvSpPr>
          <p:cNvPr id="25" name="ANS_113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14"/>
          <p:cNvSpPr/>
          <p:nvPr/>
        </p:nvSpPr>
        <p:spPr>
          <a:xfrm>
            <a:off x="457200" y="281976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15"/>
          <p:cNvSpPr/>
          <p:nvPr/>
        </p:nvSpPr>
        <p:spPr>
          <a:xfrm>
            <a:off x="457200" y="364589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31" name="ANS_1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1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BST 的中序序列递增。</a:t>
            </a:r>
            <a:endParaRPr lang="en-US" sz="1700" dirty="0"/>
          </a:p>
        </p:txBody>
      </p:sp>
      <p:sp>
        <p:nvSpPr>
          <p:cNvPr id="34" name="ANS_122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23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x 左儿子的右子树里的值，都大于左儿子、小于 x。</a:t>
            </a:r>
            <a:endParaRPr lang="en-US" sz="1700" dirty="0"/>
          </a:p>
        </p:txBody>
      </p:sp>
      <p:sp>
        <p:nvSpPr>
          <p:cNvPr id="36" name="ANS_124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25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 比根小的值都在左子树，左子树空则根最小。</a:t>
            </a:r>
            <a:endParaRPr lang="en-US" sz="1700" dirty="0"/>
          </a:p>
        </p:txBody>
      </p:sp>
      <p:sp>
        <p:nvSpPr>
          <p:cNvPr id="38" name="ANS_126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27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✗ BST 形状任意；F ✗ 最右结点一定最大。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下列关于堆的说法正确的有：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最小堆中，最下面一层最靠右的结点一定是权值最大的结点。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7373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堆是实现优先队列的唯一方法。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34888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88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9402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堆一定是完全二叉树。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最小堆中，某个结点左子树中最大的结点可能比右子树中最小的结点小。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使用筛选法建堆要比将元素一个一个插入堆来建堆效率高。</a:t>
            </a:r>
            <a:endParaRPr lang="en-US" sz="1840" dirty="0"/>
          </a:p>
        </p:txBody>
      </p:sp>
      <p:sp>
        <p:nvSpPr>
          <p:cNvPr id="25" name="ANS_128"/>
          <p:cNvSpPr/>
          <p:nvPr/>
        </p:nvSpPr>
        <p:spPr>
          <a:xfrm>
            <a:off x="457200" y="425744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9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0"/>
          <p:cNvSpPr/>
          <p:nvPr/>
        </p:nvSpPr>
        <p:spPr>
          <a:xfrm>
            <a:off x="457200" y="569512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3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3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3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35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36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堆是完全二叉树，A ✗ 不一定满。</a:t>
            </a:r>
            <a:endParaRPr lang="en-US" sz="1600" dirty="0"/>
          </a:p>
        </p:txBody>
      </p:sp>
      <p:sp>
        <p:nvSpPr>
          <p:cNvPr id="34" name="ANS_137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8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堆只约束父子，最大值可以在任意一个叶子。</a:t>
            </a:r>
            <a:endParaRPr lang="en-US" sz="1600" dirty="0"/>
          </a:p>
        </p:txBody>
      </p:sp>
      <p:sp>
        <p:nvSpPr>
          <p:cNvPr id="36" name="ANS_139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0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也可以用有序表、BST 等实现优先队列。</a:t>
            </a:r>
            <a:endParaRPr lang="en-US" sz="1600" dirty="0"/>
          </a:p>
        </p:txBody>
      </p:sp>
      <p:sp>
        <p:nvSpPr>
          <p:cNvPr id="38" name="ANS_141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42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左右子树之间没有大小约束。</a:t>
            </a:r>
            <a:endParaRPr lang="en-US" sz="1600" dirty="0"/>
          </a:p>
        </p:txBody>
      </p:sp>
      <p:sp>
        <p:nvSpPr>
          <p:cNvPr id="40" name="ANS_143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144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筛选法 O(n)，逐个插入 O(n log n)。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编码的前缀性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一组权值各不相同的字母已构造好 Huffman 编码。若某字母的编码为 001，下列说法正确的是：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001 开头的编码不可能对应其他字母。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000 开头的编码不可能对应任何字母。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133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01 开头和以 1 开头的编码肯定对应某个字母。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建好的 Huffman 树至少包含 4 个叶结点。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0 和 00 可能对应于其他字母。</a:t>
            </a:r>
            <a:endParaRPr lang="en-US" sz="2000" dirty="0"/>
          </a:p>
        </p:txBody>
      </p:sp>
      <p:sp>
        <p:nvSpPr>
          <p:cNvPr id="22" name="ANS_14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46"/>
          <p:cNvSpPr/>
          <p:nvPr/>
        </p:nvSpPr>
        <p:spPr>
          <a:xfrm>
            <a:off x="457200" y="3907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147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1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1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1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8" name="ANS_1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1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树中内部结点都有两个孩子（满二叉树）。</a:t>
            </a:r>
            <a:endParaRPr lang="en-US" sz="1600" dirty="0"/>
          </a:p>
        </p:txBody>
      </p:sp>
      <p:sp>
        <p:nvSpPr>
          <p:cNvPr id="31" name="ANS_1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55"/>
          <p:cNvSpPr txBox="1"/>
          <p:nvPr/>
        </p:nvSpPr>
        <p:spPr>
          <a:xfrm>
            <a:off x="7818120" y="3374746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 是叶子，所以 00 有兄弟 000，0 有兄弟 1，00 有兄弟 01，各子树下都有叶子（B ✗，C ✓）。</a:t>
            </a:r>
            <a:endParaRPr lang="en-US" sz="1600" dirty="0"/>
          </a:p>
        </p:txBody>
      </p:sp>
      <p:sp>
        <p:nvSpPr>
          <p:cNvPr id="33" name="ANS_156"/>
          <p:cNvSpPr/>
          <p:nvPr/>
        </p:nvSpPr>
        <p:spPr>
          <a:xfrm>
            <a:off x="7616952" y="445434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57"/>
          <p:cNvSpPr txBox="1"/>
          <p:nvPr/>
        </p:nvSpPr>
        <p:spPr>
          <a:xfrm>
            <a:off x="7818120" y="4365955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000、001、01、1 下至少各一个叶子 → 至少 4 个叶子（D ✓）。</a:t>
            </a:r>
            <a:endParaRPr lang="en-US" sz="1600" dirty="0"/>
          </a:p>
        </p:txBody>
      </p:sp>
      <p:sp>
        <p:nvSpPr>
          <p:cNvPr id="35" name="ANS_158"/>
          <p:cNvSpPr/>
          <p:nvPr/>
        </p:nvSpPr>
        <p:spPr>
          <a:xfrm>
            <a:off x="7616952" y="517733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59"/>
          <p:cNvSpPr txBox="1"/>
          <p:nvPr/>
        </p:nvSpPr>
        <p:spPr>
          <a:xfrm>
            <a:off x="7818120" y="5088941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前缀码：001 不是别的编码的前缀（A ✓）；0、00 是内部结点（E ✗）。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树与编码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71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Huffman 树和 Huffman 编码的说法正确的有：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60811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81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55324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21966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1966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6479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编码是一种前缀编码。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312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2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7635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树一定是完全二叉树。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44276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27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8790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编码中所有编码都是等长的。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6160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616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9945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对于同样一组两两不同的权值，可以得到不同的 Huffman 编码方案。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8044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804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2558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使用频率越高的字母，Huffman 编码越长。</a:t>
            </a:r>
            <a:endParaRPr lang="en-US" sz="1840" dirty="0"/>
          </a:p>
        </p:txBody>
      </p:sp>
      <p:sp>
        <p:nvSpPr>
          <p:cNvPr id="25" name="ANS_160"/>
          <p:cNvSpPr/>
          <p:nvPr/>
        </p:nvSpPr>
        <p:spPr>
          <a:xfrm>
            <a:off x="457200" y="251667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61"/>
          <p:cNvSpPr/>
          <p:nvPr/>
        </p:nvSpPr>
        <p:spPr>
          <a:xfrm>
            <a:off x="457200" y="312822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62"/>
          <p:cNvSpPr/>
          <p:nvPr/>
        </p:nvSpPr>
        <p:spPr>
          <a:xfrm>
            <a:off x="457200" y="496287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</a:t>
            </a:r>
            <a:endParaRPr lang="en-US" sz="4400" dirty="0"/>
          </a:p>
        </p:txBody>
      </p:sp>
      <p:sp>
        <p:nvSpPr>
          <p:cNvPr id="31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每次合并两棵树，内部结点度都为 2；C ✗ 不一定完全。</a:t>
            </a:r>
            <a:endParaRPr lang="en-US" sz="1700" dirty="0"/>
          </a:p>
        </p:txBody>
      </p:sp>
      <p:sp>
        <p:nvSpPr>
          <p:cNvPr id="34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7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字母都在叶子上，编码互不为前缀。</a:t>
            </a:r>
            <a:endParaRPr lang="en-US" sz="1700" dirty="0"/>
          </a:p>
        </p:txBody>
      </p:sp>
      <p:sp>
        <p:nvSpPr>
          <p:cNvPr id="36" name="ANS_17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7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左右孩子标 0/1 可以互换，编码不同而总长相同。</a:t>
            </a:r>
            <a:endParaRPr lang="en-US" sz="1700" dirty="0"/>
          </a:p>
        </p:txBody>
      </p:sp>
      <p:sp>
        <p:nvSpPr>
          <p:cNvPr id="38" name="ANS_173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74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变长编码；F ✗ 频率越高编码越短。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对于下面的最大堆，删除最大元素后，堆的后序遍历结果是（数字间用空格隔开）：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12 23 24 28 5 37 43 48 3 57 59</a:t>
            </a:r>
            <a:endParaRPr lang="en-US" sz="2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65，把堆尾 3 移到堆顶。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8942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下沉：与较大孩子 59 交换，再与较大孩子 57 交换，落在叶子。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0509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39541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新堆：59；43、57；24、37、48、3；12、23、28、5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48156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7189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对于题 5 的最大堆，删除最大元素后，堆的前序遍历结果是（数字间用空格隔开）：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59 43 24 12 23 37 28 5 57 48 3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调整后的堆同上题（根为 59）。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18942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筛选法建最小堆的交换次数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对关键码序列 {38, 64, 52, 15, 73, 40, 48, 55, 26, 12} 用筛选法建最小值堆，若一旦发现逆序对就进行交换，共需要交换元素多少次？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从最后一个分支结点（第 5 个）往前逐个下沉。</a:t>
            </a:r>
            <a:endParaRPr lang="en-US" sz="1600" dirty="0"/>
          </a:p>
        </p:txBody>
      </p:sp>
      <p:sp>
        <p:nvSpPr>
          <p:cNvPr id="13" name="ANS_201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与 12 交换：1 次；15 不动：0 次</a:t>
            </a:r>
            <a:endParaRPr lang="en-US" sz="1600" dirty="0"/>
          </a:p>
        </p:txBody>
      </p:sp>
      <p:sp>
        <p:nvSpPr>
          <p:cNvPr id="15" name="ANS_203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04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与 40 交换：1 次；64 与 12 交换：1 次</a:t>
            </a:r>
            <a:endParaRPr lang="en-US" sz="1600" dirty="0"/>
          </a:p>
        </p:txBody>
      </p:sp>
      <p:sp>
        <p:nvSpPr>
          <p:cNvPr id="17" name="ANS_205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06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 依次与 12、15、26 交换：3 次</a:t>
            </a:r>
            <a:endParaRPr lang="en-US" sz="1600" dirty="0"/>
          </a:p>
        </p:txBody>
      </p:sp>
      <p:sp>
        <p:nvSpPr>
          <p:cNvPr id="19" name="ANS_207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08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次，得 [12, 15, 40, 26, 64, 52, 48, 55, 38, 73]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深度最小的插入顺序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从空二叉树开始，按二叉搜索树插入算法，以怎样的顺序插入 {14, 32, 47, 6, 9, 12, 78, 63, 29, 81} 可使树的深度最小？（有多种时，使先插入的元素尽可能小，数字间用单空格隔开）</a:t>
            </a:r>
            <a:endParaRPr lang="en-US" sz="2000" dirty="0"/>
          </a:p>
        </p:txBody>
      </p:sp>
      <p:sp>
        <p:nvSpPr>
          <p:cNvPr id="7" name="ANS_20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12 6 9 47 29 14 32 78 63 81</a:t>
            </a:r>
            <a:endParaRPr lang="en-US" sz="2600" dirty="0"/>
          </a:p>
        </p:txBody>
      </p:sp>
      <p:sp>
        <p:nvSpPr>
          <p:cNvPr id="10" name="ANS_21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1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4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个结点最小深度为 4，左右子树各最多 7 个结点。</a:t>
            </a:r>
            <a:endParaRPr lang="en-US" sz="1700" dirty="0"/>
          </a:p>
        </p:txBody>
      </p:sp>
      <p:sp>
        <p:nvSpPr>
          <p:cNvPr id="13" name="ANS_215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16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根的名次至少为 3 → 最小的可行根是 12，左子树 {6, 9}。</a:t>
            </a:r>
            <a:endParaRPr lang="en-US" sz="1700" dirty="0"/>
          </a:p>
        </p:txBody>
      </p:sp>
      <p:sp>
        <p:nvSpPr>
          <p:cNvPr id="15" name="ANS_217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18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7 个结点须是满树：根 47，再分别以 29、78 为根。</a:t>
            </a:r>
            <a:endParaRPr lang="en-US" sz="1700" dirty="0"/>
          </a:p>
        </p:txBody>
      </p:sp>
      <p:sp>
        <p:nvSpPr>
          <p:cNvPr id="17" name="ANS_219"/>
          <p:cNvSpPr/>
          <p:nvPr/>
        </p:nvSpPr>
        <p:spPr>
          <a:xfrm>
            <a:off x="7616952" y="51006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0"/>
          <p:cNvSpPr txBox="1"/>
          <p:nvPr/>
        </p:nvSpPr>
        <p:spPr>
          <a:xfrm>
            <a:off x="7818120" y="50039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每步都选当前能保证深度 4 的最小元素。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从空二叉树开始，逐个插入关键码 {18, 73, 10, 5, 68, 99, 27, 41, 51, 32, 25} 构造二叉搜索树，其后序遍历结果为：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3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5 10 25 32 51 41 27 68 99 73 18</a:t>
            </a:r>
            <a:endParaRPr lang="en-US" sz="2600" dirty="0"/>
          </a:p>
        </p:txBody>
      </p:sp>
      <p:sp>
        <p:nvSpPr>
          <p:cNvPr id="12" name="ANS_224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25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6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按插入顺序逐个比较落位，得到左图的树。</a:t>
            </a:r>
            <a:endParaRPr lang="en-US" sz="1700" dirty="0"/>
          </a:p>
        </p:txBody>
      </p:sp>
      <p:sp>
        <p:nvSpPr>
          <p:cNvPr id="15" name="ANS_227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8"/>
          <p:cNvSpPr txBox="1"/>
          <p:nvPr/>
        </p:nvSpPr>
        <p:spPr>
          <a:xfrm>
            <a:off x="7818120" y="34744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如题 9 同样地，该树的前序遍历结果为：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3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18 10 5 73 68 27 25 41 32 51 99</a:t>
            </a:r>
            <a:endParaRPr lang="en-US" sz="2600" dirty="0"/>
          </a:p>
        </p:txBody>
      </p:sp>
      <p:sp>
        <p:nvSpPr>
          <p:cNvPr id="12" name="ANS_23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4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递增插入的平均比较次数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按关键码递增的顺序依次将 n 个关键码插入二叉搜索树，检索时每个关键码等概率被选取，平均比较次数为多少？</a:t>
            </a:r>
            <a:endParaRPr lang="en-US" sz="2000" dirty="0"/>
          </a:p>
        </p:txBody>
      </p:sp>
      <p:sp>
        <p:nvSpPr>
          <p:cNvPr id="7" name="ANS_23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endParaRPr lang="en-US" sz="4400" dirty="0"/>
          </a:p>
        </p:txBody>
      </p:sp>
      <p:sp>
        <p:nvSpPr>
          <p:cNvPr id="10" name="ANS_23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4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递增插入时 BST 退化为一条右斜链。</a:t>
            </a:r>
            <a:endParaRPr lang="en-US" sz="1700" dirty="0"/>
          </a:p>
        </p:txBody>
      </p:sp>
      <p:sp>
        <p:nvSpPr>
          <p:cNvPr id="13" name="ANS_24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42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查第 i 个关键码要比较 i 次。</a:t>
            </a:r>
            <a:endParaRPr lang="en-US" sz="1700" dirty="0"/>
          </a:p>
        </p:txBody>
      </p:sp>
      <p:sp>
        <p:nvSpPr>
          <p:cNvPr id="15" name="ANS_243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4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 + 2 + … + n) / n = (n+1)/2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状态栈：后序访问点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下面用栈与 tag 标记模拟递归遍历。若用它做后序遍历，应在几号访问点访问？（只填数字）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67477"/>
          </a:xfrm>
          <a:prstGeom prst="roundRect">
            <a:avLst>
              <a:gd name="adj" fmla="val 223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67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(!aStack.empty() || pointer)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(pointer != NULL)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1号访问点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element.pointer = pointer; element.tag = Left;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aStack.push(element); pointer = pointer-&gt;leftchild();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element = aStack.top(); aStack.pop(); pointer = element.pointer;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(element.tag == Left)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2号访问点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element.tag = Right; aStack.push(element);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pointer-&gt;rightchild();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3号访问点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NULL;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6" dirty="0"/>
          </a:p>
        </p:txBody>
      </p:sp>
      <p:sp>
        <p:nvSpPr>
          <p:cNvPr id="9" name="ANS_24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4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4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ANS_24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4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号：第一次遇到结点、准备向左走 → 前序位置。</a:t>
            </a:r>
            <a:endParaRPr lang="en-US" sz="1700" dirty="0"/>
          </a:p>
        </p:txBody>
      </p:sp>
      <p:sp>
        <p:nvSpPr>
          <p:cNvPr id="15" name="ANS_25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5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号：左子树处理完、tag 改为 Right 转向右子树 → 中序位置。</a:t>
            </a:r>
            <a:endParaRPr lang="en-US" sz="1700" dirty="0"/>
          </a:p>
        </p:txBody>
      </p:sp>
      <p:sp>
        <p:nvSpPr>
          <p:cNvPr id="17" name="ANS_25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5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号：右子树也处理完、结点最终出栈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后序位置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9" name="ANS_25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5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用来区分结点是从左子树还是从右子树返回。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状态栈：中序访问点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的代码用来进行中序遍历，应在几号访问点访问？（只填数字）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号访问点在左子树遍历完、转向右子树之前 → 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状态栈：前序访问点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的代码用来进行前序遍历，应在几号访问点访问？（只填数字）</a:t>
            </a:r>
            <a:endParaRPr lang="en-US" sz="2000" dirty="0"/>
          </a:p>
        </p:txBody>
      </p:sp>
      <p:sp>
        <p:nvSpPr>
          <p:cNvPr id="7" name="ANS_2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2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号访问点在结点第一次入栈、还没进入左子树时 → 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三叉 Huffman 树的 WPL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对于权值 W = {1, 4, 9, 16, 25, 36, 49, 64, 81, 100}，构造一棵具有最小带权外部路径长度的三叉树，写出其带权外部路径长度。</a:t>
            </a:r>
            <a:endParaRPr lang="en-US" sz="2000" dirty="0"/>
          </a:p>
        </p:txBody>
      </p:sp>
      <p:sp>
        <p:nvSpPr>
          <p:cNvPr id="7" name="ANS_26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7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705</a:t>
            </a:r>
            <a:endParaRPr lang="en-US" sz="4400" dirty="0"/>
          </a:p>
        </p:txBody>
      </p:sp>
      <p:sp>
        <p:nvSpPr>
          <p:cNvPr id="10" name="ANS_27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7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7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 Huffman 需 (n−1) mod (k−1) = 0；(10−1) mod 2 = 1，补 1 个权为 0 的虚叶子。</a:t>
            </a:r>
            <a:endParaRPr lang="en-US" sz="1700" dirty="0"/>
          </a:p>
        </p:txBody>
      </p:sp>
      <p:sp>
        <p:nvSpPr>
          <p:cNvPr id="13" name="ANS_27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76"/>
          <p:cNvSpPr txBox="1"/>
          <p:nvPr/>
        </p:nvSpPr>
        <p:spPr>
          <a:xfrm>
            <a:off x="7818120" y="3701491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每次合并最小的三个：0+1+4 = 5，5+9+16 = 30，25+30+36 = 91，49+64+81 = 194，91+100+194 = 385</a:t>
            </a:r>
            <a:endParaRPr lang="en-US" sz="1700" dirty="0"/>
          </a:p>
        </p:txBody>
      </p:sp>
      <p:sp>
        <p:nvSpPr>
          <p:cNvPr id="15" name="ANS_277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78"/>
          <p:cNvSpPr txBox="1"/>
          <p:nvPr/>
        </p:nvSpPr>
        <p:spPr>
          <a:xfrm>
            <a:off x="7818120" y="503621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各内部结点权之和 = 5 + 30 + 91 + 194 + 385 = 705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节约的比特数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下表是一段文本中每个字母出现的次数。对这段文本使用 Huffman 编码，相较于等长编码可以节约多少比特？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62656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NS_2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2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2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1" name="ANS_2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2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28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49 个字符；5 种字母等长编码需 3 位：49 × 3 = 147 bits。</a:t>
            </a:r>
            <a:endParaRPr lang="en-US" sz="1700" dirty="0"/>
          </a:p>
        </p:txBody>
      </p:sp>
      <p:sp>
        <p:nvSpPr>
          <p:cNvPr id="14" name="ANS_28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28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合并：4+8 = 12，9+12 = 21，12+16 = 28，21+28 = 49</a:t>
            </a:r>
            <a:endParaRPr lang="en-US" sz="1700" dirty="0"/>
          </a:p>
        </p:txBody>
      </p:sp>
      <p:sp>
        <p:nvSpPr>
          <p:cNvPr id="16" name="ANS_28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88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总长 = 12 + 21 + 28 + 49 = 110 bits</a:t>
            </a:r>
            <a:endParaRPr lang="en-US" sz="1700" dirty="0"/>
          </a:p>
        </p:txBody>
      </p:sp>
      <p:sp>
        <p:nvSpPr>
          <p:cNvPr id="18" name="ANS_289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90"/>
          <p:cNvSpPr txBox="1"/>
          <p:nvPr/>
        </p:nvSpPr>
        <p:spPr>
          <a:xfrm>
            <a:off x="7818120" y="52309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节约 147 − 110 = 37 bits。</a:t>
            </a:r>
            <a:endParaRPr lang="en-US" sz="1700" dirty="0"/>
          </a:p>
        </p:txBody>
      </p:sp>
      <p:sp>
        <p:nvSpPr>
          <p:cNvPr id="20" name="ANS_291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2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36。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19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森林转二叉树：右子树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的右子树中有多少个结点？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n1+n3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n2+n3</a:t>
            </a:r>
            <a:endParaRPr lang="en-US" sz="2000" dirty="0"/>
          </a:p>
        </p:txBody>
      </p:sp>
      <p:sp>
        <p:nvSpPr>
          <p:cNvPr id="15" name="ANS_293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2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的根是 B 的根；T1 根的子树们转成 B 的左子树。</a:t>
            </a:r>
            <a:endParaRPr lang="en-US" sz="1700" dirty="0"/>
          </a:p>
        </p:txBody>
      </p:sp>
      <p:sp>
        <p:nvSpPr>
          <p:cNvPr id="22" name="ANS_3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301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 作为 T1 根的「右兄弟」，转成 B 的右子树：n2 + n3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02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个结点，i = 0…h。</a:t>
            </a:r>
            <a:endParaRPr lang="en-US" sz="1700" dirty="0"/>
          </a:p>
        </p:txBody>
      </p:sp>
      <p:sp>
        <p:nvSpPr>
          <p:cNvPr id="26" name="ANS_3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1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k + … +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(k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叉树，最多有多少个叶结点？（独根树深度为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11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1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1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31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1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1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叶结点全在最后一层（第 h 层），最多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 = 二叉树的？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将一棵树 T 转换为左子/右兄链表表示的二叉树 B，则 T 的后根次序遍历序列是 B 的相应 ____ 序列。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层次遍历</a:t>
            </a:r>
            <a:endParaRPr lang="en-US" sz="2000" dirty="0"/>
          </a:p>
        </p:txBody>
      </p:sp>
      <p:sp>
        <p:nvSpPr>
          <p:cNvPr id="19" name="ANS_318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2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树的先根序 = 二叉树的前序。</a:t>
            </a:r>
            <a:endParaRPr lang="en-US" sz="1700" dirty="0"/>
          </a:p>
        </p:txBody>
      </p:sp>
      <p:sp>
        <p:nvSpPr>
          <p:cNvPr id="26" name="ANS_32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26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树的后根序：先各子树、后根；在二叉树里子树在根的左子树中，兄弟在右子树中 → 恰是中序。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森林转二叉树：左子树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的左子树中有多少个结点？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n2−1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n3−1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n1−1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15" name="ANS_327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3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3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3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3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的左子树由 T1 去掉根后的子树们转成：n1 − 1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树的非叶结点数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若一棵 2-3 树有 9 个叶结点，那么它可能有多少个非叶结点？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5" name="ANS_334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35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33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33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33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A、D</a:t>
            </a:r>
            <a:endParaRPr lang="en-US" sz="4400" dirty="0"/>
          </a:p>
        </p:txBody>
      </p:sp>
      <p:sp>
        <p:nvSpPr>
          <p:cNvPr id="20" name="ANS_33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34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34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树的叶子都在同一层，每个非叶结点有 2 或 3 个孩子。</a:t>
            </a:r>
            <a:endParaRPr lang="en-US" sz="1700" dirty="0"/>
          </a:p>
        </p:txBody>
      </p:sp>
      <p:sp>
        <p:nvSpPr>
          <p:cNvPr id="23" name="ANS_34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4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叶子上一层 3 个结点（各 3 个叶子）+ 根 → 4 个。</a:t>
            </a:r>
            <a:endParaRPr lang="en-US" sz="1700" dirty="0"/>
          </a:p>
        </p:txBody>
      </p:sp>
      <p:sp>
        <p:nvSpPr>
          <p:cNvPr id="25" name="ANS_34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4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再高一层：叶子上一层需 4 个结点（3 + 2 + 2 + 2），它们挂在 2 个结点下，再加根 → 7 个。</a:t>
            </a:r>
            <a:endParaRPr lang="en-US" sz="1700" dirty="0"/>
          </a:p>
        </p:txBody>
      </p:sp>
      <p:sp>
        <p:nvSpPr>
          <p:cNvPr id="27" name="ANS_346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47"/>
          <p:cNvSpPr txBox="1"/>
          <p:nvPr/>
        </p:nvSpPr>
        <p:spPr>
          <a:xfrm>
            <a:off x="7818120" y="523097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更高时叶子至少 16 个，不可能；5、6 凑不出来。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森林中树的棵数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若一个具有 N 个顶点、K 条边的无向图是一个森林（N &gt; K 且 2K ≥ N），则该森林有多少棵树？</a:t>
            </a:r>
            <a:endParaRPr lang="en-US" sz="2000" dirty="0"/>
          </a:p>
        </p:txBody>
      </p:sp>
      <p:sp>
        <p:nvSpPr>
          <p:cNvPr id="7" name="ANS_3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N−K</a:t>
            </a:r>
            <a:endParaRPr lang="en-US" sz="4400" dirty="0"/>
          </a:p>
        </p:txBody>
      </p:sp>
      <p:sp>
        <p:nvSpPr>
          <p:cNvPr id="10" name="ANS_3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5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每棵树：边数 = 顶点数 − 1。</a:t>
            </a:r>
            <a:endParaRPr lang="en-US" sz="1700" dirty="0"/>
          </a:p>
        </p:txBody>
      </p:sp>
      <p:sp>
        <p:nvSpPr>
          <p:cNvPr id="13" name="ANS_35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5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 T 棵树：K = N − T，所以 T = N − K。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T = (N, R)，N = {A, B, …, K}。回答：(1) 哪些是叶结点？(2) 哪些是 F 的祖先？(3) 树的深度？（根层数为 0；多个字母按字典序连写，小题之间用空格隔开）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DEGHIK AB 3</a:t>
            </a:r>
            <a:endParaRPr lang="en-US" sz="3000" dirty="0"/>
          </a:p>
        </p:txBody>
      </p:sp>
      <p:sp>
        <p:nvSpPr>
          <p:cNvPr id="12" name="ANS_3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60"/>
          <p:cNvSpPr/>
          <p:nvPr/>
        </p:nvSpPr>
        <p:spPr>
          <a:xfrm>
            <a:off x="7726680" y="2651760"/>
            <a:ext cx="3611880" cy="1841983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</p:spPr>
      </p:sp>
      <p:sp>
        <p:nvSpPr>
          <p:cNvPr id="14" name="ANS_361"/>
          <p:cNvSpPr txBox="1"/>
          <p:nvPr/>
        </p:nvSpPr>
        <p:spPr>
          <a:xfrm>
            <a:off x="7818120" y="2651760"/>
            <a:ext cx="3474720" cy="1841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|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C   D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/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  F I   J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\   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   H     K</a:t>
            </a:r>
            <a:endParaRPr lang="en-US" sz="1445" dirty="0"/>
          </a:p>
        </p:txBody>
      </p:sp>
      <p:sp>
        <p:nvSpPr>
          <p:cNvPr id="15" name="ANS_362"/>
          <p:cNvSpPr/>
          <p:nvPr/>
        </p:nvSpPr>
        <p:spPr>
          <a:xfrm>
            <a:off x="7616952" y="47304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63"/>
          <p:cNvSpPr txBox="1"/>
          <p:nvPr/>
        </p:nvSpPr>
        <p:spPr>
          <a:xfrm>
            <a:off x="7818120" y="46336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叶结点：D E G H I K</a:t>
            </a:r>
            <a:endParaRPr lang="en-US" sz="1700" dirty="0"/>
          </a:p>
        </p:txBody>
      </p:sp>
      <p:sp>
        <p:nvSpPr>
          <p:cNvPr id="17" name="ANS_364"/>
          <p:cNvSpPr/>
          <p:nvPr/>
        </p:nvSpPr>
        <p:spPr>
          <a:xfrm>
            <a:off x="7616952" y="521017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5"/>
          <p:cNvSpPr txBox="1"/>
          <p:nvPr/>
        </p:nvSpPr>
        <p:spPr>
          <a:xfrm>
            <a:off x="7818120" y="511340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的祖先：A、B</a:t>
            </a:r>
            <a:endParaRPr lang="en-US" sz="1700" dirty="0"/>
          </a:p>
        </p:txBody>
      </p:sp>
      <p:sp>
        <p:nvSpPr>
          <p:cNvPr id="19" name="ANS_366"/>
          <p:cNvSpPr/>
          <p:nvPr/>
        </p:nvSpPr>
        <p:spPr>
          <a:xfrm>
            <a:off x="7616952" y="568993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67"/>
          <p:cNvSpPr txBox="1"/>
          <p:nvPr/>
        </p:nvSpPr>
        <p:spPr>
          <a:xfrm>
            <a:off x="7818120" y="559315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G、H、K 在第 3 层 → 深度 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 F 的父结点？(2) 哪些是 B 的子孙？(3) 以 C 为根的子树深度是多少？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EFGH 2</a:t>
            </a:r>
            <a:endParaRPr lang="en-US" sz="4400" dirty="0"/>
          </a:p>
        </p:txBody>
      </p:sp>
      <p:sp>
        <p:nvSpPr>
          <p:cNvPr id="12" name="ANS_3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7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边 (B,F)：F 的父结点是 B</a:t>
            </a:r>
            <a:endParaRPr lang="en-US" sz="1700" dirty="0"/>
          </a:p>
        </p:txBody>
      </p:sp>
      <p:sp>
        <p:nvSpPr>
          <p:cNvPr id="15" name="ANS_37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7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B 的子孙：E、F 及 F 的孩子 G、H</a:t>
            </a:r>
            <a:endParaRPr lang="en-US" sz="1700" dirty="0"/>
          </a:p>
        </p:txBody>
      </p:sp>
      <p:sp>
        <p:nvSpPr>
          <p:cNvPr id="17" name="ANS_376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77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C → J → K，子树深度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哪个是根结点？(2) 哪些是 F 的孩子？(3) 结点 K 的层次是多少？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7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7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8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GH 3</a:t>
            </a:r>
            <a:endParaRPr lang="en-US" sz="4400" dirty="0"/>
          </a:p>
        </p:txBody>
      </p:sp>
      <p:sp>
        <p:nvSpPr>
          <p:cNvPr id="12" name="ANS_38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8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8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A 只出现在边的左端，是根</a:t>
            </a:r>
            <a:endParaRPr lang="en-US" sz="1700" dirty="0"/>
          </a:p>
        </p:txBody>
      </p:sp>
      <p:sp>
        <p:nvSpPr>
          <p:cNvPr id="15" name="ANS_38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85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F 的孩子：G、H</a:t>
            </a:r>
            <a:endParaRPr lang="en-US" sz="1700" dirty="0"/>
          </a:p>
        </p:txBody>
      </p:sp>
      <p:sp>
        <p:nvSpPr>
          <p:cNvPr id="17" name="ANS_386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87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A(0) → C(1) → J(2) → K(3)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后根序（一）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例：序列 A01 B00 C01 D10 G01 E01 H11 F10 I11 对应的带度数后根序列为 D0 H0 G1 B2 F0 I0 E2 C1 A2。求下列双标记层次序列对应的带度数后根序列：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C    0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0      F    0    1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   0    1      I    1    1      H    1    1</a:t>
            </a:r>
            <a:endParaRPr lang="en-US" sz="1600" dirty="0"/>
          </a:p>
        </p:txBody>
      </p:sp>
      <p:sp>
        <p:nvSpPr>
          <p:cNvPr id="9" name="ANS_38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8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90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G0 B1 H0 D1 C1 E0 I0 F1 A4</a:t>
            </a:r>
            <a:endParaRPr lang="en-US" sz="2600" dirty="0"/>
          </a:p>
        </p:txBody>
      </p:sp>
      <p:sp>
        <p:nvSpPr>
          <p:cNvPr id="12" name="ANS_391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92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93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394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95"/>
          <p:cNvSpPr txBox="1"/>
          <p:nvPr/>
        </p:nvSpPr>
        <p:spPr>
          <a:xfrm>
            <a:off x="7818120" y="37594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按层次顺序，给每个 ltag = 0 的结点依次分一组孩子，每组到 rtag = 1 为止。</a:t>
            </a:r>
            <a:endParaRPr lang="en-US" sz="1700" dirty="0"/>
          </a:p>
        </p:txBody>
      </p:sp>
      <p:sp>
        <p:nvSpPr>
          <p:cNvPr id="17" name="ANS_396"/>
          <p:cNvSpPr/>
          <p:nvPr/>
        </p:nvSpPr>
        <p:spPr>
          <a:xfrm>
            <a:off x="7616952" y="49059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97"/>
          <p:cNvSpPr txBox="1"/>
          <p:nvPr/>
        </p:nvSpPr>
        <p:spPr>
          <a:xfrm>
            <a:off x="7818120" y="48091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C E F；B：G；C：D；F：I；D：H</a:t>
            </a:r>
            <a:endParaRPr lang="en-US" sz="1700" dirty="0"/>
          </a:p>
        </p:txBody>
      </p:sp>
      <p:sp>
        <p:nvSpPr>
          <p:cNvPr id="19" name="ANS_398"/>
          <p:cNvSpPr/>
          <p:nvPr/>
        </p:nvSpPr>
        <p:spPr>
          <a:xfrm>
            <a:off x="7616952" y="56706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99"/>
          <p:cNvSpPr txBox="1"/>
          <p:nvPr/>
        </p:nvSpPr>
        <p:spPr>
          <a:xfrm>
            <a:off x="7818120" y="55738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后根遍历并写出度数即得答案。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后根序（二）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E    0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D    1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    1    0      I    1    1      H    1    1</a:t>
            </a:r>
            <a:endParaRPr lang="en-US" sz="1600" dirty="0"/>
          </a:p>
        </p:txBody>
      </p:sp>
      <p:sp>
        <p:nvSpPr>
          <p:cNvPr id="9" name="ANS_40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0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02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H0 C1 D0 G0 B3 F0 I0 E2 A2</a:t>
            </a:r>
            <a:endParaRPr lang="en-US" sz="2600" dirty="0"/>
          </a:p>
        </p:txBody>
      </p:sp>
      <p:sp>
        <p:nvSpPr>
          <p:cNvPr id="12" name="ANS_403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04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5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06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07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E；B：C D G；E：F I；C：H</a:t>
            </a:r>
            <a:endParaRPr lang="en-US" sz="1700" dirty="0"/>
          </a:p>
        </p:txBody>
      </p:sp>
      <p:sp>
        <p:nvSpPr>
          <p:cNvPr id="17" name="ANS_408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09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后根：H C D G B F I E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120 的结点在第几层？（下标从 0 开始，根层数为 0）</a:t>
            </a:r>
            <a:endParaRPr lang="en-US" sz="2000" dirty="0"/>
          </a:p>
        </p:txBody>
      </p:sp>
      <p:sp>
        <p:nvSpPr>
          <p:cNvPr id="7" name="ANS_41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1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ANS_41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1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1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层有 3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个结点，下标范围：</a:t>
            </a:r>
            <a:endParaRPr lang="en-US" sz="1700" dirty="0"/>
          </a:p>
        </p:txBody>
      </p:sp>
      <p:sp>
        <p:nvSpPr>
          <p:cNvPr id="13" name="ANS_41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17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 0；第 1 层 1–3；第 2 层 4–12；第 3 层 13–39；第 4 层 40–120</a:t>
            </a:r>
            <a:endParaRPr lang="en-US" sz="1700" dirty="0"/>
          </a:p>
        </p:txBody>
      </p:sp>
      <p:sp>
        <p:nvSpPr>
          <p:cNvPr id="15" name="ANS_418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19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是第 4 层的最后一个结点。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121 的结点在第几层？（下标从 0 开始，根层数为 0）</a:t>
            </a:r>
            <a:endParaRPr lang="en-US" sz="2000" dirty="0"/>
          </a:p>
        </p:txBody>
      </p:sp>
      <p:sp>
        <p:nvSpPr>
          <p:cNvPr id="7" name="ANS_42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2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42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2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2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层下标 40–120，第 5 层从 121 开始（121–363）。</a:t>
            </a:r>
            <a:endParaRPr lang="en-US" sz="1700" dirty="0"/>
          </a:p>
        </p:txBody>
      </p:sp>
      <p:sp>
        <p:nvSpPr>
          <p:cNvPr id="13" name="ANS_42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27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121 是第 5 层的第一个结点。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二叉树转森林：后根序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将下面的二叉树转换为对应的森林，按后根次序列出其结点（字母间无空格）：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EBFCDAIJKHGL</a:t>
            </a:r>
            <a:endParaRPr lang="en-US" sz="3000" dirty="0"/>
          </a:p>
        </p:txBody>
      </p:sp>
      <p:sp>
        <p:nvSpPr>
          <p:cNvPr id="12" name="ANS_4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长子，右孩子 = 下一个兄弟。</a:t>
            </a:r>
            <a:endParaRPr lang="en-US" sz="1700" dirty="0"/>
          </a:p>
        </p:txBody>
      </p:sp>
      <p:sp>
        <p:nvSpPr>
          <p:cNvPr id="15" name="ANS_43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3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三棵树：A(B(E), C(F), D)、G(H(I, J, K))、L</a:t>
            </a:r>
            <a:endParaRPr lang="en-US" sz="1700" dirty="0"/>
          </a:p>
        </p:txBody>
      </p:sp>
      <p:sp>
        <p:nvSpPr>
          <p:cNvPr id="17" name="ANS_43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3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逐棵后根：EBFCDA · IJKHG · 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二叉树转森林：先根序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将上题的二叉树转换为对应的森林，按先根次序列出其结点：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ABECFDGHIJKL</a:t>
            </a:r>
            <a:endParaRPr lang="en-US" sz="3000" dirty="0"/>
          </a:p>
        </p:txBody>
      </p:sp>
      <p:sp>
        <p:nvSpPr>
          <p:cNvPr id="12" name="ANS_4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4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森林：A(B(E), C(F), D)、G(H(I, J, K))、L</a:t>
            </a:r>
            <a:endParaRPr lang="en-US" sz="1700" dirty="0"/>
          </a:p>
        </p:txBody>
      </p:sp>
      <p:sp>
        <p:nvSpPr>
          <p:cNvPr id="15" name="ANS_44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4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逐棵先根：ABECFD · GHIJK · L</a:t>
            </a:r>
            <a:endParaRPr lang="en-US" sz="1700" dirty="0"/>
          </a:p>
        </p:txBody>
      </p:sp>
      <p:sp>
        <p:nvSpPr>
          <p:cNvPr id="17" name="ANS_44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4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森林的先根序 = 对应二叉树的前序。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对以下等价对，采用「加权合并规则」（小树的根指向大树的根；大小相同时第二棵树的根指向第一棵树的根）进行并查运算，给出最后的父结点数组（根的父结点是它自己）：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8-9 3-2 7-4 5-9 6-1 8-6 7-3 2-5 8-0</a:t>
            </a:r>
            <a:endParaRPr lang="en-US" sz="1600" dirty="0"/>
          </a:p>
        </p:txBody>
      </p:sp>
      <p:sp>
        <p:nvSpPr>
          <p:cNvPr id="9" name="ANS_4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8 6 3 7 7 8 8 8 8 8</a:t>
            </a:r>
            <a:endParaRPr lang="en-US" sz="2600" dirty="0"/>
          </a:p>
        </p:txBody>
      </p:sp>
      <p:sp>
        <p:nvSpPr>
          <p:cNvPr id="12" name="ANS_4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8-9、3-2、7-4：等大，9→8、2→3、4→7</a:t>
            </a:r>
            <a:endParaRPr lang="en-US" sz="1600" dirty="0"/>
          </a:p>
        </p:txBody>
      </p:sp>
      <p:sp>
        <p:nvSpPr>
          <p:cNvPr id="15" name="ANS_4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55"/>
          <p:cNvSpPr txBox="1"/>
          <p:nvPr/>
        </p:nvSpPr>
        <p:spPr>
          <a:xfrm>
            <a:off x="7818120" y="3374746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5-9：{8,9} 大，5→8；6-1：1→6</a:t>
            </a:r>
            <a:endParaRPr lang="en-US" sz="1600" dirty="0"/>
          </a:p>
        </p:txBody>
      </p:sp>
      <p:sp>
        <p:nvSpPr>
          <p:cNvPr id="17" name="ANS_456"/>
          <p:cNvSpPr/>
          <p:nvPr/>
        </p:nvSpPr>
        <p:spPr>
          <a:xfrm>
            <a:off x="7616952" y="391789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57"/>
          <p:cNvSpPr txBox="1"/>
          <p:nvPr/>
        </p:nvSpPr>
        <p:spPr>
          <a:xfrm>
            <a:off x="7818120" y="3829507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8-6：{8,9,5} 大，6→8；7-3：等大，3→7</a:t>
            </a:r>
            <a:endParaRPr lang="en-US" sz="1600" dirty="0"/>
          </a:p>
        </p:txBody>
      </p:sp>
      <p:sp>
        <p:nvSpPr>
          <p:cNvPr id="19" name="ANS_458"/>
          <p:cNvSpPr/>
          <p:nvPr/>
        </p:nvSpPr>
        <p:spPr>
          <a:xfrm>
            <a:off x="7616952" y="464088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59"/>
          <p:cNvSpPr txBox="1"/>
          <p:nvPr/>
        </p:nvSpPr>
        <p:spPr>
          <a:xfrm>
            <a:off x="7818120" y="4552493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2-5：根 7（4 个）并入根 8（5 个），7→8；8-0：0→8</a:t>
            </a:r>
            <a:endParaRPr lang="en-US" sz="1600" dirty="0"/>
          </a:p>
        </p:txBody>
      </p:sp>
      <p:sp>
        <p:nvSpPr>
          <p:cNvPr id="21" name="ANS_460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461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不做路径压缩（压缩后 2 会指向 7）。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采用同样的规则，对下列等价对进行并查运算，给出最后的父结点数组：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4-0 6-2 8-4 9-4 3-5 9-5 5-2 1-2 7-1</a:t>
            </a:r>
            <a:endParaRPr lang="en-US" sz="1600" dirty="0"/>
          </a:p>
        </p:txBody>
      </p:sp>
      <p:sp>
        <p:nvSpPr>
          <p:cNvPr id="9" name="ANS_4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4 4 6 4 4 3 4 4 4 4</a:t>
            </a:r>
            <a:endParaRPr lang="en-US" sz="2600" dirty="0"/>
          </a:p>
        </p:txBody>
      </p:sp>
      <p:sp>
        <p:nvSpPr>
          <p:cNvPr id="12" name="ANS_4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4-0：0→4；6-2：2→6；8-4、9-4：8→4、9→4</a:t>
            </a:r>
            <a:endParaRPr lang="en-US" sz="1700" dirty="0"/>
          </a:p>
        </p:txBody>
      </p:sp>
      <p:sp>
        <p:nvSpPr>
          <p:cNvPr id="15" name="ANS_4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3-5：5→3；9-5：根 3（2 个）→ 根 4（4 个）</a:t>
            </a:r>
            <a:endParaRPr lang="en-US" sz="1700" dirty="0"/>
          </a:p>
        </p:txBody>
      </p:sp>
      <p:sp>
        <p:nvSpPr>
          <p:cNvPr id="17" name="ANS_47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7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5-2：根 6（2 个）→ 根 4；1-2：1→4；7-1：7→4</a:t>
            </a:r>
            <a:endParaRPr lang="en-US" sz="1700" dirty="0"/>
          </a:p>
        </p:txBody>
      </p:sp>
      <p:sp>
        <p:nvSpPr>
          <p:cNvPr id="19" name="ANS_472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73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仍指向 6，5 仍指向 3（不做路径压缩）。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后根序（三）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同第 11 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F    0    1      D    1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1      H    1    0      I    1    1</a:t>
            </a:r>
            <a:endParaRPr lang="en-US" sz="1600" dirty="0"/>
          </a:p>
        </p:txBody>
      </p:sp>
      <p:sp>
        <p:nvSpPr>
          <p:cNvPr id="9" name="ANS_47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7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76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D0 E0 C2 H0 I0 F2 B2 G0 A2</a:t>
            </a:r>
            <a:endParaRPr lang="en-US" sz="2600" dirty="0"/>
          </a:p>
        </p:txBody>
      </p:sp>
      <p:sp>
        <p:nvSpPr>
          <p:cNvPr id="12" name="ANS_477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78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79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80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1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G；B：C F；C：D E；F：H I</a:t>
            </a:r>
            <a:endParaRPr lang="en-US" sz="1700" dirty="0"/>
          </a:p>
        </p:txBody>
      </p:sp>
      <p:sp>
        <p:nvSpPr>
          <p:cNvPr id="17" name="ANS_482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83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后根：D E C H I F B G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CH05-06</dc:title>
  <dc:subject>PptxGenJS Presentation</dc:subject>
  <dc:creator>Hongfei Yan</dc:creator>
  <cp:lastModifiedBy>Hongfei Yan</cp:lastModifiedBy>
  <cp:revision>1</cp:revision>
  <dcterms:created xsi:type="dcterms:W3CDTF">2026-10-14T15:13:28Z</dcterms:created>
  <dcterms:modified xsi:type="dcterms:W3CDTF">2026-10-14T15:13:28Z</dcterms:modified>
</cp:coreProperties>
</file>