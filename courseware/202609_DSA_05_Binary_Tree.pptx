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讲法（5–8 分钟，性质 5 与 5.2 周游之间的过渡）：
1. 换个角度再数一遍：n 个结点共 2n 个指针域；除根外每个结点被一根指针指着，用掉 n − 1 个；空着 2n − (n − 1) = n + 1 个。不用性质 5 也得到同一个数，一半以上的指针域是空的。
2. 能不能利用？左指针空就存中序前驱，右指针空就存中序后继——这就是线索（thread）。
3. 看图 5.23：挑一片叶子顺两条虚线找前驱、后继；再挑只有一个孩子的结点，只有空的那一侧变成线索。
4. 追问：拿到一根指针，怎么知道它是孩子还是线索？→ 每根指针一位标志（ltag / rtag），不是每个结点一位。
5. 中序还没正式讲：先一句「中序 = 左 → 根 → 右，5.2 细讲」。后面三页的代码可以讲完 5.2 中序后再回来看。
6. 现代的看法：插入删除都要维护线索，通用库不这么做；思想今天仍活在 Morris 遍历里（临时线索，用完拆掉）。Trie 压缩、PATRICIA 到第 12 章再见。
易错：线索与周游次序绑定。中序线索最好用；后序线索树找后继仍常要父指针。
一句话总结：2n 个指针域只用了 n − 1 个；线索树把空指针改存前驱 / 后继，加标志位区分，中序周游就不需要栈。代价是插入删除要维护线索，所以今天很少当默认表示；它的思想在 Morris 遍历里还在用。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共同点：都利用性质 5 的 n + 1 个空指针，让中序周游不用栈也不用递归。Morris 可以看成「临时线索化」。
比喻：普通周游随身带地图（栈）。Morris 每到一个岔路口，先派人去左边小路的尽头，在那里刻一个指回路口的箭头，再往左走；以后顺着箭头回来时，把箭头抹掉，继续往右走。
推演口诀：有左子树的结点经过两次——第一次搭线索、进左；第二次拆线索、访问、进右。没有左子树的结点：访问，往右（可能顺着线索回去）。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讲法（6–8 分钟，接上一页的推演表）：
1. 推演表每一行只做三件事：取根、在中序里找到它、按左子树大小切开。这一页就是把这三件事写成代码，一次 build_impl 调用 = 表里的一行。
2. 先对参数（比方：中序是「座位表」，后序负责指出「谁是组长」）：中序段 [in_begin, in_end) 是座位表上的这一块；后序段从 post_begin 起、一样长；key = 后序段最后一个 = 这一组的组长。
3. 找根：while 从左往右数座位，只在本段里数。拿表的第一行带一遍：A 在 k = 4，left_size = 4；左子树的后序段从 0 起（D G E B），右子树从 0 + 4 起（H I F C）。
4. 最后两行递归 = 表里往下的两行；空区间直接返回 = 表里的「空」。
5. 反例：中序 1 2 3、后序 3 1 2，让学生先自己手算（多数人会「算出」一棵树）。根 2 在 k = 1，左段只有座位 1；左子树从后序取 1 个，是 3 → while 数完本段没找到 → 抛异常。好比有人自称「左边这组的组长」，却根本不坐在这组。追问：去掉 k &lt; in_end 会怎样？→ 一直往后读，越界。
6. 入口函数代码没印，口头讲：先建在临时树 fresh 里，建成了再替换自己；出错时 fresh 的析构收拾半成品，原树不动。「先挂上再建子树」保证半成品始终挂在 fresh 上。
7. 代价：每帧最多数一遍本段 → 总 O(n·h)，退化成链时 O(n²)；递归深度 = 树高。下面三页各改一处：查表（找根变 O(1)）、显式栈（不递归）。
易错：右子树的后序起点是 post_begin + left_size，不是 k + 1（k 是中序下标；后序段里根在最后，不夹在左右中间）。后序取段末、前序取段首——前序 + 中序版留作上机题第 1 题，这里不讲。
一句话总结：推演表的一行 = 一次 build_impl；只传下标不拷贝；只在本段里找根，找不到就报错。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讲法（4–5 分钟）：
1. 接上一页的问题：找根要从左往右数，最坏 O(n²)。问学生：如果键是字母，有没有办法「一下子」知道 E 坐在第几号？→ 点名册。
2. 上半页 fill_position_table：pos 开 256 格，先全填 -1（没这个人）；按中序依次登记 pos[字符] = 座位号。登记时这一格已经有人 → 重名 → 报错。板书图 5.5：pos['D']=0, pos['B']=1, pos['G']=2, pos['E']=3, pos['A']=4 ……
3. 下半页 build_by_table：和第 26 页 build_impl 一行一行对，只有标红那两行不同——while 换成查一次表；「不在本段」的判断写成 k &lt; in_begin || k &gt;= in_end，查不到的 -1 自然落在 k &lt; in_begin 里。
4. 结构上的小差别：这里不用 Node*&amp; link，而是先把左右子树各建成一棵小树，再用 create_tree（代码 5.2）接到根上——顺便复习所有权转移。
5. 代价：建表 O(n)，每帧 O(1)，总 O(n)。比后面工程版的 O(n log n) 还快——引出右下角的问题：工程版为什么不用？→ 键可能是大整数、字符串，不能当下标；哈希表要求能哈希；工程版是模板，只要求 &lt;，只好排序 + 二分。
易错：char 可能是负数，必须先转成 unsigned char 再当下标，否则 pos[-56] 越界。
说明：这段写在 teaching_test.cpp 里，测试拿它和类里的两版逐棵对拍；它离上机题第 1 题（前序 + 中序）只差「根在段首」这一处，作业要求自己写。
一句话总结：键能当下标时，找根就是查一次点名册，整棵树 O(n)。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讲法（4–5 分钟）：
1. 先问：第 26 页的递归，深度是多少？→ 树高。树退化成一条 20 万结点的链，运行栈就压穿了。办法：把运行栈换成自己管的栈。
2. 改写是机械的，三条规则：一次调用的参数 → 一帧（Frame 的字段）；调用 → 压一帧；返回 → 弹一帧。
3. 对 Frame：link（建好的子树挂到哪根指针上）、中序段、后序段起点，正好是 build_impl 的参数。追问：为什么 Node*&amp; 变成 Node**？→ 引用一旦绑定不能改指向，也不能存进结构体到处搬；指针可以。
4. 栈本身：一条手写链表，next 指向下面那一帧——压栈就是在表头插一个，弹栈就是摘掉表头。和 level_order 里的手写队列是同一写法。
5. FrameStack：问学生——递归版出错时，那些「帧」去哪了？→ 在运行栈上，函数一退出自动回收。自己管的栈就得有个主人：把 top 包进一个局部对象，析构负责把剩下的帧还掉。于是正常建完、找不到根抛异常、甚至某次 new 失败，都不会漏。这和入口里的临时树 fresh 是同一个想法（RAII）。拷贝构造、拷贝赋值删掉：三法则——拷贝出两份，同一批帧会被删两次。
6. 这一版最初就漏了「new 失败」这条路：只在找不到根时手动清栈，new Frame 抛 bad_alloc 时剩下的帧没人还——是 Codex 复核抓出来的。测试把 28 次 new 逐个注入失败来守住它。
7. 第一次「调用」= 压第一帧（挂到 fresh.root_，区间是整个序列）。
一句话总结：递归的每次调用 = 栈里的一帧；栈要有主人，析构负责还帧。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讲法（3–4 分钟）：
1. 循环：弹一帧、处理一帧，直到栈空。弹出时先把整帧拷到 f，再 delete 栈顶。空区间直接 continue，相当于递归版里的 return。
2. 找根这几行和第 26 页一字不差（只是变量从参数变成了 f.xxx），快速带过。
3. 找不到根就直接抛——不用手动清栈，剩下的帧由 stack 的析构还掉（上一页）。
4. 建结点、先挂上，和递归版一样：之后再出错，它也归临时树 fresh 释放。
5. 两次递归调用变成压两帧。先压右、再压左：栈后进先出，所以左子树先建，次序和递归一样。追问：反过来压行不行？→ 也能建对，每一帧只管自己那一段，与先后无关；只是建的次序不同。
6. 收尾和入口函数一样：建成了，再拆旧树、接新树。
7. 诚实交代局限（右下角）：教学版的析构 destroy 仍是递归的，所以长链就算建出来，析构时照样爆栈。这里要学的是「递归 → 显式栈」的改写手法；工程版连析构也改成了迭代（5.6a）。
易错：先 delete 栈顶再读它的字段 → 读已释放内存（ASan 报 heap-use-after-free），所以先拷到 f。left_size 是 k - f.in_begin，不是 k；右子树的后序起点是 f.post_begin + left_size。
一句话总结：两次递归调用 = 压两帧（先右后左）；出错时剩下的帧交给栈对象的析构。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讲法（3–4 分钟）：
1. 代码不逐行读，只点三处：两个静态工厂；各自一行转调同一个 rebuild；差别只在 Order——根在段末（后序）还是段首（前序）。为什么不用构造函数：名字本身说明输入是哪两种序列，传反了也看得出。
2. 坑 1：教学版已经只传下标、不拷贝；剩下的慢在「从左往右数」。比方：翻花名册 vs 查字典。工程版先把座位号按名字排好（下一页），之后每次二分，总 O(n log n)。可能被问：为什么不用哈希表做到 O(n)？→ 只要求 T 支持 &lt;；而且排序后相邻一比就顺便查出重复键。
3. 坑 2：教学版的 while 已经守住了；工程版是同一条检查（根必须落在本段），另把重复键、键缺失单独报出，让报错说对原因。
4. 「能建完就一定对」：各帧的中序区间互不重叠，每个根都落在自己的区间里 → 每个座位恰好坐一个人 → 名单和座位表完全对得上，不必再周游核对。细节在第 32 页页底。
易错：from_preorder_inorder 的参数次序是（前序, 中序），内部转成 rebuild(中序, 前序)——调用时别传反。
一句话总结：工程版保留教学版的两处做法（只传下标、根必须在本段），再升级三处：二分查位置、显式栈、分类报错。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讲法（5–6 分钟）：这一页只做准备——做一本「按名字查座位」的小字典，顺便检查名单。真正建树在下一页。
1. 门口检查：count == 0 交一棵空树；说有人、名单却是空指针 → 报错。
2. by_key：排的是座位号，不是座位表本身——中序的顺序就是信息，不能打乱。板书让学生自己写：中序 D B G E A C H F I（座位 0–8），按名字排序后 by_key = 4 1 5 0 3 7 2 6 8，对应 A B C D E F G H I。像一叠按人名排好的索引卡片，每张写着座位号。
3. 查重名：排好后同名的一定挨着，逐对要求「前 &lt; 后」。写 !(a &lt; b) 而不写 a == b：全程只要求 T 支持 &lt;。
4. position_in_inorder：lower_bound = 翻到第一张「不比 key 小」的卡片；翻到底，或翻到的名字比 key 大 → 字典里没有 → 报错。每次 O(log n)，n 次合计 O(n log n)。
5. 一句带过即可：std::sort / lower_bound 只用在这张查找表上，树和栈仍手写（课程约定 D-001 §2）；unique_ptr 让中途报错时数组自动归还；lambda 是「当场写的小函数」。
收尾板书三种错误各在哪抓：重复键 → 本页排序后相邻比较；键缺失 → 本页查字典；根不在本段 → 下一页。
一句话总结：教学版里那个从左往右数的 while，在这里换成了「排序一次 + 每次二分」。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讲法（4–5 分钟，对照第 28–29 页教学版显式栈讲）：
1. 与教学版显式栈同一个结构：一帧 Frame = 一次调用的参数（挂到哪、中序区间、另一序列的起点）；差别只是栈换成第 3 章的 LinkedStack，并且前序 / 后序共用一份。
2. 先 push 右、再 push 左：栈后进先出，所以左子树先建，与递归次序一致（换了顺序结果也对）。
3. root_at：前序取段首、后序取段末，一份代码两种用。left_other：前序时左子树紧跟在根后面（+1），后序时从段头开始。
4. 根越界检查 = 教学版里的 k == in_end，同一条检查。
5. 先挂上 *frame-&gt;link = node，再 push 子帧：中途抛异常时，已建的结点全挂在 result 上，由 result 的析构统一释放——与教学版「先建在临时树里」是同一个想法。
6. 为什么不递归：递归深度 = 树高，20 万结点的纯左链会压穿运行栈（5.6a 的递归 clone 同理）；显式栈在堆上。
7. 「能建完就一定对」（页底）：对区间长度归纳；测试用 400 棵随机树往返核对。
易错：Node** link 是「指向该挂接的那根指针」，第一次见容易把 link 和 *link 搞混；5.4 BST 插入还会用同一手法，可以提前说一句。
一句话总结：把递归的调用栈换成自己的链式栈，帧里只记下标和「挂到哪」；其余逻辑与教学版逐行对应。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讲法（5–6 分钟，三张图从左往右看）：
1. 先看图 5.11 原树：按 50, 19, 35, 55, 20, 5, 100, 52, 88, 53, 92 插入得到；中序 5 19 20 35 50 52 53 55 88 92 100 是升序。下面两种方案都从这棵树出发。深度 4（最长路径 50→55→100→88→92）。
2. 简单情形，两种方案一样——图 5.12(a) 删 52：它没有左子树，直接让右孩子 53 顶上它的位置。（没有右子树时对称：左孩子顶上；叶子直接删。）
3. 难的情形：被删结点左右孩子都有，例如删 55（左 52、右 100）。谁来顶替它？要求：顶上来以后「左小右大」不能坏。
基本方案（图 5.12(b)）：
4. 在左子树里找中序最后一个结点 t——从 52 出发一路向右走到底，是 53。
5. 把 55 的整棵右子树（以 100 为根，含 88、92）挂成 53 的右子树：右子树里的数都比 55 大，当然比 53 大，所以「左小右大」成立。
6. 再让左子树的根 52 顶替 55。结果对，但整棵右子树下沉了两层：最长路径变成 50→52→53→100→88→92，深度 4 → 5。反复删，树会越删越高、越来越像链表，检索退化成 O(n)。
改进方案（图 5.13，本书教学版 remove 用的就是它）：
7. 同样先找 t = 53（左子树里最大的，也就是 55 的中序前驱）。t 一定没有右孩子——有的话它就不是最右的了。
8. 把 t 从原位置摘下：用它的左子树接替它（这里 53 没有孩子，原位置直接置空）。
9. 让 53 接过 55 的左子树（52）和右子树（100），坐到 55 的位置上。53 比左子树其余的数都大、比右子树的数都小，「左小右大」原封不动。
10. 只搬了一个结点，没有整棵子树搬家，深度仍是 4。
对比一句话：基本方案搬的是「一整棵子树」，改进方案搬的是「一个结点」。两者结果都是合法的 BST，中序都还是升序，差别在高度。
追问：为什么用前驱（左子树最大）？用后继（右子树最小，这里是 88）行不行？→ 对称地也行，教材选了前驱。
易错（下一页代码）：t 自己可能还有左孩子，摘下 t 时必须先把它的左孩子接到 t 原来的位置——漏了这一步会成环（第 50 页）。
一句话总结：两个孩子都有时，用中序前驱顶替；只搬一个结点，树不会因为删除而变高。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解读「实际后果」（2–3 分钟）：
1. 堆排序拆成两段：先建堆，再做 n 次 remove_min。每次 remove_min 把末尾元素换到堆顶再下沉，最多沉 log n 层，n 次合计 O(n log n)。
2. 建堆按本页细算只要 O(n)（≤ 2n 次下沉）。O(n) + O(n log n) = O(n log n)：总代价里的 log n 全部来自第二段，建堆那部分被吸收掉了——这就是「白送」的意思。
3. 反过来，不用筛选法，而是从空堆开始一个个 insert：每个新元素放在最底层，再向上浮，最多浮到根。
4. 关键是方向反了：
   - 下沉（筛选法）：代价 = 离底层的距离。结点大多在底层，离底层近，沉得短。
   - 上浮（逐个 insert）：代价 = 离根的距离。结点大多在底层，离根远，浮得长。
   同一个「多数结点在底层」的事实，对下沉是好消息，对上浮是坏消息。
5. 用本页同一棵树算一下（h = 3、n = 15）：逐个 insert 最坏总上浮 Σ 2^i·i = 0 + 2 + 8 + 24 = 34，筛选法是 11。光最后一层 8 个结点就占了一半，每个都可能浮 3 层，所以是 Θ(n log n)。
   什么时候最坏？例如往最小堆里按递减顺序插入，每个新来的都比堆里所有元素小，一路浮到根。
6. 「丢掉便宜」不改变堆排序的总阶（都是 O(n log n)），丢掉的是建堆这一段。它真正要紧的场合是只要前 k 小（top-k）：筛选法建堆 + k 次取最小 = O(n + k log n)，k 远小于 n 时接近线性；逐个 insert 建堆就先付了 O(n log n)，比直接排序还亏。
追问：随机顺序逐个 insert 平均也是 O(n log n) 吗？→ 不是，平均每次只浮常数层，平均 O(n)；O(n log n) 说的是最坏情形。筛选法则是最坏也 O(n)。
类比工程：Python 的 heapq.heapify(list) 就是筛选法 O(n)，比循环 heappush 快。
一句话总结：下沉看离底多远，上浮看离根多远；结点大多在底层，所以建堆要用「自底向上下沉」，别用「逐个插入上浮」。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 二叉树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Binary Tree：递归定义，递归算法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定义与五种基本形态 · 满 / 完全 / 扩充二叉树 · 三条性质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前序 / 中序 / 后序 / 层次周游 · 表达式树 · 由周游序列重建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二叉链表 · 完全二叉树进数组 · 二叉搜索树的查找、插入、删除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最小堆 · 建堆 O(n) · 优先队列与对顶堆 · Huffman 树与前缀编码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附录：6 道上机题（扩展二叉树 · 前中序建树 · 队列表达式 · BST 层次 · 剪绳子）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2026-10-28 · github.com/GMyhf/dsa-modernization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二叉树为什么不是「度为 2 的树」？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9572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子树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有左右之分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，次序不能颠倒：挂左边和挂右边是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两棵不同的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一棵树能摊成几种线性序列？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39572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前序、中序、后序靠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（递归），层次周游靠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。同一个结点，换一种次序就换一批邻居。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要多少「序」，才够快？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39572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全序：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让增删查都走 O(h)。只要最小值：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只需局部有序，建堆 O(n)；Huffman 反复取两个最小。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二叉树的定义是</a:t>
            </a: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的，所以本章算法几乎都是递归的——</a:t>
            </a:r>
            <a:r>
              <a:rPr lang="en-US" sz="14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代码的形状和定义的形状一眼对上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8872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概念与周游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定义、术语、五种基本形态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 / 完全 / 扩充二叉树；三条性质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二叉树 ADT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前序 / 中序 / 后序（递归）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表达式树；由周游序列重建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层次周游：队列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18872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 BST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二叉链表、三叉链表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完全二叉树的顺序存储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教学版完整实现：三法则、后序释放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二叉搜索树：查找、插入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删除：中序前驱顶替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18872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1188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堆与 Huffman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最小堆：上浮、下沉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建堆为什么是 O(n)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优先队列；对顶堆求中位数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Huffman 树与 WPL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前缀码：编码与译码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5.6a 进阶：迭代释放与深拷贝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A：6 道上机题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binary_tree/demo.cpp（后半的 BST 见 5.4 例题）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建一棵 5 个结点的树，打印四种周游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"teaching.hpp"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建一棵样例树：A 的左孩子 B（孩子 D、E），右孩子 C（叶子）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BinaryTree&lt;char&gt; d, e, b, c, root;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d.create_leaf('D');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e.create_leaf('E');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b.create_tree('B', d, e);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d、e 的所有权转移给 b，之后两者变空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c.create_leaf('C');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root.create_tree('A', b, c);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"先序: ";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root.preorder([](char value) { std::cout &lt;&lt; value; });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"\n中序: ";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root.inorder([](char value) { std::cout &lt;&lt; value; });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"\n后序: ";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root.postorder([](char value) { std::cout &lt;&lt; value; });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"\n层次: ";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root.level_order([](char value) { std::cout &lt;&lt; value; });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'\n';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 flipH="1">
            <a:off x="6720840" y="1188720"/>
            <a:ext cx="54864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69480" y="1188720"/>
            <a:ext cx="54864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6400800" y="1691640"/>
            <a:ext cx="32004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1691640"/>
            <a:ext cx="32004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14032" y="10332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14032" y="1033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65392" y="15361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65392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62672" y="15361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62672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45352" y="20391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45352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85432" y="20391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85432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5146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1B2B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44768" y="2569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144768" y="2770632"/>
            <a:ext cx="24323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先序: ABDEC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中序: DBEAC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后序: DEBCA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层次: ABCDE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37033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7220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create_tree 接管子树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4087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在调用后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，不会和新树抢着析构同一批结点。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heap_huffman/demo.cpp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最小堆依次取最小元；权 2、3、4、7 的 Huffman 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5321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858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"teaching.hpp"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MinHeap&lt;int&gt; heap;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value : {5, 1, 4, 2})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heap.insert(value);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"依次取出最小元:";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(auto value = heap.remove_min()) {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空堆返回 nullopt，循环自然结束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std::cout &lt;&lt; ' ' &lt;&lt; *value;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int weights[] = {2, 3, 4, 7};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HuffmanTree tree(weights, 4);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"权 2,3,4,7 的 Huffman 树根权 = " &lt;&lt; tree.total_weight()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"带权路径长度 WPL = " &lt;&lt; tree.weighted_path_length()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172200" y="96012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8192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281928" y="1216152"/>
            <a:ext cx="2295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依次取出最小元: 1 2 4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权 2,3,4,7 的 Huffman 树根权 = 16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带权路径长度 WPL = 30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2240280"/>
            <a:ext cx="2514600" cy="2423160"/>
          </a:xfrm>
          <a:prstGeom prst="roundRect">
            <a:avLst>
              <a:gd name="adj" fmla="val 3019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2624328"/>
            <a:ext cx="2295144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堆每次吐出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的那个：1 2 4 5。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空堆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remove_min()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自然结束。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 根权 = 全部权之和 16；WPL = 30 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的带权路径长度。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 · 5.1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二叉树的概念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递归定义 · 左右有别 · 五种基本形态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满二叉树 · 完全二叉树 · 扩充二叉树 · 三条性质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5.1.1 二叉树的定义和基本术语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递归定义：或者为空，或者是「根 + 左子树 + 右子树」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1206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二叉树由结点的有限集合构成：或者为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空集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，或者由一个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及两棵互不相交的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左子树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右子树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组成。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左右子树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本身也是二叉树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——这是一个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递归定义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，决定了本章几乎所有算法的形状。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子树有左、右之分，次序不能颠倒。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06440" y="960120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FDF0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0" y="1051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和 (d) 是两棵不同的二叉树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344168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同样是一个根加一个孩子，挂左边和挂右边不能混为一谈。第 6 章的一般树没有这个区分——所以二叉树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「度为 2 的树」。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pic>
        <p:nvPicPr>
          <p:cNvPr id="12" name="Image 0" descr="fig-5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210" y="2971800"/>
            <a:ext cx="7579581" cy="1417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5.1　二叉树的 5 种基本形态：(a) 空树 (b) 只有根 (c) 右子树为空 (d) 左子树为空 (e) 左右均非空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5.1.1 二叉树的定义和基本术语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基本术语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394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79476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 / 父结点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根是唯一没有父结点的结点；其余结点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恰有一个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父结点（双亲）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 / 右孩子、兄弟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每个结点至多两个孩子；同一父结点的孩子互为兄弟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结点的子树数目：0、1 或 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 / 内部结点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度为 0 的是叶（终端结点）；其余是内部结点（分支结点）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 / 路径 / 路径长度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父到子的有向连线 ⟨k, k'⟩；首尾相接的边构成路径；长度 = 边数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祖先 / 子孙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 到 kₛ 有路径，则 k 是 kₛ 的祖先，kₛ 是 k 的子孙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根到该结点的路径长度：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根在第 0 层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，孩子 = 父 + 1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96012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0" y="1024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本章示例程序那棵树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 flipH="1">
            <a:off x="6583680" y="1600200"/>
            <a:ext cx="50292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86600" y="1600200"/>
            <a:ext cx="50292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6309360" y="2148840"/>
            <a:ext cx="27432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2148840"/>
            <a:ext cx="27432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31152" y="14447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3115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28232" y="19933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28232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34072" y="1993392"/>
            <a:ext cx="310896" cy="310896"/>
          </a:xfrm>
          <a:prstGeom prst="ellipse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34072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53912" y="2542032"/>
            <a:ext cx="310896" cy="310896"/>
          </a:xfrm>
          <a:prstGeom prst="ellipse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5391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02552" y="2542032"/>
            <a:ext cx="310896" cy="310896"/>
          </a:xfrm>
          <a:prstGeom prst="ellipse">
            <a:avLst/>
          </a:prstGeom>
          <a:solidFill>
            <a:srgbClr val="FFF6E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0255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909560" y="1490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层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7909560" y="20391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层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7909560" y="2587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层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172200" y="3017520"/>
            <a:ext cx="24688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是根；B 的度为 2。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D、E、C 是叶（浅黄），A、B 是内部结点。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 → E 的路径长度为 2，E 在第 2 层。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D、E 互为兄弟；A 是 E 的祖先。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5.1.2 满二叉树、完全二叉树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满二叉树与完全二叉树：互不包含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892040" cy="1810512"/>
          </a:xfrm>
          <a:prstGeom prst="roundRect">
            <a:avLst>
              <a:gd name="adj" fmla="val 4040"/>
            </a:avLst>
          </a:prstGeom>
          <a:solidFill>
            <a:srgbClr val="F1F4F2"/>
          </a:solidFill>
          <a:ln/>
        </p:spPr>
      </p:sp>
      <p:pic>
        <p:nvPicPr>
          <p:cNvPr id="8" name="Image 0" descr="fig-5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99" y="978408"/>
            <a:ext cx="4390442" cy="148132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468880"/>
            <a:ext cx="4892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5.2　(a) 满二叉树；(b) 完全二叉树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32120" y="932688"/>
            <a:ext cx="3154680" cy="1810512"/>
          </a:xfrm>
          <a:prstGeom prst="roundRect">
            <a:avLst>
              <a:gd name="adj" fmla="val 4040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0" y="10241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对照图 5.2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641848" y="1316736"/>
            <a:ext cx="2935224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满但不完全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 没有孩子，第 2 层缺两个位置，下面却还有第 3 层。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完全但不满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：F 只有一个孩子。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每层都排满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的二叉树（perfect）才既满又完全。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满二叉树 full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273552"/>
            <a:ext cx="3749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任何结点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或者是叶，或者左右子树都非空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：只要求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没有度为 1 的结点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不要求叶在同一层，结点数也不固定：图 (a) 的叶 C 在第 1 层、D 在第 2 层、F、G 在第 3 层。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口径：有些教材的「满」指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每层都排满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（perfect，深度 k 时 2^(k+1) − 1 个结点），它是本书满二叉树的特例。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88036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CFE0D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9204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完全二叉树 complete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273552"/>
            <a:ext cx="37490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除最后一层外每层都排满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；只说「叶在最下两层」不够（左链 A→B→C 就不完全）。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最下层的结点从左到右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排列、没有空洞。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堆正是利用这一条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按层编号存进数组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（编号关系见 5.1.3）。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5.1.2 扩充二叉树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扩充二叉树：把每个空子树补成「外部叶」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8" name="Image 0" descr="fig-5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681" y="1024128"/>
            <a:ext cx="3729277" cy="21488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172968"/>
            <a:ext cx="4206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5.3　方框是外部叶，圆圈是内部结点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566160"/>
            <a:ext cx="42062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原树 n 个内部结点 → 扩充后有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+ 1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个外部叶。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补完后每个内部结点都恰有两个孩子 → 扩充二叉树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一定是满二叉树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 5.6 节 Huffman 树算带权外部路径长度的形状。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92040" y="96012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1E3D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74920" y="1033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内部路径长度 I 与外部路径长度 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1325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I + 2n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18105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I：根到所有内部结点的边数之和；E：根到所有外部叶的边数之和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92040" y="228600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FFF6E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29200" y="2350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验算：示例树 A(B(D, E), C)，n = 5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 flipH="1">
            <a:off x="5440680" y="2834640"/>
            <a:ext cx="365760" cy="45720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06440" y="2834640"/>
            <a:ext cx="365760" cy="45720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5212080" y="3291840"/>
            <a:ext cx="228600" cy="45720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40680" y="3291840"/>
            <a:ext cx="228600" cy="45720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2697480"/>
            <a:ext cx="274320" cy="274320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03520" y="3154680"/>
            <a:ext cx="274320" cy="274320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3035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035040" y="3154680"/>
            <a:ext cx="274320" cy="274320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350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074920" y="3611880"/>
            <a:ext cx="274320" cy="274320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749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532120" y="3611880"/>
            <a:ext cx="274320" cy="274320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5321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2697480"/>
            <a:ext cx="224028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= 0 + 1 + 1 + 2 + 2 =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外部叶 6 个：D、E 下各 2 个在第 3 层，C 下 2 个在第 2 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= 4×3 + 2×2 =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6 + 2×5 ✓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5.1.3 二叉树的主要性质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 1、2 与按层编号：堆全靠这一条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207008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2070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 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00584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层至多 2^i 个结点（根在第 0 层）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1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075688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0756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187452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深度为 k 的二叉树至多 2^(k+1) − 1 个结点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944368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9443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74320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按层从 0 编号：结点 i 的父是 ⌊(i−1)/2⌋，左右孩子是 2i+1 与 2i+2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1F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813048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8130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61188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个结点的完全二叉树高度为 ⌈log₂(n+1)⌉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262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这些性质原书没错，原样保留。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23560" y="1005840"/>
            <a:ext cx="3063240" cy="3611880"/>
          </a:xfrm>
          <a:prstGeom prst="roundRect">
            <a:avLst>
              <a:gd name="adj" fmla="val 2388"/>
            </a:avLst>
          </a:prstGeom>
          <a:solidFill>
            <a:srgbClr val="FFF6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6072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例：i = 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H="1">
            <a:off x="6446520" y="1645920"/>
            <a:ext cx="73152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1645920"/>
            <a:ext cx="73152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6035040" y="2240280"/>
            <a:ext cx="41148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2240280"/>
            <a:ext cx="41148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7498080" y="2240280"/>
            <a:ext cx="41148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2240280"/>
            <a:ext cx="41148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22592" y="1490472"/>
            <a:ext cx="310896" cy="310896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22592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91072" y="208483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9107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54112" y="20848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5411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79592" y="2679192"/>
            <a:ext cx="310896" cy="310896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79592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02552" y="2679192"/>
            <a:ext cx="310896" cy="310896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02552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42632" y="26791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42632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65592" y="26791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65592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760720" y="3200400"/>
            <a:ext cx="2834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父：⌊(1−1)/2⌋ =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左孩子：2·1+1 =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右孩子：2·1+2 =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一个指针都不用存。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5.1.3 二叉树的主要性质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 3–5：后面反复要用，都要会证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0515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0515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 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0515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n₀ = n₂ + 1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463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非空二叉树的叶结点数 = 度为 2 的结点数 + 1。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148840"/>
            <a:ext cx="2423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按度数分类：n = n₀ + n₁ + n₂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数边：除根外每个结点恰有一条边进入，e = n − 1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边都从度 1 或 2 的结点射出：e = n₁ + 2n₂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合并得 n₀ = n₂ + 1 ∎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0515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83280" y="10515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 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10515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满二叉树定理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1463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非空满二叉树的树叶数 = 分支结点数 + 1。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2148840"/>
            <a:ext cx="2423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满二叉树里每个结点度非 0 即 2：n₁ = 0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分支结点就是 n₂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由性质 3 直接得 n₀ = n₂ + 1 ∎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960120"/>
            <a:ext cx="2606040" cy="370332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10515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10515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 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10515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1463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非空二叉树的空子树数目 = 结点数 + 1。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2148840"/>
            <a:ext cx="24231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把所有空子树换成树叶，得扩充树 T′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T′ 是满二叉树，T 的每个结点都成了分支结点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由性质 4：T′ 的叶数 = T 的结点数 + 1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每片新叶恰对应一棵空子树 ∎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5.1.3 性质 5 的后果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个结点的二叉链表里有 n + 1 个空指针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84632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 5 不是纸面游戏：链式存储时，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+ 1 个空指针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占的空间和结点本身同阶。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线索二叉树、Trie 的压缩、第 12 章 PATRICIA 的动机都从这里来。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线索二叉树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（threaded binary tree）：复用空指针保存周游的前驱或后继；结点里另加一位标志，区分「孩子」还是「线索」。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有了中序线索，中序遍历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不用栈也不用递归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现代的看法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9044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线索化适合教学和需要低额外空间遍历的专门场景；通用库通常直接用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显式栈、父指针或迭代器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，不应把线索化当作默认的树表示。原书把它放在习题（第 22 题）。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32120" y="960120"/>
            <a:ext cx="3154680" cy="3703320"/>
          </a:xfrm>
          <a:prstGeom prst="roundRect">
            <a:avLst>
              <a:gd name="adj" fmla="val 2319"/>
            </a:avLst>
          </a:prstGeom>
          <a:solidFill>
            <a:srgbClr val="F1F4F2"/>
          </a:solidFill>
          <a:ln/>
        </p:spPr>
      </p:sp>
      <p:pic>
        <p:nvPicPr>
          <p:cNvPr id="12" name="Image 0" descr="fig-5-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184544"/>
            <a:ext cx="2880360" cy="279727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623560" y="4114800"/>
            <a:ext cx="2971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5.23　中序穿线二叉树：虚线是借空指针存下的中序前驱 / 后继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5.1.3 线索二叉树 · 代码（上）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中序线索化：按中序走一遍，把空指针接到前驱 / 后继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66928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52297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value;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left = nullptr;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right = nullptr;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left_thread = false;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true：left 存的是中序前驱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right_thread = false;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true：right 存的是中序后继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线索化：按中序走一遍，pre 是上一个访问到的结点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thread_impl(Node* node, Node*&amp; pre)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nullptr) return;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thread_impl(node-&gt;left, pre);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(node-&gt;left == nullptr) {       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空左指针 → 存中序前驱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node-&gt;left = pre;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node-&gt;left_thread = true;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(pre != nullptr &amp;&amp; pre-&gt;right == nullptr) {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上一个结点的空右指针 → 存后继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pre-&gt;right = node;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pre-&gt;right_thread = true;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 = node;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thread_impl(node-&gt;right, pre);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make_threaded(Node* root)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pre = nullptr;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thread_impl(root, pre);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(pre != nullptr) pre-&gt;right_thread = true;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最后一个结点：后继为空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55080" y="932688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标志位：每根指针一位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31673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不是每个结点一位。拿到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时，必须靠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left_thread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才知道它指的是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前驱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22860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377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两端是空线索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670048"/>
            <a:ext cx="211226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中序第一个结点：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为空，但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left_thread = true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中序最后一个结点：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为空，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right_thread = true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这样周游时只看标志位，不用再判空。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 = 左 → 根 → 右（5.2 细讲）。线索化本身就是一次中序周游，O(n)。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5.1.3 线索二叉树 · 代码（下）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沿线索找后继：中序周游不用栈，也不用递归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522976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中序后继：右指针是线索就直接跳；否则是右子树里最左下的结点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Node* next(Node* node)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(node-&gt;right_thread) return node-&gt;right;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= node-&gt;right;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(!node-&gt;left_thread) node = node-&gt;left;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node;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Visitor&gt;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inorder_threaded(Node* root, Visitor&amp; visit)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(root == nullptr) return;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node = root;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(!node-&gt;left_thread) node = node-&gt;left;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中序第一个：最左下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(; node != nullptr; node = next(node)) visit(node-&gt;value);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5669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 p 的情况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中序后继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right_thread = true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就是 </a:t>
                      </a: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p-&gt;right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，一步到位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right_thread = false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右子树里一路向左走到底（左指针是线索为止）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343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每个结点只多一位标志，额外空间 O(1)；每条边最多走两次，时间 O(n)。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55080" y="932688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2" name="Shape 9"/>
          <p:cNvSpPr/>
          <p:nvPr/>
        </p:nvSpPr>
        <p:spPr>
          <a:xfrm flipH="1">
            <a:off x="7086600" y="1280160"/>
            <a:ext cx="59436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0" y="1280160"/>
            <a:ext cx="59436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6766560" y="1874520"/>
            <a:ext cx="320040" cy="64008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86600" y="1874520"/>
            <a:ext cx="320040" cy="64008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25512" y="11247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25512" y="1124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31152" y="17190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3115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19872" y="17190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1987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11112" y="23591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1111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251192" y="23591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511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 flipV="1">
            <a:off x="6858000" y="2011680"/>
            <a:ext cx="164592" cy="36576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 flipH="1" flipV="1">
            <a:off x="7187184" y="2002536"/>
            <a:ext cx="146304" cy="37490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28" name="Shape 25"/>
          <p:cNvSpPr/>
          <p:nvPr/>
        </p:nvSpPr>
        <p:spPr>
          <a:xfrm flipV="1">
            <a:off x="7516368" y="1444752"/>
            <a:ext cx="128016" cy="96012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29" name="Shape 26"/>
          <p:cNvSpPr/>
          <p:nvPr/>
        </p:nvSpPr>
        <p:spPr>
          <a:xfrm flipH="1" flipV="1">
            <a:off x="7827264" y="1353312"/>
            <a:ext cx="329184" cy="41148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6400800" y="2852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 4 2 5 1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红虚线 = 线索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355080" y="35661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92240" y="3657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代价在别处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492240" y="39502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插入、删除都要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维护线索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；通用库宁可用父指针或迭代器。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5.1.3 延伸 · Morris 遍历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临时线索：用时搭上，用完拆掉，不要标志位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52297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Morris 中序周游：额外空间 O(1)。中途临时改树，结束时恢复原样。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Visitor&gt;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morris_inorder(Node* root, Visitor&amp; visit)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cur = root;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(cur != nullptr)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(cur-&gt;left == nullptr) {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没有左子树：访问，往右走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visit(cur-&gt;value);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 = cur-&gt;right;     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可能是真孩子，也可能是临时线索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pre = cur-&gt;left;    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找中序前驱：左子树最右下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(pre-&gt;right != nullptr &amp;&amp; pre-&gt;right != cur) pre = pre-&gt;right;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(pre-&gt;right == nullptr) {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第一次到 cur：搭线索，进左子树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pre-&gt;right = cur;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 = cur-&gt;left;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                     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第二次到 cur：左子树已走完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pre-&gt;right = nullptr;            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拆线索，恢复原树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visit(cur-&gt;value);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 = cur-&gt;right;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为什么需要栈？进左子树之前必须记住「回来的路」。Morris：左子树最后访问的结点（中序前驱）的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恰好是空的——让它临时指回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</a:t>
            </a:r>
            <a:r>
              <a:rPr lang="en-US" sz="105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，路就存在树里了。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932688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怎么分辨第一次 / 第二次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316736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不用标志位：从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cur-&gt;left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一路向右，碰到的若是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本身，说明线索是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自己上次搭的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，左子树已经走完。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23317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715768"/>
            <a:ext cx="211226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：找前驱的那条右链每个结点走两遍，每条边至多走 3 次。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：只有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3685032"/>
            <a:ext cx="2331720" cy="978408"/>
          </a:xfrm>
          <a:prstGeom prst="roundRect">
            <a:avLst>
              <a:gd name="adj" fmla="val 7477"/>
            </a:avLst>
          </a:prstGeom>
          <a:solidFill>
            <a:srgbClr val="FDF0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776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中途在改树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69080"/>
            <a:ext cx="2057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周游中途抛异常或提前退出，线索就留在树上；别的线程也不能同时读。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5.1.3 延伸 · Morris 遍历逐步推演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1(2(4, 5), 3)：每个有左子树的结点被经过两次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1188720" y="1280160"/>
            <a:ext cx="59436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280160"/>
            <a:ext cx="59436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868680" y="1874520"/>
            <a:ext cx="320040" cy="64008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874520"/>
            <a:ext cx="320040" cy="64008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27632" y="11247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27632" y="1124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33272" y="17190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327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17190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2199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" y="23591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53312" y="23591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5331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V="1">
            <a:off x="960120" y="2011680"/>
            <a:ext cx="164592" cy="36576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618488" y="1444752"/>
            <a:ext cx="128016" cy="96012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029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红虚线：Morris 临时搭的线索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（只用右指针）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932688"/>
          <a:ext cx="56692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417320"/>
                <a:gridCol w="3154680"/>
                <a:gridCol w="64008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左子树最右下 pre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5，right 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搭 5→1，进左子树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4，right 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搭 4→2，进左子树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（无左子树）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访问；顺 4→2 回到 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4，right = 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第二次：拆 4→2，访问，进右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（无左子树）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访问；顺 5→1 回到 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5，right = 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第二次：拆 5→1，访问，进右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（无左子树）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访问；right 空，结束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01568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线索二叉树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Morris 遍历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线索存多久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一直在，是存储结构的一部分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周游时临时搭，用完拆掉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结点结构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每根指针多一位标志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不变，不要标志位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插入、删除要维护线索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周游中途改树，不能并发读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 · 5.2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二叉树的周游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 = 把树线性化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深度优先（栈 / 递归）· 表达式树 · 由序列重建 · 广度优先（队列）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5.2.1 二叉树的抽象数据类型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ADT：建树、判空、取根与子树、四种周游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48840"/>
                <a:gridCol w="20574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教学版接口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create_tree(v, l, r)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 v 为根接上两棵子树（接管所有权）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create_leaf(v)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只有一个根结点的树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empty()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树里有没有结点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root()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返回根结点；由此取左右子树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深度优先周游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preorder / inorder / postorder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前序 / 中序 / 后序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广度优先周游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level_order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层次周游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size() / height()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结点数、高度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9601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0" y="1051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 traversal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190488" y="1344168"/>
            <a:ext cx="238658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按一定顺序访问树中所有结点，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每个结点恰好访问一次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。「访问」是操作：输出、修改结点信息……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周游一棵二叉树，实际上就是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把结点放入一个线性序列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——对二叉树进行线性化。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80760" y="3401568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3493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与存储无关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78561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ADT 不规定存储方式（5.3 再谈）。原书把树类声明为结点类的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友元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；本书把结点当内部细节，只暴露访问器，不需要友元。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深度优先周游二叉树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三件事的六种排列，约定先左后右，只剩三种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pic>
        <p:nvPicPr>
          <p:cNvPr id="8" name="Image 0" descr="fig-5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556" y="1051560"/>
            <a:ext cx="1454727" cy="1600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651760"/>
            <a:ext cx="22860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5.4　t：访问根；L / R：周游左 / 右子树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63240" y="960120"/>
          <a:ext cx="56235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2588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次序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递归定义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tLR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前序 preorder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访问根 → 前序周游左子树 → 前序周游右子树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LtR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中序 inorder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中序周游左子树 → 访问根 → 中序周游右子树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后序 postorder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后序周游左子树 → 后序周游右子树 → 访问根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324612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94360" y="3337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深度优先的思路：尽量往深处走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3630168"/>
            <a:ext cx="8010144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沿左链一路下降；左子树为空就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退回最近的、右子树尚未访问的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分支结点，转向它的右孩子，再继续尽量往左。重复到没有结点可退为止，每个结点恰好访问一次。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「退回最近的」——这正是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的行为；写成递归时，这把栈就是运行栈。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深度优先周游二叉树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对图 5.5：三种周游，三个序列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92608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8" name="Image 0" descr="fig-5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85584"/>
            <a:ext cx="2651760" cy="20350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172968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5.5　9 个结点，差别才看得出来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960120"/>
          <a:ext cx="5074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703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周游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前序 tLR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 D E G C F H 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中序 LtR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B G E A C H F I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后序 LRt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G E B H I F C 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6118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线性化之后，「前驱」「后继」这类线性结构的说法对树才有了意义——以结点 E 为例：</a:t>
            </a:r>
            <a:endParaRPr lang="en-US" sz="11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的前驱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的后继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5257800" y="361188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5394960" y="3703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394960" y="399592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同一个结点，换一种次序就换一批邻居——这正是「周游次序」本身的意义。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深度优先周游 · 教学版【算法5.3】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三个递归函数只差 visit 那一行的位置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111496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Visitor&gt;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preorder_impl(const Node* node, Visitor&amp; visit)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nullptr) return;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visit(node-&gt;value);               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根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preorder_impl(node-&gt;left, visit);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左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preorder_impl(node-&gt;right, visit);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右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240280"/>
            <a:ext cx="5111496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Visitor&gt;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inorder_impl(const Node* node, Visitor&amp; visit)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nullptr) return;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inorder_impl(node-&gt;left, visit);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左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visit(node-&gt;value);               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根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inorder_impl(node-&gt;right, visit);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右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3456432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" y="3502152"/>
            <a:ext cx="5111496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Visitor&gt;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postorder_impl(const Node* node, Visitor&amp; visit)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nullptr) return;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postorder_impl(node-&gt;left, visit);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左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postorder_impl(node-&gt;right, visit);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右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visit(node-&gt;value);               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根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932688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807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≠ 走进去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131673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visit(node-&gt;value)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preorder_impl(node-&gt;left, visit)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走进去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。报错的序列多半来自把这两件事混为一谈。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2651760"/>
            <a:ext cx="2743200" cy="1993392"/>
          </a:xfrm>
          <a:prstGeom prst="roundRect">
            <a:avLst>
              <a:gd name="adj" fmla="val 3670"/>
            </a:avLst>
          </a:prstGeom>
          <a:solidFill>
            <a:srgbClr val="CFE0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8076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53328" y="3035808"/>
            <a:ext cx="2523744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每个结点进出各一次：时间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 = 递归深度 =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：平衡时约 log₂n，退化成链时是 n。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工程版另给了三个显式栈的迭代版（5.6a），只作补充。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表达式树：周游的一个用途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+ B × (C + D)：三种周游 = 三种表达式写法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pic>
        <p:nvPicPr>
          <p:cNvPr id="8" name="Image 0" descr="fig-5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147" y="1051560"/>
            <a:ext cx="2409305" cy="21488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5.6　运算符在内部结点，运算对象在叶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960120"/>
          <a:ext cx="5257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317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周游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得到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前缀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表达式（波兰式）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A × B + C 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中缀表达式（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缺括号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+ B × C + 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后缀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表达式（逆波兰式）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 C D + × +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429000" y="292608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DF0E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566160" y="3017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中序那一行多看一眼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310128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它长得像原式，但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括号丢了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：照它算的是 A + B × C + D。要印回可读的中缀式，必须在周游时按优先级补括号。前缀、后缀式不需要括号——运算符的位置本身就定死了次序。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章的后缀求值器吃的正是这棵树的后序序列；「中缀转后缀」= 建出这棵树，再后序周游一遍。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由周游序列重建二叉树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前序（或后序）+ 中序 → 唯一一棵树（关键码互不相同）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一个序列不行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：前序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既可以是一条左链，也可以是一条右链。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后序的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（前序的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）一定是根；在中序里找到根的位置 k，左边是左子树，右边是右子树。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左子树的结点个数一旦知道，后序（前序）里的两段也就切开了；对两段递推，直到区间为空。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2240280"/>
            <a:ext cx="457200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2240280"/>
            <a:ext cx="457200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459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2240280"/>
            <a:ext cx="457200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031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2240280"/>
            <a:ext cx="457200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2240280"/>
            <a:ext cx="457200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175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2240280"/>
            <a:ext cx="457200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2240280"/>
            <a:ext cx="457200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319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0" y="2240280"/>
            <a:ext cx="457200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240280"/>
            <a:ext cx="457200" cy="384048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2240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8803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88720" y="2880360"/>
            <a:ext cx="457200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8872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645920" y="2880360"/>
            <a:ext cx="457200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592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03120" y="2880360"/>
            <a:ext cx="457200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10312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60320" y="2880360"/>
            <a:ext cx="457200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56032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17520" y="2880360"/>
            <a:ext cx="457200" cy="384048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01752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2880360"/>
            <a:ext cx="457200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7472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931920" y="2880360"/>
            <a:ext cx="457200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93192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389120" y="2880360"/>
            <a:ext cx="457200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8912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46320" y="2880360"/>
            <a:ext cx="457200" cy="384048"/>
          </a:xfrm>
          <a:prstGeom prst="rect">
            <a:avLst/>
          </a:prstGeom>
          <a:solidFill>
            <a:srgbClr val="E8F4EC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4632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18872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左子树 4 个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3017520" y="3337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347472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右子树 4 个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3611880"/>
            <a:ext cx="5212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后序末元素 A 是根 → 中序里 A 左边 4 个 → 后序前 4 个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G E B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是左子树的后序，接下来的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I F C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是右子树的后序。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" y="41148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CFE0D8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9436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前提：关键码互不相同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594360" y="4498848"/>
            <a:ext cx="4937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否则在中序里找不到根的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位置。重复键工程版单独报出，好让报错说对原因。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852160" y="2240280"/>
            <a:ext cx="2834640" cy="2441448"/>
          </a:xfrm>
          <a:prstGeom prst="roundRect">
            <a:avLst>
              <a:gd name="adj" fmla="val 2996"/>
            </a:avLst>
          </a:prstGeom>
          <a:solidFill>
            <a:srgbClr val="FDF0EE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98932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前序 + 后序不够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5989320" y="2624328"/>
            <a:ext cx="25603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前序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、后序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A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：说不清 B 是左孩子还是右孩子。（习题：给出最小反例。）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由周游序列重建二叉树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逐帧推演：后序 DGEBHIFCA + 中序 DBGEACHFI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5778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097280"/>
                <a:gridCol w="1097280"/>
                <a:gridCol w="548640"/>
                <a:gridCol w="96012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子问题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后序段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中序段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左子树中序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右子树中序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整棵树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DGEBHIFCA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DBGEACHFI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DBGE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CHFI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的左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DGEB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DBGE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的左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的右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 的左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的右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HIFC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CHFI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HFI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的右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HFI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 的左 / 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 / 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 / 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H, 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023360"/>
            <a:ext cx="55778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每一帧：取后序段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末元素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为根 → 在中序段里定位 → 按左子树大小切开后序段。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960120"/>
            <a:ext cx="2423160" cy="3703320"/>
          </a:xfrm>
          <a:prstGeom prst="roundRect">
            <a:avLst>
              <a:gd name="adj" fmla="val 3019"/>
            </a:avLst>
          </a:prstGeom>
          <a:solidFill>
            <a:srgbClr val="F1F4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0" y="1024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重建结果 = 图 5.5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 flipH="1">
            <a:off x="6858000" y="1600200"/>
            <a:ext cx="54864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06640" y="1600200"/>
            <a:ext cx="54864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6537960" y="2194560"/>
            <a:ext cx="32004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2194560"/>
            <a:ext cx="32004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6903720" y="2788920"/>
            <a:ext cx="27432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55280" y="2194560"/>
            <a:ext cx="32004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8001000" y="2788920"/>
            <a:ext cx="27432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75320" y="2788920"/>
            <a:ext cx="2286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51192" y="14447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51192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02552" y="20391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02552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99832" y="20391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9832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82512" y="26334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82512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022592" y="26334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022592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48272" y="32278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48272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19872" y="26334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119872" y="2633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845552" y="32278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845552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348472" y="32278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48472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0" y="3840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再取一遍前序：A B D E G C F H I ✓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由周游序列重建 · 教学版 teaching.hpp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把推演表翻译成递归：只传下标，只在本段里找根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6172200" cy="3182112"/>
          </a:xfrm>
          <a:prstGeom prst="roundRect">
            <a:avLst>
              <a:gd name="adj" fmla="val 229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6025896" cy="3090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把中序 inorder[in_begin, in_end) 与后序 postorder[post_begin, …) 建成一棵子树，挂到 link 上。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两段一样长；只传下标，不拷贝子数组。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后序段的最后一个是根；在中序段里找到它（下标 k），左边 k - in_begin 个是左子树，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右边是右子树。左子树的大小一旦知道，后序段也就切成了「左子树 | 右子树 | 根」。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build_impl(Node*&amp; link, const T* inorder, std::size_t in_begin, std::size_t in_end,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const T* postorder, std::size_t post_begin) {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(in_begin == in_end) {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                                         </a:t>
            </a: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空区间：空子树，link 保持 nullptr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size = in_end - in_begin;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T&amp; key = postorder[post_begin + size - 1];    </a:t>
            </a:r>
            <a:r>
              <a:rPr lang="en-US" sz="7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后序段的最后一个是根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k = in_begin;                           </a:t>
            </a: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在中序段里从左往右找根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(k &lt; in_end &amp;&amp; inorder[k] != key) {           </a:t>
            </a:r>
            <a:r>
              <a:rPr lang="en-US" sz="7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只找本段：根不在本段，说明两个序列对不上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++k;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(k == in_end) {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std::invalid_argument("build_from_inorder_postorder: root lies outside its inorder range");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 = new Node{key, nullptr, nullptr};             </a:t>
            </a: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先挂上：子树里再抛异常，它也归临时树释放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left_size = k - in_begin;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build_impl(link-&gt;left, inorder, in_begin, k, postorder, post_begin);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build_impl(link-&gt;right, inorder, k + 1, in_end, postorder, post_begin + left_size);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766560" y="932688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024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推演表的一行 = 一次调用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876288" y="1316736"/>
            <a:ext cx="1700784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中序段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[in_begin, in_end)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；后序段从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post_begin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起，一样长。</a:t>
            </a:r>
            <a:endParaRPr lang="en-US" sz="8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=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，取后序段</a:t>
            </a:r>
            <a:r>
              <a:rPr lang="en-US" sz="8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8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 / 右子树 = 最后两行递归；右子树的后序段从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post_begin + left_size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起。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66560" y="3035808"/>
            <a:ext cx="1920240" cy="1627632"/>
          </a:xfrm>
          <a:prstGeom prst="roundRect">
            <a:avLst>
              <a:gd name="adj" fmla="val 4494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3127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对不上就抛异常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3419856"/>
            <a:ext cx="1645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只在本段找：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3 1 2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建左子树时找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，本段只有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抛异常。入口先建在临时树里，</a:t>
            </a:r>
            <a:r>
              <a:rPr lang="en-US" sz="8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原树不动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4224528"/>
            <a:ext cx="6172200" cy="438912"/>
          </a:xfrm>
          <a:prstGeom prst="roundRect">
            <a:avLst>
              <a:gd name="adj" fmla="val 16667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224528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r>
              <a:rPr lang="en-US" sz="10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每帧从左往右找根，总 </a:t>
            </a: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O(n·h)</a:t>
            </a:r>
            <a:r>
              <a:rPr lang="en-US" sz="10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，退化成链时 O(n²)；递归深度 = 树高。下面三页：查表、显式栈。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由周游序列重建 · 教学版 · 直接查表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键是 char：拿键当下标，找根从「数一遍」变成「查一次」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7091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4562856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「点名册」：pos[c] = 字符 c 坐在中序第几号，-1 表示中序里没有。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登记时发现这一格已经有人，就是中序里有重复键。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fill_position_table(int pos[256], const char* inorder, int count) {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c = 0; c &lt; 256; ++c) {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pos[c] = -1;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count; ++i) {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unsigned char c = static_cast&lt;unsigned char&gt;(inorder[i]);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(pos[c] != -1) {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std::invalid_argument("duplicate key in inorder sequence");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pos[c] = i;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303520" y="932688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40680" y="1024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点名册 pos[]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13248" y="1316736"/>
            <a:ext cx="316382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pos[c]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字符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坐在中序第几号；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没这个人。</a:t>
            </a:r>
            <a:endParaRPr lang="en-US" sz="9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建表 O(n)，之后每次找根 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，总代价 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登记时这一格已有人 → 中序有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重复键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612648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0352" y="2743200"/>
            <a:ext cx="5980176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与 build_impl 同一个递归，只把「从左往右数」换成查一次表：找根 O(1)，总代价 O(n)。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两棵子树先各自建成小树，再用 create_tree（【代码5.2】）接到根上。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build_by_table(BinaryTree&lt;char&gt;&amp; out, const int pos[256], const char* postorder,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int in_begin, int in_end, int post_begin) {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(in_begin == in_end) {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out.clear();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char key = postorder[post_begin + (in_end - in_begin) - 1];   </a:t>
            </a:r>
            <a:r>
              <a:rPr lang="en-US" sz="6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后序段的最后一个是根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int k = pos[static_cast&lt;unsigned char&gt;(key)];                 </a:t>
            </a:r>
            <a:r>
              <a:rPr lang="en-US" sz="6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查表：它坐在中序第几号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(k &lt; in_begin || k &gt;= in_end) {                                  </a:t>
            </a:r>
            <a:r>
              <a:rPr lang="en-US" sz="6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不在本段（-1 也落在这里）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std::invalid_argument("root lies outside its inorder range");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int left_size = k - in_begin;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BinaryTree&lt;char&gt; left, right;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build_by_table(left, pos, postorder, in_begin, k, post_begin);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build_by_table(right, pos, postorder, k + 1, in_end, post_begin + left_size);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out.create_tree(key, left, right);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720840" y="269748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DF0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0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工程版为什么不用它？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081528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键可能是大整数、字符串，</a:t>
            </a:r>
            <a:r>
              <a:rPr lang="en-US" sz="8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不能当下标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；换哈希表又要求键能哈希。工程版只要求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支持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，只好</a:t>
            </a:r>
            <a:r>
              <a:rPr lang="en-US" sz="8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 + 二分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，O(n log n)。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由周游序列重建 · 教学版 · 显式栈（上）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递归调用的参数存成一帧；栈也要有主人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3090672"/>
          </a:xfrm>
          <a:prstGeom prst="roundRect">
            <a:avLst>
              <a:gd name="adj" fmla="val 23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2999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build_from_inorder_postorder_iterative(const T* inorder, const T* postorder, std::size_t count) {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Frame {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Node** link;                    </a:t>
            </a:r>
            <a:r>
              <a:rPr lang="en-US" sz="7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建好的子树挂到哪根指针上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in_begin, in_end;   </a:t>
            </a: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中序段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post_begin;         </a:t>
            </a: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后序段起点（与中序段一样长）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Frame* next;                    </a:t>
            </a: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链式栈：下面那一帧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栈也要有主人：它一离开作用域——正常建完、找不到根抛异常、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甚至 new 本身失败——析构都会把剩下的帧还掉。与 fresh 是同一个想法。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FrameStack {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Frame* top = nullptr;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FrameStack() = default;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FrameStack(const FrameStack&amp;) = delete;             </a:t>
            </a: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三法则：拷贝出两份，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FrameStack&amp; operator=(const FrameStack&amp;) = delete;  </a:t>
            </a: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同一批帧就会被删两次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~FrameStack() {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(top != nullptr) {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Frame* rest = top-&gt;next;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delete top;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top = rest;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BinaryTree fresh;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FrameStack stack;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stack.top = new Frame{&amp;fresh.root_, 0, count, 0, nullptr};   </a:t>
            </a:r>
            <a:r>
              <a:rPr lang="en-US" sz="7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第一次「调用」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7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…… 下一页：弹一帧、找根、挂接、压两帧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4096512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4187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与递归版逐项对应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48056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 → 帧的字段；第一次调用 → 压第一帧；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Node*&amp;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Node**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（引用存不进结构体）。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60720" y="4096512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4187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 FrameStack？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44805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析构负责还帧：抛异常、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失败都不漏。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由周游序列重建 · 教学版 · 显式栈（下）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弹一帧、找根（与递归版一字不差）、挂接、压两帧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3163824"/>
          </a:xfrm>
          <a:prstGeom prst="roundRect">
            <a:avLst>
              <a:gd name="adj" fmla="val 23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3072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6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…… 接上一页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(stack.top != nullptr) {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Frame f = *stack.top;     </a:t>
            </a:r>
            <a:r>
              <a:rPr lang="en-US" sz="6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弹出一帧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Frame* popped = stack.top;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stack.top = stack.top-&gt;next;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 popped;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(f.in_begin == f.in_end) {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continue;                   </a:t>
            </a:r>
            <a:r>
              <a:rPr lang="en-US" sz="6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空区间：空子树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size = f.in_end - f.in_begin;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T&amp; key = postorder[f.post_begin + size - 1];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k = f.in_begin;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(k &lt; f.in_end &amp;&amp; inorder[k] != key) {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++k;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(k == f.in_end) {            </a:t>
            </a:r>
            <a:r>
              <a:rPr lang="en-US" sz="6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剩下的帧由 stack 的析构还掉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std::invalid_argument("build_from_inorder_postorder_iterative: root lies outside its inorder range");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node = new Node{key, nullptr, nullptr};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*f.link = node;                 </a:t>
            </a:r>
            <a:r>
              <a:rPr lang="en-US" sz="6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先挂上：之后再抛异常，它也归临时树释放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left_size = k - f.in_begin;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6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先压右、再压左：栈后进先出，于是左子树先建，与递归的次序一致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stack.top = new Frame{&amp;node-&gt;right, k + 1, f.in_end, f.post_begin + left_size, stack.top};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stack.top = new Frame{&amp;node-&gt;left, f.in_begin, k, f.post_begin, stack.top};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clear();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root_ = fresh.root_;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fresh.root_ = nullptr;</a:t>
            </a:r>
            <a:endParaRPr lang="en-US" sz="6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57200" y="4151376"/>
            <a:ext cx="5120640" cy="585216"/>
          </a:xfrm>
          <a:prstGeom prst="roundRect">
            <a:avLst>
              <a:gd name="adj" fmla="val 125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42428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先压右、再压左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535424"/>
            <a:ext cx="4846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后进先出 → 左子树先建，次序同递归。找不到根直接抛：剩下的帧由 </a:t>
            </a:r>
            <a:r>
              <a:rPr lang="en-US" sz="8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的析构还掉。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60720" y="4151376"/>
            <a:ext cx="2926080" cy="585216"/>
          </a:xfrm>
          <a:prstGeom prst="roundRect">
            <a:avLst>
              <a:gd name="adj" fmla="val 12500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4242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教学版的局限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453542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析构仍递归：长链建得出、拆时照样爆栈。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由周游序列重建 · 工程版 modern.hpp（进阶）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教学版的两处坑，工程版怎么处理；做成两个静态工厂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由中序 + 后序序列重建二叉树（两个序列各 count 个元素，关键码互不相同）。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不自洽的输入一律抛 std::invalid_argument，绝不默默建出一棵错树：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中序里有重复键、后序里出现中序没有的键、某个根落在当前中序区间之外。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能建完就说明两个序列恰好是这棵树的中序与后序（归纳即得），不必再周游核对。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要求 T 支持 operator&lt;（用来排序查位置）。时间 O(n log n)，额外空间 O(n)。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BinaryTree from_inorder_postorder(const T* inorder, const T* postorder, std::size_t count)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rebuild(inorder, postorder, count, Order::postorder);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由前序 + 中序序列重建（本章上机题第 1 题）。契约同上。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BinaryTree from_preorder_inorder(const T* preorder, const T* inorder, std::size_t count)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rebuild(inorder, preorder, count, Order::preorder);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0175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每层拷贝子数组 → O(n²)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3657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只传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下标区间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就不必拷贝（教学版已如此）。教学版的 char 点名册是 O(n)，但任意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不能当下标；工程版把中序下标按键排序后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查位置，总代价 O(n log n)。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92608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DF0EE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3017520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4632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30175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输入不自洽时默默建出一棵树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429000"/>
            <a:ext cx="3703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、后序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3 1 2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：根是 2，左子树只该有 1，后序对应的却是 3。检查只要一条——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每次取出的根必须落在当前中序区间里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。工程版另把重复键、键缺失单独报出。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由周游序列重建 · 工程版 rebuild（上）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不递归：位置查找表 + 重复键检查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两种重建共用的主体。不递归：待建的子树用手写链式栈保存为「区间帧」，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退化成链的输入也不会压穿调用栈。每一帧只记下标，不复制子数组。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BinaryTree rebuild(const T* inorder, const T* other, std::size_t count, Order order)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BinaryTree result;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(count == 0) return result;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(inorder == nullptr || other == nullptr)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std::invalid_argument("rebuild: non-empty sequence given as null pointer");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位置查找表：中序下标按键排序，之后二分查位置。排好序顺便查出重复键。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D-001 §2 的边界：std::sort / std::lower_bound 只用在这张「键 → 中序下标」的查找表上，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树结点、区间帧栈（LinkedStack）和挂接过程仍全部手写——没有拿 STL 容器替代本章要教的结构。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std::unique_ptr&lt;std::size_t[]&gt; by_key(new std::size_t[count]);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 = 0; i &lt; count; ++i) by_key[i] = i;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key_less = [inorder](std::size_t a, std::size_t b) { return inorder[a] &lt; inorder[b]; };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std::sort(by_key.get(), by_key.get() + count, key_less);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 = 1; i &lt; count; ++i)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(!(inorder[by_key[i - 1]] &lt; inorder[by_key[i]]))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std::invalid_argument("rebuild: duplicate key in inorder sequence");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position_in_inorder = [&amp;](const T&amp; key)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std::size_t* hit = std::lower_bound(by_key.get(), by_key.get() + count, key,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[inorder](std::size_t index, const T&amp; k) { return inorder[index] &lt; k; });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(hit == by_key.get() + count || key &lt; inorder[*hit])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std::invalid_argument("rebuild: key missing from inorder sequence");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*hit;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由周游序列重建 · 工程版 rebuild（下）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区间帧压进手写链式栈，逐帧挂接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一帧 = 「把中序 [in_begin, in_end) 与另一序列 [other_begin, …) 建成子树，挂到 *link」。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Frame { Node** link; std::size_t in_begin, in_end, other_begin; };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LinkedStack&lt;Frame&gt; pending;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pending.push(Frame{&amp;result.root_, 0, count, 0});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(auto frame = pending.pop())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size = frame-&gt;in_end - frame-&gt;in_begin;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(size == 0) continue;   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空子树：*link 已是 nullptr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前序的根在区间最前，后序的根在区间最后。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root_at = order == Order::preorder ? frame-&gt;other_begin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 : frame-&gt;other_begin + size - 1;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k = position_in_inorder(other[root_at]);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(k &lt; frame-&gt;in_begin || k &gt;= frame-&gt;in_end)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std::invalid_argument("rebuild: root lies outside its inorder range");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const node = new Node(other[root_at]);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*frame-&gt;link = node;       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先挂上：再抛异常时由 result 统一释放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left_size = k - frame-&gt;in_begin;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左子树在另一序列里紧跟根（前序）或从区间头开始（后序），右子树接在左子树后面。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left_other = order == Order::preorder ? frame-&gt;other_begin + 1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    : frame-&gt;other_begin;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pending.push(Frame{&amp;node-&gt;right, k + 1, frame-&gt;in_end, left_other + left_size});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pending.push(Frame{&amp;node-&gt;left, frame-&gt;in_begin, k, left_other});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为什么「能建完就一定对」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498848"/>
            <a:ext cx="4846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对区间长度归纳：根取自区间末端（后序）或首端（前序），左右两段恰好分走剩下的元素；两段各自一致，拼上根整棵树也一致。测试用 400 棵随机树往返核对。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41148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为什么不递归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4498848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教学版递归深度 = 树高；显式栈在堆上，20 万结点的纯左链照样重建。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5.2.3 广度优先周游二叉树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层次周游：一层一层，从左到右——靠队列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3602736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把根入队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只要队列非空: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出队一个结点, 访问它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它的左孩子入队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它的右孩子入队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0280"/>
            <a:ext cx="3749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上层结点总比下层先入队，队列又先进先出 → 出队次序自然逐层从左到右。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为什么不能写成递归？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218688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递归天生是深度优先的：一层调用只能带着「当前子树」往下走。层次周游要在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兄弟子树之间横向跳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——第 2 层的最后一个和第 3 层的第一个常分属不同子树。这个跨子树的次序只能由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显式队列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记住。</a:t>
            </a:r>
            <a:endParaRPr lang="en-US" sz="10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932688"/>
          <a:ext cx="42519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1005840"/>
                <a:gridCol w="160020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出队并访问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队列（头 → 尾）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 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D 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E 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 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 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 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 H 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 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（空）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434840" y="3931920"/>
            <a:ext cx="4251960" cy="731520"/>
          </a:xfrm>
          <a:prstGeom prst="roundRect">
            <a:avLst>
              <a:gd name="adj" fmla="val 10000"/>
            </a:avLst>
          </a:prstGeom>
          <a:solidFill>
            <a:srgbClr val="1E3D3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0" y="3931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5.5 的层次序列：A B C D E F G H I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5.2.3 层次周游 · 教学版【算法5.7】（上）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现写一条极简的链式 FIFO，而不是 std::queue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30352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15721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【算法5.7】层次周游：一层一层从左到右。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深度优先靠栈（这里是递归用的运行栈），广度优先靠队列。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Visitor&gt;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level_order(Visitor visit)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一条极简的链式队列，只在这个函数里用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Pending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Node* node;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Pending* next;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Pending* front = nullptr;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Pending* rear = nullptr;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(root_ !=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rear = new Pending{root_, nullptr};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(front !=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Pending* item = front;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出队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front-&gt;next;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(front ==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rear = nullptr;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Node* node = item-&gt;node;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 item;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89320" y="932688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1024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 std::queue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316736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原书【算法5.7】直接用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std::queue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。本节要教的就是「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队列在这里起了什么作用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」，一行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std::queue&lt;Node*&gt;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会把它藏起来。队列本身第 3.2 节已经讲过，这里只是用它。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315468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出队的边界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538728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队列只剩一个时出队，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变空，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也必须置空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——否则下一次入队会接到已释放的结点后面。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5.2.3 层次周游 · 教学版【算法5.7】（下）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访问，然后左右孩子依次入队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visit(node-&gt;value);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(node-&gt;left != nullptr) {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左右孩子依次入队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Pending* fresh = new Pending{node-&gt;left, nullptr};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(rear == nullptr) { front = rear = fresh; } else { rear-&gt;next = fresh; rear = fresh;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(node-&gt;right !=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Pending* fresh = new Pending{node-&gt;right, nullptr};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(rear == nullptr) { front = rear = fresh; } else { rear-&gt;next = fresh; rear = fresh;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每个结点入队、出队各一次：时间同样是 O(n)。空间代价两者正好互补——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364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深度优先：∝ 树高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30752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平衡时约 log₂n；退化成一条链（「藤」）时是 n。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树越平衡越省。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32918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3364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广度优先：∝ 最宽的一层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730752"/>
            <a:ext cx="36576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最坏是每层都排满的二叉树：队列最长时装着最下面一整层，约 (n+1)/2 个。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树越接近链越省。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 · 5.3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二叉树的存储结构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二叉链表 · 三叉链表 · 完全二叉树的顺序存储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教学版完整实现：三法则、所有权转移、后序释放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二叉树的存储结构 · 链式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二叉链表与三叉链表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pic>
        <p:nvPicPr>
          <p:cNvPr id="8" name="Image 0" descr="fig-5-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149" y="1005840"/>
            <a:ext cx="6149703" cy="8686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1856232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5.7　(a) 数据域 + 左右指针 → 二叉链表（left-right 存储法）；(b) 再加 parent → 三叉链表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24028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F1F4F2"/>
          </a:solidFill>
          <a:ln/>
        </p:spPr>
      </p:sp>
      <p:pic>
        <p:nvPicPr>
          <p:cNvPr id="11" name="Image 1" descr="fig-5-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03" y="2304288"/>
            <a:ext cx="2923953" cy="20116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5.8　图 5.5 的二叉链表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2240280"/>
            <a:ext cx="448056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结点随机地存在内存里，关系用指针表示；孩子为空时指针为空。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二叉链表找父结点得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从根重新走一趟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；三叉链表顺着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一步就到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——多一根指针买到的就是这件事。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数一数图 5.8 的空指针：9 个结点、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空链域（性质 5）。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教学版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create_tree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先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出新根，再挪子树的根指针，最后才清空自己原来的树——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抛异常时调用方的两棵子树不动。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二叉树的存储结构 · 顺序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完全二叉树：按层编号，编号 i 放在下标 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310896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pic>
        <p:nvPicPr>
          <p:cNvPr id="8" name="Image 0" descr="fig-5-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7323"/>
            <a:ext cx="2834640" cy="228303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310128"/>
            <a:ext cx="3108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5.9　完全二叉树的结点编号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9326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5.9 的顺序存储（= 层次周游的排列）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40480" y="1325880"/>
            <a:ext cx="39319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40480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233672" y="1325880"/>
            <a:ext cx="393192" cy="365760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33672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233672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325880"/>
            <a:ext cx="39319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26864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626864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020056" y="1325880"/>
            <a:ext cx="393192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0056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20056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13248" y="1325880"/>
            <a:ext cx="393192" cy="36576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13248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13248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806440" y="1325880"/>
            <a:ext cx="39319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806440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806440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199632" y="1325880"/>
            <a:ext cx="39319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199632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199632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592824" y="1325880"/>
            <a:ext cx="39319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92824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592824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986016" y="1325880"/>
            <a:ext cx="39319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986016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986016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379208" y="1325880"/>
            <a:ext cx="39319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79208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7379208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7772400" y="1325880"/>
            <a:ext cx="39319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0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7772400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8165592" y="1325880"/>
            <a:ext cx="393192" cy="36576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165592" y="13258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8165592" y="169164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3794760" y="2011680"/>
            <a:ext cx="48920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 i 的左右孩子：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2i + 1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2i + 2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；父：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⌊(i − 1)/2⌋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例：B 在下标 1 → 孩子 D、E 在 3、4。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一个指针都不用存：完全二叉树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最省空间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的存法；5.5 节的堆、8.3.2 节的堆排序都用它。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只对完全二叉树划算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41330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一般情况下「只通过位置不足以刻画整个树形结构」。树一旦有空洞，数组里就要留出同样多的空位。选存储结构时，除了树的形态，还要看时间、空间复杂度和算法的简洁性。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教学版 binary_tree/teaching.hpp（一）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结点、构造与三法则：拷贝必须是深拷贝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76072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61441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T&gt;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BinaryTree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【代码5.1】二叉树结点：一个数据域 + 左右两根链接。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没有孩子就是 nullptr——这比原书用一个"空结点"表示要省事得多。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value;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left;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right;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BinaryTree() : root_(nullptr) {}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~BinaryTree() { clear();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三法则：树管着一堆 new 出来的结点，拷贝必须自己写（而且必须是深拷贝）。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BinaryTree(const BinaryTree&amp; other) : root_(clone(other.root_)) {}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BinaryTree&amp; operator=(const BinaryTree&amp; other)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(this == &amp;other)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*this;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fresh = clone(other.root_);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先把新树建好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clear();                    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再拆掉旧树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root_ = fresh;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*this;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400800" y="932688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24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唯一的数据成员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31673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root_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——一棵树就是「指向根的一根指针」，空树就是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nullptr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228600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先建后拆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670048"/>
            <a:ext cx="206654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赋值时先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出新树，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旧树。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中途抛异常时，旧树还完好无损。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编译器生成的拷贝只抄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这根指针 → 两棵树共享结点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二次释放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教学版 binary_tree/teaching.hpp（二）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create_tree：两棵子树的所有权转移给新树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340096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empty() const { return root_ == nullptr;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Node* root() const { return root_;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root() { return root_;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造一棵新树：一个根，接上左右两棵子树。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两棵子树的所有权转移给新树——传进来的那两棵随即变空，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否则同一批结点会被两棵树各删一次。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create_tree(const T&amp; value, BinaryTree&amp; left, BinaryTree&amp; right)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fresh = new Node{value, left.root_, right.root_};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left.root_ = nullptr;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right.root_ = nullptr;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clear();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root_ = fresh;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create_leaf(const T&amp; value)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fresh = new Node{value, nullptr, nullptr};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clear();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root_ = fresh;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" y="3813048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9044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顺序有讲究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19709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新根 → 再挪子树根指针 → 最后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自己原来的树。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抛异常时，调用方的两棵子树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一个都不动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932688"/>
            <a:ext cx="2514600" cy="374904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b.create_tree('B', d, 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d.root_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14173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43800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e.root_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755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调用前：各指向一个叶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flipH="1">
            <a:off x="6949440" y="2423160"/>
            <a:ext cx="4572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2423160"/>
            <a:ext cx="4572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51192" y="2267712"/>
            <a:ext cx="310896" cy="310896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51192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93992" y="28620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93992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08392" y="28620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08392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2860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936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b.root_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调用后：d.root_ = e.root_ = nullptr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3886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同一批结点只归 b 一个人管，析构只删一次。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教学版 binary_tree/teaching.hpp（三）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后序释放，递归深拷贝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48640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34009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clear()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destroy(root_);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root_ = nullptr;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【代码5.8】后序释放：必须先删两个孩子，再删自己。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反过来先 delete node，node-&gt;left 就成了读已释放内存。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destroy(Node* node)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 == nullptr)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destroy(node-&gt;left);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destroy(node-&gt;right);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 node;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深拷贝：形状和 destroy 一样，只是把"删"换成"建"。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Node* clone(const Node* node)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 == nullptr)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nullptr;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new Node{node-&gt;value, clone(node-&gt;left), clone(node-&gt;right)};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172200" y="932688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0241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为什么必须后序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81928" y="1316736"/>
            <a:ext cx="2295144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node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node-&gt;left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node-&gt;right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都成了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已释放内存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所以先把两个孩子删干净，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删自己——这就是后序 LRt。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ASan 当场报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heap-use-after-free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32004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clone 的形状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58444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destroy 一模一样，只是把「删」换成「建」：先建两个孩子的副本，再建自己并接上。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教学版 · 递归的代价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size / height：先算孩子、再算自己；递归深度 = 树高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94360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797296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std::size_t count(const Node* node)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 == nullptr ? 0 : 1 + count(node-&gt;left) + count(node-&gt;right);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std::size_t depth(const Node* node)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 == nullptr) return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l = depth(node-&gt;left);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std::size_t r = depth(node-&gt;right);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 + (l &gt; r ? l : r);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0" y="932688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2084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5.5 那棵树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3258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size() = 9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height() = 4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057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最长路径 A→B→E→G（4 个结点）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周游：保留递归为主实现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00400"/>
            <a:ext cx="3657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它就是本节要教的东西，抹掉递归等于抹掉课程内容。迭代版（D-001 §3d）作为补充并列给出。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DF0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析构与深拷贝：工程版改成迭代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200400"/>
            <a:ext cx="36576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不是教学内容，却会被隐式触发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：作用域结束、一句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copy = tree;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。实测纯左链 50 万结点递归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、100 万结点递归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即段错误；改成迭代后 500 万都不崩。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 · 5.4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二叉搜索树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左小右大 · 中序即升序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 · 插入（指向指针的指针）· 删除（中序前驱顶替）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二叉搜索树 · 定义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插入、删除、检索都要快：二叉搜索树 BST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5029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组织方式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无序线性表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放末端，快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慢：逐个比较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有序线性表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要移动大量元素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二分查找，快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二叉搜索树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改一个空指针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沿一条路径往下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2560320"/>
            <a:ext cx="50292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左子树非空，则左子树上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结点的值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根的关键码。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右子树非空，则右子树上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结点的值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根的关键码。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任何结点的左右子树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 BST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；可以是空树。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中序周游得到升序序列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；关键码必须唯一。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0" y="932688"/>
            <a:ext cx="2971800" cy="3730752"/>
          </a:xfrm>
          <a:prstGeom prst="roundRect">
            <a:avLst>
              <a:gd name="adj" fmla="val 2462"/>
            </a:avLst>
          </a:prstGeom>
          <a:solidFill>
            <a:srgbClr val="F1F4F2"/>
          </a:solidFill>
          <a:ln/>
        </p:spPr>
      </p:sp>
      <p:pic>
        <p:nvPicPr>
          <p:cNvPr id="10" name="Image 0" descr="fig-5-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249" y="1005840"/>
            <a:ext cx="2679302" cy="2926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06440" y="3977640"/>
            <a:ext cx="2788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5.11　K = {50, 19, 35, 55, 20, 5, 100, 52, 88, 53, 92} 依次插入所建的 BST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二叉搜索树 · 查找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contains：每比较一次，扔掉一整棵子树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754880" cy="2423160"/>
          </a:xfrm>
          <a:prstGeom prst="roundRect">
            <a:avLst>
              <a:gd name="adj" fmla="val 30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4608576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查找：同样一路往下走。树高是 h，代价就是 O(h)。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contains(const T&amp; value)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Node* current = root_;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(current !=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(value &lt; current-&gt;value)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current = current-&gt;left;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if (current-&gt;value &lt; value)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current = current-&gt;right;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566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 &lt;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8587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相等写成「既不小于也不大于」：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只需支持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operator&lt;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走到空子树还没找到 → key 不在树里。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932688"/>
            <a:ext cx="3246120" cy="3730752"/>
          </a:xfrm>
          <a:prstGeom prst="roundRect">
            <a:avLst>
              <a:gd name="adj" fmla="val 2254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57784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在图 5.11 中查 53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flipH="1">
            <a:off x="6126480" y="1554480"/>
            <a:ext cx="82296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554480"/>
            <a:ext cx="822960" cy="548640"/>
          </a:xfrm>
          <a:prstGeom prst="line">
            <a:avLst/>
          </a:prstGeom>
          <a:noFill/>
          <a:ln w="25400">
            <a:solidFill>
              <a:srgbClr val="A06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5806440" y="2103120"/>
            <a:ext cx="32004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103120"/>
            <a:ext cx="32004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6217920" y="2651760"/>
            <a:ext cx="22860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7360920" y="2103120"/>
            <a:ext cx="411480" cy="548640"/>
          </a:xfrm>
          <a:prstGeom prst="line">
            <a:avLst/>
          </a:prstGeom>
          <a:noFill/>
          <a:ln w="25400">
            <a:solidFill>
              <a:srgbClr val="A06A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2103120"/>
            <a:ext cx="54864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2651760"/>
            <a:ext cx="274320" cy="548640"/>
          </a:xfrm>
          <a:prstGeom prst="line">
            <a:avLst/>
          </a:prstGeom>
          <a:noFill/>
          <a:ln w="25400">
            <a:solidFill>
              <a:srgbClr val="A06A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8092440" y="2651760"/>
            <a:ext cx="22860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3200400"/>
            <a:ext cx="27432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84848" y="1389888"/>
            <a:ext cx="329184" cy="329184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84848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61888" y="1938528"/>
            <a:ext cx="329184" cy="329184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6188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07808" y="1938528"/>
            <a:ext cx="329184" cy="329184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0780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41848" y="2487168"/>
            <a:ext cx="329184" cy="329184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41848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81928" y="2487168"/>
            <a:ext cx="329184" cy="329184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81928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96328" y="2487168"/>
            <a:ext cx="329184" cy="329184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96328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56448" y="2487168"/>
            <a:ext cx="329184" cy="329184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56448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53328" y="3035808"/>
            <a:ext cx="329184" cy="329184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53328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70648" y="3035808"/>
            <a:ext cx="329184" cy="329184"/>
          </a:xfrm>
          <a:prstGeom prst="ellipse">
            <a:avLst/>
          </a:prstGeom>
          <a:solidFill>
            <a:srgbClr val="2E9E6B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70648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27848" y="3035808"/>
            <a:ext cx="329184" cy="329184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27848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02168" y="3584448"/>
            <a:ext cx="329184" cy="329184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02168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53212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 &gt; 50 右 → 53 &lt; 55 左 → 53 &gt; 52 右 → 找到（4 次比较）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二叉搜索树 · 插入【算法5.9】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insert：Node** link 指向「新结点该挂在哪根指针上」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52297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【算法5.9】插入。一路比较着往下走，走到空位就把新结点挂上去。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键已存在时返回 false——重复键是可预期状态，不是错误，所以不抛异常。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insert(const T&amp; value)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Node** link = &amp;root_;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指向「新结点该挂在哪根指针上」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(*link != nullptr)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(value &lt; (*link)-&gt;value)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link = &amp;(*link)-&gt;left;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if ((*link)-&gt;value &lt; value)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link = &amp;(*link)-&gt;right;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{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false;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已经有了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*link = new Node{value, nullptr, nullptr};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57200" y="376732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858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指向指针的指针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1513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「挂到根」和「挂到某个孩子」写成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同一句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*link = new Node{...}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——空树不必另开一个分支。第 3 章链式栈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copy_from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Node** tail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是同一个技巧。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932688"/>
            <a:ext cx="2331720" cy="3749040"/>
          </a:xfrm>
          <a:prstGeom prst="roundRect">
            <a:avLst>
              <a:gd name="adj" fmla="val 313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 = 查找 + 改一个空指针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1316736"/>
            <a:ext cx="2112264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先按检索路径往下找；已存在就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不插入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走到空位，新结点成为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新的叶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不像有序表那样移动大量数据。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 = 根到插入位置的路径长度：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树形平衡时效率很高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二叉搜索树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demo：插入 8,3,10,1,6,14,4,7，再删除 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397764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依次插入后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flipH="1">
            <a:off x="1554480" y="1508760"/>
            <a:ext cx="9144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508760"/>
            <a:ext cx="9144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097280" y="2103120"/>
            <a:ext cx="4572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2103120"/>
            <a:ext cx="4572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103120"/>
            <a:ext cx="4572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1737360" y="2697480"/>
            <a:ext cx="27432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2697480"/>
            <a:ext cx="27432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13432" y="13533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13432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99032" y="194767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99032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27832" y="19476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27832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1832" y="2542032"/>
            <a:ext cx="310896" cy="310896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183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56232" y="25420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85623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85032" y="25420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8503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581912" y="31363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81912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30552" y="31363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30552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中序：1 3 4 6 7 8 10 14（升序）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932688"/>
            <a:ext cx="397764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463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remove(3) 之后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 flipH="1">
            <a:off x="5806440" y="1508760"/>
            <a:ext cx="9144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1508760"/>
            <a:ext cx="9144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06440" y="2103120"/>
            <a:ext cx="4572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2103120"/>
            <a:ext cx="45720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5989320" y="2697480"/>
            <a:ext cx="27432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63640" y="2697480"/>
            <a:ext cx="27432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65392" y="13533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65392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50992" y="1947672"/>
            <a:ext cx="310896" cy="310896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50992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79792" y="19476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79792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08192" y="25420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0819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36992" y="25420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3699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33872" y="31363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833872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82512" y="31363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382512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484632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中序：1 4 6 7 8 10 14 ✓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480560" y="2377440"/>
            <a:ext cx="1828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57200" y="39319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6E0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5943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3：3 有左子树，用中序前驱顶替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594360" y="43159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左子树 {1} 里最大的是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（从左孩子一路向右走到底）。1 没有左孩子可接走；1 继承 3 的左（此时已空）和右（6），挂到 8 的左边。1 比左子树其余的都大、比右子树 {4, 6, 7} 都小，左小右大仍然成立。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二叉搜索树 · 删除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两种删除方案：基本方案（原书只有文字）与改进的【算法5.10】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2103120" cy="251460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pic>
        <p:nvPicPr>
          <p:cNvPr id="8" name="Image 0" descr="fig-5-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818" y="987552"/>
            <a:ext cx="1883884" cy="2057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5.11　原树（两种方案都从它出发）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697480" y="932688"/>
            <a:ext cx="324612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11" name="Image 1" descr="fig-5-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540" y="987552"/>
            <a:ext cx="3048000" cy="20574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5.12　(a) 删 52　(b) 删 55，基本方案：深度 4 → 5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080760" y="932688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14" name="Image 2" descr="fig-5-1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987552"/>
            <a:ext cx="2304288" cy="20574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8076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5.13　改进方案删 55：53 顶替，深度仍是 4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57200" y="35661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94360" y="3657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基本方案（本书不用）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94360" y="395020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在左子树里找中序最后一个结点 t，把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被删结点的整棵右子树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挂成 t 的右子树，再让左子树的根顶上。对，但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树可能变高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：图 5.12(b) 深度 4 → 5。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35661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CFE0D8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846320" y="3657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改进方案（教学版实现）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46320" y="395020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先把左子树最大结点 t（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无右子树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）摘下：用它的左子树代替它；再用 t 顶替被删结点。只搬一个结点，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高度不会凭空长高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：图 5.13 深度仍是 4。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二叉搜索树 · remove_impl（上）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Node*&amp; link：找到要删的结点；没有左孩子就让右孩子顶上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66928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52297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【算法5.10】删除。键不存在返回 false（幂等，不是错误）。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难点只有一个：被删结点有两个孩子时，谁来顶替它？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答案是中序前驱——左子树里最大的那个。它顶上来之后，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「左小右大」仍然成立，因为它比左子树其余的都大、比右子树全部都小。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remove(const T&amp; value) { return remove_impl(root_, value);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bool remove_impl(Node*&amp; link, const T&amp; value)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(link == nullptr)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(value &lt; link-&gt;value)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remove_impl(link-&gt;left, 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(link-&gt;value &lt; value)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remove_impl(link-&gt;right, value);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removed = link;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(removed-&gt;left == nullptr) {  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没有左孩子：右孩子直接顶上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link = removed-&gt;right;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delete removed;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55080" y="932688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link 是引用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316736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Node*&amp; link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父结点里那根指针本身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（或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）。改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就是把子树改挂到父结点上，不必另记父结点。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28803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971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2644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删除不存在的键、插入重复键都是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可预期状态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，不抛异常。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069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叶子也走这条分支：右孩子是 nullptr，link 置空。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二叉搜索树 · remove_impl（下）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有左子树：摘下中序前驱，让它继承两棵子树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669280" cy="2240280"/>
          </a:xfrm>
          <a:prstGeom prst="roundRect">
            <a:avLst>
              <a:gd name="adj" fmla="val 326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522976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找中序前驱：从左孩子出发，一路向右走到底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Node** predecessor_link = &amp;removed-&gt;left;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((*predecessor_link)-&gt;right !=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predecessor_link = &amp;(*predecessor_link)-&gt;right;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replacement = *predecessor_link;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*predecessor_link = replacement-&gt;left;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前驱可能还有左孩子，先接走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replacement-&gt;left = removed-&gt;left;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replacement-&gt;right = removed-&gt;right;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link = replacement;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 removed;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31012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101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摘下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3101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*predecessor_link = replacement-&gt;left;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48456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6484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6484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replacement-&gt;left/right = removed-&gt;...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86784"/>
            <a:ext cx="274320" cy="274320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9867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顶替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398678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= replacement;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25112"/>
            <a:ext cx="274320" cy="27432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3251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只删一次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43251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removed;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932688"/>
            <a:ext cx="2331720" cy="2606040"/>
          </a:xfrm>
          <a:prstGeom prst="roundRect">
            <a:avLst>
              <a:gd name="adj" fmla="val 3137"/>
            </a:avLst>
          </a:prstGeom>
          <a:solidFill>
            <a:srgbClr val="FDF0E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1024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漏了第 7 行会成环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1316736"/>
            <a:ext cx="2057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前驱自己可能还有一个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左孩子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，顶替之前必须先把它接走。漏了这一句：前驱原位置还指着自己，树上出现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——教学版测试专门搭了这样一棵树，去掉那句，中序周游立刻无限递归、ASan 报栈溢出。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36576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92240" y="3749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041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查找、插入、删除都是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O(h)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。按升序插入会退化成一条链，h = n。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5 · 5.5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堆与优先队列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完全二叉树 + 数组 · 局部有序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上浮 · 下沉 · 建堆 O(n) · 优先队列 · 对顶堆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堆与优先队列 · 最小堆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最小堆：一棵特殊的完全二叉树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93268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Kᵢ ≤ K₂ᵢ₊₁，Kᵢ ≤ K₂ᵢ₊₂　（i = 0, 1, …, ⌊n/2⌋ − 1）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83080"/>
            <a:ext cx="49377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逻辑上是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完全二叉树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：根对应 K₀，按层次从左至右依次类推 → 可以压进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每个内部结点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不大于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它的孩子 → 根（K₀）最小。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局部有序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：只有父子之间能断定大小；兄弟之间没有必然联系。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最小堆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只适合查最小值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：没有 BST 那样的全序，找任意值只能线性扫描。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5.14 的数组存储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4224528"/>
            <a:ext cx="457200" cy="274320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24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98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4224528"/>
            <a:ext cx="457200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224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498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71600" y="4224528"/>
            <a:ext cx="457200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4224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498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0" y="4224528"/>
            <a:ext cx="457200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28800" y="4224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498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0" y="4224528"/>
            <a:ext cx="457200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86000" y="4224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286000" y="4498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0" y="4224528"/>
            <a:ext cx="457200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43200" y="4224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4498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0" y="4224528"/>
            <a:ext cx="457200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00400" y="4224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200400" y="4498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0" y="4224528"/>
            <a:ext cx="457200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57600" y="4224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657600" y="4498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0" y="4224528"/>
            <a:ext cx="457200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14800" y="4224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114800" y="4498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0" y="4224528"/>
            <a:ext cx="457200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0" y="4224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4498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623560" y="932688"/>
            <a:ext cx="3063240" cy="3730752"/>
          </a:xfrm>
          <a:prstGeom prst="roundRect">
            <a:avLst>
              <a:gd name="adj" fmla="val 2388"/>
            </a:avLst>
          </a:prstGeom>
          <a:solidFill>
            <a:srgbClr val="F1F4F2"/>
          </a:solidFill>
          <a:ln/>
        </p:spPr>
      </p:sp>
      <p:pic>
        <p:nvPicPr>
          <p:cNvPr id="42" name="Image 0" descr="fig-5-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154027"/>
            <a:ext cx="2788920" cy="2263947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5715000" y="3611880"/>
            <a:ext cx="28803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5.14　K = {12,14,15,19,20,17,18,24,22,26} 的最小堆。14 与 15、19 与 20 之间没有任何关系——这和 BST 完全不同，也正是建堆能比排序更快的原因。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教学版 heap_huffman/teaching.hpp · MinHeap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 放末尾再上浮；remove_min 搬最后一个上来再下沉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85216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70585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插入：先放到数组末尾（也就是完全二叉树的最后一个位置），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再一路和父亲比较、必要时上浮。树高是 log n，所以代价是 O(log n)。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insert(const T&amp; value)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(size_ == capacity_)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grow();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data_[size_] = value;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sift_up(size_);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++size_;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取走最小的那个（就是根，下标 0）。空堆返回空 optional。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手法是固定的：把最后一个元素搬到根上，长度减一，然后让它一路下沉。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为什么是最后一个？因为只有拿掉最后一个位置，剩下的才仍然是一棵完全二叉树。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std::optional&lt;T&gt; remove_min()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(empty())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std::nullopt;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smallest = data_[0];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--size_;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(size_ &gt; 0)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data_[0] = data_[size_];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sift_down(0);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smallest;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492240" y="932688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24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三个数据成员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1316736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，加上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：和第 3 章顺序栈一样，三法则、满了翻倍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25146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为什么搬「最后一个」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89864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只有拿掉最后一个位置，剩下的才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仍是完全二叉树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。这是「完全」这个条件在还债。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空堆 →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，与第 3 章空栈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同一口径。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最小堆 · 插入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上浮（筛选）：在图 5.14 的堆里插入 13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pic>
        <p:nvPicPr>
          <p:cNvPr id="8" name="Image 0" descr="fig-5-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596" y="978408"/>
            <a:ext cx="5448808" cy="1417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560320"/>
            <a:ext cx="475488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0352" y="2606040"/>
            <a:ext cx="4608576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上浮：只要比父亲小就换上去。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sift_up(size_type index)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(index &gt; 0)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size_type parent = (index - 1) / 2;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(!(data_[index] &lt; data_[parent])) {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                       </a:t>
            </a:r>
            <a:r>
              <a:rPr lang="en-US" sz="8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已经不小于父亲，位置对了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 tmp = data_[index];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data_[index] = data_[parent];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data_[parent] = tmp;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index = parent;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2606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放末尾 i=10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2606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 i=4 是 20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49240" y="2852928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49240" y="28529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50992" y="2852928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50992" y="28529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52744" y="2852928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52744" y="28529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54496" y="2852928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54496" y="28529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556248" y="2852928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56248" y="28529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858000" y="2852928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0" y="28529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159752" y="2852928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59752" y="28529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461504" y="2852928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61504" y="28529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763256" y="2852928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63256" y="28529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065008" y="2852928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65008" y="28529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366760" y="2852928"/>
            <a:ext cx="301752" cy="274320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2852928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349240" y="32644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 20 → i=4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264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 i=1 是 14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349240" y="3511296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349240" y="35112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650992" y="3511296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650992" y="35112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952744" y="3511296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52744" y="35112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254496" y="3511296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254496" y="35112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556248" y="3511296"/>
            <a:ext cx="301752" cy="274320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556248" y="35112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858000" y="3511296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858000" y="35112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159752" y="3511296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159752" y="35112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7461504" y="3511296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461504" y="35112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7763256" y="3511296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763256" y="35112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065008" y="3511296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65008" y="35112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8366760" y="3511296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366760" y="3511296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5349240" y="39227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 14 → i=1</a:t>
            </a:r>
            <a:endParaRPr lang="en-US" sz="950" dirty="0"/>
          </a:p>
        </p:txBody>
      </p:sp>
      <p:sp>
        <p:nvSpPr>
          <p:cNvPr id="60" name="Text 57"/>
          <p:cNvSpPr txBox="1"/>
          <p:nvPr/>
        </p:nvSpPr>
        <p:spPr>
          <a:xfrm>
            <a:off x="6766560" y="39227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 12 ≤ 13，停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5349240" y="4169664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349240" y="416966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5650992" y="4169664"/>
            <a:ext cx="301752" cy="274320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650992" y="416966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952744" y="4169664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952744" y="416966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6254496" y="4169664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6254496" y="416966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6556248" y="4169664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556248" y="416966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6858000" y="4169664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6858000" y="416966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7159752" y="4169664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7159752" y="416966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7461504" y="4169664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7461504" y="416966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7763256" y="4169664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7763256" y="416966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8065008" y="4169664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8065008" y="416966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8366760" y="4169664"/>
            <a:ext cx="301752" cy="27432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366760" y="4169664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83" name="Text 80"/>
          <p:cNvSpPr txBox="1"/>
          <p:nvPr/>
        </p:nvSpPr>
        <p:spPr>
          <a:xfrm>
            <a:off x="5349240" y="4526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每步只和父亲比：至多走树高 → O(log n)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最小堆 · 删除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下沉：必须和两个孩子里较小的那个交换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57784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43153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下沉：和两个孩子里较小的那个比，比它大就换下去。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必须和较小的那个换——跟较大的换会破坏「父亲不大于两个孩子」。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sift_down(size_type index)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(;;)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size_type left = index * 2 + 1;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size_type right = left + 1;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size_type smallest = index;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(left &lt; size_ &amp;&amp; data_[left] &lt; data_[smallest])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smallest = left;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(right &lt; size_ &amp;&amp; data_[right] &lt; data_[smallest])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smallest = right;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(smallest == index)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return;            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父亲已经最小，停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 tmp = data_[index];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data_[index] = data_[smallest];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data_[smallest] = tmp;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index = smallest;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5806440" y="932688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pic>
        <p:nvPicPr>
          <p:cNvPr id="10" name="Image 0" descr="fig-5-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096522"/>
            <a:ext cx="2697480" cy="69645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06440" y="1938528"/>
            <a:ext cx="2880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5.16　在图 5.14 的堆里删除 14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06440" y="2377440"/>
            <a:ext cx="288036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0" y="2468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5.16：删除 14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276148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末端的 26 填进空位，再与较小的孩子逐层交换（19，再 22），直到不大于自己的孩子。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06440" y="3566160"/>
            <a:ext cx="288036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反例：和较大的换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395020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 26、孩子 14 与 15：若换 15 上来，15 &gt; 14，父亲比孩子大——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堆序当场破坏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最小堆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逐步推演：对图 5.14 的堆做一次 remove_min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960120"/>
            <a:ext cx="384048" cy="347472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47088" y="9601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47088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31136" y="9601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31136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15184" y="9601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15184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99232" y="9601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9232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9601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67328" y="9601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67328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51376" y="9601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51376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35424" y="9601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35424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9472" y="96012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19472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9601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size = 10，最小元 12 在根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1472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搬末尾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63040" y="1472184"/>
            <a:ext cx="384048" cy="347472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63040" y="14721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47088" y="1472184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847088" y="14721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31136" y="1472184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31136" y="14721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15184" y="1472184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615184" y="14721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999232" y="1472184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99232" y="14721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83280" y="1472184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383280" y="14721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767328" y="1472184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767328" y="14721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151376" y="1472184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151376" y="14721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35424" y="1472184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35424" y="14721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5440680" y="14721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取走 12，末尾 26 搬到根，size = 9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198424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i = 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463040" y="1984248"/>
            <a:ext cx="384048" cy="347472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463040" y="1984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847088" y="1984248"/>
            <a:ext cx="384048" cy="347472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847088" y="1984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31136" y="1984248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231136" y="1984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615184" y="1984248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615184" y="1984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999232" y="1984248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999232" y="1984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383280" y="1984248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383280" y="1984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767328" y="1984248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767328" y="1984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151376" y="1984248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151376" y="1984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535424" y="1984248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535424" y="1984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5440680" y="19842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 14、15 取小的 14，交换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457200" y="24963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i = 1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463040" y="2496312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463040" y="2496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1847088" y="2496312"/>
            <a:ext cx="384048" cy="347472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847088" y="2496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2231136" y="2496312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231136" y="2496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615184" y="2496312"/>
            <a:ext cx="384048" cy="347472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2615184" y="2496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999232" y="2496312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999232" y="2496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383280" y="2496312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383280" y="2496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3767328" y="2496312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767328" y="2496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4151376" y="2496312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151376" y="2496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4535424" y="2496312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535424" y="2496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50" dirty="0"/>
          </a:p>
        </p:txBody>
      </p:sp>
      <p:sp>
        <p:nvSpPr>
          <p:cNvPr id="88" name="Text 86"/>
          <p:cNvSpPr txBox="1"/>
          <p:nvPr/>
        </p:nvSpPr>
        <p:spPr>
          <a:xfrm>
            <a:off x="5440680" y="2496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 19、20 取 19，交换</a:t>
            </a:r>
            <a:endParaRPr lang="en-US" sz="1050" dirty="0"/>
          </a:p>
        </p:txBody>
      </p:sp>
      <p:sp>
        <p:nvSpPr>
          <p:cNvPr id="89" name="Text 87"/>
          <p:cNvSpPr txBox="1"/>
          <p:nvPr/>
        </p:nvSpPr>
        <p:spPr>
          <a:xfrm>
            <a:off x="457200" y="30083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i = 3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463040" y="3008376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463040" y="30083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1847088" y="3008376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847088" y="30083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2231136" y="3008376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231136" y="30083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2615184" y="3008376"/>
            <a:ext cx="384048" cy="347472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2615184" y="30083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2999232" y="3008376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2999232" y="30083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3383280" y="3008376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3383280" y="30083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3767328" y="3008376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3767328" y="30083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4151376" y="3008376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151376" y="30083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4535424" y="3008376"/>
            <a:ext cx="384048" cy="347472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4535424" y="30083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50" dirty="0"/>
          </a:p>
        </p:txBody>
      </p:sp>
      <p:sp>
        <p:nvSpPr>
          <p:cNvPr id="108" name="Text 106"/>
          <p:cNvSpPr txBox="1"/>
          <p:nvPr/>
        </p:nvSpPr>
        <p:spPr>
          <a:xfrm>
            <a:off x="5440680" y="30083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 24、22 取 22，交换</a:t>
            </a:r>
            <a:endParaRPr lang="en-US" sz="1050" dirty="0"/>
          </a:p>
        </p:txBody>
      </p:sp>
      <p:sp>
        <p:nvSpPr>
          <p:cNvPr id="109" name="Text 107"/>
          <p:cNvSpPr txBox="1"/>
          <p:nvPr/>
        </p:nvSpPr>
        <p:spPr>
          <a:xfrm>
            <a:off x="457200" y="3520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i = 8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1463040" y="3520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463040" y="3520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1847088" y="3520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847088" y="3520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2231136" y="3520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2231136" y="3520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2615184" y="3520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2615184" y="3520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2999232" y="3520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2999232" y="3520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3383280" y="3520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3383280" y="3520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3767328" y="3520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3767328" y="3520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4151376" y="3520440"/>
            <a:ext cx="384048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4151376" y="3520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4535424" y="3520440"/>
            <a:ext cx="384048" cy="347472"/>
          </a:xfrm>
          <a:prstGeom prst="rect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4535424" y="3520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50" dirty="0"/>
          </a:p>
        </p:txBody>
      </p:sp>
      <p:sp>
        <p:nvSpPr>
          <p:cNvPr id="128" name="Text 126"/>
          <p:cNvSpPr txBox="1"/>
          <p:nvPr/>
        </p:nvSpPr>
        <p:spPr>
          <a:xfrm>
            <a:off x="5440680" y="3520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2·8+1 = 17 ≥ 9：没有孩子，停</a:t>
            </a:r>
            <a:endParaRPr lang="en-US" sz="1050" dirty="0"/>
          </a:p>
        </p:txBody>
      </p:sp>
      <p:sp>
        <p:nvSpPr>
          <p:cNvPr id="129" name="Text 127"/>
          <p:cNvSpPr txBox="1"/>
          <p:nvPr/>
        </p:nvSpPr>
        <p:spPr>
          <a:xfrm>
            <a:off x="45720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14 19 15 22 20 17 18 24 26：新根 14 是剩下元素里最小的。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5577840" y="3977640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CFE0D8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571500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1050" dirty="0"/>
          </a:p>
        </p:txBody>
      </p:sp>
      <p:sp>
        <p:nvSpPr>
          <p:cNvPr id="132" name="Text 130"/>
          <p:cNvSpPr txBox="1"/>
          <p:nvPr/>
        </p:nvSpPr>
        <p:spPr>
          <a:xfrm>
            <a:off x="5715000" y="43616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 [2,5,7,9,6] 删根：搬 6 得 [6,5,7,9]；与 5 交换得 [5,6,7,9]；停。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5.5.1a 建堆（筛选法）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从最后一个非叶结点起，倒着对每个结点做一次下沉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3017520" cy="3730752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pic>
        <p:nvPicPr>
          <p:cNvPr id="8" name="Image 0" descr="fig-5-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07382"/>
            <a:ext cx="2834640" cy="338136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703320" y="932688"/>
            <a:ext cx="4983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倒着做的理由：对某结点下沉时，它的两棵子树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必须已经是堆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。叶结点本身就是堆——后一半结点一次都不用碰。</a:t>
            </a:r>
            <a:endParaRPr lang="en-US" sz="11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03320" y="1554480"/>
          <a:ext cx="498348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60604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操作（n = 8，从 ⌊8/2⌋ − 1 = 3 开始）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初始（无序）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19 8 35 65 40 3 7 45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 &gt; 孩子 45，交换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19 8 35 45 40 3 7 65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 &gt; min(3, 7) = 3，交换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19 8 3 45 40 35 7 65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≤ 45、8 ≤ 40，不动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19 8 3 45 40 35 7 65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 &gt; 3 交换；下到 i=2，19 &gt; 7 再交换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3 8 7 45 40 35 19 65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703320" y="4023360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CFE0D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840480" y="4114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对照图 5.17 (a)–(d)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3840480" y="440740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结果与图中最终状态一致。教学版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MinHeap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没有建堆函数，这里演示筛选法本身。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5.5.1a 建堆为什么是 O(n) 而不是 O(n log n)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越靠底层的结点越多，能沉的距离越短——两者抵消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DF0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粗算（原书：只是粗略上界）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25880"/>
            <a:ext cx="3657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n/2 个非叶结点 × 每次下沉 O(log 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O(n log 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932688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AF4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细算：下沉代价 = 离底层还有多远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325880"/>
            <a:ext cx="3703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把堆放大成一棵同样深 h（深度 = 最大层数，根在第 0 层）、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每层都排满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的二叉树（perfect）：每个结点能沉的距离都不短 → 算出的是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514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2^i·(h−i) = 2^h · Σ j/2^j &lt; 2^h · 2 = 2^(h+1) ≤ 2n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0175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层恰有 2^i 个结点、最多下沉 h−i 层；令 j = h−i；用 Σ j/2^j = 2 与 2^h ≤ n。</a:t>
            </a:r>
            <a:endParaRPr lang="en-US" sz="95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724912"/>
          <a:ext cx="2880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85800"/>
                <a:gridCol w="777240"/>
                <a:gridCol w="86868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 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结点数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最多下沉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&lt; 16 ≤ 30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806440" y="24688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例：深度 h = 3、每层排满（n = 15）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4360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实际后果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40416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堆排序总代价 O(n log n)，但那个 log n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全部来自后面 n 次取最小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，建堆是白送的。反过来一个个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建堆是 O(n log n)，就把这份便宜丢掉了。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5.5.2 优先队列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快速找出并移走最大（最小）值：优先队列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48463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个或多个元素的集合，每个元素有一个关键码；主要特点是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快速查找并移出最小（最大）元素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操作系统调度：优先级越高值越小，最先获得处理器；打印队列：先打页数少的任务。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MinHeap&lt;T&gt;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就是一个最小优先队列：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入队，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remove_min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取最高优先级，空队列 =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932688"/>
          <a:ext cx="3154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37160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取最小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无序线性表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有序线性表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要移动元素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看堆顶 O(1)；移除 O(log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532120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建堆 O(n)。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需要的是「下一项最优」，不是整队排序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813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 构造反复取两个最小权值；Dijkstra、Prim 反复取当前距离或边权最小的候选。若要求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相同优先级保持到达顺序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，还要把到达序号作为第二关键码显式存入元素。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5.5.2 对顶堆：动态维护中位数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较小的一半进最大堆，较大的一半进最小堆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4023360" cy="3703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不变式①：最大堆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lower_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的每个元素 ≤ 最小堆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upper_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的每个元素。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不变式②：两堆一样大，或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lower_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多一个 → 中位数 =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lower_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的堆顶。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新元素 ≤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lower_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堆顶就进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lower_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，否则进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upper_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；超出规定就把多的那边的堆顶搬过去——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一次一个就够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 O(log n)，查询 O(1)；偶数个时取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下中位数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32688"/>
          <a:ext cx="4023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85800"/>
                <a:gridCol w="914400"/>
                <a:gridCol w="731520"/>
                <a:gridCol w="685800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放进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搬堆顶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lower_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upper_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中位数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lower_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{5}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lower_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→ upper_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{2}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{5}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upper_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→ lower_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{2, 5}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{8}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lower_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→ upper_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{1, 2}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{5, 8}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upper_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→ lower_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{1, 2, 5}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{8, 9}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33832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0060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376732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排序后：{5}、{2,5}、{2,5,8}、{1,2,5,8}、{1,2,5,8,9}，下中位数依次是 5、2、5、2、5 ✓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5.5.2 对顶堆 · 工程版 heap_huffman/modern.hpp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RunningMedian：两个堆背靠背，堆顶相对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617220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602589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T&gt;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RunningMedian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insert(const T&amp; value)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(lower_.empty() || !(*lower_.peek() &lt; value)) lower_.insert(value);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upper_.insert(value);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rebalance();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空时 std::nullopt。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std::optional&lt;T&gt; median() const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(const T* top = lower_.peek()) return *top;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std::nullopt;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std::size_t size() const noexcept { return lower_.size() + upper_.size();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每次插入后两堆大小至多差 2，搬一个堆顶就回到不变式。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rebalance()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(lower_.size() &gt; upper_.size() + 1) upper_.insert(*lower_.remove_min());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(upper_.size() &gt; lower_.size()) lower_.insert(*upper_.remove_min());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MinHeap&lt;T, std::greater&lt;T&gt;&gt; lower_;   </a:t>
            </a:r>
            <a:r>
              <a:rPr lang="en-US" sz="79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较小的一半，堆顶是其中最大的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MinHeap&lt;T&gt; upper_;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较大的一半，堆顶是其中最小的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812280" y="932688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10241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最大堆从哪来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316736"/>
            <a:ext cx="1600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不另写一个类：给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MinHeap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加比较器模板参数，默认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std::less&lt;T&gt;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MinHeap&lt;T, std::greater&lt;T&gt;&gt;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的堆顶就是最大元素。上浮、下沉一行没变，只是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换成了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12280" y="35661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peek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9502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只看不拿：返回指针，空堆为 </a:t>
            </a:r>
            <a:r>
              <a:rPr lang="en-US" sz="9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nullptr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；下一次插入或删除后失效。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6 · 5.6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 树及其应用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带权外部路径长度 WPL · 反复合并两个最小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批量权值只求 WPL · 前缀码 · 编码与译码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Huffman 树 · 带权路径长度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同样四个权 6、2、3、4，形状不同，WPL 不同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pic>
        <p:nvPicPr>
          <p:cNvPr id="8" name="Image 0" descr="fig-5-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586" y="987552"/>
            <a:ext cx="5722829" cy="1965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1546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 6×2 + 2×2 + 3×2 + 4×2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3566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30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246120" y="31546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55848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 6×2 + 2×3 + 3×3 + 4×1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355848" y="3566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31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035040" y="31546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AF4E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44768" y="3200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 6×1 + 2×3 + 3×3 + 4×2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144768" y="3566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29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WPL = Σ（叶的权 × 叶的深度）。(c) 最小，它就是这组权值的 Huffman 树——</a:t>
            </a: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权越大的叶离根越近</a:t>
            </a: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，总长就越小。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Huffman 树 · 构造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反复取出两个最小的，合成它们的和，直到只剩一棵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pic>
        <p:nvPicPr>
          <p:cNvPr id="8" name="Image 0" descr="fig-5-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422" y="987552"/>
            <a:ext cx="6285155" cy="17373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926080"/>
            <a:ext cx="48463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个权各自成为一棵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单结点树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每次挑出根权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最小的两棵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，合成一棵新树，新根的权是两者之和。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− 1 次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，集合里只剩一棵；根权 = 全部叶子权之和。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32120" y="2926080"/>
            <a:ext cx="3154680" cy="1737360"/>
          </a:xfrm>
          <a:prstGeom prst="roundRect">
            <a:avLst>
              <a:gd name="adj" fmla="val 4211"/>
            </a:avLst>
          </a:prstGeom>
          <a:solidFill>
            <a:srgbClr val="1E3D3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71500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为什么用堆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333756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每一轮都要「取当前最小的两棵」。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数组线性扫：O(n) 一轮，共 </a:t>
            </a: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O(n²)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最小堆：O(log n) 一轮，共 </a:t>
            </a: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 log n)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教学版 HuffmanTree（上）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先把参数全查一遍，再动手 new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70585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带上每个权重对应的字符，树就能拿来编码和译码了。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HuffmanTree(const char* symbols, const int* weights, std::size_t count) : root_(nullptr)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(count == 0)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(weights == nullptr)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std::invalid_argument("HuffmanTree: 权重数组是空指针");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先把参数全查一遍，再动手 new。 顺序反过来的话，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在第 k 个权重上发现非法值时前 k-1 个结点已经建好了，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抛出去就全漏了——LeakSanitizer 会当场把它报出来（作者第一版正是如此）。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 = 0; i &lt; count; ++i)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(weights[i] &lt; 0)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throw std::invalid_argument("HuffmanTree: 权重不能为负");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57200" y="3767328"/>
            <a:ext cx="5852160" cy="896112"/>
          </a:xfrm>
          <a:prstGeom prst="roundRect">
            <a:avLst>
              <a:gd name="adj" fmla="val 816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8221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23360"/>
            <a:ext cx="5632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==2738715==ERROR: LeakSanitizer: detected memory leaks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leak of 24 byte(s) in 1 object(s) allocated from: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#1 HuffmanTree::HuffmanTree(int const*, unsigned long) teaching.hpp:180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92240" y="932688"/>
            <a:ext cx="2194560" cy="2377440"/>
          </a:xfrm>
          <a:prstGeom prst="roundRect">
            <a:avLst>
              <a:gd name="adj" fmla="val 3333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1024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这不是纸上推演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1316736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本书作者第一版正是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边检查边建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：在第 k 个权重上发现负数时，前 k−1 个结点已经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好了，一抛就全漏。LeakSanitizer 当场报了出来（左下）。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342900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只关心树形与 WPL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8130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另一个构造函数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HuffmanTree(weights, count)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委托给它，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传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nullptr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教学版 HuffmanTree（下）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MinHeap 反复取两个最小的合并；WPL 递归计算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MinHeap&lt;ByWeight&gt; heap;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 = 0; i &lt; count; ++i)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char symbol = (symbols == nullptr) ? '\0' : symbols[i];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heap.insert(ByWeight{new Node{weights[i], symbol, nullptr, nullptr}});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每个权重先做成一棵单结点树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(heap.size() &gt; 1)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Node* left = heap.remove_min()-&gt;node;      </a:t>
            </a:r>
            <a:r>
              <a:rPr lang="en-US" sz="79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最小的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Node* right = heap.remove_min()-&gt;node;     </a:t>
            </a:r>
            <a:r>
              <a:rPr lang="en-US" sz="79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次小的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Node* parent = new Node{left-&gt;weight + right-&gt;weight, '\0', left, right};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heap.insert(ByWeight{parent});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root_ = heap.remove_min()-&gt;node;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wpl(const Node* node, int depth)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 == nullptr) return 0;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(node-&gt;left == nullptr &amp;&amp; node-&gt;right == nullptr)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node-&gt;weight * depth;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叶子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wpl(node-&gt;left, depth + 1) + wpl(node-&gt;right, depth + 1);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9044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 2、3、4、7：2+3=5 → 4+5=9 → 7+9=16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2062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2、3 落在第 3 层，4 在第 2 层，7 在第 1 层：WPL = 2×3 + 3×3 + 4×2 + 7×1 = 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858768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8932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ByWeight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4242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堆里放「一棵树的根指针」，按根的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比较大小。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权值成批给出：只求 WPL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「权 wᵢ 出现 cᵢ 次」，cᵢ 可到 10⁹：结点根本建不出来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024128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0241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WPL = 所有内部结点的权之和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417320"/>
            <a:ext cx="3703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深度为 d 的叶，它的权在 d 个祖先里各被算一次，合起来恰是「权 × 深度」。例：2、3、4、7 合并出 5、9、16，5 + 9 + 16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932688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024128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10241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同权的树可以整批合并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417320"/>
            <a:ext cx="3703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 w 有 c 棵：一步得 c/2（下取整）棵权为 2w 的树，WPL 加上 2w × 棵数。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为奇数时余下一棵 w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，要留在堆里和下一小的合并——漏了结果就偏小。</a:t>
            </a:r>
            <a:endParaRPr lang="en-US" sz="105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600200"/>
                <a:gridCol w="3200400"/>
                <a:gridCol w="1325880"/>
                <a:gridCol w="16916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取出的组 (权, 棵数)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WPL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堆里剩下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(1, 5)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对 → 2 棵权 2；余 1 棵权 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+ 2×2 = 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(1,1) (2,2)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(1, 1)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 1 棵：和下一小的 (2,…) 合并成 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+ 3 = 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(2,1) (3,1)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(2, 1)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 (3,1) 合并成 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+ 5 = 12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(5,1)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(5, 1)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堆里没有下一棵：它就是根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例：5 个权为 1 的叶。逐个建树核对：1+1=2，1+1=2，1+2=3，2+3=5，2+2+3+5 = 12 ✓；闭式 n⌊log₂n⌋ + 2(n − 2^⌊log₂n⌋) = 10 + 2 = 12 ✓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5.6.2 Huffman 编码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问题从哪来：变长编码必须是前缀码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要传电文 </a:t>
            </a: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abbaaadc</a:t>
            </a: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（a×4、b×2、c×1、d×1）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37160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定长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3716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a=00  b=01  c=10  d=11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37160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位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37160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能译码，但不短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0848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变长（非前缀）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20848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a=0  b=1  c=01  d=10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08483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位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08483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 011：a b b？还是 c b？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9806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AF4E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279806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Huffman（前缀码）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279806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a=0  b=10  c=110  d=111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2798064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位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79806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唯一可译，比定长短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症结是「前缀」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的前缀，读到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时无法判断该停还是再读一位。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前缀码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：任何字符的编码都不是另一个字符编码的前缀。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611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46320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 树天然给出前缀码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左边标 0、右边标 1，根到叶的 0/1 串就是编码。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字符只住在叶子上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，一个叶子不可能在另一个叶子的路径上。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5.6.2 Huffman 编码 · 示例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 0 右 1：从根到叶一路读下来就是编码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3291840" cy="3730752"/>
          </a:xfrm>
          <a:prstGeom prst="roundRect">
            <a:avLst>
              <a:gd name="adj" fmla="val 2222"/>
            </a:avLst>
          </a:prstGeom>
          <a:solidFill>
            <a:srgbClr val="F1F4F2"/>
          </a:solidFill>
          <a:ln/>
        </p:spPr>
      </p:sp>
      <p:pic>
        <p:nvPicPr>
          <p:cNvPr id="8" name="Image 0" descr="fig-5-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32" y="1005840"/>
            <a:ext cx="2817776" cy="33375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4370832"/>
            <a:ext cx="32918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5.20　Huffman 编码示例</a:t>
            </a:r>
            <a:endParaRPr lang="en-US" sz="95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932688"/>
          <a:ext cx="26517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91440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码长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812280" y="932688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1E3D34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94944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按图读出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949440" y="132588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权大的 a、g、e 离根近、码短；权小的 b、d 码长 5。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没有一个编码是另一个的前缀。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977640" y="3703320"/>
            <a:ext cx="470916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114800" y="37947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两种算法核对 WPL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087368" y="4087368"/>
            <a:ext cx="4489704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按深度：15×2+18×2+20×2+10×3+6×4+2×5+5×5 =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按内部结点权：76+33+43+23+13+7 =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✓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5.6.2 Huffman 编码 · 编码总长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abbaaadc：编码总长恰好等于 WPL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9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4206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1005840"/>
                <a:gridCol w="73152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编码结果：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474720"/>
            <a:ext cx="301752" cy="347472"/>
          </a:xfrm>
          <a:prstGeom prst="rect">
            <a:avLst/>
          </a:prstGeom>
          <a:solidFill>
            <a:srgbClr val="E3EEE9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474720"/>
            <a:ext cx="301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84048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58952" y="3474720"/>
            <a:ext cx="438912" cy="347472"/>
          </a:xfrm>
          <a:prstGeom prst="rect">
            <a:avLst/>
          </a:prstGeom>
          <a:solidFill>
            <a:srgbClr val="CFE0D8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" y="34747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" y="38404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197864" y="3474720"/>
            <a:ext cx="438912" cy="347472"/>
          </a:xfrm>
          <a:prstGeom prst="rect">
            <a:avLst/>
          </a:prstGeom>
          <a:solidFill>
            <a:srgbClr val="E3EEE9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97864" y="34747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97864" y="384048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636776" y="3474720"/>
            <a:ext cx="301752" cy="347472"/>
          </a:xfrm>
          <a:prstGeom prst="rect">
            <a:avLst/>
          </a:prstGeom>
          <a:solidFill>
            <a:srgbClr val="CFE0D8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636776" y="3474720"/>
            <a:ext cx="301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636776" y="384048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938528" y="3474720"/>
            <a:ext cx="301752" cy="347472"/>
          </a:xfrm>
          <a:prstGeom prst="rect">
            <a:avLst/>
          </a:prstGeom>
          <a:solidFill>
            <a:srgbClr val="E3EEE9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938528" y="3474720"/>
            <a:ext cx="301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938528" y="384048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40280" y="3474720"/>
            <a:ext cx="301752" cy="347472"/>
          </a:xfrm>
          <a:prstGeom prst="rect">
            <a:avLst/>
          </a:prstGeom>
          <a:solidFill>
            <a:srgbClr val="CFE0D8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240280" y="3474720"/>
            <a:ext cx="301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240280" y="384048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542032" y="3474720"/>
            <a:ext cx="576072" cy="347472"/>
          </a:xfrm>
          <a:prstGeom prst="rect">
            <a:avLst/>
          </a:prstGeom>
          <a:solidFill>
            <a:srgbClr val="E3EEE9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542032" y="3474720"/>
            <a:ext cx="576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111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2542032" y="384048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118104" y="3474720"/>
            <a:ext cx="576072" cy="347472"/>
          </a:xfrm>
          <a:prstGeom prst="rect">
            <a:avLst/>
          </a:prstGeom>
          <a:solidFill>
            <a:srgbClr val="CFE0D8"/>
          </a:solidFill>
          <a:ln w="10160">
            <a:solidFill>
              <a:srgbClr val="3E7C6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118104" y="3474720"/>
            <a:ext cx="576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110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3118104" y="384048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4114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01010000111110：14 位，比定长的 16 位短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892040" y="932688"/>
            <a:ext cx="379476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029200" y="10241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= 这棵树的 WPL，不是巧合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029200" y="1316736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WPL = Σ（权 × 深度），权就是出现次数、深度就是码长——两者算的是同一个和。「Huffman 树让 WPL 最小」翻译过来就是：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它让这段电文的编码总长最短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892040" y="278892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DF0E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029200" y="2880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反直觉：等频率一位都省不下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0" y="31729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个等权字符建出平衡树，每个字符恰好 3 位——退化成定长编码。压缩的收益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完全来自频率的不均匀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。教学版测试把这条写成了断言。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4892040" y="43159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（压缩文件还要把码表写进输出、处理最后不足一字节的几位——原书上机题。）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5.6.2 Huffman 译码 · 教学版 decode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用同一棵树：读 0 走左、读 1 走右，到叶子吐一个字符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12064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497433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std::string text;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Node* current = root_;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(char b : bits)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(b == '0')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current = current-&gt;left;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if (b == '1')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current = current-&gt;right;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std::nullopt;          </a:t>
            </a:r>
            <a:r>
              <a:rPr lang="en-US" sz="88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既不是 0 也不是 1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(current == nullptr)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std::nullopt;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(current-&gt;left == nullptr &amp;&amp; current-&gt;right == nullptr)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text.push_back(current-&gt;symbol);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current = root_;              </a:t>
            </a:r>
            <a:r>
              <a:rPr lang="en-US" sz="88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吐出一个字符，回到根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(current != root_) {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std::nullopt;              </a:t>
            </a:r>
            <a:r>
              <a:rPr lang="en-US" sz="88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走到一半就没比特了：串不完整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text;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9326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三处边界，测试各有一条用例守着：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06440" y="1298448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11" name="Shape 9"/>
          <p:cNvSpPr/>
          <p:nvPr/>
        </p:nvSpPr>
        <p:spPr>
          <a:xfrm>
            <a:off x="5897880" y="138988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9788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串走到一半就没了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168249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传丢了最后一位 → 返回空 optional，不吐半个字符。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06440" y="2231136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897880" y="2322576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9788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304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出现非 0/1 字符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61518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同样返回空 optional。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3163824"/>
            <a:ext cx="288036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21" name="Shape 19"/>
          <p:cNvSpPr/>
          <p:nvPr/>
        </p:nvSpPr>
        <p:spPr>
          <a:xfrm>
            <a:off x="5897880" y="3255264"/>
            <a:ext cx="274320" cy="274320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9788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2369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整棵树只有一个字符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35478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根到叶的路径是空串，没法传。约定给它一位 "0"；译码时每个 0 都译成它。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4160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前缀码保证这个过程没有歧义。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7 · 5.6a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进阶（选读）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从教学版到工程版：迭代释放（右旋拉直）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显式栈深拷贝 · 非递归周游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5.6a 进阶 · 工程版 binary_tree/modern.hpp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释放：右旋到没有左孩子，再沿右链逐个删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02920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4882896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destroy(Node* node) noexcept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(node !=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(node-&gt;left !=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Node* const left = node-&gt;left;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右旋：左孩子成为新的根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node-&gt;left = left-&gt;right;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left-&gt;right = node;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 = left;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Node* const right = node-&gt;right;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delete node;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 = right;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611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为什么这么写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904488"/>
            <a:ext cx="480974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每次旋转把左子树提上来，树被逐步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拉直成一条右链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，然后一个一个删。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总代价 O(n)，额外空间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；不分配内存 → 能保持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noexcept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932688"/>
            <a:ext cx="3017520" cy="3730752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064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一次右旋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H="1">
            <a:off x="6172200" y="1600200"/>
            <a:ext cx="36576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1600200"/>
            <a:ext cx="36576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5943600" y="2148840"/>
            <a:ext cx="22860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148840"/>
            <a:ext cx="22860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1453896"/>
            <a:ext cx="292608" cy="292608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25896" y="2002536"/>
            <a:ext cx="292608" cy="29260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2589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97296" y="2551176"/>
            <a:ext cx="292608" cy="29260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97296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54496" y="2551176"/>
            <a:ext cx="292608" cy="29260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54496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57416" y="2002536"/>
            <a:ext cx="292608" cy="29260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5741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2148840"/>
            <a:ext cx="27432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7589520" y="1600200"/>
            <a:ext cx="27432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1600200"/>
            <a:ext cx="36576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7955280" y="2148840"/>
            <a:ext cx="27432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2148840"/>
            <a:ext cx="256032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17536" y="1453896"/>
            <a:ext cx="292608" cy="29260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17536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43216" y="2002536"/>
            <a:ext cx="292608" cy="29260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4321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83296" y="2002536"/>
            <a:ext cx="292608" cy="292608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8329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08976" y="2551176"/>
            <a:ext cx="292608" cy="29260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08976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39328" y="2551176"/>
            <a:ext cx="292608" cy="292608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339328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806440" y="30175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的右子树 y 改挂到 n 的左边；l 成为新的根。左边每转一次少一个结点，右链多一个。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806440" y="39319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实测：纯左链 100 万结点，递归 destroy 段错误；迭代版 500 万也不崩。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5.6a 进阶 · 工程版 binary_tree/modern.hpp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深拷贝：显式栈代替调用栈，强异常保证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57784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43153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Node* clone(const Node* node)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 == nullptr)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nullptr;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copy_root = new Node(node-&gt;value);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84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用本章自己那把手写链式栈，与迭代周游同一套零件。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LinkedStack&lt;std::pair&lt;const Node*, Node*&gt;&gt; pending;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pending.push({node, copy_root});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(auto item = pending.pop())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const Node* const source = item-&gt;first;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Node* const target = item-&gt;second;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(source-&gt;left != nullptr)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target-&gt;left = new Node(source-&gt;left-&gt;value);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pending.push({source-&gt;left, target-&gt;left});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(source-&gt;right != nullptr)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target-&gt;right = new Node(source-&gt;right-&gt;value);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pending.push({source-&gt;right, target-&gt;right});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catch (...)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destroy(copy_root);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copy_root;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263640" y="932688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0241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栈里放「一对」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316736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(源结点, 它的副本)：弹出一对，就给副本接上两个孩子的副本，再把孩子那一对压回去。结点放在堆上，深度不再受线程栈限制。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2788920"/>
            <a:ext cx="2423160" cy="1874520"/>
          </a:xfrm>
          <a:prstGeom prst="roundRect">
            <a:avLst>
              <a:gd name="adj" fmla="val 3902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强异常保证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172968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中途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抛异常：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destroy(copy_root)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回收已建好的部分，再原样抛出——调用方看到的要么是完整副本，要么什么都没发生。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5.6a 进阶 · 非递归周游【算法5.4–5.6】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手写栈显式模拟调用栈：只作补充，不替换递归主实现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4754880" cy="3730752"/>
          </a:xfrm>
          <a:prstGeom prst="roundRect">
            <a:avLst>
              <a:gd name="adj" fmla="val 196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4608576" cy="3639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Visitor&gt;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preorder_iterative(Visitor&amp;&amp; visit) const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LinkedStack&lt;const Node*&gt; pending;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(root_ != nullptr) pending.push(root_);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(auto node = pending.pop())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visit((*node)-&gt;value);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((*node)-&gt;right != nullptr) pending.push((*node)-&gt;right);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((*node)-&gt;left != nullptr) pending.push((*node)-&gt;left);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Visitor&gt;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inorder_iterative(Visitor&amp;&amp; visit) const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LinkedStack&lt;const Node*&gt; pending;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Node* current = root_;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(current != nullptr || !pending.empty())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(current != nullptr) {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pending.push(current);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current = current-&gt;left;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= *pending.pop();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visit(current-&gt;value);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= current-&gt;right;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9326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中序迭代版走一遍 A(B(D, E), C)</a:t>
            </a:r>
            <a:endParaRPr lang="en-US" sz="11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261872"/>
          <a:ext cx="32461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600200"/>
                <a:gridCol w="731520"/>
                <a:gridCol w="5943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栈（底→顶）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沿左链压 A、B、D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 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D 访问；转 D 的右（空）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B 访问；转 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DB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E（无左孩子）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E 访问；转空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DBE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A 访问；转 C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DBEA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 C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 C 访问；栈空，结束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DBEAC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40680" y="4160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前序版：先压右再压左，左孩子才会先出栈。后序版给每帧加一个 expanded 标志。</a:t>
            </a:r>
            <a:endParaRPr lang="en-US" sz="9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课后练习（节选）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几道代表性习题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1155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1155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960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先序 ABCDEFG、中序 CBDAFEG，画出这棵树并写出后序。「先序 + 后序总能唯一确定二叉树」是否成立？给出最小反例。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0078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85623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185623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170078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证明：n 个结点的二叉树空指针域个数是 n + 1；完全二叉树按层编号，证明父 / 左孩子 / 右孩子公式。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4144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9689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59689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244144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依次插入 50, 30, 70, 20, 40, 60, 80，画出结果；再删除 50。编写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IsBST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：判断一棵二叉树是否为 BST。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3756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3375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318211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{E, D, X, K, H, L, M, C, P} 用筛选法建最小堆，写出序列；设计 O(n) 算法检查数组是否为大顶堆。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078224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407822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0" y="392277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对权 2, 3, 4, 7, 8 构造 Huffman 树，计算 WPL 并给出一组前缀编码。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编程练习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道上机题：把本章的性质、周游、BST、堆与 Huffman 用到题里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27638 高度与叶子 · 08581 扩展二叉树 · 22158 前中序建树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25140 队列表达式 · 05455 BST 层次遍历 · 18164 剪绳子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OJ 27638 求二叉树的高度和叶子数目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输入是孩子下标表：先找根，再递归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left, right = [0] * n, [0] * 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is_child = [False] * 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left[i], right[i] = map(int, input().split())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(left[i], right[i]):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 != -1: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is_child[c] = True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is_child.index(False)   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没当过孩子的就是根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height(u):                 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高度按边数：空树 -1，叶 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 == -1: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-1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max(height(left[u]), height(right[u])) + 1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leaves = sum(1 for i in range(n) if left[i] == right[i] == -1)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print(height(root), leaves)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370832"/>
            <a:ext cx="5175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-1 -1 / 0 2 / -1 -1 → 1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6812280" y="1325880"/>
            <a:ext cx="54864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1325880"/>
            <a:ext cx="548640" cy="59436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05472" y="1170432"/>
            <a:ext cx="310896" cy="310896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05472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56832" y="17647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56832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54112" y="17647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54112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4688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根不一定是 0 号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2852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样例里 1 号才是根：先标记所有当过孩子的结点，剩下的那个就是根。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657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高度的口径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4041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本题按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边数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：只有根时高度 0。题面若按结点数算，空树返回 0 即可——先读清定义。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OJ 08581 扩展二叉树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空位补「.」之后，一个先序序列就能唯一还原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build(s, i):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返回 (子树, 下一个位置)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s[i] == '.':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None, i + 1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外部结点：空子树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left, i2 = build(s, i + 1)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right, i3 = build(s, i2)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(s[i], left, right), i3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inorder(t):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is None: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''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inorder(t[1]) + t[0] + inorder(t[2])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postorder(t):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is None: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''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postorder(t[1]) + postorder(t[2]) + t[0]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tree, _ = build(input().strip(), 0)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print(inorder(tree))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print(postorder(tree))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306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507992"/>
            <a:ext cx="4901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ABD..EF..G..C.. → DBFEGAC / DFGEBCA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60720" y="960120"/>
            <a:ext cx="2926080" cy="2057400"/>
          </a:xfrm>
          <a:prstGeom prst="roundRect">
            <a:avLst>
              <a:gd name="adj" fmla="val 3556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6629400" y="1234440"/>
            <a:ext cx="59436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1234440"/>
            <a:ext cx="59436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6263640" y="1737360"/>
            <a:ext cx="36576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1737360"/>
            <a:ext cx="36576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6675120" y="2240280"/>
            <a:ext cx="32004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2240280"/>
            <a:ext cx="32004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68312" y="1078992"/>
            <a:ext cx="310896" cy="310896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68312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73952" y="15819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73952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62672" y="15819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62672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08192" y="20848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0819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39712" y="20848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3971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19672" y="25877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19672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59752" y="25877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59752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315468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CFE0D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89788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「.」= 5.1.2 的外部结点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353872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补全之后每个位置是内部还是外部都写明了，所以只要先序就够；不补「.」时一个序列对应很多棵树。</a:t>
            </a:r>
            <a:endParaRPr lang="en-US" sz="9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OJ 22158 根据二叉树前中序序列建树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不建树也行：前序定根，中序分左右，直接拼出后序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post(pre, ino):   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不建树，直接拼出后序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pre: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''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root = pre[0]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ino.index(root)        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左子树有 k 个结点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(post(pre[1:k + 1], ino[:k])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左子树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 post(pre[k + 1:], ino[k + 1:])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右子树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 root)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= sys.stdin.read().split()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pre, ino in zip(lines[0::2], lines[1::2]):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print(post(pre, ino))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438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639312"/>
            <a:ext cx="51755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DURPA / RUDPA → RUAPD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XTCNB / CTBNX → CBNTX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60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多组数据、组数不给：整体读入后两两配对。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14" name="Shape 12"/>
          <p:cNvSpPr/>
          <p:nvPr/>
        </p:nvSpPr>
        <p:spPr>
          <a:xfrm flipH="1">
            <a:off x="6675120" y="1234440"/>
            <a:ext cx="64008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1234440"/>
            <a:ext cx="64008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6309360" y="1783080"/>
            <a:ext cx="36576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783080"/>
            <a:ext cx="36576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9752" y="1078992"/>
            <a:ext cx="310896" cy="310896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59752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19672" y="16276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99832" y="16276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99832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53912" y="21762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53912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65592" y="217627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65592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8803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CFE0D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7220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5.2.2 的推演同一个递归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326440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正文用后序 + 中序，根在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末尾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；这里根在前序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。切片版每层复制 O(n)，最坏 O(n²)——n ≤ 26 无所谓；正文工程版用位置表 + 下标区间做到 O(n)。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OJ 25140 根据后序表达式建立队列表达式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后序 → 表达式树（栈），层次周游（队列）再颠倒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deque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queue_expr(postfix):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 = []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ch in postfix:   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小写 = 操作数，大写 = 运算符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ch.islower():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stack.append((ch, None, None))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right, left = stack.pop(), stack.pop()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stack.append((ch, left, right))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q, order = deque([stack[0]]), []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q:             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层次周游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v, l, r = q.popleft()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order.append(v)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c in (l, r):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c: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q.append(c)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''.join(reversed(order))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颠倒层次序 = 队列表达式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range(int(input())):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print(queue_expr(input().strip()))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57200" y="4041648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096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9768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xyPzwIM → wzyxIPM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abcABdefgCDEF → gfCecbDdAaEBF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6720840" y="1234440"/>
            <a:ext cx="64008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1234440"/>
            <a:ext cx="64008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6400800" y="1737360"/>
            <a:ext cx="32004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737360"/>
            <a:ext cx="32004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7680960" y="1737360"/>
            <a:ext cx="32004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737360"/>
            <a:ext cx="320040" cy="50292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05472" y="1078992"/>
            <a:ext cx="310896" cy="310896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05472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65392" y="15819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65392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45552" y="158191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45552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45352" y="20848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4535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85432" y="20848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8543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25512" y="20848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2551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65592" y="208483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6559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26974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CFE0D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7220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为什么是颠倒的层次序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308152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队列表达式从左扫：遇运算符就从队头取两个、结果入队尾——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最深的一层最先被用掉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。层次序是从根往下，倒过来正好是从最底层往上。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035040" y="4297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层次序 M P I x y z w → 颠倒 w z y x I P M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OJ 05455 二叉搜索树的层次遍历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按输入次序插入 BST，再用队列一层层输出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3154680"/>
          </a:xfrm>
          <a:prstGeom prst="roundRect">
            <a:avLst>
              <a:gd name="adj" fmla="val 23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deque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insert(t, v):        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 = [val, left, right]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is None: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[v, None, None]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1 if v &lt; t[0] else 2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t[i] = insert(t[i], v)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root, seen = None, set()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 in map(int, input().split()):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 not in seen:          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重复值只计一次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seen.add(v)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 = insert(root, v)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 out = deque([root]), []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q: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v, l, r = q.popleft()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out.append(v)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q.extend(c for c in (l, r) if c)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print(*out)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261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462272"/>
            <a:ext cx="4901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45 59 86 45 4 15 76 … → 51 45 59 4 50 86 2 15 76 97 …（与样例一致）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96012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形状由插入次序决定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13441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同一组数换个次序插入，树形和层次序都会变；BST 唯一保证的是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60720" y="22860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9788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用列表代替结点类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26700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[val, left, right]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可原地改孩子；下标 1 / 2 由一次比较选出，插入就只剩一行递归。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361188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FDF0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9788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递归深度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39959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有序输入会让树退化成链：n 上千就要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sys.setrecursionlimit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，或改成循环插入。</a:t>
            </a:r>
            <a:endParaRPr lang="en-US" sz="9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OJ 18164 剪绳子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倒过来看：剪 = 合并，最小开销就是 Huffman 树的 WPL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2240280"/>
          </a:xfrm>
          <a:prstGeom prst="roundRect">
            <a:avLst>
              <a:gd name="adj" fmla="val 326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heapq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int(input())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= list(map(int, input().split()))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heapq.heapify(heap)                     </a:t>
            </a:r>
            <a:r>
              <a:rPr lang="en-US" sz="92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O(n) 建堆（5.5.1a 的筛选法）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= 0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len(heap) &gt; 1: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heapq.heappop(heap)             </a:t>
            </a:r>
            <a:r>
              <a:rPr lang="en-US" sz="92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取两个最短的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heapq.heappop(heap)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cost += a + b                       </a:t>
            </a:r>
            <a:r>
              <a:rPr lang="en-US" sz="92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合并一次的开销 = 一次剪断的开销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heapq.heappush(heap, a + b)</a:t>
            </a:r>
            <a:endParaRPr lang="en-US" sz="9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print(cost)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346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4901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2 3 5 → 15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60720" y="960120"/>
            <a:ext cx="292608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6675120" y="1280160"/>
            <a:ext cx="64008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1280160"/>
            <a:ext cx="64008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6355080" y="1828800"/>
            <a:ext cx="32004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828800"/>
            <a:ext cx="320040" cy="5486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9752" y="1124712"/>
            <a:ext cx="310896" cy="310896"/>
          </a:xfrm>
          <a:prstGeom prst="ellipse">
            <a:avLst/>
          </a:prstGeom>
          <a:solidFill>
            <a:srgbClr val="F9D27A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59752" y="1124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19672" y="16733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9672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99832" y="167335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9832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22219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99632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39712" y="2221992"/>
            <a:ext cx="310896" cy="310896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9712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开销 10 + 5 = 15 = 2×2 + 3×2 + 5×1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CFE0D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WPL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3616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每段绳子被剪的次数 = 它在树里的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；每次剪的开销是当前那段的长度，总和 = Σ 长度 × 深度。和 5.6 节的构造一字不差。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60720" y="3154680"/>
            <a:ext cx="2926080" cy="1527048"/>
          </a:xfrm>
          <a:prstGeom prst="roundRect">
            <a:avLst>
              <a:gd name="adj" fmla="val 4790"/>
            </a:avLst>
          </a:prstGeom>
          <a:solidFill>
            <a:srgbClr val="FFF6E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9788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heapq 是最小堆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897880" y="3538728"/>
            <a:ext cx="26517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要最大堆就存负数；heapify 是 O(n)，每次 pop / push O(log n)，总共 O(n log n)。同题：OJ 05333 Fence Repair。</a:t>
            </a:r>
            <a:endParaRPr lang="en-US" sz="9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递归定义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左右有别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；定义是递归的，周游、释放、深拷贝都自然是递归。n 个结点有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n+1 个空指针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四种周游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三种深度优先只差 </a:t>
            </a:r>
            <a:r>
              <a:rPr lang="en-US" sz="1200" b="1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那一行（栈）；层次周游必须用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。前/后序 + 中序可重建。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两种存储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二叉链表最常用；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二叉树按层编号进数组，父子关系变下标算术。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BST 与堆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BST 全序、增删查 O(h)，两个孩子时用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中序前驱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顶替；堆只要局部有序，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建堆 O(n)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反复合并两个最小权，WPL 最小；左 0 右 1 得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前缀码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，编码总长 = WPL。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第五章 二叉树</dc:title>
  <dc:subject>PptxGenJS Presentation</dc:subject>
  <dc:creator>Hongfei Yan</dc:creator>
  <cp:lastModifiedBy>Hongfei Yan</cp:lastModifiedBy>
  <cp:revision>1</cp:revision>
  <dcterms:created xsi:type="dcterms:W3CDTF">2026-10-28T11:35:16Z</dcterms:created>
  <dcterms:modified xsi:type="dcterms:W3CDTF">2026-10-28T11:35:16Z</dcterms:modified>
</cp:coreProperties>
</file>