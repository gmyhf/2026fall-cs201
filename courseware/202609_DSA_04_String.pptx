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</p:sldIdLst>
  <p:notesMasterIdLst>
    <p:notesMasterId r:id="rId9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 字符串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String：元素是字符、操作按整段的线性表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串、子串、真子串 · 字符编码：ASCII → UTF-8 · 编码顺序与字典序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顺序存储与 '\0' · 教学版 String：三法则与变长存储管理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 / substr / find / compare · 进阶：移动语义与 raw()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朴素匹配与原书「差 1」 · 特征向量 next · KMP 与线性论证 · 最小循环节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附录：3 道字符串编程练习（滑动窗口 · KMP nextval · 前缀中的周期）与最小循环元引理 · 附录 B：最长回文子串（中心扩展 · Manacher）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Updated 2026-10-28 · github.com/GMyhf/dsa-modernization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字符串和普通线性表差在哪？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元素限定为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字符集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；操作以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串的整体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为对象。而且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是一个字节，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一个字符。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长度一直在变，缓冲区归谁管？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231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顺序存放、交给类去管：构造申请、析构释放、拷贝另开——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容量、复制、下标边界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30 亿个字符里找模式，怎么找得动？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231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朴素匹配失配只右移一位；KMP 预先算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不重复比较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已知相等的前缀。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存串的类管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容量与所有权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；找串的算法管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比较顺序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——KMP 让目标下标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只增不减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97180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基本概念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237744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串、长度、空串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与线性表的两点区别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子串与真子串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原书【代码4.1】的三处修改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4.1.1 字符编码：ASCII → UTF-8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4.1.2 编码顺序与字典序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297180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存储与实现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37360"/>
            <a:ext cx="237744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4.2.1 顺序存储、'\0' 与标准串函数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4.2.2 String 类：教学版完整实现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构造、三法则、变长管理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4.2.3 追加 / 子串 / 查找 / 比较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4.2a 进阶：移动语义与 raw()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297180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 模式匹配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问题与记号：都从位置 0 开始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 朴素匹配；原书返回值差 1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4.3.2 特征向量 next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4.3.3 KMP 与线性论证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 的另一个用途：最小循环节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160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/ B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4160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A：T76 最小覆盖子串 · 31378 KMP 比较次数（nextval） · 01961 前缀中的周期 · 最小循环元引理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B：M5 最长回文子串——中心扩展与 Manacher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用教学版 String 走一遍 append / substr / find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897880" cy="3657600"/>
          </a:xfrm>
          <a:prstGeom prst="roundRect">
            <a:avLst>
              <a:gd name="adj" fmla="val 2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751576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"teaching.hpp"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text = "Hello";             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隐式转换：String(const char*)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text.append(' ').append('C').append('+').append('+');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"拼接后: " &lt;&lt; text.c_str() &lt;&lt; '\n';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String slice = text.substr(6, 3);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"子串: " &lt;&lt; slice.c_str() &lt;&lt; '\n';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find 返回 optional：有值才解引用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"首次出现 C 的下标: ";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(const auto found = text.find('C'))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*found &lt;&lt; '\n';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"无\n";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92240" y="100584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0196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1261872"/>
            <a:ext cx="19751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拼接后: Hello C++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子串: C++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首次出现 C 的下标: 6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-std=c++17 -Wall -Wextra -Werror \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-Icode/ch04/string_class \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code/ch04/string_class/demo.cpp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492240" y="283464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看到了什么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3218688"/>
            <a:ext cx="1975104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String&amp;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，所以能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连着写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substr(6, 3)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从下标 6 取 3 个字符。</a:t>
            </a:r>
            <a:endParaRPr lang="en-US" sz="9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optional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：找不到不用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和位置 0 抢同一个数字。</a:t>
            </a:r>
            <a:endParaRPr lang="en-US" sz="9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缓冲区是手写的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char*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——换成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std::string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这一节就没了。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4.12 那对串：正确起始下标是 10，原书返回 11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603504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88873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"modern.hpp"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char* text = "abcddabcababcdaabcababcdaabcabaa";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char* pattern = "abcdaabcab";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naive = dsa::naive_search(text, pattern);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kmp = dsa::kmp_search(text, pattern);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"图4.12 的串，正确起始下标是 10\n";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"朴素: " &lt;&lt; (naive ? static_cast&lt;long&gt;(*naive) : -1) &lt;&lt; '\n';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"KMP:  " &lt;&lt; (kmp ? static_cast&lt;long&gt;(*kmp) : -1) &lt;&lt; '\n';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"原书返回 11，一律差 1\n";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75120" y="10058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8484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784848" y="1261872"/>
            <a:ext cx="17922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图4.12 的串，正确起始下标是 10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朴素: 10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KMP:  10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原书返回 11，一律差 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0" y="25146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不是写法问题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89864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算法结果错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：原书两个匹配算法返回的位置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都差 1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。4.3.1 节末专门讲。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931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abcddabcab</a:t>
            </a:r>
            <a:r>
              <a:rPr lang="en-US" sz="13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abcdaabcab</a:t>
            </a: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cdaabcabaa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2428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3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abcdaabcab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39502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匹配段从下标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开始（0 起始），而原书的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- pLen + 1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给出 11。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 · 4.1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字符串的基本概念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串、长度、子串 · 与线性表的两点区别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字符编码：ASCII → UNICODE / UTF-8 · 编码顺序与字典序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基本概念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字符串：元素为单个字符的线性表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（string）：组成元素（结点）为</a:t>
            </a: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单个字符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的线性表，简称「串」。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可以是一个单词、一个句子、一篇文章，或者一个文件的内容。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串中所含字符个数称为</a:t>
            </a: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串的长度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；长度为零的串称为</a:t>
            </a:r>
            <a:r>
              <a:rPr lang="en-US" sz="13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空串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，不含任何字符。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与线性表相比，逻辑结构上有两点区别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83464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8529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数据对象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3375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约束为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字符集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490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元素不再是任意类型 T，而是一个个字符。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69748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4892040" y="283464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8529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操作对象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3375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以「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串的整体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」为操作对象。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7490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线性表的操作大多以「单个元素」为对象；串的拼接、复制、抽取子串、模式匹配，动的都是</a:t>
            </a:r>
            <a:r>
              <a:rPr lang="en-US" sz="11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一整段</a:t>
            </a: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基本概念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子串：一个串是不是另一个串的一段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78638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 s₁ = a₀a₁⋯aₙ₋₁，s₂ = b₀b₁⋯bₘ₋₁（0 ≤ m ≤ n）。若存在整数 i（0 ≤ i ≤ n − m），使得对任意 j = 0, 1, ⋯, m−1 都有 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bⱼ = aᵢ₊ⱼ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，则称 s₂ 是 s₁ 的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子串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，或称 s₁ 包含 s₂。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14600"/>
            <a:ext cx="40233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空串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是所有字符串的子串。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任何串都是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其自身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的子串。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非空、且不为 </a:t>
            </a:r>
            <a:r>
              <a:rPr lang="en-US" sz="13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自身的子串，称为 </a:t>
            </a:r>
            <a:r>
              <a:rPr lang="en-US" sz="13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真子串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5146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例：以下都是真子串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926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</a:t>
            </a:r>
            <a:r>
              <a:rPr lang="en-US" sz="10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</a:t>
            </a: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brown dog </a:t>
            </a:r>
            <a:r>
              <a:rPr lang="en-US" sz="10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</a:t>
            </a: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over the lazy </a:t>
            </a:r>
            <a:r>
              <a:rPr lang="en-US" sz="10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fox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"quick"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"jump"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"fox"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"brown dog"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CFE0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4114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伏笔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40740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节的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模式匹配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问的就是：一个串是不是另一个串的子串？如果是，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从哪个位置开始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基本概念 · 抽象数据类型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原书【代码4.1】有三处今天必须改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53312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078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类名是小写的 string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41732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在任何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namespace std;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的翻译单元里，与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std::string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构成歧义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。原书正文随后又改用大写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，同一章两个名字混用。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13716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1371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类名大写 String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221992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4F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569464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569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2951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 表达布尔，-1 表示没找到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263347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isEmpty();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find(const char c, const int start);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与「位置 0」只差一个符号，漏判就把「没找到」当成「匹配在开头」。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2587752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25877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bool empty() · optional&lt;size_type&gt; find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4F2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785616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3785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51129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修改器按值返回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38496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append(const char c);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而非引用。只有声明没有函数体，不能断定会丢结果；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能断定的是签名含混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s.append('x');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改没改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55080" y="3803904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55080" y="38039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修改器返回 String&amp;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基本概念 · 字符编码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逻辑元素是字符，内存里保存的是编码单元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计算机只认 0、1 组成的字节，字符集的「字符」要用「字节」表示——这就是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字符编码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。C/C++ 的 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是单字节，采用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ASCII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：每个字符一个字节，低 7 位表示字符，最高位为 0，共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个字符。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2194560"/>
                <a:gridCol w="42062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举例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0～31、127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 / 通信专用字符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LF、CR、DEL、BEL；SOH、ACK（原书把 32 号空格也算进来，得 34）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空格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可打印字符，只是看不见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33～126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通用字符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 个大小写字母、10 个数字、标点与运算符号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48～57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 0–9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'0' = 48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65～90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大写字母 A–Z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'A' = 65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97～122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小写字母 a–z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'a' = 97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CFE0D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4114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记住三个区间都是连续递增的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40740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数字、大写字母、小写字母各自占一段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的编号——4.1.2 节的字符比较就建立在这一点上。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基本概念 · 字符编码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从各自为政到 UNICODE / UTF-8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6B7B7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ASCII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1618488"/>
            <a:ext cx="0" cy="457200"/>
          </a:xfrm>
          <a:prstGeom prst="line">
            <a:avLst/>
          </a:prstGeom>
          <a:noFill/>
          <a:ln w="15240">
            <a:solidFill>
              <a:srgbClr val="6B7B74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514600" y="10515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世纪 60 年代制定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34416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没有考虑中文、阿拉伯文等国际文字的统一编码。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84832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各语言各自编码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2514600"/>
            <a:ext cx="0" cy="457200"/>
          </a:xfrm>
          <a:prstGeom prst="line">
            <a:avLst/>
          </a:prstGeom>
          <a:noFill/>
          <a:ln w="15240">
            <a:solidFill>
              <a:srgbClr val="6B7B74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514600" y="194767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GB2312-80 · BIG5 · S-JIS · Wansung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22402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 GB2312-80（简体，6763 个汉字）、BIG5（繁体，13053 个汉字）……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不同系统可能用相同的编号表示不同的字符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80944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9809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UNICODE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3410712"/>
            <a:ext cx="0" cy="457200"/>
          </a:xfrm>
          <a:prstGeom prst="line">
            <a:avLst/>
          </a:prstGeom>
          <a:noFill/>
          <a:ln w="15240">
            <a:solidFill>
              <a:srgbClr val="6B7B74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514600" y="284378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通用文字符号编码标准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313639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可伸缩：既能容纳多语言的大编码集，也能缩减，用单字节表示常用 ASCII 符号。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77056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38770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UTF-8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514600" y="373989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今天最常见的落地形式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514600" y="403250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1～4 个字节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编码一个 Unicode 码点，且与 ASCII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完全兼容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基本概念 · 字符编码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 2008 年的书还讲不到的结论：char ≠ 字符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00584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的 </a:t>
            </a:r>
            <a:r>
              <a:rPr lang="en-US" sz="18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</a:t>
            </a:r>
            <a:r>
              <a:rPr lang="en-US" sz="1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一个字节</a:t>
            </a: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，不等于一个「人眼看到的字符」。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94560"/>
            <a:ext cx="49377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std::string::size()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返回的是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字节数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，不能用来数 Unicode 字符。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要数字符，就得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UTF-8 解码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，或使用明确的 Unicode 库。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字面量 </a:t>
            </a:r>
            <a:r>
              <a:rPr lang="en-US" sz="13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u8"..."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表示 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UTF-8 字节序列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23560" y="2194560"/>
            <a:ext cx="3063240" cy="2468880"/>
          </a:xfrm>
          <a:prstGeom prst="roundRect">
            <a:avLst>
              <a:gd name="adj" fmla="val 2963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60720" y="22860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好消息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578608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编码本身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不改变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字符串概念和操作的本质：查找、拼接、抽取子串的接口语义与编码无关。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所以本书与原书一样，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ASCII 为主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，基本不涉及多国语言混排。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069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自检：字节数、字符数、显示宽度是三个不同层次，UTF-8 下不能混用。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基本概念 · 编码顺序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偏序编码规则：编码顺序与自然次序一致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令 encode(x) 为符号 x 到其 ASCII 编码的映射，则 10 个数字符号的编码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连续递增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encode('0') + 1 = encode('1'),  encode('1') + 1 = encode('2'),  ⋯,  encode('8') + 1 = encode('9')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03120"/>
            <a:ext cx="47548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字母 A…Z、a…z 遵循同样的偏序规则。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于是任意两个字符 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ch1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ch2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可以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直接用编码值比较大小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；对字母而言，就是字典编目次序。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两个串按构成它们的字符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比较大小。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40680" y="210312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7784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字典次序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5146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"monday" &lt; "sunday" &lt; "tuesday"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"123" &lt; "1234" &lt; "23"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3200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星期一在星期二之前，整数 123 比 23 大——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与日常理解的次序不同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005072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09651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比较规则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38912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先比较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第一个不同的编码单元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；若一个是另一个的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，较短者更小。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基本概念 · 编码顺序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编码值比较 ≠ 自然语言排序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8872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88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同一区间内可比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916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ASCII 保留了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、大写字母、小写字母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各自连续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的区间，同一区间内可用编码值比较。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29000" y="118872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1188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不是语言学排序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6916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编码值比较按码元的字典序；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大小写、重音、中文排序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都可能需要额外的 locale 或排序键。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18872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1188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不是整数比较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69164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std::string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而言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"123" &lt; "1234" &lt; "23"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，但这不是整数大小比较。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977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比较前必须先约定</a:t>
            </a: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编码和规范化方式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，不能把「字节序」误当成「自然语言顺序」。本节的比较次序也适合 GB2312 等其他文字的排序需要。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基本概念 · C++ 特有的坑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两个字符串字面量之间写 &lt;，比的是地址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1B2B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261872"/>
            <a:ext cx="80101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g++ -std=c++17 -Wall -Wextra litcmp.cpp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litcmp.cpp:7:25: warning: comparison between two arrays [-Warray-compare]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7 |     std::cout &lt;&lt; ("123" &lt; "1234") &lt;&lt; ' ' &lt;&lt; ("1234" &lt; "23") &lt;&lt; '\n';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                  ~~~~~~^~~~~~~~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./litcmp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true      # ("123" &lt; std::string("1234"))、(std::string("1234") &lt; "23")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true     # ("123" &lt; "1234")、("1234" &lt; "23")——第一个的答案反了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EAF4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有一边是 std::string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118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比的是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"123" &lt; std::string("1234")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 true，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std::string("1234") &lt; "23"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 true。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310896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DF0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两边都是裸字面量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6118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比的是两个数组的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，由编译器摆放决定：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("123" &lt; "1234")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得到 false——答案反了。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本书凡是比较字符串，一律先落到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std::string</a:t>
            </a: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上，再谈编码顺序。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 · 4.2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字符串的存储结构和实现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顺序存储与 '\0' · 标准串函数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教学版 String：构造、三法则、变长存储管理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 / concatenate / substr / find / compare · 进阶：移动语义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存储结构和实现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这一节的正题：变长存储管理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48463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字符串长度变化显著——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短如单词，长为文件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；长度分布的方差很大。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此时用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静态长度的向量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作为存储结构是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不恰当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拼接、查找、置换、模式匹配本身都涉及变长操作，开销大，必须精心设计算法、选择存储结构。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本节重点：程序执行过程中字符串的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变长存储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532120" y="1005840"/>
            <a:ext cx="3154680" cy="3657600"/>
          </a:xfrm>
          <a:prstGeom prst="roundRect">
            <a:avLst>
              <a:gd name="adj" fmla="val 2319"/>
            </a:avLst>
          </a:prstGeom>
          <a:solidFill>
            <a:srgbClr val="FFF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0" y="10972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为什么这一节没有 Python 版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389888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自管理的字符缓冲区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：长度、容量、结尾空字符、深复制、移动后源对象的状态都是接口契约。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的 str 不可变，list 也不让你实现分配、释放和强异常保证——会跳过存储布局与所有权问题。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 4.3 的模式匹配有 Python 版，4.2 的字符串类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只保留 C++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1E3D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7033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缓冲区是裸 </a:t>
            </a:r>
            <a:r>
              <a:rPr lang="en-US" sz="14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char*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——换成 </a:t>
            </a:r>
            <a:r>
              <a:rPr lang="en-US" sz="14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std::string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，这一节就</a:t>
            </a:r>
            <a:r>
              <a:rPr lang="en-US" sz="14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没了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存储结构 · 顺序存储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顺序存储：连续字符数组 + 结尾的 '\0'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2062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pic>
        <p:nvPicPr>
          <p:cNvPr id="8" name="Image 0" descr="fig-4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46988"/>
            <a:ext cx="3931920" cy="19659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044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4.1  C 风格字符串的变量说明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34290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30352" y="3474720"/>
            <a:ext cx="4059936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s1[12] = "Hello world";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s2[8]  = "2008";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s3[6];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51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 没给初值：全局 / static 数组才是空串，局部数组内容不确定；要空串写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""</a:t>
            </a: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960120"/>
            <a:ext cx="379476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末尾保留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'\0'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作结束标志；另记不含终止符的长度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容量至少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 + 1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'\0'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不计入长度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s[M];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的串长不能超过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− 1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适合访问单个字符或连续一组字符：按下标取第 i 个字符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 / 删除要移动其后所有字符；拼接、抽子串要复制一段连续区域。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容量不足：申请更大数组 → 复制 → 释放旧数组 → 更新指针和长度。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892040" y="3840480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FDF0E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029200" y="3931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静态定长的局限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42245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数组一旦定长，运行中产生更长的串就会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溢出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——这正是接下来用一个类来解决的问题。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存储结构 · 顺序存储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 4.1  标准串函数（&lt;cstring&gt;）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44805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函数名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功能说明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size_t strlen(char* s)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求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的当前长度，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不计结束符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；空串长度为 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char* strcpy(char* s1, const char* s2)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将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s2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复制到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s1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，返回指向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s1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开始的指针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char* strcat(char* s1, const char* s2)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将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s2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拼接到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s1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尾部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strcmp(const char* s1, const char* s2)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全同返回 0；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s1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大于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s2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返回正数，小于返回负数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char* strchr(char* s, char c)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中第一次出现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的位置，没有则返回空指针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char* strrchr(char* s, char c)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从尾部逆向定位最后一次出现 </a:t>
                      </a: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的位置，没有则返回空指针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CFE0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/ 输出也属于标准串函数库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36168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 &gt;&gt; s1;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从标准输入读取字符串到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s1;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的内容输出到标准输出。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存储结构 · 顺序存储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strchr / strrchr 返回指针；s1 = s2 不是复制内容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pic>
        <p:nvPicPr>
          <p:cNvPr id="8" name="Image 0" descr="fig-4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583" y="1024128"/>
            <a:ext cx="6310835" cy="1508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542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4.2  在 s1 中定位字符 'o'：strchr 找到下标 4，strrchr 找到下标 7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297180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30632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「没找到」怎么表达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35584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两个函数找不到时返回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空指针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。本书的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std::optional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表达同一件事——「没找到」不再靠一个特殊指针值。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297180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DF0E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46320" y="30632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非常容易犯的错误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35584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的字符数组用字符指针指向始址，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s2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理解为把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的内容复制到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。这正是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必须自己写拷贝赋值运算符的原因。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存储结构 · String 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变长存储为什么不走链表？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DF0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链式存储：每个结点一个字符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3200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6916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51560" y="1691640"/>
            <a:ext cx="502920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1691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554480" y="1883664"/>
            <a:ext cx="365760" cy="0"/>
          </a:xfrm>
          <a:prstGeom prst="line">
            <a:avLst/>
          </a:prstGeom>
          <a:noFill/>
          <a:ln w="1524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920240" y="1691640"/>
            <a:ext cx="3200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20240" y="16916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40280" y="1691640"/>
            <a:ext cx="502920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40280" y="1691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0" y="1883664"/>
            <a:ext cx="365760" cy="0"/>
          </a:xfrm>
          <a:prstGeom prst="line">
            <a:avLst/>
          </a:prstGeom>
          <a:noFill/>
          <a:ln w="1524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108960" y="1691640"/>
            <a:ext cx="3200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08960" y="16916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1691640"/>
            <a:ext cx="502920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9000" y="1691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22860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字节的数据配 8 字节的指针（64 位机）：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每一个链指针比一个字符所占的空间还大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。回到 2.4 节那条判据：指针所占比例超过 1:1 就要慎重。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EAF4E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仍然顺序存放，交给类去管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937760" y="1691640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937760" y="16916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data_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1031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937760" y="21031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size_ = 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1847088"/>
            <a:ext cx="411480" cy="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126480" y="1664208"/>
            <a:ext cx="402336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26480" y="166420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28816" y="1664208"/>
            <a:ext cx="402336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28816" y="166420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31152" y="1664208"/>
            <a:ext cx="402336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31152" y="166420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33488" y="1664208"/>
            <a:ext cx="402336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33488" y="166420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35824" y="1664208"/>
            <a:ext cx="402336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35824" y="166420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38160" y="1664208"/>
            <a:ext cx="402336" cy="365760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138160" y="166420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\0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892040" y="2606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类里只存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一个指针 + 一个长度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；字符本体在堆上。缓冲区的分配与释放由类负责。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顺序存储只说了「字符放在哪」；包成类之后，「这块内存归谁、什么时候还」才有着落：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39776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0080" y="3977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构造时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691640" y="41148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69164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246120" y="39776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3429000" y="3977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析构时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480560" y="41148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48056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035040" y="39776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217920" y="3977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拷贝时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269480" y="41148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26948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另开一份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String 类 · 教学版 teaching.hpp（1/5）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空串也占 1 个字节；从 C 字符串构造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61441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String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using size_type = std::size_t;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空串。**注意它仍然申请了 1 个字节**，里面放一个 '\0'。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这样 c_str() 永远返回一个合法的 C 字符串，调用方不必先判空指针。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String() : data_(new char[1]), size_(0)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data_[0] = '\0';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从 C 字符串构造。参数是 `const char*` 而不是原书的 `char*`——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原书那个签名让它自己书里的例子 `String s1 = "Hello";` 从 C++11 起就编译不过：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字符串字面量的类型是 const char[6]，绑不到 char*。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这里**故意不加 explicit**，为的就是保住 `String s1 = "Hello";` 这种写法。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String(const char* s) {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NOLINT(google-explicit-constructor)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 == nullptr)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std::invalid_argument("String: 不能用空指针构造字符串");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size_ = std::strlen(s);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data_ = new char[size_ + 1];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std::memcpy(data_, s, size_ + 1);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+1 把结尾那个 '\0' 也带上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~String() { delete[] data_; 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0" y="96012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024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两个数据成员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325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char* data_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'\0' 结尾，永远非空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size_type size_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字符个数，不含 '\0'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0" y="25146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空串为什么申请 1 字节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89864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里面放一个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'\0'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，于是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c_str()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永远返回合法的 C 字符串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，调用方不必先判空指针。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38404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故意不加 explicit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224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为了保住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s1 = "Hello";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这种写法。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String 类 · 构造与所有权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原书【算法4.4】的构造函数：两处问题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FDF0EE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1556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143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assert(str != '\0') 编译不过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645920"/>
            <a:ext cx="37490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'\0'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，不是空指针常量；指针与它比较是 ill-formed。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改成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assert(str != nullptr)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也无效：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失败抛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std::bad_alloc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从不返回空指针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NDEBUG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构建里整个消失。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FDF0EE"/>
          </a:solidFill>
          <a:ln/>
        </p:spPr>
      </p:sp>
      <p:sp>
        <p:nvSpPr>
          <p:cNvPr id="13" name="Shape 11"/>
          <p:cNvSpPr/>
          <p:nvPr/>
        </p:nvSpPr>
        <p:spPr>
          <a:xfrm>
            <a:off x="4892040" y="111556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143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参数类型是 char*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645920"/>
            <a:ext cx="37490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原书自己写：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s1 = "Hello";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隐含调用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String::String(char* s)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字面量类型是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char[6]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，转成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char*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C++11 起已被移除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GCC 默认降级为警告，在本书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-Werror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构建下即是错误。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6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39776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还有一处原书没做的检查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2702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构造函数对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== nullptr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毫无防备——而 4.2.3 节原书的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恰好会喂给它一个空指针。本书：参数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char*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，空指针抛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std::invalid_argument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String 类 · 教学版 teaching.hpp（2/5）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三法则：拷贝构造与拷贝赋值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697480"/>
          </a:xfrm>
          <a:prstGeom prst="roundRect">
            <a:avLst>
              <a:gd name="adj" fmla="val 271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三法则：自己管着 new 出来的缓冲区，拷贝必须自己写。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原书正文里描述过赋值时「必须释放 s1 的原有空间」，却没有把拷贝构造和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拷贝赋值作为清单给出。只有析构没有这两个，一次 `String b = a;` 就是二次释放。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String(const String&amp; other) : data_(new char[other.size_ + 1]), size_(other.size_)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std::memcpy(data_, other.data_, size_ + 1);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String&amp; operator=(const String&amp; other)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(this == &amp;other)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*this;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char* fresh = new char[other.size_ + 1];   </a:t>
            </a:r>
            <a:r>
              <a:rPr lang="en-US" sz="8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先备好新的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std::memcpy(fresh, other.data_, other.size_ + 1);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delete[] data_;                            </a:t>
            </a:r>
            <a:r>
              <a:rPr lang="en-US" sz="8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再释放旧的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data_ = fresh;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size_ = other.size_;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*this;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767328"/>
            <a:ext cx="4206240" cy="896112"/>
          </a:xfrm>
          <a:prstGeom prst="roundRect">
            <a:avLst>
              <a:gd name="adj" fmla="val 8163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7947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拷贝赋值的三步顺序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292608" cy="29260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599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备好新的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297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+ memcpy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38528" y="4114800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938528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40599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释放旧的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4297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delete[] data_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10128" y="4114800"/>
            <a:ext cx="292608" cy="29260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310128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40599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4297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B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 = fresh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846320" y="3767328"/>
            <a:ext cx="3840480" cy="896112"/>
          </a:xfrm>
          <a:prstGeom prst="roundRect">
            <a:avLst>
              <a:gd name="adj" fmla="val 8163"/>
            </a:avLst>
          </a:prstGeom>
          <a:solidFill>
            <a:srgbClr val="FDF0E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83480" y="3858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顺序反过来 / 只有析构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415137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抛异常时对象停在「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指针已释放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」的破碎状态。只有析构没有拷贝：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b = a;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即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二次释放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String 类 · 变长存储管理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4.3 / 4.4：String 按当前串长动态调整空间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pic>
        <p:nvPicPr>
          <p:cNvPr id="8" name="Image 0" descr="fig-4-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60541"/>
            <a:ext cx="3383280" cy="9787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4.3 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s1 = "Hello";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560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在动态存储区开一个长度为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的字符数组（5 个字符 + 结束符），对象里只有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一个指针和一个长度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，字符本体在堆上。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960120"/>
            <a:ext cx="443484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pic>
        <p:nvPicPr>
          <p:cNvPr id="12" name="Image 1" descr="fig-4-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052741"/>
            <a:ext cx="4251960" cy="99433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43400" y="21031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4.4 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s2 = "Hello world"; s1 = s2;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251960" y="256032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新内容比旧的长，装不下：先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另开一块新数组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、把内容复制过去，旧数组（灰格）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改指新数组。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94360" y="3749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注意那块灰色的旧空间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94360" y="404164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它必须释放，而且必须在新空间准备好之后再释放。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这就是「变长管理」的全部含义。工程版还多两个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操作，见 4.2a。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String 类 · 教学版 teaching.hpp（3/5）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访问器、clear 与 at：越界抛异常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157216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size_type size() const { return size_;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size_type length() const { return size_;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empty() const { return size_ == 0;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char* c_str() const { return data_;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clear()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char* fresh = new char[1];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fresh[0] = '\0';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delete[] data_;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data_ = fresh;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size_ = 0;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按下标取字符。越界抛异常，不是返回一个随便什么值。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at(size_type index) const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(index &gt;= size_)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std::out_of_range("String::at: 下标越界");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data_[index];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89320" y="9601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0" y="1051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size() 与 length()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344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两个名字同一个值：字符个数，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'\0'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9320" y="20574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2148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clear() 也守不变式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4144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不是把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置空，而是换成一块只装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'\0'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 1 字节缓冲区——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c_str()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仍然合法。同样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先备新、再释放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35661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0" y="3657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at(index)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39502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越界抛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std::out_of_range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不是返回一个随便什么值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06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按下标取字符是 O(1)：这是顺序存储的长处。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字符串运算 · 教学版 teaching.hpp（4/5）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追加一个字符：为什么是 O(n)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在串尾添加一个字符。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**变长存储的代价在这里看得最清楚**：字符串长度变了，就得重新申请一块、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把老内容拷过去、再把老的还回去。所以 append 一个字符是 O(n)，不是 O(1)。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返回自身引用，于是 `s.append('a').append('b')` 可以连着写；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原书【代码4.1】声明的是**按值返回**，调用方从签名看不出它改不改本串。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String&amp; append(char c)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char* fresh = new char[size_ + 2];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老内容 + 新字符 + '\0'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std::memcpy(fresh, data_, size_);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fresh[size_] = c;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fresh[size_ + 1] = '\0';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delete[] data_;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data_ = fresh;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++size_;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*this;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960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append('!') 的三步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13258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申请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49440" y="1325880"/>
            <a:ext cx="2468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96328" y="1325880"/>
            <a:ext cx="2468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43216" y="1325880"/>
            <a:ext cx="2468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90104" y="1325880"/>
            <a:ext cx="2468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36992" y="1325880"/>
            <a:ext cx="2468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325880"/>
            <a:ext cx="2468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30768" y="1325880"/>
            <a:ext cx="2468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19842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拷贝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1984248"/>
            <a:ext cx="246888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984248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96328" y="1984248"/>
            <a:ext cx="246888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96328" y="1984248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43216" y="1984248"/>
            <a:ext cx="246888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43216" y="1984248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90104" y="1984248"/>
            <a:ext cx="246888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90104" y="1984248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936992" y="1984248"/>
            <a:ext cx="246888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36992" y="1984248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83880" y="1984248"/>
            <a:ext cx="246888" cy="329184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83880" y="1984248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430768" y="1984248"/>
            <a:ext cx="246888" cy="329184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30768" y="1984248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\0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080760" y="264261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释放旧块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49440" y="2642616"/>
            <a:ext cx="246888" cy="329184"/>
          </a:xfrm>
          <a:prstGeom prst="rect">
            <a:avLst/>
          </a:prstGeom>
          <a:solidFill>
            <a:srgbClr val="DDDDDD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49440" y="2642616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96328" y="2642616"/>
            <a:ext cx="246888" cy="329184"/>
          </a:xfrm>
          <a:prstGeom prst="rect">
            <a:avLst/>
          </a:prstGeom>
          <a:solidFill>
            <a:srgbClr val="DDDDDD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96328" y="2642616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43216" y="2642616"/>
            <a:ext cx="246888" cy="329184"/>
          </a:xfrm>
          <a:prstGeom prst="rect">
            <a:avLst/>
          </a:prstGeom>
          <a:solidFill>
            <a:srgbClr val="DDDDDD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43216" y="2642616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690104" y="2642616"/>
            <a:ext cx="246888" cy="329184"/>
          </a:xfrm>
          <a:prstGeom prst="rect">
            <a:avLst/>
          </a:prstGeom>
          <a:solidFill>
            <a:srgbClr val="DDDDDD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90104" y="2642616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936992" y="2642616"/>
            <a:ext cx="246888" cy="329184"/>
          </a:xfrm>
          <a:prstGeom prst="rect">
            <a:avLst/>
          </a:prstGeom>
          <a:solidFill>
            <a:srgbClr val="DDDDDD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936992" y="2642616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183880" y="2642616"/>
            <a:ext cx="246888" cy="329184"/>
          </a:xfrm>
          <a:prstGeom prst="rect">
            <a:avLst/>
          </a:prstGeom>
          <a:solidFill>
            <a:srgbClr val="DDDDDD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183880" y="2642616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\0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80760" y="33375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6E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217920" y="3429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变长存储的代价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217920" y="372160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长度一变，就得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重新申请、拷过去、还回去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——追加一个字符要拷 n 个字符。这也是后续章节讨论「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预留容量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」的动机。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384048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9436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 String&amp;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594360" y="42245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s.append('a').append('b')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可以连着写；从签名一眼看出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改的是本串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。原书【代码4.1】按值返回，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s.append('x');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到底改不改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，看不出来。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字符串运算 · 追加与拼接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concatenate：同样是「重新申请、拷两段、释放旧的」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把 s 接在本串后面。同样是「重新申请、拷两段、释放旧的」。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String&amp; concatenate(const char* s)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 == nullptr)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std::invalid_argument("String::concatenate: 空指针");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size_type extra = std::strlen(s);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char* fresh = new char[size_ + extra + 1];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std::memcpy(fresh, data_, size_);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std::memcpy(fresh + size_, s, extra + 1);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delete[] data_;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data_ = fresh;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size_ += extra;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*this;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960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拷两段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28232" y="1371600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8232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75704" y="1371600"/>
            <a:ext cx="347472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75704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23176" y="1371600"/>
            <a:ext cx="347472" cy="347472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23176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70648" y="1371600"/>
            <a:ext cx="347472" cy="347472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70648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18120" y="1371600"/>
            <a:ext cx="347472" cy="347472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1812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65592" y="1371600"/>
            <a:ext cx="347472" cy="347472"/>
          </a:xfrm>
          <a:prstGeom prst="rect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65592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\0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080760" y="17830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memcpy(fresh, data_, size_)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080760" y="20116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memcpy(fresh + size_, s, extra + 1)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080760" y="2331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 + 1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结尾的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'\0'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一起带上。</a:t>
            </a:r>
            <a:endParaRPr lang="en-US" sz="10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182880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做了什么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append(c)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申请 size+2，拷 size 个字符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concatenate(s)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申请 size+extra+1，拷两段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 + |s|)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at(i)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直接按下标取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字符串运算 · 教学版 teaching.hpp（5/5 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抽取子串【算法4.5】：越界就抛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3063240"/>
          </a:xfrm>
          <a:prstGeom prst="roundRect">
            <a:avLst>
              <a:gd name="adj" fmla="val 238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【算法4.5】从 pos 开始取长度至多 len 的子串。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原书在 `pos &gt;= size` 时 `return NULL;`。那不是「返回空串」——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NULL 会去走 String(char*) 构造函数，然后 strlen(nullptr) 当场段错误。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这里越界就抛异常，让错误停在发生的地方。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 == size() 是合法的，得到空串（「从末尾取 0 个字符」）。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substr(size_type pos, size_type len) const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(pos &gt; size_)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std::out_of_range("String::substr: 起始位置越界");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size_type available = size_ - pos;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size_type take = (len &lt; available) ? len : available;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原书的 if (n &gt; left) n = left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result;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char* fresh = new char[take + 1];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std::memcpy(fresh, data_ + pos, take);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fresh[take] = '\0';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delete[] result.data_;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result.data_ = fresh;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result.size_ = take;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result;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160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&gt; size()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4160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抛 std::out_of_range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41605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37560" y="4160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== size()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160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合法，得到空串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41605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0" y="4160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 超出剩余长度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4160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截断，不报错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字符串运算 · 抽取子串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原书在起始位置越界时 return NULL：能编译，崩在运行期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1B2B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216152"/>
            <a:ext cx="8010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./s7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准备调用 s.Substr(99, 1)——原书会走到 return NULL 那一支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 error: null pointer passed as argument 1, which is declared to never be null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AddressSanitizer:DEADLYSIGNAL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AddressSanitizer: SEGV on unknown address 0x000000000000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286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return NULL;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返回类型是 String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21992" y="2478024"/>
            <a:ext cx="310896" cy="0"/>
          </a:xfrm>
          <a:prstGeom prst="line">
            <a:avLst/>
          </a:prstGeom>
          <a:noFill/>
          <a:ln w="19050">
            <a:solidFill>
              <a:srgbClr val="6B7B7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60320" y="22860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60320" y="2286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NULL → char*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不是「空串」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25112" y="2478024"/>
            <a:ext cx="310896" cy="0"/>
          </a:xfrm>
          <a:prstGeom prst="line">
            <a:avLst/>
          </a:prstGeom>
          <a:noFill/>
          <a:ln w="19050">
            <a:solidFill>
              <a:srgbClr val="6B7B7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63440" y="22860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63440" y="2286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String(char*)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走构造函数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28232" y="2478024"/>
            <a:ext cx="310896" cy="0"/>
          </a:xfrm>
          <a:prstGeom prst="line">
            <a:avLst/>
          </a:prstGeom>
          <a:noFill/>
          <a:ln w="19050">
            <a:solidFill>
              <a:srgbClr val="6B7B7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766560" y="22860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2286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strlen(nullptr)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段错误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3291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58444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越界抛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std::out_of_range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，让错误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停在发生的地方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，而不是变成调用方某处的段错误。构造函数也对空指针设防：抛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std::invalid_argument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2004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46320" y="3291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两条合法边界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818888" y="3584448"/>
            <a:ext cx="375818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== size()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合法，得空串——与「从末尾取 0 个字符」的直觉一致。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超出剩余长度时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截断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，与原书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 &gt; left) n = left;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语义一致。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字符串运算 · 查找与比较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find【算法4.4】：optional 取代 -1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【算法4.4】从 start 开始查找字符 c。找到返回下标，没找到返回空 optional。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原书用 -1 表示没找到——与「位置 0」只差一个符号，忘了判就会读错位置。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std::optional&lt;size_type&gt; find(char c, size_type start = 0) const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(size_type i = start; i &lt; size_; ++i)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(data_[i] == c)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i;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std::nullopt;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原书：int，-1 表示没找到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3246120"/>
            <a:ext cx="3465576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k = s.find('x', 0);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print(s.at(k));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忘了判 -1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88620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与「位置 0」只差一个符号，漏判就把「没找到」当成「匹配在开头」。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69748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EAF4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本书：optional&lt;size_type&gt;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320040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F1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65192" y="3246120"/>
            <a:ext cx="346557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(const auto found = text.find('C'))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use(*found);  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有值才解引用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9319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找到是下标，没找到是空盒子。与 2.2.2 节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getPos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同一个问题、同一个改法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字符串运算 · 教学版 teaching.hpp（5/5 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compare【算法4.3】：只该看符号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【算法4.3】三路比较：负 / 零 / 正 表示 小于 / 等于 / 大于。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原书自己实现了一个 strcmp，返回值固定为 -1/0/1，并在正文里说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「这与 C/C++ 语言中通常的大小比较习惯不一致」——其实不一致的是原书自己：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标准 strcmp 返回的就是差值的符号，调用方只该看符号，不该看具体数值。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compare(const String&amp; other) const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std::strcmp(data_, other.data_);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char* data_;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以 '\0' 结尾的字符数组，永远非空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size_type size_;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字符个数，不含结尾的 '\0'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bool operator==(const String&amp; a, const String&amp; b) { return a.compare(b) == 0;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bool operator!=(const String&amp; a, const String&amp; b) { return a.compare(b) != 0;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bool operator&lt;(const String&amp; a, const String&amp; b) { return a.compare(b) &lt; 0; }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703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原书的 strcmp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9959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自己实现了一个，固定返回 −1/0/1，并说「这与 C/C++ 通常的大小比较习惯不一致」——其实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不一致的是原书自己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：标准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strcmp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返回的就是差值的符号，调用方只该看符号。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36118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3703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9959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保持标准语义，并据此提供关系运算符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。另：原书那个与标准库同名同签名的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strcmp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实测能编译也能链接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，不构成冲突（legacy.md 第五节）。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4.2a 进阶（选读）·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工程版的拷贝：读 raw()，copy-and-swap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原书只在正文里描述了赋值时"必须释放 s1 的原有空间(delete [] s1.str)"，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却没有把拷贝构造和拷贝赋值作为清单给出。只要有析构函数而没有这两个，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一次 `String b = a;` 就是二次释放——与第 2、3 章是同一个错误。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String(const String&amp; other) : data_(new char[other.size_ + 1]), size_(other.size_)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注意读的是 other.raw() 不是 other.data_：源可能是被移动过的对象（data_ 为空），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从空指针 memcpy 即便长度为 0 也是未定义行为。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std::memcpy(data_, other.raw(), size_ + 1);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String&amp; operator=(const String&amp; other)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(this != &amp;other)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copy(other);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拷贝并交换：自赋值安全，且拷贝失败时原对象不受影响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swap(copy);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*this;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611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为什么读 other.raw()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90448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源可能是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被移动过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的对象（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为空）；从空指针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memcpy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即便长度为 0 也是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未定义行为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35204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3611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拷贝并交换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90448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拷成局部对象再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自赋值安全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，拷贝失败时原对象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不受影响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（强异常保证）。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4.2a 进阶（选读）·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移动之后的那个空壳怎么办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5778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43153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移动**不分配**：直接接管缓冲区，把对方置为 nullptr。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被移动方仍是一个可用的空串——读取路径统一走 raw()，它在 data_ 为空时返回 ""。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（若在这里 new 一块空缓冲区来"修复"对方，移动就不再是 noexcept 的了。）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String(String&amp;&amp; other) noexcept : data_(other.data_), size_(other.size_)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other.data_ = nullptr;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other.size_ 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String&amp; operator=(String&amp;&amp; other) noexcept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(this != &amp;other)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delete[] data_;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data_ = other.data_;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size_ = other.size_;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other.data_ = nullptr;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other.size_ 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*this;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~String() { delete[] data_; 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63640" y="96012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051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移动不分配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344168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移动声明为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noexcept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不能在里面分配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——被移动方的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只能置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nullptr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2377440"/>
            <a:ext cx="2423160" cy="1508760"/>
          </a:xfrm>
          <a:prstGeom prst="roundRect">
            <a:avLst>
              <a:gd name="adj" fmla="val 4848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468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可承诺不能作废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761488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教学版承诺「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c_str()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永远不是空指针」。工程版加私有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raw()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为空时返回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静态空串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，读取路径全走它——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不花任何分配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9776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其余差别同前几章：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noexcept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、copy-and-swap、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&gt; &lt;= &gt;=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全由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compare()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派生。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 · 4.3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字符串的模式匹配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朴素匹配与原书「差 1」 · 目标的回溯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特征向量 next · KMP 与线性论证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 的另一个用途：最小循环节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模式匹配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在很大的文本里找一个短小的模式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模式匹配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（pattern matching）：在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（text）中寻找给定的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（pattern）。通常文本很大，模式短小。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文本编辑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574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「替换」前先要找到被替换的内容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361188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5146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 ≈ 一个单词，10 个字符左右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3611880" cy="347472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9718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  几百字到上百万字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55448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DNA 分析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0574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信息由 A、C、G、T 四个符号组成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92040" y="2514600"/>
            <a:ext cx="361188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92040" y="25146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 基因一般几百个字符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2971800"/>
            <a:ext cx="361188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29718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  人类染色体长度 30 亿之多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这些应用对匹配算法的</a:t>
            </a:r>
            <a:r>
              <a:rPr lang="en-US" sz="14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效率要求很高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：在 30 亿个字符里，O(|T|·|P|) 和 O(|T|+|P|) 是两个世界。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模式匹配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精确匹配 vs 近似匹配；本节的记号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24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精确匹配 exact matching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353312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中至少一处存在 P 才算成功，差一个字符也算失败。可以是单选（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"set"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），也可以多选：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"s?t"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可匹配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叫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通配符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；更复杂的用正则表达式。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024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近似匹配 approximate matching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353312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与 T（或其子串）存在某种程度的相似即成功。常用相似度：一个串转换成另一个串所需的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插入、删除、替换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的操作数。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本节与原书一样，只讨论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精确匹配中的单选情况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。给定 T、P，在 T 中找一个 j 使得：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P₀ P₁ P₂ ⋯ Pₘ₋₂ Pₘ₋₁  =  Tⱼ Tⱼ₊₁ Tⱼ₊₂ ⋯ Tⱼ₊ₘ₋₂ Tⱼ₊ₘ₋₁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8862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记住：</a:t>
            </a: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和 T 的第一个字符都从位置 0 开始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——4.3.1 节会看到，原书自己的两个算法都没有遵守它。实现用 </a:t>
            </a:r>
            <a:r>
              <a:rPr lang="en-US" sz="115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std::string_view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接收输入：不拷贝、不拥有。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 朴素的模式匹配 · modern.hpp（上）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naive_search：接口与约定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697480"/>
          </a:xfrm>
          <a:prstGeom prst="roundRect">
            <a:avLst>
              <a:gd name="adj" fmla="val 271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朴素模式匹配：返回 pattern 在 text 中首次出现的**起始下标**；没有则 std::nullopt。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与原书【算法4.6】的关键差别是返回值：原书写的是 `return (j - pLen + 1);`，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而在 0 起始的下标体系里正确的是 `j - pLen`——**原书这里差了 1**。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用书中自己的例子可以当场看出来：T="abcddabcab..."、P="abcdaabcab" 匹配始于下标 10，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原书返回 11（证据见 legacy.md 缺陷 1）。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空模式约定返回 0（与 std::string::find("") 一致）；原书用 assert(m&gt;0) 把它挡在门外，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而 assert 在 NDEBUG 下会被整个编译掉。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inline std::optional&lt;std::size_t&gt; naive_search(std::string_view text,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  std::string_view pattern)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n = text.size();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m = pattern.size();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(m == 0)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std::size_t{0};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&lt; m)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std::nullopt;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886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返回值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1788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起始下标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；没有则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std::nullopt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取代原书的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37947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8328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空模式返回 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41788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std::string::find("")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一致；原书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assert(m&gt;0)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NDEBUG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下整个消失。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37947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3886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原书差 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41788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(j - pLen + 1);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，0 起始下标下正确的是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- pLen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 朴素的模式匹配 · modern.hpp（下）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朴素匹配：失配就右移一位，从头再比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i = 0;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模式下标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j = 0;  </a:t>
            </a: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目标下标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(i &lt; m &amp;&amp; j &lt; n)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(text[j] == pattern[i])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++i;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++j;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 = j - i + 1;  </a:t>
            </a:r>
            <a:r>
              <a:rPr lang="en-US" sz="9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回退到本趟起点的下一个位置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 = 0;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 &gt;= m ? std::optional&lt;std::size_t&gt;(j - m) : std::nullopt;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80760" y="9601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051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34416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模式首字符对齐目标的每一个位置，逐字符比较；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失配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时模式对 T 右移一个字符，重新开始下一趟。直到某趟配串成功，或比到目标结束也没配上。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2487168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 = j - i + 1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87121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把目标下标退回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本趟起点的下一个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位置——这个 +1 是对的：「换一个起点重来」。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36576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3749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 j - 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40416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成功时 j 已走到匹配段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末尾之后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，所以起始位置是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- m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两个下标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86200"/>
          <a:ext cx="53949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97280"/>
                <a:gridCol w="914400"/>
                <a:gridCol w="27432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模式下标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++i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= 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目标下标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++j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 = j - i + 1（回溯）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 朴素的模式匹配 · modern.py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版：同一个回溯过程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120640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974336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naive_search(text: str, pattern: str) -&gt; int | None: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"""朴素匹配：返回首次出现的 0 起始下标。"""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pattern: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= 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i &lt; len(pattern) and j &lt; len(text):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text[j] == pattern[i]: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 +=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 +=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 = j - i + 1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 = 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 - len(pattern) if i == len(pattern) else None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06440" y="960120"/>
            <a:ext cx="288036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0" y="1051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C++ 逐行对应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34416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空模式返回 0、两个下标、失配时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j - i + 1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、成功返回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- len(pattern)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，全都一样；找不到返回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256032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0" y="2651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&lt; m 不必单独判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9443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版先判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&lt; m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nullopt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；Python 版由循环条件自然结束，返回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手算一例：T = abababd，P = ababd</a:t>
            </a:r>
            <a:endParaRPr lang="en-US" sz="1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48640"/>
                <a:gridCol w="6035040"/>
                <a:gridCol w="118872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比较过程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比较次数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T[0..3] = abab 相等，T[4]='a' ≠ P[4]='d'；j 从 4 退回 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T[1]='b' ≠ P[0]='a'；j 退到 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T[2..6] = ababd 全部相等 → 返回 7 − 5 = 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 朴素的模式匹配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4.6：T = abacaabaccabacabaa，P = abacab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84632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pic>
        <p:nvPicPr>
          <p:cNvPr id="8" name="Image 0" descr="fig-4-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54926"/>
            <a:ext cx="4663440" cy="29045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532120" y="960120"/>
            <a:ext cx="31546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趟在目标的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与模式的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处失配（T₅ ≠ P₅），模式右移一位重来。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加粗带下划线的是当前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的那一对字符。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如此直到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趟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在子串处配上，返回首位置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532120" y="3200400"/>
            <a:ext cx="315468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0" y="32918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数一数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358444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目标里有多少字符被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反复比较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过？这些重复比较正是 KMP 要省掉的东西。按本章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naive_search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计，这一例共比较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次。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 朴素的模式匹配 · 时间效率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三种极端情况：图 4.7 / 4.8 / 4.9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04698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0469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最好</a:t>
            </a:r>
            <a:endParaRPr lang="en-US" sz="1050" dirty="0"/>
          </a:p>
        </p:txBody>
      </p:sp>
      <p:pic>
        <p:nvPicPr>
          <p:cNvPr id="10" name="Image 0" descr="fig-4-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3046" y="1024128"/>
            <a:ext cx="2569029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892040" y="1005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目标开头那一段就是配串，比 |P| 次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269480" y="960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O(|P|)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572768"/>
            <a:ext cx="8229600" cy="1033272"/>
          </a:xfrm>
          <a:prstGeom prst="roundRect">
            <a:avLst>
              <a:gd name="adj" fmla="val 7080"/>
            </a:avLst>
          </a:prstGeom>
          <a:solidFill>
            <a:srgbClr val="F1F4F2"/>
          </a:solidFill>
          <a:ln/>
        </p:spPr>
      </p:sp>
      <p:sp>
        <p:nvSpPr>
          <p:cNvPr id="14" name="Shape 11"/>
          <p:cNvSpPr/>
          <p:nvPr/>
        </p:nvSpPr>
        <p:spPr>
          <a:xfrm>
            <a:off x="594360" y="192481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4360" y="19248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失败中的最好</a:t>
            </a:r>
            <a:endParaRPr lang="en-US" sz="1050" dirty="0"/>
          </a:p>
        </p:txBody>
      </p:sp>
      <p:pic>
        <p:nvPicPr>
          <p:cNvPr id="16" name="Image 1" descr="fig-4-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527" y="1636776"/>
            <a:ext cx="2254066" cy="89611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892040" y="1618488"/>
            <a:ext cx="2377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每趟在模式首字符就不等，共约 |T|−|P|+1 次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7269480" y="1572768"/>
            <a:ext cx="1371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O(|T|−|P|+1)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57200" y="2715768"/>
            <a:ext cx="8229600" cy="1033272"/>
          </a:xfrm>
          <a:prstGeom prst="roundRect">
            <a:avLst>
              <a:gd name="adj" fmla="val 7080"/>
            </a:avLst>
          </a:prstGeom>
          <a:solidFill>
            <a:srgbClr val="F1F4F2"/>
          </a:solidFill>
          <a:ln/>
        </p:spPr>
      </p:sp>
      <p:sp>
        <p:nvSpPr>
          <p:cNvPr id="20" name="Shape 16"/>
          <p:cNvSpPr/>
          <p:nvPr/>
        </p:nvSpPr>
        <p:spPr>
          <a:xfrm>
            <a:off x="594360" y="306781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94360" y="30678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</a:t>
            </a:r>
            <a:endParaRPr lang="en-US" sz="1050" dirty="0"/>
          </a:p>
        </p:txBody>
      </p:sp>
      <p:pic>
        <p:nvPicPr>
          <p:cNvPr id="22" name="Image 2" descr="fig-4-9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918" y="2779776"/>
            <a:ext cx="2275284" cy="89611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892040" y="2761488"/>
            <a:ext cx="2377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形如 aⁿ、P 形如 aᵐ⁻¹b，每趟比到最后一个字符才失配：|P|(|T|−|P|+1) 次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7269480" y="2715768"/>
            <a:ext cx="1371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O(|T|·|P|)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57200" y="3877056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DF0EE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594360" y="39684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最坏情况出现在哪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594360" y="4261104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此类输入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很少出现在自然语言文本中，却经常出现在 DNA 信息和图像信息中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——这正是需要 KMP 的实际理由。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 朴素的模式匹配 · 时间效率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平均情况：依赖字符的分布概率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假设串中只允许 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种字符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，每种概率 1/2。对第 j 趟扫描：</a:t>
            </a:r>
            <a:endParaRPr lang="en-US" sz="13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"/>
                <a:gridCol w="640080"/>
                <a:gridCol w="54864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本趟比较次数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k（&lt; |P|）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|P|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1/2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1/4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2⁻ᵏ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2^(1−|P|)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228600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3591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每趟平均比较次数  2 − 2^(1−|P|)  &lt;  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834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总平均比较次数  2(|T| − |P| + 1)  &lt;  2|T|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347472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DF0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3566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勘误 E24：马尔科夫链公式算的不是比较次数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3858768"/>
            <a:ext cx="526694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比满 |P| 次时，最后一位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相等（配上）或不等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都算 |P| 次，概率是 2^(1−|P|)，原书漏了配上的一半。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原书称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2^(|P|+1) − 2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（|A| 种字符时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(|A|^(|P|+1) − |A|) / (|A| − 1)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）为「更好的比较次数」——其实是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aa…a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型模式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首次出现的期望位置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平均读到第 6 个字符，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只要 4 个。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72200" y="13716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E3D3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35508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182880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平均情况下朴素算法其实不慢；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真正的问题是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最坏情况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——而最坏情况在 DNA、图像里并不罕见。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 一处必须指出的错误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原书【算法4.6】【算法4.8】的返回值差 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 &gt;= pLen) return (j - pLen + 1);     </a:t>
            </a:r>
            <a:r>
              <a:rPr lang="en-US" sz="10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原书，两个算法都这样写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把原书两段代码照抄进程序，拿标准库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做参照：</a:t>
            </a:r>
            <a:endParaRPr lang="en-US" sz="12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97280"/>
                <a:gridCol w="777240"/>
                <a:gridCol w="7772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原书朴素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正确答案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xabc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aaab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abcddabcababcdaabcababcdaabcabaa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abcdaabcab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32918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每一组都恰好多 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；最后一组正是书中图 4.12 自己演示 KMP 的那对串——原书逐趟画了过程，却没给返回值，错误因此没有暴露。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72200" y="146304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6E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09360" y="1554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不是排版 / OCR 错误：三重佐证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81928" y="1847088"/>
            <a:ext cx="2295144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- pLen + 1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在两个算法里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独立印出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、写法一致。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同一段代码里的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j - i + 1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说明作者用的就是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起始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节开头写死了：「P 和 T 的第一个字符都从位置 0 开始」。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931920"/>
            <a:ext cx="5486400" cy="731520"/>
          </a:xfrm>
          <a:prstGeom prst="roundRect">
            <a:avLst>
              <a:gd name="adj" fmla="val 10000"/>
            </a:avLst>
          </a:prstGeom>
          <a:solidFill>
            <a:srgbClr val="CFE0D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4023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测试要有牙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43159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每条匹配用例都拿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逐个对拍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，再加 3000 组随机对拍。只断言「找到了」的测试，在原书实现下同样全绿。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 朴素的模式匹配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问题出在哪里：目标的回溯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一旦失配，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无论模式的具体情况如何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，都只右移一位——目标 T 中的字符被多次比较，造成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目标的回溯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7830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178308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17830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1305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252728" y="1783080"/>
            <a:ext cx="384048" cy="347472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52728" y="17830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21305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36776" y="178308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36776" y="17830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36776" y="21305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020824" y="178308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020824" y="17830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020824" y="21305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04872" y="178308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404872" y="17830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404872" y="21305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88920" y="1783080"/>
            <a:ext cx="384048" cy="347472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88920" y="17830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788920" y="21305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72968" y="178308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172968" y="17830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172968" y="21305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57016" y="178308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57016" y="17830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557016" y="21305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941064" y="178308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941064" y="17830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941064" y="21305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325112" y="178308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325112" y="17830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325112" y="21305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23957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第1趟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68680" y="2395728"/>
            <a:ext cx="3840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68680" y="23957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252728" y="2395728"/>
            <a:ext cx="384048" cy="347472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252728" y="23957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636776" y="2395728"/>
            <a:ext cx="3840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636776" y="23957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020824" y="2395728"/>
            <a:ext cx="3840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020824" y="23957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404872" y="2395728"/>
            <a:ext cx="3840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404872" y="23957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88920" y="2395728"/>
            <a:ext cx="384048" cy="347472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788920" y="23957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502920" y="28803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第2趟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252728" y="2880360"/>
            <a:ext cx="384048" cy="347472"/>
          </a:xfrm>
          <a:prstGeom prst="rect">
            <a:avLst/>
          </a:prstGeom>
          <a:solidFill>
            <a:srgbClr val="FFE8A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252728" y="2880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636776" y="2880360"/>
            <a:ext cx="3840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636776" y="2880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020824" y="2880360"/>
            <a:ext cx="3840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020824" y="2880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404872" y="2880360"/>
            <a:ext cx="3840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404872" y="2880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788920" y="2880360"/>
            <a:ext cx="3840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788920" y="2880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172968" y="2880360"/>
            <a:ext cx="38404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172968" y="2880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324612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P₅ ≠ T₅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365760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P₀ 对 T₁：多余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806440" y="1508760"/>
            <a:ext cx="2880360" cy="2148840"/>
          </a:xfrm>
          <a:prstGeom prst="roundRect">
            <a:avLst>
              <a:gd name="adj" fmla="val 3404"/>
            </a:avLst>
          </a:prstGeom>
          <a:solidFill>
            <a:srgbClr val="FFF6E0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594360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为什么用不着比 P₀ 与 T₁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5916168" y="1892808"/>
            <a:ext cx="2660904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上一趟 T₁ 已与 P₁ 比较过，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相等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模式自身：P₁ ≠ P₀。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两条一合：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P₀ ≠ T₁ 是推得出来的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E3D34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40080" y="3794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Knuth、Morris、Pratt 发现：每次右移的位数</a:t>
            </a:r>
            <a:r>
              <a:rPr lang="en-US" sz="12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，且</a:t>
            </a:r>
            <a:r>
              <a:rPr lang="en-US" sz="12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与目标串无关，仅依赖于模式本身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——可以预先算好（特征向量），改进后就是 </a:t>
            </a:r>
            <a:r>
              <a:rPr lang="en-US" sz="12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4.3.2 字符串的特征向量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已经匹配上的那一段，本身携带了信息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= 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abababd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，P = 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ababd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，从 T 的位置 0 开始比：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FDF0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1645920"/>
            <a:ext cx="420624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164592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0116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289304" y="1645920"/>
            <a:ext cx="420624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9304" y="164592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89304" y="20116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709928" y="1645920"/>
            <a:ext cx="420624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09928" y="164592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709928" y="20116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30552" y="1645920"/>
            <a:ext cx="420624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30552" y="164592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130552" y="20116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51176" y="1645920"/>
            <a:ext cx="420624" cy="365760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51176" y="164592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551176" y="20116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971800" y="1645920"/>
            <a:ext cx="420624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971800" y="164592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971800" y="20116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92424" y="1645920"/>
            <a:ext cx="420624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92424" y="164592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392424" y="20116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8680" y="2286000"/>
            <a:ext cx="420624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22860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289304" y="2286000"/>
            <a:ext cx="420624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289304" y="22860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709928" y="2286000"/>
            <a:ext cx="420624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709928" y="22860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130552" y="2286000"/>
            <a:ext cx="420624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130552" y="22860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51176" y="2286000"/>
            <a:ext cx="420624" cy="365760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551176" y="22860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T[4]='a'，P[4]='d' 失配；已匹配 abab。朴素算法：右移 1 位，从 T[1] 重比。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09160" y="132588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EAF4E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84632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120640" y="1645920"/>
            <a:ext cx="420624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120640" y="164592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120640" y="20116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541264" y="1645920"/>
            <a:ext cx="420624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541264" y="164592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5541264" y="20116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961888" y="1645920"/>
            <a:ext cx="420624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961888" y="164592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5961888" y="20116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382512" y="1645920"/>
            <a:ext cx="420624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382512" y="164592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382512" y="20116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803136" y="1645920"/>
            <a:ext cx="420624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803136" y="164592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6803136" y="20116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223760" y="1645920"/>
            <a:ext cx="420624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223760" y="164592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7223760" y="20116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644384" y="1645920"/>
            <a:ext cx="420624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644384" y="164592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7644384" y="20116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484632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961888" y="2286000"/>
            <a:ext cx="420624" cy="365760"/>
          </a:xfrm>
          <a:prstGeom prst="rect">
            <a:avLst/>
          </a:prstGeom>
          <a:solidFill>
            <a:srgbClr val="DDDDDD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961888" y="22860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382512" y="2286000"/>
            <a:ext cx="420624" cy="365760"/>
          </a:xfrm>
          <a:prstGeom prst="rect">
            <a:avLst/>
          </a:prstGeom>
          <a:solidFill>
            <a:srgbClr val="DDDDDD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382512" y="22860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803136" y="2286000"/>
            <a:ext cx="420624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803136" y="22860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223760" y="2286000"/>
            <a:ext cx="420624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223760" y="22860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7644384" y="2286000"/>
            <a:ext cx="420624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644384" y="22860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484632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KMP：一次右移 4 − 2 = 2 位，前两个字符已知相同（灰），从 P[2] 对 T[4] 继续，在位置 2 匹配成功。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457200" y="347472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640080" y="354787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abab 的前缀：a, ab, aba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abab 的后缀：b, ab, bab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最长相同的一段："ab"，长度 2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5806440" y="3474720"/>
            <a:ext cx="288036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5943600" y="3566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5943600" y="38587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整个过程中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的下标从来没有往回退过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4.3.2 字符串的特征向量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特征向量（next 数组）：失配时该退到哪里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把「每个位置失配时该退到哪里」对模式的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每个位置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预先算出来，就是特征向量。上例用本章实现跑出来：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1B2B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15636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764792"/>
            <a:ext cx="435254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next(ababd) = -1 0 -1 0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kmp_search("abababd", "ababd") =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std::string::find 对照         = 2</a:t>
            </a:r>
            <a:endParaRPr lang="en-US" sz="1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508760"/>
          <a:ext cx="3429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02920"/>
                <a:gridCol w="502920"/>
                <a:gridCol w="502920"/>
                <a:gridCol w="502920"/>
                <a:gridCol w="502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P[i]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next[i]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2743200"/>
            <a:ext cx="51206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next[4] = 2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：在 P[4] 处失配时，模式的比较位置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退到 2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——与手推一致。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next[i] = −1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：连 P[0] 都不必再比，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模式整体越过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当前目标字符（i 变 −1，下一步 i、j 同时加 1）。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只依赖模式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：同一个模式算一次，可在任意多个目标上复用。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06440" y="2743200"/>
            <a:ext cx="2880360" cy="1920240"/>
          </a:xfrm>
          <a:prstGeom prst="roundRect">
            <a:avLst>
              <a:gd name="adj" fmla="val 3810"/>
            </a:avLst>
          </a:prstGeom>
          <a:solidFill>
            <a:srgbClr val="CFE0D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这里印的是「优化版」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0" y="3127248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原书【算法4.7】的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优化版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next，所以中间会出现 −1。未优化版本取值不同，但失配后的落点等价。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4.3.2 特征向量 · modern.hpp（上）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build_next：原书【算法4.7】优化版，只改了所有权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计算模式的特征向量（next 数组），原书【算法4.7】的"优化版"。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与原书的差别只有所有权：原书 `int* findNext(String P)` 用 `new int[m]` 返回裸数组，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而书中**从未展示过与之配对的 delete[]**——每调用一次泄漏一个数组。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计算过程一字未改，包括 `next[i] = next[k]` 这一步优化。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空模式返回空向量；原书是 `assert(m &gt; 0)`，而 assert 在 NDEBUG 下会被编译掉，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于是 release 构建里 `new int[0]` 加 `next[0] = -1` 就是一次越界写。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inline std::vector&lt;next_type&gt; build_next(std::string_view pattern)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m = pattern.size();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std::vector&lt;next_type&gt; next(m);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(m == 0)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next;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next_type i = 0;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next_type k = -1;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next[0] = -1;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703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原书：int* findNext(String P)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9959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int[m]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返回裸数组，书中调用它的地方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一次都没有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delete[]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——每匹配一个模式就漏一个数组。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36118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3703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本书：std::vector&lt;next_type&gt;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9959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返回拥有所有权的容器，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计算过程一字未改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。空模式返回空向量（原书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assert(m &gt; 0)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 release 里是一次越界写）。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4.3.2 特征向量 · modern.hpp（下）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用模式串跟自己匹配：沿已算好的特征值回退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(i &lt; static_cast&lt;next_type&gt;(m))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(k &gt;= 0 &amp;&amp; pattern[static_cast&lt;std::size_t&gt;(i)] != pattern[static_cast&lt;std::size_t&gt;(k)])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 = next[static_cast&lt;std::size_t&gt;(k)];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沿已算好的特征值回退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++i;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++k;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 == static_cast&lt;next_type&gt;(m))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auto ui = static_cast&lt;std::size_t&gt;(i);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auto uk = static_cast&lt;std::size_t&gt;(k);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P[i] 与 P[k] 相等时可以直接借用 next[k]，省掉一次注定失败的比较——这就是"优化版"。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next[ui] = (pattern[ui] == pattern[uk]) ? next[uk] : k;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next;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内层 while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2245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P[i] ≠ P[k] 时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next[k]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：沿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已算好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的特征值回退，直到能延长或 k 退到 −1。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384048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最后那个三目表达式 = 优化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42245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P[i] == P[k]，退到 k 必然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在同一个字符上再失配一次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，不如直接借用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next[k]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一步到位。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4.3.2 特征向量 · 逐步计算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手算 build_next("abcdaabcab")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59436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685800"/>
                <a:gridCol w="2011680"/>
                <a:gridCol w="7772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进入时 k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回退：比 P[i] 与 P[k]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++ 后 i, k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P[i+1] vs P[k]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 next[i+1]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 = −1 不比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≠ 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b≠a → k=next[0]=−1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≠ 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c≠a → k=−1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3, 0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 ≠ 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d≠a → k=−1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4, 0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= 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next[0] = −1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a=a，不退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5, 1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≠ 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a≠b → k=next[1]=0；a=a 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6, 1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= 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next[1] =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b=b，不退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7, 2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= 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next[2] =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c=c，不退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8, 3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≠ 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a≠d → k=next[3]=0；a=a 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9, 1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= 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next[1] =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b=b，不退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10, 2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 == 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break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069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「i」列是本轮开始时的 i；自增后 i 变成 i+1，写的是 next[i+1]。next[0] = −1 在循环前赋好。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583680" y="914400"/>
            <a:ext cx="2103120" cy="3749040"/>
          </a:xfrm>
          <a:prstGeom prst="roundRect">
            <a:avLst>
              <a:gd name="adj" fmla="val 3478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2084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红色行 = 优化生效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1298448"/>
            <a:ext cx="1828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P[i] 与 P[k] 相等时借用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next[k]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，而不是写 k。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2194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 0 0 0 -1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1 0 0 3  0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4.3.2 字符串的特征向量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"abcdaabcab" 的特征向量，与图 4.11 一致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P[i]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next[i]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2130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版（modern.py）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395728"/>
            <a:ext cx="5394960" cy="2267712"/>
          </a:xfrm>
          <a:prstGeom prst="roundRect">
            <a:avLst>
              <a:gd name="adj" fmla="val 3226"/>
            </a:avLst>
          </a:prstGeom>
          <a:solidFill>
            <a:srgbClr val="F1F4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30352" y="2441448"/>
            <a:ext cx="5248656" cy="2176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build_next(pattern: str) -&gt; list[int]: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"""计算原书算法4.7的优化版 next 数组。"""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pattern: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[]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next_values = [-1] * len(pattern)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0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= -1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i &lt; len(pattern):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k &gt;= 0 and pattern[i] != pattern[k]: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 = next_values[k]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+= 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 += 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 == len(pattern):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next_values[i] = next_values[k] if pattern[i] == pattern[k] else k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next_values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035040" y="2130552"/>
            <a:ext cx="2651760" cy="2532888"/>
          </a:xfrm>
          <a:prstGeom prst="roundRect">
            <a:avLst>
              <a:gd name="adj" fmla="val 2888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7220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与原书正文一致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2514600"/>
            <a:ext cx="237744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原书正文两处印的也是这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个值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（扫描件第 95 页）。优化前按定义先给出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{-1,0,0,0,0,1,1,2,3,1}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，可优化的下标是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4、6、7、9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——正是左边与它不同的位置。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 底稿多出的一个 0 是识别噪声，不是原书矛盾。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4.3.3 KMP 模式匹配 · modern.hpp（上）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接口：next 由调用方传入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KMP 模式匹配。失配时不再把模式右移一位，而是按特征值决定右移多少。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返回值与 naive_search 一致，也修正了原书【算法4.8】同样的差一错误。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next 由调用方传入：同一个模式可以只算一次、多次匹配复用——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这正是原书强调的性质，接口把它显式表达出来。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inline std::optional&lt;std::size_t&gt; kmp_search(std::string_view text,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std::string_view pattern,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const std::vector&lt;next_type&gt;&amp; next)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n = text.size();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m = pattern.size();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(m == 0)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std::size_t{0};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(next.size() != m)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std::invalid_argument("kmp_search: next 数组长度与模式不符");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&lt; m)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std::nullopt;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next 作参数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2245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同一个模式只算一次、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跨多个目标复用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——这正是原书强调的性质，接口把它显式表达出来。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384048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42245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next.size() != m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抛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std::invalid_argument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；返回值同样修正了原书【算法4.8】的差一错误。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4.3.3 KMP 模式匹配 · modern.hpp（下）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与朴素算法只差失配那一步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next_type i = 0;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模式下标，可以退到 -1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j = 0;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目标下标，只增不减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(i &lt; static_cast&lt;next_type&gt;(m) &amp;&amp; j &lt; n)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 == -1 || text[j] == pattern[static_cast&lt;std::size_t&gt;(i)])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++i;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++j;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 = next[static_cast&lt;std::size_t&gt;(i)];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 &gt;= static_cast&lt;next_type&gt;(m) ? std::optional&lt;std::size_t&gt;(j - m) : std::nullopt;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便利重载：模式只用一次时，自己把 next 算掉。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inline std::optional&lt;std::size_t&gt; kmp_search(std::string_view text,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std::string_view pattern)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kmp_search(text, pattern, build_next(pattern));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47472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朴素匹配失配时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KMP 失配时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模式下标 i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= 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= next[i]（可退到 −1）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目标下标 j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 = j - i + 1（回溯）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不动——只增不减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4.3.3 KMP 模式匹配 · modern.py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版：目标串下标只向前移动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788920"/>
          </a:xfrm>
          <a:prstGeom prst="roundRect">
            <a:avLst>
              <a:gd name="adj" fmla="val 262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kmp_search(text: str, pattern: str, next_values: list[int] | None = None) -&gt; int | None: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"""KMP 匹配；目标串下标只向前移动。"""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pattern: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next_values is None: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next_values = build_next(pattern)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len(next_values) != len(pattern):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ValueError("kmp_search: next 数组长度与模式不符")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= 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i &lt; len(pattern) and j &lt; len(text):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 == -1 or text[j] == pattern[i]: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 += 1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 += 1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 = next_values[i]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 - len(pattern) if i == len(pattern) else None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886200"/>
            <a:ext cx="397764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9776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== -1 分支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2702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next[i] = −1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表示 P[0] 也不必比：下一步 i、j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 +1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——模式整体越过 T[j]。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3886200"/>
            <a:ext cx="3977640" cy="777240"/>
          </a:xfrm>
          <a:prstGeom prst="roundRect">
            <a:avLst>
              <a:gd name="adj" fmla="val 9412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39776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对照朴素版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42702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循环条件、相等分支、返回值与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naive_search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完全一样，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else 分支不同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4.3.3 KMP 模式匹配 · 逐步追踪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kmp_search("abababd", "ababd")，next = −1 0 −1 0 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6692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411480"/>
                <a:gridCol w="411480"/>
                <a:gridCol w="594360"/>
                <a:gridCol w="594360"/>
                <a:gridCol w="594360"/>
                <a:gridCol w="26974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T[j]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P[i]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i=1, j=1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i=2, j=2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i=3, j=3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i=4, j=4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 = next[4] = 2，j 不动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i=3, j=5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i=4, j=6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i=5, j=7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 = 5 = m，返回 j − m = 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55080" y="96012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EAF4E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92240" y="1024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1280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1938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次比较；j 序列 0,1,2,3,4,4,5,6——从不减小。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55080" y="283464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FDF0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92240" y="2898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3154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381304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次比较：第 5 次失配后 j 从 4 退回 1，再在 T[1] 失配一次。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4.3.3 KMP 模式匹配 · 时间代价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KMP 是线性的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69848"/>
            <a:ext cx="411480" cy="41148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069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960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 只增不减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9601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++j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至多执行 |T| 次；与它同处一条语句的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++i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也不超过 |T| 次。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746504"/>
            <a:ext cx="411480" cy="41148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746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163677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能让 i 减少的只有 i = next[i]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1636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next[i] &lt; i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，所以每执行一次 i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至少减 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411480" cy="41148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3134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减到 −1 之后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23134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下一步必然进入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++i, ++j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分支。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099816"/>
            <a:ext cx="411480" cy="4114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099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29900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合起来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299008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next[i]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的执行次数 ≤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++i, ++j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的次数 + 1 → 循环体至多执行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2|T| + 1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1E3D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749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 整体 </a:t>
            </a: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O(|P| + |T|)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 next O(|P|) + 匹配 O(|T|)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374904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46320" y="3840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一条能检出退化的测试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413308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= 20 万个 'a'，P = 1999 个 'a' + 'b'：KMP 瞬间完成；不按特征值回退的实现退化成 O(|T|·|P|)，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直接撞上闸门超时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4.3.3 KMP 模式匹配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4.12：P = abcdaabcab 在 T 中的完整过程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240280"/>
          </a:xfrm>
          <a:prstGeom prst="roundRect">
            <a:avLst>
              <a:gd name="adj" fmla="val 3265"/>
            </a:avLst>
          </a:prstGeom>
          <a:solidFill>
            <a:srgbClr val="F1F4F2"/>
          </a:solidFill>
          <a:ln/>
        </p:spPr>
      </p:sp>
      <p:pic>
        <p:nvPicPr>
          <p:cNvPr id="8" name="Image 0" descr="fig-4-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7532"/>
            <a:ext cx="8046720" cy="2036313"/>
          </a:xfrm>
          <a:prstGeom prst="rect">
            <a:avLst/>
          </a:prstGeom>
        </p:spPr>
      </p:pic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54864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240280"/>
                <a:gridCol w="1280160"/>
                <a:gridCol w="155448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右移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5 次比较，P₄ ≠ T₄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next[4] = −1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4 − (−1) = 5 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9 次比较，P₃ ≠ T₈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next[3] = 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3 − 0 = 3 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12 次比较，P₂ ≠ T₁₀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next[2] = 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2 − 0 = 2 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22 次比较匹配成功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返回 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172200" y="333756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6E0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309360" y="3429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目标下标一次都没回退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309360" y="372160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对照图 4.6 被反复比较的字符，省下的就是这些。同一对串，本章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naive_search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要比较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次。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4.3.3 KMP 模式匹配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朴素与 KMP：代价对照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3035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朴素匹配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KMP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预处理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O(|P|) 建 next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O(|P|)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O(|P|)（含建 next）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O(|T|·|P|)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O(|T| + |P|)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目标下标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会回溯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只增不减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额外空间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O(|P|) 的 next 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 复用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同一模式跨多个目标只算一次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89320" y="100584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126480" y="1097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「刻意没改」的三条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099048" y="1389888"/>
            <a:ext cx="2478024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朴素匹配仍是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的；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仍是原书的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优化版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（图 4.11 对的是这一版）；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 的 next 仍由调用方传入、可跨目标复用。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33375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26480" y="3429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本书的修正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099048" y="3721608"/>
            <a:ext cx="2478024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- m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，不再差 1；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取代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返回容器，不再泄漏。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4.3+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 的另一个用途 · 最小循环节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一个串最短是由多长的一段反复拼成的？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特征向量算出来的量——前缀里「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最长的相同前缀与后缀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」——还回答另一个问题。上机考试常见的「循环串」「字符串乘方」「前缀中的周期」三类题，核心都是这一件事。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664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真边界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11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既是 s 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真前缀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、又是 s 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真后缀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的子串。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abab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的真边界有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和空串。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6002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664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011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正整数 p 是 s 的周期，当且仅当对所有 0 ≤ i &lt; n−p 都有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sᵢ = sᵢ₊ₚ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3D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0632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定理：s 有长为 b 的真边界 ⇔ n − b 是 s 的周期。所以 </a:t>
            </a: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最小周期 = n − 最长真边界的长度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FF6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8587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证明：同一组等式的两种读法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15137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长为 b 的真边界：s₀⋯s_(b−1) = s_(n−b)⋯s_(n−1)，即对所有 0 ≤ i &lt; b 有 sᵢ = s_(i+(n−b))；令 p = n − b，恰是「对所有 0 ≤ i &lt; n−p 有 sᵢ = sᵢ₊ₚ」。边界越长周期越短，最长的边界对应最小的周期。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4.3+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 的另一个用途 · 最小循环节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三个例子：周期不一定整除长度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97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abcabcabc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最长真边界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abcabc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最小周期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9 − 6 = 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834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整除 9：abc 重复 3 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1F4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83280" y="1097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ababa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最长真边界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最小周期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5 − 3 = 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2834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不整除 5：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某个串的整数次重复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100584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1F4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72200" y="1097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abcd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最长真边界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（空）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2194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最小周期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4 − 0 = 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2834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没有非空真边界，最小周期就是 4</a:t>
            </a:r>
            <a:endParaRPr lang="en-US" sz="105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1463040"/>
                <a:gridCol w="1371600"/>
                <a:gridCol w="1554480"/>
              </a:tblGrid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border_lengths(s)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minimal_period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is_repetition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repetition_count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abcabcabc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0 0 0 1 2 3 4 5 6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true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ababa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0 0 1 2 3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false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abcd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0 0 0 0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false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aaaa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0 1 2 3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true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4.3+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 的另一个用途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border_lengths：去掉「优化」的失效函数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521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7058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未优化的失效函数：border[i] 是前缀 s[0..i] 的**最长真边界**长度——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既是它的真前缀、又是它的真后缀的最长那一段有多长。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这就是 build_next 去掉「优化」那一步之后的数，只是下标错开一位、没有 −1：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未优化的 next[i+1] == border[i]。回退 `k = border[k - 1]` 与 build_next 的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`k = next[k]` 是同一个动作。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**求周期不能拿 build_next 代替它。** 优化版的 `next[i] = next[k]` 专为匹配服务：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当 P[i] == P[k] 时它跳过一个注定失配的落点，于是 next[i] 不再是边界长度。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例如 "aaaa" 的优化版 next 是 {−1,−1,−1,−1}，而边界长度是 {0,1,2,3}。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inline std::vector&lt;std::size_t&gt; border_lengths(std::string_view s)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n = s.size();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std::vector&lt;std::size_t&gt; border(n);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 = 1; i &lt; n; ++i)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k = border[i - 1];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先试着把上一个前缀的最长边界延长一个字符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(k &gt; 0 &amp;&amp; s[i] != s[k])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 = border[k - 1];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延长不了，退到「边界的边界」再试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(s[i] == s[k])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++k;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border[i] = k;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border;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492240" y="96012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build_next 的关系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1344168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回退链一模一样：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border[k - 1]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next[k]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是同一个动作。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未优化的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next[i+1] == border[i]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：下标错开一位、没有 −1。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0" y="310896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整个串只算一遍，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977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border[i] = 前缀 s[0..i] 的最长真边界长度。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4.3+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 的另一个用途 · 陷阱一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原书的优化版 next 不能拿来求周期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next[i] = next[k]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是专为匹配做的：Pᵢ = Pₖ 时退到 k 注定再失配，于是直接跳过这个落点。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对匹配而言那个落点没用，对周期而言它恰恰是答案。</a:t>
            </a:r>
            <a:endParaRPr lang="en-US" sz="12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4572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731520"/>
                <a:gridCol w="73152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s[i]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优化版 next[i]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border[i]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257800" y="1783080"/>
            <a:ext cx="3429000" cy="1536192"/>
          </a:xfrm>
          <a:prstGeom prst="roundRect">
            <a:avLst>
              <a:gd name="adj" fmla="val 4762"/>
            </a:avLst>
          </a:prstGeom>
          <a:solidFill>
            <a:srgbClr val="FDF0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40680" y="1847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 aaa 的周期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40680" y="21671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错：3 − (−1) = 4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比前缀本身还长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对：3 − 2 = 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52044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FF6E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3611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这不是个别串的巧合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3904488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{a, b} 上长度不超过 10 的全部串、全部前缀上统计过：优化版给出错误周期的前缀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数以千计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。求周期要用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border_lengths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4.3+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 的另一个用途 · 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minimal_period 与 is_repetition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521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7058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最小周期 p：满足 s[i] == s[i+p]（对所有 0 ≤ i &lt; n−p）的最小正整数。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定理：p = n − （整串的最长真边界长度）。空串约定返回 0。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注意 p 不一定整除 n："ababa" 的最小周期是 2，但它不是某个串重复若干次。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inline std::size_t minimal_period(std::string_view 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n = s.size();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== 0)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- border_lengths(s)[n - 1];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s 能否写成某个**更短**的串重复至少两次（「循环串」问题）。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两个条件缺一不可：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  n % p == 0 —— 周期不整除长度就拼不回整串（"ababa"）；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  p &lt; n      —— 边界为 0 时 p == n，而 n % n == 0 **恒成立**，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                漏掉这一条会把 "abcd" 这种毫无重复的串也判成循环串。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inline bool is_repetition(std::string_view 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n = s.size();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p = minimal_period(s);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 &lt; n &amp;&amp; n % p ==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92240" y="960120"/>
            <a:ext cx="2194560" cy="2514600"/>
          </a:xfrm>
          <a:prstGeom prst="roundRect">
            <a:avLst>
              <a:gd name="adj" fmla="val 3333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陷阱二：整除 ≠ 循环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1344168"/>
            <a:ext cx="1920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判断是否由更短的串重复而成，要同时满足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mod p = 0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&lt; n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边界为 0 时 p = n，而 n mod n = 0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恒成立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——只写第一个条件，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就被当成了循环串。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0" y="361188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不一定整除 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9959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ababa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最小周期 2，但它不是某个串重复若干次。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4.3+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 的另一个用途 · 三类题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三类上机题怎么落到这组函数上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最大的 K，使 s 恰好是某个串重复 K 次（「字符串乘方」问题）。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不是循环串时 K = 1（s 就是它自己重复一次）；空串约定返回 0。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inline std::size_t repetition_count(std::string_view s)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(s.empty())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is_repetition(s) ? s.size() / minimal_period(s) : 1;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487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788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能否写成更短的串重复至少两次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0906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is_repetition(s)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24231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83280" y="2487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字符串乘方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2788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最大的 K，使 s 是某串重复 K 次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30906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repetition_count(s)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24231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72200" y="2487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前缀中的周期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788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逐个前缀报出 K &gt; 1 的那些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0906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border 每个下标 i，长 i+1 的前缀套同一判断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8229600" cy="932688"/>
          </a:xfrm>
          <a:prstGeom prst="roundRect">
            <a:avLst>
              <a:gd name="adj" fmla="val 7843"/>
            </a:avLst>
          </a:prstGeom>
          <a:solidFill>
            <a:srgbClr val="CFE0D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38221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测试怎么证伪它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独立参照物是周期的定义本身：逐个试 p = 1, 2, … 的 O(n²) 暴力解。{a, b} 上长度 0～10 的全部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2047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个串逐个对拍，C++ 与 Python 各跑一遍；改用优化版 next 或删掉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&lt; n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，测试当场变红。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习题选讲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几道有代表性的习题与上机题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20700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2070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习题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01498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给出使 s₁ + s₂ = s₂ + s₁ 成立的所有可能条件（+ 为连接）。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014984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结论很漂亮：当且仅当两者都是</a:t>
            </a: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同一个串的重复</a:t>
            </a:r>
            <a:r>
              <a:rPr lang="en-US" sz="105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892808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139696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1396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习题 7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19476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线性时间判断 T 是否是 T′ 的循环反转（如 arc 与 car）。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94767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长度相同，且 T 是 </a:t>
            </a: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T′T′ 的子串</a:t>
            </a:r>
            <a:r>
              <a:rPr lang="en-US" sz="105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——用 KMP 找。不要先反转再找，拿 arc / car 一试就露馅。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825496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072384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30723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习题 9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2880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 BAAABBBAA 的特征向量，并与目标 BAAABBBCDDDCCHHHHBBBAAABBBAADD 匹配，画出过程。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2880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优化版 next：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 0 0 0 -1 1 1 0 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758184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005072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40050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上机 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691640" y="38130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简单行编辑程序：行插入、行删除、改当前行指针、分页显示、查找和替换。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381304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查找必须自己实现 KMP</a:t>
            </a:r>
            <a:r>
              <a:rPr lang="en-US" sz="105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（或其他模式匹配算法），不允许用编程环境提供的查找算法。</a:t>
            </a:r>
            <a:endParaRPr lang="en-US" sz="10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串与编码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元素限定为字符、操作按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整段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的线性表。</a:t>
            </a: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是字节不是字符；比较按编码单元字典序，两个裸字面量 </a:t>
            </a: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比的是地址。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变长存储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顺序存放 + 类管理缓冲区：长度一变就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重新申请、拷贝、释放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，追加一个字符 O(n)；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三法则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第三次出场。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接口口径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 </a:t>
            </a: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不用 </a:t>
            </a: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越界抛异常而非 </a:t>
            </a: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NULL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；修改器返回 </a:t>
            </a: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String&amp;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朴素匹配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失配右移一位，目标回溯，最坏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O(|T|·|P|)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。原书两个匹配算法返回值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一律差 1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，正确是 </a:t>
            </a: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- m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只依赖模式、可复用；目标下标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只增不减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，整体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O(|T|+|P|)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。求周期要用未优化的 border。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编程练习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道上机题 + 1 个引理：把 4.3 节的 next 真正用到题里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T76 最小覆盖子串 · 31378 KMP 字符比较次数（nextval） · 01961 前缀中的周期 · 最小循环元引理的证明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编程练习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为什么是这 3 道题 + 1 个引理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241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先记住这句话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1673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字符串算法做到线性时间的共同手法是「下标只增不减」。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T76 的两个窗口端点、KMP 的目标下标 i 都是如此：每个字符进出窗口各一次，总步数 O(m+n)。</a:t>
            </a:r>
            <a:endParaRPr lang="en-US" sz="115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  <a:gridCol w="3291840"/>
                <a:gridCol w="15544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分组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练什么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对应章节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滑动窗口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T76 最小覆盖子串（LeetCode）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不用 next 的线性扫描：左右两个端点只增不减 + 计数数组当「还缺多少」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4.1.1 字符编码（字符即下标）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KMP 匹配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31378 KMP 字符比较次数（nextval）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习题 9 的机考版：按题给伪代码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逐次计数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，看清优化版 next 省掉的是哪一次比较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4.3.2 next · 4.3.3 KMP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KMP 周期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01961 前缀中的周期（OpenJudge）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对每个前缀 i 读 nxt[i]，最小周期 p = i − nxt[i]；N 到 10⁶，必须 O(N)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4.3+ 最小循环节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最小循环元引理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 n − next[n] 整除 n 时就是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循环节；不整除时又是什么情形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4.3+ 「真边界 ⇔ 周期」定理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E3D3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01961 是这一组的收官题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：4.3+ 节讲的「最小周期 = n − 最长真边界」在 OJ 上的直接落地，引理就是它的严格证明。</a:t>
            </a:r>
            <a:endParaRPr lang="en-US" sz="11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T76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滑动窗口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T76 最小覆盖子串：题意与三个示例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给你一个字符串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、一个字符串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，返回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中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涵盖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所有字符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的最小子串；不存在则返回空串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中重复的字符，子串里该字符的数量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不少于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中的数量。若存在，保证答案唯一。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≤ m, n ≤ 10⁵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，均由英文字母组成。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84708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847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"ADOBECODEBANC"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"ABC"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输出 "BANC"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BANC 含 t 的 A、B、C 各一个，且找不到更短的。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7373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0" y="184708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83280" y="1847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"a"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"a"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输出 "a"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 s 就是最小覆盖子串。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17373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sp>
        <p:nvSpPr>
          <p:cNvPr id="21" name="Shape 19"/>
          <p:cNvSpPr/>
          <p:nvPr/>
        </p:nvSpPr>
        <p:spPr>
          <a:xfrm>
            <a:off x="6172200" y="184708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72200" y="1847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"a"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"aa"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输出 ""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中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 都要包含，s 里只有一个，无解。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3840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进阶要求：O(m + n)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4133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朴素做法枚举所有子串再逐个检查，是 O(m²·n)。要线性时间，只能让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每个字符进出窗口各一次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——这就是滑动窗口。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3749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7220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字符即下标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4133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只有英文字母，直接用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need[128]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（ASCII 码当下标）计数，比哈希表更快、更省。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T76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滑动窗口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滑动窗口：右端扩、左端缩，两个端点都只增不减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143000"/>
            <a:ext cx="347472" cy="347472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014984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右移一格，把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s[right]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放进窗口；若它是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还缺的字符，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required--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746504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1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929384"/>
            <a:ext cx="347472" cy="347472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180136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 == 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（窗口已覆盖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），尽量右移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：每次移出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s[left]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，若移出后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又缺了它，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required++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并停下。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532888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715768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587752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每个覆盖状态下记录最短的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[left, right)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。两个端点各最多走 m 步，总共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O(m + n)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9601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CFE0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计数数组的两重身份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44768" y="1344168"/>
            <a:ext cx="2432304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need[c] &gt; 0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：窗口里还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 个；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need[c] &lt; 0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：窗口里 c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多了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（或 c 根本不在 t 中）；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所有正的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need[c]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之和，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等于 0 当且仅当窗口覆盖 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。于是判断覆盖是 O(1)，不用遍历 26 个字母。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401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1 的三次「覆盖」时刻（s = ADOBECODEBANC，t = ABC）</a:t>
            </a:r>
            <a:endParaRPr lang="en-US" sz="115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188720"/>
                <a:gridCol w="1737360"/>
                <a:gridCol w="914400"/>
                <a:gridCol w="192024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right 停在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放进的字符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left 缩到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窗口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当前最优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ADOBEC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ADOBEC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CODEBA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ADOBEC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BANC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BANC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T76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滑动窗口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实现：need 数组 + required 计数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521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7058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Solution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minWindow(string s, string 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(s.size() &lt; t.size()) return "";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vector&lt;int&gt; need(128, 0);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(char c : t) need[c]++;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required = t.size();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剩余还需要匹配的字符数量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left = 0, right 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start = 0, minLen = INT_MAX;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(right &lt; s.size())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char c = s[right];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(need[c] &gt; 0) required--;  </a:t>
            </a:r>
            <a:r>
              <a:rPr lang="en-US" sz="8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是 t 还缺的字符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need[c]--;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right++;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窗口已经包含 t 的所有字符：尽量收缩左端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(required == 0)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(right - left &lt; minLen) { minLen = right - left; start = left;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char d = s[left];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need[d]++;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(need[d] &gt; 0) required++;  </a:t>
            </a:r>
            <a:r>
              <a:rPr lang="en-US" sz="8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移出后 t 又缺它了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left++;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minLen == INT_MAX ? "" : s.substr(start, minLen);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92240" y="96012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为什么先判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0</a:t>
            </a: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再减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1344168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need[c]--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之前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need[c] &gt; 0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，说明这个 c 正是 t 还缺的，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才减；不在 t 中的字符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变负，不影响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。收缩时顺序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反过来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：先加回，再看是否变成正数。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0" y="3200400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58444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各最多走 m 步，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O(m + n)，空间 O(128)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。窗口是半开区间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[left, right)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，长度就是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− left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T76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滑动窗口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实现：Counter，以及一种略不同的收缩写法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52160" cy="3154680"/>
          </a:xfrm>
          <a:prstGeom prst="roundRect">
            <a:avLst>
              <a:gd name="adj" fmla="val 231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705856" cy="3063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Solution: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minWindow(self, s: str, t: str) -&gt; str: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from collections import Counter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need = Counter(t)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missing = len(t)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 = start = end = 0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r, ch in enumerate(s, 1):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 是窗口的右开端点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need[ch] &gt; 0: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missing -=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need[ch] -= 1          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不在 t 中的字符，need 变为负数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missing == 0: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while l &lt; r and need[s[l]] &lt; 0:   </a:t>
            </a:r>
            <a:r>
              <a:rPr lang="en-US" sz="8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过滤掉左侧无用或冗余的字符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need[s[l]] +=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l +=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end == 0 or r - l &lt; end - start: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更新全局最短子串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start, end = l, r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破坏当前窗口的有效性，继续寻找下一个可行解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need[s[l]] +=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missing +=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 +=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s[start:end]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92240" y="960120"/>
            <a:ext cx="2194560" cy="3703320"/>
          </a:xfrm>
          <a:prstGeom prst="roundRect">
            <a:avLst>
              <a:gd name="adj" fmla="val 333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C++ 版的两点差别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1344168"/>
            <a:ext cx="1975104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用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(required == 0)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一边缩一边记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；Python 版先把左侧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 &lt; 0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的冗余字符全部挤出，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记一次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，再主动移出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s[l]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把窗口弄坏。两者走的步数相同。</a:t>
            </a:r>
            <a:endParaRPr lang="en-US" sz="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对不存在的键返回 0，所以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need[ch]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不必先判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== 0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表示还没记过答案：窗口长度至少 1，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不可能为 0。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24528"/>
            <a:ext cx="5852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3（s = "a"，t = "aa"）：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</a:t>
            </a:r>
            <a:r>
              <a:rPr lang="en-US" sz="105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永远到不了 0，返回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s[0:0] = ""</a:t>
            </a:r>
            <a:r>
              <a:rPr lang="en-US" sz="105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无需特判</a:t>
            </a:r>
            <a:r>
              <a:rPr lang="en-US" sz="105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31378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KMP 匹配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31378 KMP 字符比较次数（nextval）：题意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KMP 在主串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中查找模式串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出现的位置，失配时按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优化后的 next 数组（nextval）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回退。统计到第一次匹配成功为止，一共做了多少次字符比较。下标从 0 起，记 m = |p|。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两个数组的定义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920240"/>
            <a:ext cx="3840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next[0] = −1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；j ≥ 1 时 next[j] = p[0..j−1] 的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最长相等真前缀与真后缀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的长度。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nextval[0] = −1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；j ≥ 1 时：若 p[j] == p[next[j]]，则 nextval[j] = nextval[next[j]]；否则 nextval[j] = next[j]。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36592" y="1600200"/>
            <a:ext cx="3877056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j = cnt = 0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 &lt; len(t) and j &lt; m: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j == -1: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后移不计数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+=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 = 0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cnt += 1   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只有 t[i] 与 p[j] 的比较计数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t[i] == p[j]: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+=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 +=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 = nextval[j]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3101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循环结束：j == m 则匹配成功，起始位置 i − m；否则不存在。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/ 输出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95020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第一行模式串 p，第二行主串 t，均只含大写字母，1 ≤ |p| ≤ |t| ≤ 100000。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输出一行两个整数：比较总次数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、第一次匹配成功的起始下标（不存在输出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361188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1B2B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73168" y="3666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773168" y="3867912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BAAABBBAA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BAAABBBCDDDCCHHHHBBBAAABBBAADD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06640" y="3611880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1B2B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16368" y="3666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516368" y="3867912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31 19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4370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样例输入 / 样例输出。模式串正是 4.3 节习题 9 的 BAAABBBAA。</a:t>
            </a:r>
            <a:endParaRPr lang="en-US" sz="9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31378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KMP 匹配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样例的 next 与 nextval：优化版改掉了哪三个位置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</a:t>
            </a:r>
            <a:endParaRPr lang="en-US" sz="9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316736"/>
                <a:gridCol w="768096"/>
                <a:gridCol w="768096"/>
                <a:gridCol w="768096"/>
                <a:gridCol w="768096"/>
                <a:gridCol w="768096"/>
                <a:gridCol w="768096"/>
                <a:gridCol w="768096"/>
                <a:gridCol w="768096"/>
                <a:gridCol w="768096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下标 j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p[j]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next[j]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nextval[j]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60604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F1F4F2"/>
          </a:solidFill>
          <a:ln/>
        </p:spPr>
      </p:sp>
      <p:sp>
        <p:nvSpPr>
          <p:cNvPr id="9" name="Shape 6"/>
          <p:cNvSpPr/>
          <p:nvPr/>
        </p:nvSpPr>
        <p:spPr>
          <a:xfrm>
            <a:off x="594360" y="2715768"/>
            <a:ext cx="731520" cy="28346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2715768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 = 4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26334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p[4] = B，next[4] = 0，p[0] = B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相等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nextval[4] = nextval[0] = −1。退到 0 再比 B 必然再失配，索性直接后移 i。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3172968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F1F4F2"/>
          </a:solidFill>
          <a:ln/>
        </p:spPr>
      </p:sp>
      <p:sp>
        <p:nvSpPr>
          <p:cNvPr id="13" name="Shape 10"/>
          <p:cNvSpPr/>
          <p:nvPr/>
        </p:nvSpPr>
        <p:spPr>
          <a:xfrm>
            <a:off x="594360" y="3282696"/>
            <a:ext cx="731520" cy="28346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3282696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 = 7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200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p[7] = A，next[7] = 1，p[1] = A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相等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nextval[7] = nextval[1] = 0。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3739896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F1F4F2"/>
          </a:solidFill>
          <a:ln/>
        </p:spPr>
      </p:sp>
      <p:sp>
        <p:nvSpPr>
          <p:cNvPr id="17" name="Shape 14"/>
          <p:cNvSpPr/>
          <p:nvPr/>
        </p:nvSpPr>
        <p:spPr>
          <a:xfrm>
            <a:off x="594360" y="3849624"/>
            <a:ext cx="731520" cy="28346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4360" y="3849624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 = 8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37673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p[8] = A，next[8] = 2，p[2] = A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相等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nextval[8] = nextval[2] = 0。其余位置 p[j] ≠ p[next[j]]，照抄 next。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35040" y="260604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CFE0D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17220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4.3.2 节是同一个东西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172200" y="2990088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原书【代码 4.4】的「优化版 next」就是这里的 nextval：习题 9 的答案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 0 0 0 -1 1 1 0 0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与上表最后一行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逐位相同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。本题要求先算未优化的 next，再按定义导出 nextval——与 4.3+ 节「求周期要用未优化版」相呼应。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31378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KMP 匹配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匹配与比较过程追踪：31 次比较，起始下标 19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endParaRPr lang="en-US" sz="9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85216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828800"/>
                <a:gridCol w="2651760"/>
                <a:gridCol w="411480"/>
                <a:gridCol w="45720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比较内容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t[0..6] 与 p[0..6]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个字符均匹配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t[7]=C 与 p[7]=A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失配，j ← nextval[7] =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t[7]=C 与 p[0]=B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失配，j ← nextval[0] = −1（i 后移，不计数）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t[8..16] 依次与 p[0]=B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个字符 D D D C C H H H H 均不等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t[17]=B 与 p[0]=B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t[18]=B 与 p[1]=A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失配，j ← nextval[1] =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t[18]=B 与 p[0]=B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t[19]=B 与 p[1]=A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失配，j ← nextval[1] = 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t[19]=B 与 p[0]=B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t[20..27] 与 p[1..8]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个字符均匹配，整体匹配完成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92240" y="960120"/>
            <a:ext cx="2194560" cy="2057400"/>
          </a:xfrm>
          <a:prstGeom prst="roundRect">
            <a:avLst>
              <a:gd name="adj" fmla="val 3556"/>
            </a:avLst>
          </a:prstGeom>
          <a:solidFill>
            <a:srgbClr val="FDF0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2940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对比：若用朴素 next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344168"/>
            <a:ext cx="1920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② 步失配后 j 退到 next[7] =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，要多比一次 C 与 p[1] = A（必然失败）才回到 0，总次数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。nextval 跳过了这次注定失败的比较——这正是题目名里「nextval」的意义。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92240" y="315468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2940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起始下标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3538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匹配结束时 i = 28，j = m = 9，起始位置 i − m =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0233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BAAABBBCDDDCCHHHHBB</a:t>
            </a:r>
            <a:r>
              <a:rPr lang="en-US" sz="12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BAAABBBAA</a:t>
            </a: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两个计数规则：只有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t[i] == p[j]</a:t>
            </a:r>
            <a:r>
              <a:rPr lang="en-US" sz="100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的比较计数；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== −1</a:t>
            </a:r>
            <a:r>
              <a:rPr lang="en-US" sz="100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时的后移</a:t>
            </a: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不计数</a:t>
            </a:r>
            <a:r>
              <a:rPr lang="en-US" sz="100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。第 ③、④ 步就是这样分开算的。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31378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KMP 匹配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实现：求 next → 导出 nextval → 按伪代码计数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3877056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&lt;string&gt;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&lt;vector&gt;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namespace std;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ios::sync_with_stdio(false);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cin.tie(nullptr);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p, 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(!(cin &gt;&gt; p &gt;&gt; t)) return 0;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 = p.size(), n = t.size();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计算 next 数组（未优化）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vector&lt;int&gt; next_arr(m, 0);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next_arr[0] = -1;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k = -1, j = 0;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(j &lt; m - 1)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(k == -1 || p[j] == p[k])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++j; ++k;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next_arr[j] = k;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 = next_arr[k];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36592" y="1005840"/>
            <a:ext cx="3877056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由定义导出 nextval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vector&lt;int&gt; nextval(m, 0);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nextval[0] = -1;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idx = 1; idx &lt; m; ++idx)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nextval[idx] = (p[idx] == p[next_arr[idx]])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? nextval[next_arr[idx]] : next_arr[idx];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严格按题目流程统计比较次数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 long cnt = 0;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 = 0; j = 0;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(i &lt; n &amp;&amp; j &lt; m)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(j == -1) { i++; j = 0; continue;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cnt++;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(t[i] == p[j]) { i++; j++;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j = nextval[j];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match_pos = (j == m) ? (i - m) : -1;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cnt &lt;&lt; " " &lt;&lt; match_pos &lt;&lt; "\n";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4160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三个要点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45312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nextval[idx]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用到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nextval[next_arr[idx]]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next_arr[idx] &lt; idx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idx 递增算一遍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就够；答案是「到第一次匹配成功为止」，匹配成功就退出循环，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不要继续往后找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最坏约 2·|t|，用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也够，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long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更保险。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31378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KMP 匹配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实现：与 C++ 逐段对应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3877056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solve():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lines = sys.stdin.read().split()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lines: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p, t = lines[0], lines[1]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m, n = len(p), len(t)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计算 next 数组（未优化）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next_arr = [0] * m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next_arr[0] = -1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k, j = -1, 0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j &lt; m - 1: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k == -1 or p[j] == p[k]: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 += 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 += 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next_arr[j] = k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 = next_arr[k]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36592" y="1005840"/>
            <a:ext cx="3877056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由定义导出 nextval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nextval = [0] * m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nextval[0] = -1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idx in range(1, m):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p[idx] == p[next_arr[idx]]: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nextval[idx] = nextval[next_arr[idx]]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nextval[idx] = next_arr[idx]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模拟匹配过程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j = cnt = 0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i &lt; n and j &lt; m: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j == -1: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 += 1; j = 0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cnt += 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t[i] == p[j]: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 += 1; j += 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 = nextval[j]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match_pos = (i - m) if j == m else -1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print(f"{cnt} {match_pos}")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solve()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42519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next_arr[0] = −1 要单独写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544568"/>
            <a:ext cx="7955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== -1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是递推的「兜底」分支：p[0] 之前没有真边界，失配只能整体右移；匹配循环里的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j == -1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消费的就是这个信号。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01961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KMP 周期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01961 前缀中的周期：题意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N 位字符串 S 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每个长度 i ≥ 2 的前缀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，是否由某个子串 A 重复出现 K 次（K &gt; 1）拼成？若是，输出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最短循环节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对应的 K（即所有可能重复节中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 K）。例："abaab" 有 5 个前缀 a, ab, aba, abaa, abaab。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/ 输出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03120"/>
            <a:ext cx="3840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多组数据；每组两行：N（2 ≤ N ≤ 1 000 000）和字符串 S。以只含一个 0 的行结束。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每组先输出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case #编号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；随后每行输出「前缀长度 i 与 K」，i 升序；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每组之后输出一个空行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（包括最后一组）。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737360"/>
            <a:ext cx="1737360" cy="1783080"/>
          </a:xfrm>
          <a:prstGeom prst="roundRect">
            <a:avLst>
              <a:gd name="adj" fmla="val 4211"/>
            </a:avLst>
          </a:prstGeom>
          <a:solidFill>
            <a:srgbClr val="1B2B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73168" y="1792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1993392"/>
            <a:ext cx="151790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aabaabaabaab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1737360"/>
            <a:ext cx="2194560" cy="1783080"/>
          </a:xfrm>
          <a:prstGeom prst="roundRect">
            <a:avLst>
              <a:gd name="adj" fmla="val 4103"/>
            </a:avLst>
          </a:prstGeom>
          <a:solidFill>
            <a:srgbClr val="1B2B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01968" y="1792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601968" y="1993392"/>
            <a:ext cx="197510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case #1
2 2
3 3
Test case #2
2 2
6 2
9 3
12 4
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5478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样例输入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5478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样例输出（第二组后面还有一个空行）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 4.3+ 节「三类题」里的第三类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42245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循环串 →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is_repetition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，字符串乘方 →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repetition_count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，前缀中的周期 →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对每个前缀套同一判断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。4.3+ 节已经说了：要用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未优化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 border / next，不能用优化版。</a:t>
            </a:r>
            <a:endParaRPr lang="en-US" sz="10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01961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KMP 周期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思路：对每个前缀读一次 nxt，最小周期 p = i − nxt[i]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11556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11556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nxt[i]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99669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 S[0..i−1]（长 i）的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最长相等真前后缀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长度，即 4.3+ 节的 border；一次 O(N) 算完整个数组（长度 N + 1）。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673352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82880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18288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i − nxt[i]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170992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由「真边界 ⇔ 周期」定理，这是长 i 前缀的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最小周期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86584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54203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5420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242316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nxt[i] &gt; 0 且 i mod p == 0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⇔ 该前缀恰由长 p 的子串重复 K = i / p 次。p 最小，K 自然最大。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96012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DF0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nxt[i] &gt; 0 不能省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1344168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nxt[i] = 0 时 p = i，而 i mod i = 0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恒成立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——没有真边界的前缀（如 ab）会被误判为「重复 1 次」。这就是 4.3+ 节的陷阱二「整除 ≠ 循环」。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182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 2：S = aabaabaabaab（N = 12）</a:t>
            </a:r>
            <a:endParaRPr lang="en-US" sz="115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nxt[i]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= i − nxt[i]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 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 的前缀 aa 报 K = 2；p = 3 的前缀中长度是 3 的倍数的 6、9、12 分别报 2、3、4；其余前缀不整除，不输出。</a:t>
            </a:r>
            <a:endParaRPr lang="en-US" sz="9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01961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KMP 周期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实现：O(N) 求 nxt，再 O(N) 扫一遍前缀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521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7058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&lt;string&gt;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namespace std;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MAXN = 1000005;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预分配，避免每组都重新申请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nxt[MAXN];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ios::sync_with_stdio(false);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cin.tie(nullptr);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n, case_num = 1;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(cin &gt;&gt; n &amp;&amp; n != 0)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s;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cin &gt;&gt; s;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nxt[i] = s[0..i-1] 的最长相等真前后缀长度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nxt[0] = -1;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0, k = -1; i &lt; n; 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(k == -1 || s[i] == s[k]) nxt[++i] = ++k;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 k = nxt[k];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"Test case #" &lt;&lt; case_num++ &lt;&lt; "\n";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2; i &lt;= n; ++i)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p = i - nxt[i];                 </a:t>
            </a:r>
            <a:r>
              <a:rPr lang="en-US" sz="8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最小周期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(nxt[i] &gt; 0 &amp;&amp; i % p == 0)       </a:t>
            </a:r>
            <a:r>
              <a:rPr lang="en-US" sz="8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有真边界，且周期整除长度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cout &lt;&lt; i &lt;&lt; " " &lt;&lt; i / p &lt;&lt; "\n";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"\n";                   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每组之后一个空行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92240" y="960120"/>
            <a:ext cx="2194560" cy="2377440"/>
          </a:xfrm>
          <a:prstGeom prst="roundRect">
            <a:avLst>
              <a:gd name="adj" fmla="val 333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数据量决定写法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1344168"/>
            <a:ext cx="1975104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到 10⁶：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ios::sync_with_stdio(false)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cin.tie(nullptr)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，或改用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9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nxt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开成全局数组，长度 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+ 1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（下标 0..N）；</a:t>
            </a:r>
            <a:endParaRPr lang="en-US" sz="9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nxt[++i] = ++k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一行同时推进 i、k 并赋值，和 4.3.2 节的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build_next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是同一个递推。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0" y="347472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85876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时间、O(N) 空间；百万长度毫秒级完成。</a:t>
            </a:r>
            <a:endParaRPr lang="en-US" sz="9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01961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KMP 周期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实现：一次读入、攒好再输出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521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7058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solve():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sys.stdin.read().split()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out, pos, case_num = [], 0, 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pos &lt; len(data):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 = int(data[pos]); pos += 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 == 0: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= data[pos]; pos += 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nxt[i] = 前缀 s[0..i-1] 的最长相等真前后缀长度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nxt = [0] * (n + 1)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nxt[0] = -1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i, k = 0, -1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i &lt; n: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k == -1 or s[i] == s[k]: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 += 1; k += 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nxt[i] = k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k = nxt[k]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out.append(f"Test case #{case_num}")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case_num += 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range(2, n + 1):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 = i - nxt[i]                      </a:t>
            </a:r>
            <a:r>
              <a:rPr lang="en-US" sz="8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最小周期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nxt[i] &gt; 0 and i % p == 0: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out.append(f"{i} {i // p}")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out.append("")                  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每组之后一个空行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sys.stdout.write("\n".join(out) + "\n")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solve()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92240" y="960120"/>
            <a:ext cx="2194560" cy="2514600"/>
          </a:xfrm>
          <a:prstGeom prst="roundRect">
            <a:avLst>
              <a:gd name="adj" fmla="val 333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过百万数据的两件事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1344168"/>
            <a:ext cx="1975104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sys.stdin.read().split()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一次读完，不要逐行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input()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9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：结果先攒进列表，最后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一次输出，不要上百万次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递推本身与 C++ 版逐行对应；Python 大约慢一个量级，O(N) 仍能过。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0" y="361188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对拍过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9959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{a, b} 上长度 2～14 的随机串 500 个，与「逐个试 L 并比较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 == pre[:L] * (i // L)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」的 O(N³) 暴力解结果一致。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引理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最小循环元引理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引理与充分性证明：L = n − next[n] 整除 n，则 L 是一个循环节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93268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 |S| = n，next[n] 为 S 的最长相等真前后缀长度，L = n − next[n]。</a:t>
            </a:r>
            <a:r>
              <a:rPr lang="en-US" sz="12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引理：若 n mod L = 0，则 L 是 S 的最小循环元长度。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1F4F2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801368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172821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等式建立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171907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令 k = next[n]。由定义，S[1..k] = S[n−k+1..n]（本页 S 下标从 1 起）。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295144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1F4F2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404872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23317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位移关系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232257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n − k，等式即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S[1..n−L] = S[L+1..n]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898648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1F4F2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008376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3008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293522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逐位对应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194560" y="292608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对任意 1 ≤ i ≤ n−L 都有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S[i] = S[i+L]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：距离为 L 的字符全部相等——这正是「L 是周期」的定义。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502152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1F4F2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3611880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35387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循环传导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194560" y="352958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S[1] = S[1+L] = S[1+2L] = ⋯，S[2] = S[2+L] = ⋯，…，S[L] = S[2L] = ⋯。若 n = m·L，整串恰好切成 m 块，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第一块 = 第二块 = ⋯ = 第 m 块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，S 是 S[1..L] 重复 n/L 次。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72200" y="1755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例：abcabcabc，n = 9，next[9] = 6，L = 3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22128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S[1..6]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72200" y="2423160"/>
            <a:ext cx="265176" cy="25603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72200" y="2423160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37376" y="2423160"/>
            <a:ext cx="265176" cy="25603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37376" y="2423160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02552" y="2423160"/>
            <a:ext cx="265176" cy="25603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02552" y="2423160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67728" y="2423160"/>
            <a:ext cx="265176" cy="25603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67728" y="2423160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32904" y="2423160"/>
            <a:ext cx="265176" cy="25603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32904" y="2423160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98080" y="2423160"/>
            <a:ext cx="265176" cy="25603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98080" y="2423160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763256" y="2423160"/>
            <a:ext cx="26517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28432" y="2423160"/>
            <a:ext cx="26517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93608" y="2423160"/>
            <a:ext cx="26517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72200" y="27249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S[4..9]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72200" y="2935224"/>
            <a:ext cx="26517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37376" y="2935224"/>
            <a:ext cx="26517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02552" y="2935224"/>
            <a:ext cx="26517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67728" y="2935224"/>
            <a:ext cx="265176" cy="256032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967728" y="2935224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232904" y="2935224"/>
            <a:ext cx="265176" cy="256032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232904" y="2935224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498080" y="2935224"/>
            <a:ext cx="265176" cy="256032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498080" y="2935224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763256" y="2935224"/>
            <a:ext cx="265176" cy="256032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763256" y="2935224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028432" y="2935224"/>
            <a:ext cx="265176" cy="256032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028432" y="2935224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293608" y="2935224"/>
            <a:ext cx="265176" cy="256032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293608" y="2935224"/>
            <a:ext cx="265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6172200" y="3246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两行对齐相等 ⇔ 每个字符等于它右边第 3 个 ⇔ 周期 3；9 mod 3 = 0，所以 abc 重复 3 次。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记号对照：这里的 next[n]（整串的最长真边界）就是 4.3+ 节的 border[n−1]、01961 里的 nxt[N]；L 就是最小周期。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引理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最小循环元引理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最小性证明（反证），以及 n mod L ≠ 0 时怎么办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05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最小性：不存在更短的循环节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1481328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3898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反设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13898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存在更短的循环节 L′ &lt; L。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210312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011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构造前后缀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L′ 是循环节 ⇒ S[1..n−L′] = S[L′+1..n]，即长为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− L′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的前缀与后缀相等。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2724912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6334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26334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L′ &lt; L ⇒ n − L′ &gt; n − L = next[n]：找到了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 next[n] 更长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的相等真前后缀，与 next[n] 的「最长」定义矛盾。故 L 最短。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932688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6E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72200" y="1024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补充：n mod L ≠ 0 时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144768" y="1316736"/>
            <a:ext cx="2432304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S[i] = S[i+L] 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仍成立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，L 仍是 S 的一个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，但末尾剩下一段不足 L 的「残缺节」；</a:t>
            </a:r>
            <a:endParaRPr lang="en-US" sz="9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不具备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完整的循环元，最小循环元长度只能取 n 本身（不可再分）；</a:t>
            </a:r>
            <a:endParaRPr lang="en-US" sz="9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例：ababa，n = 5，next[5] = 3，L = 2，5 mod 2 ≠ 0——有周期 2，但不是任何串的整数次重复。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456432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1E3D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3529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82219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− next[n]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是串中重复特征的</a:t>
            </a: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最小偏移量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；只要总长能被它整除，这段偏移对应的前缀就是</a:t>
            </a: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最小循环元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。于是复杂的周期性判断化成了对 next 数组末尾一个数的简单算术——01961 对每个前缀做的，正是这件事。</a:t>
            </a:r>
            <a:endParaRPr lang="en-US" sz="11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附录A · 小结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三道题的复杂度总表与提交前自检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</a:t>
            </a:r>
            <a:endParaRPr lang="en-US" sz="90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920240"/>
                <a:gridCol w="1051560"/>
                <a:gridCol w="91440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核心手法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额外空间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一句话技巧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T76 最小覆盖子串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滑动窗口 + 计数数组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O(m + 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O(128)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required == 0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⇔ 覆盖；左右端点只增不减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31378 KMP 比较次数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 → nextval → 计数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O(|p| + |t|)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O(|p|)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只数 </a:t>
                      </a: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t[i] == p[j]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的比较，</a:t>
                      </a: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 == −1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的后移不算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01961 前缀中的周期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未优化 nxt，p = i − nxt[i]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nxt[i] &gt; 0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且 </a:t>
                      </a: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mod p == 0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，两个条件都要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74320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1792" y="2807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提交前的自检清单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" y="3200400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87552" y="31272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T76：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先判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0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再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，收缩时先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再判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0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，顺序反了就错；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1792" y="3675888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1792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87552" y="36027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T76：窗口是半开区间，长度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− left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，返回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substr(start, minLen)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1792" y="4151376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87552" y="407822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31378：先算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未优化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next，再按定义导出 nextval；匹配成功立即停止；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90872" y="3200400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690872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056632" y="31272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01961：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长度 N + 1；别漏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nxt[i] &gt; 0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；每组之后一个空行（含最后一组）；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690872" y="3675888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690872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056632" y="36027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01961：N 到 10⁶，C++ 关同步，Python 一次读入、一次输出；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690872" y="4151376"/>
            <a:ext cx="274320" cy="274320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90872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056632" y="407822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三道题都是线性时间：如果你的循环里嵌了一个会「回头」的下标，先怀疑复杂度。</a:t>
            </a:r>
            <a:endParaRPr lang="en-US" sz="9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回文：中心扩展与 Manacher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M5 最长回文子串：O(n²) 的中心扩展 → O(n) 的 Manacher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KMP 同一个哲学：利用已知的对称，不重复比较</a:t>
            </a:r>
            <a:endParaRPr lang="en-US" sz="13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附录B · LeetCode M5 最长回文子串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中心扩展：2n − 1 个中心，每个向两边扩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expand_center(s):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best = (0, 0)      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答案的 [lo, hi)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range(2 * len(s) - 1): 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2n-1 个中心：字符本身或两字符之间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lo, hi = c // 2, (c + 1) // 2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lo &gt;= 0 and hi &lt; len(s) and s[lo] == s[hi]: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 -= 1; hi += 1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向两边扩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hi - lo - 1 &gt; best[1] - best[0]: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best = (lo + 1, hi)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s[best[0]:best[1]]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print(expand_center("babad"))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bab（aba 也对）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print(expand_center("cbbd"))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bb：偶数长度，中心在两字符之间</a:t>
            </a:r>
            <a:endParaRPr lang="en-US" sz="9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5394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731520"/>
                <a:gridCol w="2651760"/>
              </a:tblGrid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枚举子串逐个判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O(n³)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反面教材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 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O(n²)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O(n²)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dp[i][j] = s[i]==s[j] 且 dp[i+1][j-1]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中心扩展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O(n²)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最常用：短、不易错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Manacher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复用镜像中心的半径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035040" y="9601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CFE0D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17220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// 2 与 (c + 1) // 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34416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为偶数：lo = hi，中心是一个字符（奇数长度）；c 为奇数：hi = lo + 1，中心在两字符之间（偶数长度）。一个循环同时处理两种回文。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35040" y="283464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DF0E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17220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浪费在哪里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3218688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aaaa…a 这样的串，每个中心都要扩到边，总共 Θ(n²) 次比较——而这些比较大多在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已经确认是回文的区段里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重复做。</a:t>
            </a:r>
            <a:endParaRPr lang="en-US" sz="9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附录B · Manacher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 # 统一奇偶，维护最右回文 (c, r)，镜像点先给个下限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</a:t>
            </a:r>
            <a:endParaRPr lang="en-US" sz="90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90702"/>
                <a:gridCol w="590702"/>
                <a:gridCol w="590702"/>
                <a:gridCol w="590702"/>
                <a:gridCol w="590702"/>
                <a:gridCol w="590702"/>
                <a:gridCol w="590702"/>
                <a:gridCol w="590702"/>
                <a:gridCol w="590702"/>
                <a:gridCol w="590702"/>
                <a:gridCol w="590702"/>
                <a:gridCol w="590702"/>
                <a:gridCol w="59070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^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 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 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 1→扩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 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 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 0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2240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babad → t = ^#b#a#b#a#d#$；p[i] 是 t 中以 i 为中心的回文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半径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，恰好等于对应 s 中回文的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670048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6060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&lt; r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737360" y="260604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落在已知回文 (c−p[c], r) 里：它的镜像 2c − i 已经算过，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p[i] ≥ min(r − i, p[2c − i])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，直接从这里起步。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3218688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546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向外扩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315468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只比较越过 r 的部分；^ 与 $ 两个哨兵保证不越界，不用写边界判断。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3767328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57200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7033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 r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1737360" y="370332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+ p[i] &gt; r 就把 (c, r) 换成 (i, i + p[i])。r 只增不减，每次成功比较都把它推远一格 ⇒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总比较 O(n)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429768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1E3D3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94360" y="42976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 p = 3 在 i = 4：起点 (4 − 3) // 2 = 0，答案 s[0:3] = bab。i = 6 先从镜像拿到 1，再扩到 3（aba）。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附录B · Manacher · Python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manacher：一个循环，c、r 边走边更新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manacher(s):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'^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#' + '#'.join(s) + '#$'       # 插 # 统一奇偶；^ $ 是哨兵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[0] * len(t)       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p[i]：t 中以 i 为中心的回文半径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r = 0              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已知最右回文的中心与右端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range(1, len(t) - 1):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 &lt; r: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p[i] = min(r - i, p[2 * c - i])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镜像点的答案先拿来用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t[i + p[i] + 1] == t[i - p[i] - 1]: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p[i] += 1                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只有越过 r 的部分才真正比较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 + p[i] &gt; r: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c, r = i, i + p[i]       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右端被推远：更新 c、r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= max(range(len(t)), key=lambda i: p[i])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 = (k - p[k]) // 2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 的下标换回 s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s[start:start + p[k]]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print(manacher("babad"), manacher("forgeeksskeegfor"))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bab geeksskeeg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584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expand_center 在 {a, b} 上长度 1–12 的 2000 个随机串对拍，答案长度全部一致。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904488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9959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为什么取 min(r − i, …)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2885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镜像点的回文可能伸出 c 的回文左边界之外，那部分在右边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没被确认过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，只能信到 r 为止，剩下的老老实实比。</a:t>
            </a:r>
            <a:endParaRPr lang="en-US" sz="95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960120"/>
          <a:ext cx="26517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60120"/>
                <a:gridCol w="960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KMP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Manacher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利用的对称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前缀 = 后缀（平移）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 = 右（镜像）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复用的表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next[j]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p[2c − i]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只增不减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目标下标 i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最右边界 r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线性论证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 回退总量 ≤ 前进总量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成功比较一次 r 右移一格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035040" y="3017520"/>
            <a:ext cx="2651760" cy="1664208"/>
          </a:xfrm>
          <a:prstGeom prst="roundRect">
            <a:avLst>
              <a:gd name="adj" fmla="val 4396"/>
            </a:avLst>
          </a:prstGeom>
          <a:solidFill>
            <a:srgbClr val="CFE0D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17220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同一个哲学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3401568"/>
            <a:ext cx="2377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「我已经比过这一段了，别让我再比一遍」——KMP 记住前后缀，Manacher 记住镜像。两者的 O(n) 都是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摊还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出来的。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88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第四章 字符串</dc:title>
  <dc:subject>PptxGenJS Presentation</dc:subject>
  <dc:creator>Hongfei Yan</dc:creator>
  <cp:lastModifiedBy>Hongfei Yan</cp:lastModifiedBy>
  <cp:revision>1</cp:revision>
  <dcterms:created xsi:type="dcterms:W3CDTF">2026-10-28T11:37:50Z</dcterms:created>
  <dcterms:modified xsi:type="dcterms:W3CDTF">2026-10-28T11:37:50Z</dcterms:modified>
</cp:coreProperties>
</file>