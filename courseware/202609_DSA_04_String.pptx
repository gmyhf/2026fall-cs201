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 字符串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String：元素是字符、操作按整段的线性表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串、子串、真子串 · 字符编码：ASCII → UTF-8 · 编码顺序与字典序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顺序存储与 '\0' · 教学版 String：三法则与变长存储管理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/ substr / find / compare · 进阶：移动语义与 raw()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朴素匹配与原书「差 1」 · 特征向量 next · KMP 与线性论证 · 最小循环节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字符串和普通线性表差在哪？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元素限定为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；操作以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串的整体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为对象。而且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是一个字节，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一个字符。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长度一直在变，缓冲区归谁管？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顺序存放、交给类去管：构造申请、析构释放、拷贝另开——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容量、复制、下标边界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30 亿个字符里找模式，怎么找得动？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朴素匹配失配只右移一位；KMP 预先算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不重复比较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已知相等的前缀。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存串的类管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容量与所有权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；找串的算法管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比较顺序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——KMP 让目标下标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只增不减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 基本概念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串、长度、空串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与线性表的两点区别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子串与真子串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原书【代码4.1】的三处修改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 字符编码：ASCII → UTF-8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 编码顺序与字典序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 存储与实现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 顺序存储、'\0' 与标准串函数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 String 类：教学版完整实现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构造、三法则、变长管理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 追加 / 子串 / 查找 / 比较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进阶：移动语义与 raw()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 模式匹配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问题与记号：都从位置 0 开始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朴素匹配；原书返回值差 1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next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与线性论证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的另一个用途：最小循环节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String 走一遍 append / substr / find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89788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75157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text = "Hello";   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隐式转换：String(const char*)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text.append(' ').append('C').append('+').append('+');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"拼接后: " &lt;&lt; text.c_str()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String slice = text.substr(6, 3);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"子串: " &lt;&lt; slice.c_str()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find 返回 optional：有值才解引用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"首次出现 C 的下标: 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(const auto found = text.find('C'))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*found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"无\n";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100584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196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261872"/>
            <a:ext cx="19751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拼接后: Hello C++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子串: C++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首次出现 C 的下标: 6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148840"/>
            <a:ext cx="21945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-Icode/ch04/string_class \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code/ch04/string_class/demo.cpp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492240" y="2834640"/>
            <a:ext cx="219456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2926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218688"/>
            <a:ext cx="197510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，所以能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连着写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substr(6, 3)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从下标 6 取 3 个字符。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optional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：找不到不用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和位置 0 抢同一个数字。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缓冲区是手写的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——换成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这一节就没了。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4.12 那对串：正确起始下标是 10，原书返回 11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603504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88873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text = "abcddabcababcdaabcababcdaabcabaa";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pattern = "abcdaabcab";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naive = dsa::naive_search(text, pattern);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kmp = dsa::kmp_search(text, pattern);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"图4.12 的串，正确起始下标是 10\n";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"朴素: " &lt;&lt; (naive ? static_cast&lt;long&gt;(*naive) : -1)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"KMP:  " &lt;&lt; (kmp ? static_cast&lt;long&gt;(*kmp) : -1)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"原书返回 11，一律差 1\n";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10058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848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261872"/>
            <a:ext cx="17922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图4.12 的串，正确起始下标是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朴素: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KMP: 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原书返回 11，一律差 1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0" y="2514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2606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不是写法问题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289864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算法结果错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：原书两个匹配算法返回的位置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都差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。4.3.1 节末专门讲。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9319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abcddabcab</a:t>
            </a:r>
            <a:r>
              <a:rPr lang="en-US" sz="13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abcdaabcab</a:t>
            </a:r>
            <a:r>
              <a:rPr lang="en-US" sz="13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cdaabcabaa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261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242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13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abcdaabcab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9502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匹配段从下标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开始（0 起始），而原书的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给出 11。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4.1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字符串的基本概念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串、长度、子串 · 与线性表的两点区别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字符编码：ASCII → UNICODE / UTF-8 · 编码顺序与字典序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字符串：元素为单个字符的线性表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（string）：组成元素（结点）为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单个字符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的线性表，简称「串」。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可以是一个单词、一个句子、一篇文章，或者一个文件的内容。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串中所含字符个数称为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串的长度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；长度为零的串称为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，不含任何字符。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与线性表相比，逻辑结构上有两点区别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8529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数据对象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337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约束为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字符集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74904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元素不再是任意类型 T，而是一个个字符。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269748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8346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28529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操作对象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337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以「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串的整体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」为操作对象。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74904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线性表的操作大多以「单个元素」为对象；串的拼接、复制、抽取子串、模式匹配，动的都是</a:t>
            </a:r>
            <a:r>
              <a:rPr lang="en-US" sz="11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一整段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子串：一个串是不是另一个串的一段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786384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s₁ = a₀a₁⋯aₙ₋₁，s₂ = b₀b₁⋯bₘ₋₁（0 ≤ m ≤ n）。若存在整数 i（0 ≤ i ≤ n − m），使得对任意 j = 0, 1, ⋯, m−1 都有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bⱼ = aᵢ₊ⱼ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，则称 s₂ 是 s₁ 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，或称 s₁ 包含 s₂。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14600"/>
            <a:ext cx="40233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是所有字符串的子串。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任何串都是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其自身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的子串。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非空、且不为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自身的子串，称为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真子串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25146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2578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例：以下都是真子串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9260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</a:t>
            </a: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brown dog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jump</a:t>
            </a: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over the lazy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fox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383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"quick"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"jump"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"fox"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"brown dog"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伏笔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4074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节的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问的就是：一个串是不是另一个串的子串？如果是，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从哪个位置开始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原书【代码4.1】有三处今天必须改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53312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53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0789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类名是小写的 string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41732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在任何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namespace std;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的翻译单元里，与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构成歧义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。原书正文随后又改用大写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，同一章两个名字混用。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137160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1371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类名大写 String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221992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2569464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5694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2951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 表达布尔，-1 表示没找到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263347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isEmpty();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find(const char c, const int start);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与「位置 0」只差一个符号，漏判就把「没找到」当成「匹配在开头」。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355080" y="2587752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258775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bool empty() · optional&lt;size_type&gt; find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438144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3785616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7856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351129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修改器按值返回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3849624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append(const char c);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而非引用。只有声明没有函数体，不能断定会丢结果；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能断定的是签名含混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s.append('x');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改没改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55080" y="3803904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55080" y="380390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修改器返回 String&amp;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逻辑元素是字符，内存里保存的是编码单元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计算机只认 0、1 组成的字节，字符集的「字符」要用「字节」表示——这就是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。C/C++ 的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是单字节，采用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：每个字符一个字节，低 7 位表示字符，最高位为 0，共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个字符。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40080"/>
                <a:gridCol w="219456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举例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0～32、127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控制 / 通信专用字符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LF、CR、FF、DEL、BEL；SOH、EOT、ACK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33～126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通用字符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 个大小写字母、10 个数字、标点与运算符号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48～57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 0–9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'0' = 48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65～90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大写字母 A–Z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'A' = 65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97～122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小写字母 a–z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'a' = 97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记住三个区间都是连续递增的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4074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数字、大写字母、小写字母各自占一段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的编号——4.1.2 节的字符比较就建立在这一点上。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从各自为政到 UNICODE / UTF-8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887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1618488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514600" y="10515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60 年代制定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1344168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没有考虑中文、阿拉伯文等国际文字的统一编码。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848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各语言各自编码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371600" y="2514600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514600" y="194767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GB2312-80 · BIG5 · S-JIS · Wansung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514600" y="22402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 GB2312-80（简体，6763 个汉字）、BIG5（繁体，13053 个汉字）……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不同系统可能用相同的编号表示不同的字符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80944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9809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UNICODE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371600" y="3410712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514600" y="284378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通用文字符号编码标准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136392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可伸缩：既能容纳多语言的大编码集，也能缩减，用单字节表示常用 ASCII 符号。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77056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87705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14600" y="373989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今天最常见的落地形式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514600" y="4032504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1～4 个字节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编码一个 Unicode 码点，且与 ASCII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完全兼容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2008 年的书还讲不到的结论：char ≠ 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0058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</a:t>
            </a:r>
            <a:r>
              <a:rPr lang="en-US" sz="18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一个字节</a:t>
            </a: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，不等于一个「人眼看到的字符」。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493776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std::string::size()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返回的是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字节数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，不能用来数 Unicode 字符。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要数字符，就得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UTF-8 解码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，或使用明确的 Unicode 库。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字面量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u8"..."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 字节序列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23560" y="2194560"/>
            <a:ext cx="3063240" cy="2468880"/>
          </a:xfrm>
          <a:prstGeom prst="roundRect">
            <a:avLst>
              <a:gd name="adj" fmla="val 2963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286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好消息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578608"/>
            <a:ext cx="2788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编码本身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字符串概念和操作的本质：查找、拼接、抽取子串的接口语义与编码无关。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所以本书与原书一样，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ASCII 为主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，基本不涉及多国语言混排。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069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自检：字节数、字符数、显示宽度是三个不同层次，UTF-8 下不能混用。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编码顺序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偏序编码规则：编码顺序与自然次序一致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 encode(x) 为符号 x 到其 ASCII 编码的映射，则 10 个数字符号的编码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连续递增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encode('0') + 1 = encode('1'),  encode('1') + 1 = encode('2'),  ⋯,  encode('8') + 1 = encode('9')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103120"/>
            <a:ext cx="475488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 A…Z、a…z 遵循同样的偏序规则。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于是任意两个字符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直接用编码值比较大小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；对字母而言，就是字典编目次序。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两个串按构成它们的字符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比较大小。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40680" y="2103120"/>
            <a:ext cx="32461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77840" y="2176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字典次序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"monday" &lt; "sunday" &lt; "tuesday"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"1234" &lt; "23"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32004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星期一在星期二之前，整数 123 比 23 大——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与日常理解的次序不同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005072"/>
            <a:ext cx="8229600" cy="676656"/>
          </a:xfrm>
          <a:prstGeom prst="roundRect">
            <a:avLst>
              <a:gd name="adj" fmla="val 1081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09651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比较规则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389120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先比较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第一个不同的编码单元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；若一个是另一个的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，较短者更小。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编码顺序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编码值比较 ≠ 自然语言排序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同一区间内可比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 保留了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、大写字母、小写字母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各自连续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的区间，同一区间内可用编码值比较。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不是语言学排序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编码值比较按码元的字典序；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大小写、重音、中文排序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都可能需要额外的 locale 或排序键。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不是整数比较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而言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"1234" &lt; "23"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，但这不是整数大小比较。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9776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比较前必须先约定</a:t>
            </a: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编码和规范化方式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，不能把「字节序」误当成「自然语言顺序」。本节的比较次序也适合 GB2312 等其他文字的排序需要。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C++ 特有的坑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两个字符串字面量之间写 &lt;，比的是地址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61872"/>
            <a:ext cx="801014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g++ -std=c++17 -Wall -Wextra litcmp.cpp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litcmp.cpp:7:25: warning: comparison between two arrays [-Warray-compare]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7 |     std::cout &lt;&lt; ("123" &lt; "1234") &lt;&lt; ' ' &lt;&lt; ("1234" &lt; "23") &lt;&lt; '\n';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                  ~~~~~~^~~~~~~~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./litcmp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true      # ("123" &lt; std::string("1234"))、(std::string("1234") &lt; "23")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 true     # ("123" &lt; "1234")、("1234" &lt; "23")——第一个的答案反了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有一边是 std::string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6118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比的是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std::string("1234")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true，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std::string("1234") &lt; "23"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true。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10896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两边都是裸字面量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6118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比的是两个数组的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，由编译器摆放决定：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("123" &lt; "1234")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得到 false——答案反了。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6817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本书凡是比较字符串，一律先落到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上，再谈编码顺序。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4.2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字符串的存储结构和实现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顺序存储与 '\0' · 标准串函数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String：构造、三法则、变长存储管理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/ concatenate / substr / find / compare · 进阶：移动语义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存储结构和实现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这一节的正题：变长存储管理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字符串长度变化显著——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短如单词，长为文件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；长度分布的方差很大。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此时用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静态长度的向量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作为存储结构是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不恰当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拼接、查找、置换、模式匹配本身都涉及变长操作，开销大，必须精心设计算法、选择存储结构。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本节重点：程序执行过程中字符串的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32120" y="1005840"/>
            <a:ext cx="3154680" cy="3657600"/>
          </a:xfrm>
          <a:prstGeom prst="roundRect">
            <a:avLst>
              <a:gd name="adj" fmla="val 2319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0" y="10972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为什么这一节没有 Python 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89888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自管理的字符缓冲区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：长度、容量、结尾空字符、深复制、移动后源对象的状态都是接口契约。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str 不可变，list 也不让你实现分配、释放和强异常保证——会跳过存储布局与所有权问题。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4.3 的模式匹配有 Python 版，4.2 的字符串类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 C++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70332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缓冲区是裸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——换成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，这一节就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没了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顺序存储：连续字符数组 + 结尾的 '\0'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8" name="Image 0" descr="fig-4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46988"/>
            <a:ext cx="3931920" cy="19659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044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  C 风格字符串的变量说明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0352" y="3474720"/>
            <a:ext cx="405993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s1[12] = "Hello world";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s2[8]  = "2008";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s3[6];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97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s3 没给初值，存的就是空串。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960120"/>
            <a:ext cx="379476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末尾保留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作结束标志；另记不含终止符的长度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容量至少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不计入长度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s[M];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的串长不能超过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− 1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适合访问单个字符或连续一组字符：按下标取第 i 个字符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/ 删除要移动其后所有字符；拼接、抽子串要复制一段连续区域。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容量不足：申请更大数组 → 复制 → 释放旧数组 → 更新指针和长度。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892040" y="3840480"/>
            <a:ext cx="3794760" cy="822960"/>
          </a:xfrm>
          <a:prstGeom prst="roundRect">
            <a:avLst>
              <a:gd name="adj" fmla="val 8889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029200" y="39319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静态定长的局限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42245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数组一旦定长，运行中产生更长的串就会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——这正是接下来用一个类来解决的问题。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4.1  标准串函数（&lt;cstring&gt;）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44805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函数名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size_t strlen(char* s)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的当前长度，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不计结束符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；空串长度为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strcpy(char*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将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复制到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，返回指向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开始的指针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strcat(char*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将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拼接到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尾部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 strcmp(const 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全同返回 0；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大于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返回正数，小于返回负数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strchr(char* s, char c)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中第一次出现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的位置，没有则返回空指针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strrchr(char* s, char c)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从尾部逆向定位最后一次出现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的位置，没有则返回空指针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/ 输出也属于标准串函数库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cin &gt;&gt; s1;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从标准输入读取字符串到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 &lt;&lt; s1;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的内容输出到标准输出。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strchr / strrchr 返回指针；s1 = s2 不是复制内容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4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6583" y="1024128"/>
            <a:ext cx="6310835" cy="1508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42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4.2  在 s1 中定位字符 'o'：strchr 找到下标 4，strrchr 找到下标 7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「没找到」怎么表达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35584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两个函数找不到时返回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表达同一件事——「没找到」不再靠一个特殊指针值。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非常容易犯的错误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335584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的字符数组用字符指针指向始址，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 = s2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理解为把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的内容复制到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。这正是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必须自己写拷贝赋值运算符的原因。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String 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变长存储为什么不走链表？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链式存储：每个结点一个字符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5156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554480" y="1883664"/>
            <a:ext cx="365760" cy="0"/>
          </a:xfrm>
          <a:prstGeom prst="line">
            <a:avLst/>
          </a:prstGeom>
          <a:noFill/>
          <a:ln w="1524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2024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2024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24028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4028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0" y="1883664"/>
            <a:ext cx="365760" cy="0"/>
          </a:xfrm>
          <a:prstGeom prst="line">
            <a:avLst/>
          </a:prstGeom>
          <a:noFill/>
          <a:ln w="1524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10896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0896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2900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900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228600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字节的数据配 8 字节的指针（64 位机）：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每一个链指针比一个字符所占的空间还大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。回到 2.4 节那条判据：指针所占比例超过 1:1 就要慎重。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仍然顺序存放，交给类去管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937760" y="169164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37760" y="16916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37760" y="2103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937760" y="21031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size_ = 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847088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126480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26480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28816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28816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31152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31152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333488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33488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735824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735824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38160" y="1664208"/>
            <a:ext cx="402336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38160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892040" y="2606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类里只存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 + 一个长度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；字符本体在堆上。缓冲区的分配与释放由类负责。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顺序存储只说了「字符放在哪」；包成类之后，「这块内存归谁、什么时候还」才有着落：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008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构造时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69164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69164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4612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2900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析构时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48056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48056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03504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1792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拷贝时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726948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26948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另开一份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teaching.hpp（1/5）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空串也占 1 个字节；从 C 字符串构造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String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size_type = std::size_t;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空串。**注意它仍然申请了 1 个字节**，里面放一个 '\0'。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这样 c_str() 永远返回一个合法的 C 字符串，调用方不必先判空指针。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String() : data_(new char[1]), size_(0)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data_[0]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C 字符串构造。参数是 `const char*` 而不是原书的 `char*`——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原书那个签名让它自己书里的例子 `String s1 = "Hello";` 从 C++11 起就编译不过：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字符串字面量的类型是 const char[6]，绑不到 char*。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这里**故意不加 explicit**，为的就是保住 `String s1 = "Hello";` 这种写法。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String(const char* s)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NOLINT(google-explicit-constructor)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std::invalid_argument("String: 不能用空指针构造字符串");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std::strlen(s);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new char[size_ + 1];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std::memcpy(data_, s, size_ + 1);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+1 把结尾那个 '\0' 也带上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~String() { delete[] data_;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25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'\0' 结尾，永远非空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字符个数，不含 '\0'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0" y="2514600"/>
            <a:ext cx="22860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空串为什么申请 1 字节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89864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里面放一个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，于是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永远返回合法的 C 字符串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，调用方不必先判空指针。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84048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故意不加 explicit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224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为了保住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这种写法。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构造与所有权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原书【算法4.4】的构造函数：两处问题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FDF0EE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1556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43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assert(str != '\0') 编译不过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645920"/>
            <a:ext cx="374904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，不是空指针常量；指针与它比较是 ill-formed。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assert(str != nullptr)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也无效：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失败抛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std::bad_alloc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从不返回空指针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NDEBUG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构建里整个消失。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F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1556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43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参数类型是 char*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45920"/>
            <a:ext cx="374904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原书自己写：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隐含调用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String::String(char* 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字面量类型是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char[6]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，转成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C++11 起已被移除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GCC 默认降级为警告，在本书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-Werror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构建下即是错误。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还有一处原书没做的检查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2702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== nullptr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毫无防备——而 4.2.3 节原书的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恰好会喂给它一个空指针。本书：参数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char*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，空指针抛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teaching.hpp（2/5）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三法则：拷贝构造与拷贝赋值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三法则：自己管着 new 出来的缓冲区，拷贝必须自己写。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原书正文里描述过赋值时「必须释放 s1 的原有空间」，却没有把拷贝构造和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拷贝赋值作为清单给出。只有析构没有这两个，一次 `String b = a;` 就是二次释放。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String(const String&amp; other) : data_(new char[other.size_ + 1]),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std::memcpy(data_, other.data_, size_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operator=(const String&amp;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char[other.size_ + 1];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先备好新的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other.data_, other.size_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     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再释放旧的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4206240" cy="896112"/>
          </a:xfrm>
          <a:prstGeom prst="roundRect">
            <a:avLst>
              <a:gd name="adj" fmla="val 816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947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拷贝赋值的三步顺序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4114800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备好新的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+ memcpy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938528" y="4114800"/>
            <a:ext cx="292608" cy="29260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9385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释放旧的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 data_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310128" y="4114800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101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 = fresh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846320" y="3767328"/>
            <a:ext cx="3840480" cy="896112"/>
          </a:xfrm>
          <a:prstGeom prst="roundRect">
            <a:avLst>
              <a:gd name="adj" fmla="val 8163"/>
            </a:avLst>
          </a:prstGeom>
          <a:solidFill>
            <a:srgbClr val="FDF0E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3480" y="3858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顺序反过来 / 只有析构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83480" y="415137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抛异常时对象停在「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指针已释放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」的破碎状态。只有析构没有拷贝：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b = a;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变长存储管理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4.3 / 4.4：String 按当前串长动态调整空间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8" name="Image 0" descr="fig-4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0541"/>
            <a:ext cx="3383280" cy="9787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103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4.3 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60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在动态存储区开一个长度为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的字符数组（5 个字符 + 结束符），对象里只有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一个指针和一个长度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，字符本体在堆上。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51960" y="960120"/>
            <a:ext cx="44348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12" name="Image 1" descr="fig-4-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052741"/>
            <a:ext cx="4251960" cy="99433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43400" y="210312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4.4 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s2 = "Hello world"; s1 = s2;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256032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新内容比旧的长，装不下：先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另开一块新数组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、把内容复制过去，旧数组（灰格）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改指新数组。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注意那块灰色的旧空间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它必须释放，而且必须在新空间准备好之后再释放。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这就是「变长管理」的全部含义。工程版还多两个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操作，见 4.2a。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teaching.hpp（3/5）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访问器、clear 与 at：越界抛异常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size() const { return size_;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length() const { return size_;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c_str() const { return data_;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fresh[0] = '\0';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按下标取字符。越界抛异常，不是返回一个随便什么值。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 at(size_type index)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size_)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std::out_of_range("String::at: 下标越界");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60120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51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size() 与 length()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441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两个名字同一个值：字符个数，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结尾的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20574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2148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也守不变式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4144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置空，而是换成一块只装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1 字节缓冲区——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仍然合法。同样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先备新、再释放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89320" y="35661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3657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at(index)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395020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不是返回一个随便什么值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按下标取字符是 O(1)：这是顺序存储的长处。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teaching.hpp（4/5）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追加一个字符：为什么是 O(n)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在串尾添加一个字符。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**变长存储的代价在这里看得最清楚**：字符串长度变了，就得重新申请一块、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把老内容拷过去、再把老的还回去。所以 append 一个字符是 O(n)，不是 O(1)。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返回自身引用，于是 `s.append('a').append('b')` 可以连着写；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原书【代码4.1】声明的是**按值返回**，调用方从签名看不出它改不改本串。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append(char c)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char[size_ + 2];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老内容 + 新字符 + '\0'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data_, size_);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fresh[size_] = c;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fresh[size_ + 1]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append('!') 的三步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080760" y="13258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申请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949440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96328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90104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36992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30768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80760" y="19842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拷贝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49440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196328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96328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443216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43216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690104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90104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936992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36992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183880" y="1984248"/>
            <a:ext cx="246888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83880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430768" y="1984248"/>
            <a:ext cx="246888" cy="329184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30768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26426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释放旧块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949440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196328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96328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443216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43216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690104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90104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936992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936992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83880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83880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80760" y="33375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217920" y="34290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变长存储的代价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0" y="372160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长度一变，就得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重新申请、拷过去、还回去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——追加一个字符要拷 n 个字符。这也是后续章节讨论「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预留容量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」的动机。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38404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9436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String&amp;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94360" y="42245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s.append('a').append('b')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可以连着写；从签名一眼看出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改的是本串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。原书【代码4.1】按值返回，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s.append('x');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到底改不改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，看不出来。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追加与拼接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concatenate：同样是「重新申请、拷两段、释放旧的」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 s 接在本串后面。同样是「重新申请、拷两段、释放旧的」。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concatenate(const char* 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std::invalid_argument("String::concatenate: 空指针");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extra = std::strlen(s);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char[size_ + extra + 1];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data_, size_);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 + size_, s, extra + 1);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+= extra;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拷两段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8076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28232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75704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75704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,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23176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23176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70648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7064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818120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1812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65592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65592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080760" y="17830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memcpy(fresh, data_, size_)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080760" y="20116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memcpy(fresh + size_, s, extra + 1)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080760" y="23317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结尾的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一起带上。</a:t>
            </a:r>
            <a:endParaRPr lang="en-US" sz="10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18288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append(c)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申请 size+2，拷 size 个字符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concatenate(s)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申请 size+extra+1，拷两段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+ |s|)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at(i)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直接按下标取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teaching.hpp（5/5 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抽取子串【算法4.5】：越界就抛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【算法4.5】从 pos 开始取长度至多 len 的子串。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原书在 `pos &gt;= size` 时 `return NULL;`。那不是「返回空串」——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NULL 会去走 String(char*) 构造函数，然后 strlen(nullptr) 当场段错误。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这里越界就抛异常，让错误停在发生的地方。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size() 是合法的，得到空串（「从末尾取 0 个字符」）。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substr(size_type pos, size_type len)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(pos &gt; 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std::out_of_range("String::substr: 起始位置越界");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available = size_ - pos;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take = (len &lt; available) ? len : available;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原书的 if (n &gt; left) n = left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char[take + 1];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 + pos, take);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fresh[take]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result.data_;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result.size_ = take;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&gt; size()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 std::out_of_range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size()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合法，得到空串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 超出剩余长度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截断，不报错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抽取子串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原书在起始位置越界时 return NULL：能编译，崩在运行期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16152"/>
            <a:ext cx="8010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./s7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准备调用 s.Substr(99, 1)——原书会走到 return NULL 那一支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error: null pointer passed as argument 1, which is declared to never be null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AddressSanitizer:DEADLYSIGNAL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ERROR: AddressSanitizer: SEGV on unknown address 0x000000000000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return NULL;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返回类型是 String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2199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56032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NULL → char*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不是「空串」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2511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66344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6344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String(char*)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走构造函数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2823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76656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6656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strlen(nullptr)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段错误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584448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，让错误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停在发生的地方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，而不是变成调用方某处的段错误。构造函数也对空指针设防：抛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916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4632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两条合法边界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818888" y="3584448"/>
            <a:ext cx="375818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size()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合法，得空串——与「从末尾取 0 个字符」的直觉一致。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超出剩余长度时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，与原书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&gt; left) n = left;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语义一致。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查找与比较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find【算法4.4】：optional 取代 -1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【算法4.4】从 start 开始查找字符 c。找到返回下标，没找到返回空 optional。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原书用 -1 表示没找到——与「位置 0」只差一个符号，忘了判就会读错位置。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std::optional&lt;size_type&gt; find(char c, size_type start = 0)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start; i &lt; size_;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(data_[i] == c)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原书：int，-1 表示没找到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3246120"/>
            <a:ext cx="346557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k = s.find('x', 0);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print(s.at(k));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忘了判 -1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88620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与「位置 0」只差一个符号，漏判就把「没找到」当成「匹配在开头」。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697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EAF4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本书：optional&lt;size_type&gt;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92040" y="3200400"/>
            <a:ext cx="361188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65192" y="3246120"/>
            <a:ext cx="346557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(const auto found = text.find('C'))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use(*found);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有值才解引用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9319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找到是下标，没找到是空盒子。与 2.2.2 节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getPos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同一个问题、同一个改法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teaching.hpp（5/5 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compare【算法4.3】：只该看符号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【算法4.3】三路比较：负 / 零 / 正 表示 小于 / 等于 / 大于。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原书自己实现了一个 strcmp，返回值固定为 -1/0/1，并在正文里说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「这与 C/C++ 语言中通常的大小比较习惯不一致」——其实不一致的是原书自己：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标准 strcmp 返回的就是差值的符号，调用方只该看符号，不该看具体数值。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compare(const String&amp; other) const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std::strcmp(data_, other.data_);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char* data_;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以 '\0' 结尾的字符数组，永远非空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字符个数，不含结尾的 '\0'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operator==(const String&amp; a, const String&amp; b) { return a.compare(b) == 0;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operator!=(const String&amp; a, const String&amp; b) { return a.compare(b) != 0;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operator&lt;(const String&amp; a, const String&amp; b) { return a.compare(b) &lt; 0;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 strcmp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自己实现了一个，固定返回 −1/0/1，并说「这与 C/C++ 通常的大小比较习惯不一致」——其实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不一致的是原书自己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：标准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strcmp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返回的就是差值的符号，调用方只该看符号。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保持标准语义，并据此提供关系运算符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。另：原书那个与标准库同名同签名的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strcmp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实测能编译也能链接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，不构成冲突（legacy.md 第五节）。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进阶（选读）·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工程版的拷贝：读 raw()，copy-and-swap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原书只在正文里描述了赋值时"必须释放 s1 的原有空间(delete [] s1.str)"，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却没有把拷贝构造和拷贝赋值作为清单给出。只要有析构函数而没有这两个，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一次 `String b = a;` 就是二次释放——与第 2、3 章是同一个错误。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String(const String&amp; other) : data_(new char[other.size_ + 1]), size_(other.size_)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注意读的是 other.raw() 不是 other.data_：源可能是被移动过的对象（data_ 为空），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从空指针 memcpy 即便长度为 0 也是未定义行为。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std::memcpy(data_, other.raw(), size_ + 1);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 operator=(const String&amp;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!= &amp;other)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copy(other);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拷贝并交换：自赋值安全，且拷贝失败时原对象不受影响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swap(copy);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为什么读 other.raw()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源可能是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被移动过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的对象（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为空）；从空指针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即便长度为 0 也是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未定义行为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拷贝并交换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拷成局部对象再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自赋值安全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，拷贝失败时原对象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不受影响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（强异常保证）。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进阶（选读）·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移动之后的那个空壳怎么办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移动**不分配**：直接接管缓冲区，把对方置为 nullptr。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被移动方仍是一个可用的空串——读取路径统一走 raw()，它在 data_ 为空时返回 ""。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（若在这里 new 一块空缓冲区来"修复"对方，移动就不再是 noexcept 的了。）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String(String&amp;&amp; other) noexcept : data_(other.data_),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other.data_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other.size_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 operator=(String&amp;&amp; other)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!= &amp;other)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other.data_;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other.data_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other.size_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~String() { delete[] data_;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63640" y="960120"/>
            <a:ext cx="242316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515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移动不分配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44168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移动声明为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不能在里面分配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——被移动方的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只能置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377440"/>
            <a:ext cx="242316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468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可承诺不能作废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761488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教学版承诺「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永远不是空指针」。工程版加私有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为空时返回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静态空串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，读取路径全走它——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不花任何分配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9776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其余差别同前几章：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、copy-and-swap、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 &lt;= &gt;=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派生。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4.3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字符串的模式匹配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朴素匹配与原书「差 1」 · 目标的回溯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 next · KMP 与线性论证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的另一个用途：最小循环节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在很大的文本里找一个短小的模式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（pattern matching）：在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（text）中寻找给定的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（pattern）。通常文本很大，模式短小。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文本编辑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574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「替换」前先要找到被替换的内容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146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 ≈ 一个单词，10 个字符左右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9718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9718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 几百字到上百万字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1554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DNA 分析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0574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信息由 A、C、G、T 四个符号组成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892040" y="25146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5146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 基因一般几百个字符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92040" y="29718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29718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 人类染色体长度 30 亿之多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这些应用对匹配算法的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效率要求很高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30 亿个字符里，O(|T|·|P|) 和 O(|T|+|P|) 是两个世界。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 vs 近似匹配；本节的记号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 exact matching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53312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中至少一处存在 P 才算成功，差一个字符也算失败。可以是单选（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），也可以多选：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"s?t"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可匹配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通配符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；更复杂的用正则表达式。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24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近似匹配 approximate matching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53312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与 T（或其子串）存在某种程度的相似即成功。常用相似度：一个串转换成另一个串所需的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插入、删除、替换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的操作数。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本节与原书一样，只讨论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精确匹配中的单选情况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。给定 T、P，在 T 中找一个 j 使得：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P₁ P₂ ⋯ Pₘ₋₂ Pₘ₋₁  =  Tⱼ Tⱼ₊₁ Tⱼ₊₂ ⋯ Tⱼ₊ₘ₋₂ Tⱼ₊ₘ₋₁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8862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记住：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和 T 的第一个字符都从位置 0 开始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——4.3.1 节会看到，原书自己的两个算法都没有遵守它。实现用 </a:t>
            </a:r>
            <a:r>
              <a:rPr lang="en-US" sz="115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std::string_view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接收输入：不拷贝、不拥有。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naive_search：接口与约定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朴素模式匹配：返回 pattern 在 text 中首次出现的**起始下标**；没有则 std::nullopt。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与原书【算法4.6】的关键差别是返回值：原书写的是 `return (j - pLen + 1);`，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而在 0 起始的下标体系里正确的是 `j - pLen`——**原书这里差了 1**。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用书中自己的例子可以当场看出来：T="abcddabcab..."、P="abcdaabcab" 匹配始于下标 10，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原书返回 11（证据见 legacy.md 缺陷 1）。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空模式约定返回 0（与 std::string::find("") 一致）；原书用 assert(m&gt;0) 把它挡在门外，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 assert 在 NDEBUG 下会被整个编译掉。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naive_search(std::string_view text,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std::string_view pattern)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text.size();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std::size_t{0};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m)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86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78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起始下标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；没有则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取代原书的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37947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886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空模式返回 0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4178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std::string::find("")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一致；原书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assert(m&gt;0)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NDEBUG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下整个消失。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80760" y="37947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3886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原书差 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4178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(j - pLen + 1);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，0 起始下标下正确的是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朴素匹配：失配就右移一位，从头再比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模式下标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j = 0;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目标下标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m &amp;&amp; j &lt; n)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(text[j] == pattern[i])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j - i + 1;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回退到本趟起点的下一个位置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 &gt;= m ? std::optional&lt;std::size_t&gt;(j - m) : std::nullopt;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34416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模式首字符对齐目标的每一个位置，逐字符比较；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时模式对 T 右移一个字符，重新开始下一趟。直到某趟配串成功，或比到目标结束也没配上。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80760" y="2487168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5786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= j - i + 1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871216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把目标下标退回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本趟起点的下一个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位置——这个 +1 是对的：「换一个起点重来」。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365760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3749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j - m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40416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成功时 j 已走到匹配段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末尾之后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，所以起始位置是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5844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两个下标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97280"/>
                <a:gridCol w="914400"/>
                <a:gridCol w="27432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模式下标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++i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++j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j - i + 1（回溯）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版：同一个回溯过程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2560320"/>
          </a:xfrm>
          <a:prstGeom prst="roundRect">
            <a:avLst>
              <a:gd name="adj" fmla="val 28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naive_search(text: str, pattern: str) -&gt; int | None: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"""朴素匹配：返回首次出现的 0 起始下标。"""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 and j &lt; len(text):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text[j] == pattern[i]: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j - i + 1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j - len(pattern) if i == len(pattern) else None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C++ 逐行对应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空模式返回 0、两个下标、失配时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= j - i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、成功返回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len(pattern)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，全都一样；找不到返回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56032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651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&lt; m 不必单独判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9443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版先判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&lt;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；Python 版由循环条件自然结束，返回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手算一例：T = abababd，P = ababd</a:t>
            </a:r>
            <a:endParaRPr lang="en-US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319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48640"/>
                <a:gridCol w="6035040"/>
                <a:gridCol w="118872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比较过程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比较次数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T[0..3] = abab 相等，T[4]='a' ≠ P[4]='d'；j 从 4 退回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T[1]='b' ≠ P[0]='a'；j 退到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T[2..6] = ababd 全部相等 → 返回 7 − 5 =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4.6：T = abacaabaccabacabaa，P = abacab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4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4926"/>
            <a:ext cx="4663440" cy="29045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960120"/>
            <a:ext cx="315468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趟在目标的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与模式的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处失配（T₅ ≠ P₅），模式右移一位重来。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加粗带下划线的是当前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的那一对字符。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如此直到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在子串处配上，返回首位置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3200400"/>
            <a:ext cx="315468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3291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69280" y="3584448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目标里有多少字符被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反复比较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过？这些重复比较正是 KMP 要省掉的东西。按本章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计，这一例共比较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时间效率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三种极端情况：图 4.7 / 4.8 / 4.9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469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4698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050" dirty="0"/>
          </a:p>
        </p:txBody>
      </p:sp>
      <p:pic>
        <p:nvPicPr>
          <p:cNvPr id="10" name="Image 0" descr="fig-4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3046" y="1024128"/>
            <a:ext cx="2569029" cy="3657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892040" y="1005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目标开头那一段就是配串，比 |P| 次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269480" y="960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O(|P|)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1572768"/>
            <a:ext cx="8229600" cy="1033272"/>
          </a:xfrm>
          <a:prstGeom prst="roundRect">
            <a:avLst>
              <a:gd name="adj" fmla="val 7080"/>
            </a:avLst>
          </a:prstGeom>
          <a:solidFill>
            <a:srgbClr val="F1F4F2"/>
          </a:solidFill>
          <a:ln/>
        </p:spPr>
      </p:sp>
      <p:sp>
        <p:nvSpPr>
          <p:cNvPr id="14" name="Shape 11"/>
          <p:cNvSpPr/>
          <p:nvPr/>
        </p:nvSpPr>
        <p:spPr>
          <a:xfrm>
            <a:off x="594360" y="192481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" y="192481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失败中的最好</a:t>
            </a:r>
            <a:endParaRPr lang="en-US" sz="1050" dirty="0"/>
          </a:p>
        </p:txBody>
      </p:sp>
      <p:pic>
        <p:nvPicPr>
          <p:cNvPr id="16" name="Image 1" descr="fig-4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527" y="1636776"/>
            <a:ext cx="2254066" cy="89611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92040" y="1618488"/>
            <a:ext cx="23774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每趟在模式首字符就不等，共约 |T|−|P|+1 次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269480" y="1572768"/>
            <a:ext cx="13716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O(|T|−|P|+1)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57200" y="2715768"/>
            <a:ext cx="8229600" cy="1033272"/>
          </a:xfrm>
          <a:prstGeom prst="roundRect">
            <a:avLst>
              <a:gd name="adj" fmla="val 7080"/>
            </a:avLst>
          </a:prstGeom>
          <a:solidFill>
            <a:srgbClr val="F1F4F2"/>
          </a:solidFill>
          <a:ln/>
        </p:spPr>
      </p:sp>
      <p:sp>
        <p:nvSpPr>
          <p:cNvPr id="20" name="Shape 16"/>
          <p:cNvSpPr/>
          <p:nvPr/>
        </p:nvSpPr>
        <p:spPr>
          <a:xfrm>
            <a:off x="594360" y="306781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94360" y="306781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</a:t>
            </a:r>
            <a:endParaRPr lang="en-US" sz="1050" dirty="0"/>
          </a:p>
        </p:txBody>
      </p:sp>
      <p:pic>
        <p:nvPicPr>
          <p:cNvPr id="22" name="Image 2" descr="fig-4-9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918" y="2779776"/>
            <a:ext cx="2275284" cy="89611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892040" y="2761488"/>
            <a:ext cx="23774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形如 aⁿ、P 形如 aᵐ⁻¹b，每趟比到最后一个字符才失配：|P|(|T|−|P|+1) 次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269480" y="2715768"/>
            <a:ext cx="13716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O(|T|·|P|)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3877056"/>
            <a:ext cx="8229600" cy="786384"/>
          </a:xfrm>
          <a:prstGeom prst="roundRect">
            <a:avLst>
              <a:gd name="adj" fmla="val 9302"/>
            </a:avLst>
          </a:prstGeom>
          <a:solidFill>
            <a:srgbClr val="FDF0EE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594360" y="396849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最坏情况出现在哪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594360" y="4261104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此类输入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很少出现在自然语言文本中，却经常出现在 DNA 信息和图像信息中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——这正是需要 KMP 的实际理由。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时间效率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平均情况：依赖字符的分布概率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假设串中只允许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种字符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，每种概率 1/2。对第 j 趟扫描：</a:t>
            </a:r>
            <a:endParaRPr lang="en-US" sz="13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04672"/>
                <a:gridCol w="804672"/>
                <a:gridCol w="804672"/>
                <a:gridCol w="804672"/>
                <a:gridCol w="80467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本趟比较次数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2⁻ᵐ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2286000"/>
            <a:ext cx="54864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每趟平均比较次数  Σₖ₌₁^|P| k / 2ᵏ  &lt;  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8346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总平均比较次数  2(|T| − |P| + 1)  &lt;  2|T|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7200" y="3566160"/>
            <a:ext cx="54864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6576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更精细的估计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3950208"/>
            <a:ext cx="5266944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用马尔科夫链理论可估算更好的比较次数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2^(|P|+1) − 2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字符集大小为 |A| 时，平均比较次数为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(|A|^(|P|+1) − |A|) / (|A| − 1)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2200" y="13716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1E3D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55080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2880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平均情况下朴素算法其实不慢；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真正的问题是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最坏情况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——而最坏情况在 DNA、图像里并不罕见。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一处必须指出的错误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原书【算法4.6】【算法4.8】的返回值差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 &gt;= pLen) return (j - pLen + 1);     </a:t>
            </a:r>
            <a:r>
              <a:rPr lang="en-US" sz="10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原书，两个算法都这样写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把原书两段代码照抄进程序，拿标准库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做参照：</a:t>
            </a:r>
            <a:endParaRPr lang="en-US" sz="1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54864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097280"/>
                <a:gridCol w="777240"/>
                <a:gridCol w="7772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原书朴素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aaab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abcddabcababcdaabcababcdaabcabaa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abcdaabcab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3291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每一组都恰好多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；最后一组正是书中图 4.12 自己演示 KMP 的那对串——原书逐趟画了过程，却没给返回值，错误因此没有暴露。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172200" y="1463040"/>
            <a:ext cx="2514600" cy="32004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309360" y="1554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不是排版 / OCR 错误：三重佐证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281928" y="1847088"/>
            <a:ext cx="2295144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在两个算法里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独立印出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、写法一致。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同一段代码里的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= j - i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说明作者用的就是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起始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节开头写死了：「P 和 T 的第一个字符都从位置 0 开始」。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931920"/>
            <a:ext cx="54864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" y="40233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测试要有牙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31596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每条匹配用例都拿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逐个对拍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，再加 3000 组随机对拍。只断言「找到了」的测试，在原书实现下同样全绿。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问题出在哪里：目标的回溯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一旦失配，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无论模式的具体情况如何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，都只右移一位——目标 T 中的字符被多次比较，造成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目标的回溯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7830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52728" y="1783080"/>
            <a:ext cx="384048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52728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36776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36776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36776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020824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20824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020824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04872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04872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404872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88920" y="1783080"/>
            <a:ext cx="384048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788920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788920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72968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72968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172968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557016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57016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557016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941064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41064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941064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325112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25112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325112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23957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第1趟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68680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68680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252728" y="2395728"/>
            <a:ext cx="384048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252728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636776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636776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020824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020824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404872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404872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788920" y="2395728"/>
            <a:ext cx="384048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788920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02920" y="288036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第2趟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252728" y="2880360"/>
            <a:ext cx="384048" cy="347472"/>
          </a:xfrm>
          <a:prstGeom prst="rect">
            <a:avLst/>
          </a:prstGeom>
          <a:solidFill>
            <a:srgbClr val="FFE8A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252728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636776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636776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020824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020824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2404872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404872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788920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788920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172968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172968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66" name="Text 64"/>
          <p:cNvSpPr txBox="1"/>
          <p:nvPr/>
        </p:nvSpPr>
        <p:spPr>
          <a:xfrm>
            <a:off x="3246120" y="2423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P₅ ≠ T₅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365760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对 T₁：多余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806440" y="1508760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943600" y="1600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为什么用不着比 P₀ 与 T₁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5916168" y="1892808"/>
            <a:ext cx="26609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上一趟 T₁ 已与 P₁ 比较过，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模式自身：P₁ ≠ P₀。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两条一合：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≠ T₁ 是推得出来的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0080" y="37947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Knuth、Morris、Pratt 发现：每次右移的位数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与目标串无关，仅依赖于模式本身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——可以预先算好（特征向量），改进后就是 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已经匹配上的那一段，本身携带了信息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abababd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，P =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ababd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，从 T 的位置 0 开始比：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9304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930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930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09928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09928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09928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30552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30552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30552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551176" y="1645920"/>
            <a:ext cx="420624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51176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51176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97180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97180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97180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39242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9242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39242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8680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289304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289304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709928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709928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130552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130552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551176" y="2286000"/>
            <a:ext cx="420624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51176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2788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T[4]='a'，P[4]='d' 失配；已匹配 abab。朴素算法：右移 1 位，从 T[1] 重比。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09160" y="132588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84632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12064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12064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54126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54126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54126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961888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61888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5961888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382512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382512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382512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6803136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03136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803136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22376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22376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722376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64438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64438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764438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484632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961888" y="2286000"/>
            <a:ext cx="420624" cy="365760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961888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382512" y="2286000"/>
            <a:ext cx="420624" cy="365760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382512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803136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803136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7223760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223760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7644384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644384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4846320" y="2788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KMP：一次右移 4 − 2 = 2 位，前两个字符已知相同（灰），从 P[2] 对 T[4] 继续，在位置 2 匹配成功。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457200" y="347472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40080" y="3547872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 的前缀：a, ab, aba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 的后缀：b, ab, bab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最长相同的一段："ab"，长度 2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5806440" y="347472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9436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5943600" y="385876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整个过程中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的下标从来没有往回退过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特征向量（next 数组）：失配时该退到哪里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把「每个位置失配时该退到哪里」对模式的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预先算出来，就是特征向量。上例用本章实现跑出来：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63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764792"/>
            <a:ext cx="43525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next(ababd) = -1 0 -1 0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kmp_search("abababd", "ababd") =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std::string::find 对照         = 2</a:t>
            </a:r>
            <a:endParaRPr lang="en-US" sz="1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1508760"/>
          <a:ext cx="3429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02920"/>
                <a:gridCol w="502920"/>
                <a:gridCol w="502920"/>
                <a:gridCol w="502920"/>
                <a:gridCol w="502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274320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next[4] =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P[4] 处失配时，模式的比较位置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退到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——与手推一致。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−1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：连 P[0] 都不必再比，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模式整体越过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当前目标字符（i 变 −1，下一步 i、j 同时加 1）。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只依赖模式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：同一个模式算一次，可在任意多个目标上复用。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274320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0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这里印的是「优化版」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312724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原书【算法4.7】的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next，所以中间会出现 −1。未优化版本取值不同，但失配后的落点等价。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build_next：原书【算法4.7】优化版，只改了所有权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计算模式的特征向量（next 数组），原书【算法4.7】的"优化版"。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与原书的差别只有所有权：原书 `int* findNext(String P)` 用 `new int[m]` 返回裸数组，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而书中**从未展示过与之配对的 delete[]**——每调用一次泄漏一个数组。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计算过程一字未改，包括 `next[i] = next[k]` 这一步优化。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空模式返回空向量；原书是 `assert(m &gt; 0)`，而 assert 在 NDEBUG 下会被编译掉，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于是 release 构建里 `new int[0]` 加 `next[0] = -1` 就是一次越界写。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std::vector&lt;next_type&gt; build_next(std::string_view pattern)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std::vector&lt;next_type&gt; next(m);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i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k = -1;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next[0] = -1;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原书：int* findNext(String P)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int[m]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返回裸数组，书中调用它的地方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一次都没有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——每匹配一个模式就漏一个数组。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本书：std::vector&lt;next_type&gt;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返回拥有所有权的容器，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计算过程一字未改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。空模式返回空向量（原书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assert(m &gt; 0)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release 里是一次越界写）。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用模式串跟自己匹配：沿已算好的特征值回退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static_cast&lt;next_type&gt;(m))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&gt;= 0 &amp;&amp; pattern[static_cast&lt;std::size_t&gt;(i)] != pattern[static_cast&lt;std::size_t&gt;(k)])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next[static_cast&lt;std::size_t&gt;(k)];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沿已算好的特征值回退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 == static_cast&lt;next_type&gt;(m))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ui = static_cast&lt;std::size_t&gt;(i);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uk = static_cast&lt;std::size_t&gt;(k);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P[i] 与 P[k] 相等时可以直接借用 next[k]，省掉一次注定失败的比较——这就是"优化版"。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next[ui] = (pattern[ui] == pattern[uk]) ? next[uk] : 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 while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P[i] ≠ P[k] 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：沿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已算好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的特征值回退，直到能延长或 k 退到 −1。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最后那个三目表达式 = 优化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P[i] == P[k]，退到 k 必然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在同一个字符上再失配一次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，不如直接借用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一步到位。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逐步计算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 build_next("abcdaabcab")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685800"/>
                <a:gridCol w="2011680"/>
                <a:gridCol w="7772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进入时 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回退：比 P[i] 与 P[k]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++ 后 i, 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P[i+1] vs P[k]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 next[i+1]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= −1 不比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b≠a → k=next[0]=−1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c≠a → k=−1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d≠a → k=−1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=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next[0] = 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a=a，不退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≠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a≠b → k=next[1]=0；a=a 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=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b=b，不退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7, 2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= 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next[2]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c=c，不退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8, 3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≠ 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a≠d → k=next[3]=0；a=a 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=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b=b，不退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10, 2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== 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break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69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「i」列是本轮开始时的 i；自增后 i 变成 i+1，写的是 next[i+1]。next[0] = −1 在循环前赋好。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583680" y="914400"/>
            <a:ext cx="2103120" cy="374904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2084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红色行 = 优化生效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720840" y="1298448"/>
            <a:ext cx="1828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P[i] 与 P[k] 相等时借用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，而不是写 k。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72084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 0 0 0 -1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1 0 0 3  0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"abcdaabcab" 的特征向量，与图 4.11 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1305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版（modern.py）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395728"/>
            <a:ext cx="5394960" cy="2267712"/>
          </a:xfrm>
          <a:prstGeom prst="roundRect">
            <a:avLst>
              <a:gd name="adj" fmla="val 3226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441448"/>
            <a:ext cx="5248656" cy="21762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build_next(pattern: str) -&gt; list[int]: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"""计算原书算法4.7的优化版 next 数组。"""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[]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next_values = [-1] * len(pattern)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 =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k &gt;= 0 and pattern[i] != pattern[k]: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next_values[k]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== len(pattern):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next_values[i] = next_values[k] if pattern[i] == pattern[k] else 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next_values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035040" y="2130552"/>
            <a:ext cx="2651760" cy="2532888"/>
          </a:xfrm>
          <a:prstGeom prst="roundRect">
            <a:avLst>
              <a:gd name="adj" fmla="val 2888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7220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原书正文与图 4.11 不一致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2514600"/>
            <a:ext cx="237744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= {-1,0,0,0,0,-1,1,0,0,3,0}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，而模式只有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个字符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。图 4.11 的 10 个值与实算相符，正文多出的那个 0 是错的。本书测试逐个比对十个值，并单独断言「模式只有 10 个字符」。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接口：next 由调用方传入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KMP 模式匹配。失配时不再把模式右移一位，而是按特征值决定右移多少。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返回值与 naive_search 一致，也修正了原书【算法4.8】同样的差一错误。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next 由调用方传入：同一个模式可以只算一次、多次匹配复用——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这正是原书强调的性质，接口把它显式表达出来。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kmp_search(std::string_view text,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std::string_view pattern,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const std::vector&lt;next_type&gt;&amp; 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text.size();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std::size_t{0};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(next.size() != 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std::invalid_argument("kmp_search: next 数组长度与模式不符");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next 作参数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同一个模式只算一次、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跨多个目标复用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——这正是原书强调的性质，接口把它显式表达出来。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防御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next.size() !=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；返回值同样修正了原书【算法4.8】的差一错误。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与朴素算法只差失配那一步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i = 0;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模式下标，可以退到 -1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j = 0;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目标下标，只增不减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static_cast&lt;next_type&gt;(m) &amp;&amp; j &lt; 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 == -1 || text[j] == pattern[static_cast&lt;std::size_t&gt;(i)])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next[static_cast&lt;std::size_t&gt;(i)];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 &gt;= static_cast&lt;next_type&gt;(m) ? std::optional&lt;std::size_t&gt;(j - m) :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便利重载：模式只用一次时，自己把 next 算掉。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kmp_search(std::string_view text,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std::string_view pattern)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kmp_search(text, pattern, build_next(pattern));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347472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朴素匹配失配时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 失配时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模式下标 i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next[i]（可退到 −1）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 j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j - i + 1（回溯）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不动——只增不减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版：目标串下标只向前移动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kmp_search(text: str, pattern: str, next_values: list[int] | None = None) -&gt; int |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"""KMP 匹配；目标串下标只向前移动。"""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next_values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next_values = build_next(pattern)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len(next_values) != len(pattern):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ValueError("kmp_search: next 数组长度与模式不符")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 and j &lt; len(text):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== -1 or text[j] == pattern[i]: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+= 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next_values[i]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j - len(pattern) if i == len(pattern) else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77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== -1 分支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702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−1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 P[0] 也不必比：下一步 i、j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 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——模式整体越过 T[j]。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862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77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对照朴素版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702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循环条件、相等分支、返回值与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else 分支不同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逐步追踪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kmp_search("abababd", "ababd")，next = −1 0 −1 0 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11480"/>
                <a:gridCol w="411480"/>
                <a:gridCol w="594360"/>
                <a:gridCol w="594360"/>
                <a:gridCol w="594360"/>
                <a:gridCol w="26974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T[j]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i=1, j=1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i=2, j=2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i=3, j=3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i=4, j=4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 next[4] = 2，j 不动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i=3, j=5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i=4, j=6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i=5, j=7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 5 = m，返回 j − m = 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960120"/>
            <a:ext cx="2331720" cy="1737360"/>
          </a:xfrm>
          <a:prstGeom prst="roundRect">
            <a:avLst>
              <a:gd name="adj" fmla="val 4211"/>
            </a:avLst>
          </a:prstGeom>
          <a:solidFill>
            <a:srgbClr val="EAF4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9385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次比较；j 序列 0,1,2,3,4,4,5,6——从不减小。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55080" y="2834640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9224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154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3813048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次比较：第 5 次失配后 j 从 4 退回 1，再在 T[1] 失配一次。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时间代价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KMP 是线性的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960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只增不减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960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至多执行 |T| 次；与它同处一条语句的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也不超过 |T| 次。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465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3677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能让 i 减少的只有 i = next[i]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163677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&lt; 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，所以每执行一次 i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至少减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423160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3134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减到 −1 之后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231343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下一步必然进入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++i, 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099816"/>
            <a:ext cx="411480" cy="41148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0998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9900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合起来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299008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next[i]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的执行次数 ≤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++i, 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的次数 + 1 → 循环体至多执行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2|T|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7490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整体 </a:t>
            </a: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O(|P| + |T|)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 next O(|P|) + 匹配 O(|T|)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09160" y="37490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3840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一条能检出退化的测试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13308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20 万个 'a'，P = 1999 个 'a' + 'b'：KMP 瞬间完成；不按特征值回退的实现退化成 O(|T|·|P|)，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直接撞上闸门超时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4.12：P = abcdaabcab 在 T 中的完整过程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4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7532"/>
            <a:ext cx="8046720" cy="2036313"/>
          </a:xfrm>
          <a:prstGeom prst="rect">
            <a:avLst/>
          </a:prstGeom>
        </p:spPr>
      </p:pic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54864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240280"/>
                <a:gridCol w="1280160"/>
                <a:gridCol w="155448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特征值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右移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5 次比较，P₄ ≠ T₄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next[4] = 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4 − (−1) = 5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9 次比较，P₃ ≠ T₈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next[3] = 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3 − 0 = 3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12 次比较，P₂ ≠ T₁₀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next[2] = 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2 − 0 = 2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22 次比较匹配成功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 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172200" y="333756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309360" y="3429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目标下标一次都没回退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372160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4.6 被反复比较的字符，省下的就是这些。同一对串，本章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要比较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朴素与 KMP：代价对照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3035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82880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预处理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 建 next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O(|P|)（含建 next）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O(|T|·|P|)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O(|T| + 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会回溯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只增不减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 的 next 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 复用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同一模式跨多个目标只算一次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989320" y="1005840"/>
            <a:ext cx="269748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126480" y="10972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「刻意没改」的三条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099048" y="1389888"/>
            <a:ext cx="247802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朴素匹配仍是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仍是原书的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（图 4.11 对的是这一版）；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 next 仍由调用方传入、可跨目标复用。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989320" y="333756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26480" y="3429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本书的修正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99048" y="3721608"/>
            <a:ext cx="247802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，不再差 1；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取代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返回容器，不再泄漏。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最小循环节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一个串最短是由多长的一段反复拼成的？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特征向量算出来的量——前缀里「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最长的相同前缀与后缀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」——还回答另一个问题。上机考试常见的「循环串」「字符串乘方」「前缀中的周期」三类题，核心都是这一件事。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真边界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既是 s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真前缀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、又是 s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真后缀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的子串。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的真边界有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和空串。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6642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周期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正整数 p 是 s 的周期，当且仅当对所有 0 ≤ i &lt; n−p 都有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sᵢ = sᵢ₊ₚ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0632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定理：s 有长为 b 的真边界 ⇔ n − b 是 s 的周期。所以 </a:t>
            </a: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 = n − 最长真边界的长度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76732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8587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证明：同一组等式的两种读法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151376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长为 b 的真边界：s₀⋯s_(b−1) = s_(n−b)⋯s_(n−1)，即对所有 0 ≤ i &lt; b 有 sᵢ = s_(i+(n−b))；令 p = n − b，恰是「对所有 0 ≤ i &lt; n−p 有 sᵢ = sᵢ₊ₚ」。边界越长周期越短，最长的边界对应最小的周期。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最小循环节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三个例子：周期不一定整除长度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abcabcabc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abcabc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9 − 6 = 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整除 9：abc 重复 3 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4612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5 − 3 = 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不整除 5：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某个串的整数次重复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3504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7220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（空）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4 − 0 = 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没有非空真边界，最小周期就是 4</a:t>
            </a:r>
            <a:endParaRPr lang="en-US" sz="105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463040"/>
                <a:gridCol w="1371600"/>
                <a:gridCol w="155448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border_lengths(s)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minimal_period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is_repetition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repetition_count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abcabcabc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0 0 0 1 2 3 4 5 6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ababa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0 0 1 2 3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false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false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aaaa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0 1 2 3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border_lengths：去掉「优化」的失效函数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未优化的失效函数：border[i] 是前缀 s[0..i] 的**最长真边界**长度——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既是它的真前缀、又是它的真后缀的最长那一段有多长。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这就是 build_next 去掉「优化」那一步之后的数，只是下标错开一位、没有 −1：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未优化的 next[i+1] == border[i]。回退 `k = border[k - 1]` 与 build_next 的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`k = next[k]` 是同一个动作。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**求周期不能拿 build_next 代替它。** 优化版的 `next[i] = next[k]` 专为匹配服务：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当 P[i] == P[k] 时它跳过一个注定失配的落点，于是 next[i] 不再是边界长度。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例如 "aaaa" 的优化版 next 是 {−1,−1,−1,−1}，而边界长度是 {0,1,2,3}。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std::vector&lt;std::size_t&gt; border_lengths(std::string_view s)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border(n);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k = border[i - 1];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先试着把上一个前缀的最长边界延长一个字符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&gt; 0 &amp;&amp; s[i] != s[k])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border[k - 1];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延长不了，退到「边界的边界」再试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(s[i] == s[k])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++k;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border[i] = k;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border;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build_next 的关系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回退链一模一样：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border[k - 1]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next[k]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是同一个动作。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未优化的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next[i+1] == border[i]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：下标错开一位、没有 −1。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92240" y="310896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200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4930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整个串只算一遍，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977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border[i] = 前缀 s[0..i] 的最长真边界长度。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陷阱一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原书的优化版 next 不能拿来求周期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next[k]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是专为匹配做的：Pᵢ = Pₖ 时退到 k 注定再失配，于是直接跳过这个落点。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对匹配而言那个落点没用，对周期而言它恰恰是答案。</a:t>
            </a:r>
            <a:endParaRPr lang="en-US" sz="12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4572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31520"/>
                <a:gridCol w="731520"/>
                <a:gridCol w="73152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优化版 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border[i]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257800" y="1783080"/>
            <a:ext cx="3429000" cy="1536192"/>
          </a:xfrm>
          <a:prstGeom prst="roundRect">
            <a:avLst>
              <a:gd name="adj" fmla="val 4762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40680" y="1847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 aaa 的周期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21671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错：3 − (−1) = 4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比前缀本身还长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对：3 − 2 = 1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这不是个别串的巧合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90448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{a, b} 上长度不超过 10 的全部串、全部前缀上统计过：优化版给出错误周期的前缀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数以千计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。求周期要用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border_lengths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minimal_period 与 is_repetition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最小周期 p：满足 s[i] == s[i+p]（对所有 0 ≤ i &lt; n−p）的最小正整数。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定理：p = n − （整串的最长真边界长度）。空串约定返回 0。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注意 p 不一定整除 n："ababa" 的最小周期是 2，但它不是某个串重复若干次。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std::size_t minimal_period(std::string_view 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- border_lengths(s)[n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s 能否写成某个**更短**的串重复至少两次（「循环串」问题）。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两个条件缺一不可：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n % p == 0 —— 周期不整除长度就拼不回整串（"ababa"）；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p &lt; n      —— 边界为 0 时 p == n，而 n % n == 0 **恒成立**，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              漏掉这一条会把 "abcd" 这种毫无重复的串也判成循环串。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bool is_repetition(std::string_view 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p = minimal_period(s);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 &lt; n &amp;&amp; n % p ==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51460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陷阱二：整除 ≠ 循环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判断是否由更短的串重复而成，要同时满足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mod p =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&lt; 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边界为 0 时 p = n，而 n mod n = 0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恒成立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——只写第一个条件，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就被当成了循环串。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92240" y="361188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703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不一定整除 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9959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最小周期 2，但它不是某个串重复若干次。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三类题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三类上机题怎么落到这组函数上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最大的 K，使 s 恰好是某个串重复 K 次（「字符串乘方」问题）。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不是循环串时 K = 1（s 就是它自己重复一次）；空串约定返回 0。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std::size_t repetition_count(std::string_view s)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(s.empty())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is_repetition(s) ? s.size() / minimal_period(s) :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能否写成更短的串重复至少两次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is_repetition(s)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4612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38328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字符串乘方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最大的 K，使 s 是某串重复 K 次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repetition_count(s)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3504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7220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前缀中的周期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逐个前缀报出 K &gt; 1 的那些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border 每个下标 i，长 i+1 的前缀套同一判断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730752"/>
            <a:ext cx="8229600" cy="932688"/>
          </a:xfrm>
          <a:prstGeom prst="roundRect">
            <a:avLst>
              <a:gd name="adj" fmla="val 7843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8221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测试怎么证伪它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1148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独立参照物是周期的定义本身：逐个试 p = 1, 2, … 的 O(n²) 暴力解。{a, b} 上长度 0～10 的全部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2047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个串逐个对拍，C++ 与 Python 各跑一遍；改用优化版 next 或删掉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&lt; 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，测试当场变红。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习题选讲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几道有代表性的习题与上机题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101498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给出使 s₁ + s₂ = s₂ + s₁ 成立的所有可能条件（+ 为连接）。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01498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结论很漂亮：当且仅当两者都是</a:t>
            </a: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同一个串的重复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39696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3969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194767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线性时间判断 T 是否是 T′ 的循环反转（如 arc 与 car）。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9476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长度相同，且 T 是 </a:t>
            </a: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T′T′ 的子串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——用 KMP 找。不要先反转再找，拿 arc / car 一试就露馅。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3072384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0723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9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 BAAABBBAA 的特征向量，并与目标 BAAABBBCDDDCCHHHHBBBAAABBBAADD 匹配，画出过程。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28803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 next：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 0 0 0 -1 1 1 0 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00507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40050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 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381304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简单行编辑程序：行插入、行删除、改当前行指针、分页显示、查找和替换。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81304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查找必须自己实现 KMP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（或其他模式匹配算法），不允许用编程环境提供的查找算法。</a:t>
            </a:r>
            <a:endParaRPr lang="en-US" sz="10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串与编码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元素限定为字符、操作按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整段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的线性表。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是字节不是字符；比较按编码单元字典序，两个裸字面量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比的是地址。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顺序存放 + 类管理缓冲区：长度一变就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重新申请、拷贝、释放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，追加一个字符 O(n)；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第三次出场。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不用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越界抛异常而非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NULL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；修改器返回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失配右移一位，目标回溯，最坏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O(|T|·|P|)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。原书两个匹配算法返回值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一律差 1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，正确是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只依赖模式、可复用；目标下标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只增不减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，整体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O(|T|+|P|)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。求周期要用未优化的 border。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第四章 字符串</dc:title>
  <dc:subject>PptxGenJS Presentation</dc:subject>
  <dc:creator>Hongfei Yan</dc:creator>
  <cp:lastModifiedBy>Hongfei Yan</cp:lastModifiedBy>
  <cp:revision>1</cp:revision>
  <dcterms:created xsi:type="dcterms:W3CDTF">2026-09-22T02:59:41Z</dcterms:created>
  <dcterms:modified xsi:type="dcterms:W3CDTF">2026-09-22T02:59:41Z</dcterms:modified>
</cp:coreProperties>
</file>