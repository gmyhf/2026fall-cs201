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notesMasterIdLst>
    <p:notesMasterId r:id="rId7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notesMaster" Target="notesMasters/notesMaster1.xml"/><Relationship Id="rId72" Type="http://schemas.openxmlformats.org/officeDocument/2006/relationships/presProps" Target="presProps.xml"/><Relationship Id="rId73" Type="http://schemas.openxmlformats.org/officeDocument/2006/relationships/viewProps" Target="viewProps.xml"/><Relationship Id="rId74" Type="http://schemas.openxmlformats.org/officeDocument/2006/relationships/theme" Target="theme/theme1.xml"/><Relationship Id="rId7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325880"/>
            <a:ext cx="6400800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第八章  内部排序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00800" cy="411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Internal Sorting：比较还是分配，稳不稳定，多快多省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6035040" cy="12344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基本概念 · 稳定性 · 比较次数与移动次数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Shell · 直接选择 · 堆排序 · 冒泡 · 快速排序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 · 逆序对计数 · 桶式 / 基数 / 索引排序</a:t>
            </a:r>
            <a:endParaRPr lang="en-US" sz="11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实测：同阶不等于同速 · std::sort · 判定树下限 Ω(n log n)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343400"/>
            <a:ext cx="64008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Compiled by Hongfei Yan · Updated 2026-09-21 · github.com/GMyhf/dsa-modernization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?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本章要回答三个问题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8" name="Shape 6"/>
          <p:cNvSpPr/>
          <p:nvPr/>
        </p:nvSpPr>
        <p:spPr>
          <a:xfrm>
            <a:off x="64008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靠比较，还是靠分配？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次比较；桶式、基数排序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，站在这条下界之外。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3" name="Shape 11"/>
          <p:cNvSpPr/>
          <p:nvPr/>
        </p:nvSpPr>
        <p:spPr>
          <a:xfrm>
            <a:off x="342900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相等的键排完还按原来的次序吗？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2900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这叫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。按成绩排序时同分学生仍按原姓名顺序，后续再按姓名排才有意义。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35040" y="1051560"/>
            <a:ext cx="2606040" cy="2331720"/>
          </a:xfrm>
          <a:prstGeom prst="roundRect">
            <a:avLst>
              <a:gd name="adj" fmla="val 3137"/>
            </a:avLst>
          </a:prstGeom>
          <a:solidFill>
            <a:srgbClr val="F1F4F2"/>
          </a:solidFill>
          <a:ln/>
        </p:spPr>
      </p:sp>
      <p:sp>
        <p:nvSpPr>
          <p:cNvPr id="18" name="Shape 16"/>
          <p:cNvSpPr/>
          <p:nvPr/>
        </p:nvSpPr>
        <p:spPr>
          <a:xfrm>
            <a:off x="6217920" y="1207008"/>
            <a:ext cx="420624" cy="420624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07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217920" y="175564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Θ(n²)，就一样快吗？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217920" y="242316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要看最好 / 平均 / 最坏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和额外空间；实测里冒泡比插入慢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61188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1E3D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85800" y="3703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一句话概括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005072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每读一种排序都问四件事：比较还是分配、稳不稳定、额外空间、三种时间。答案会告诉你：</a:t>
            </a:r>
            <a:r>
              <a:rPr lang="en-US" sz="14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≡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本章导引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内容地图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基础与简单排序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9436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基本概念：术语、稳定性、代价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插入排序：直接插入、Shell 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选择排序：直接选择、堆排序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2900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交换与分治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交换排序：冒泡、快速排序及两处优化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归并排序：两路归并、稳定性来自一个 </a:t>
            </a: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副产品：逆序对计数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51560"/>
            <a:ext cx="2606040" cy="35661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17920" y="11887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突破与极限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6172200" y="1737360"/>
            <a:ext cx="237744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分配排序：桶式、基数、索引排序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时间代价：实测数据、std::sort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判定树下限 Ω(n log n)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先跑一遍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同一组数据，交给四种手写排序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493776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51560"/>
            <a:ext cx="4791456" cy="3566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#include "modern.hpp"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... &lt;iostream&gt;、&lt;vector&gt;；print(name, values) 逐个输出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main() {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std::vector&lt;int&gt; raw{3, -2, 7, 3, 0, -2, 9, 1};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insertion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dsa::sorting::insertion_sort(insertion);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print("插入:", insertion);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heap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dsa::sorting::heap_sort(heap);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print("堆排:", heap);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quick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dsa::sorting::quick_sort(quick);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print("快排:", quick);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auto radix = raw;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dsa::sorting::radix_sort(radix);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print("基数:", radix);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623560" y="1005840"/>
            <a:ext cx="3063240" cy="1280160"/>
          </a:xfrm>
          <a:prstGeom prst="roundRect">
            <a:avLst>
              <a:gd name="adj" fmla="val 5714"/>
            </a:avLst>
          </a:prstGeom>
          <a:solidFill>
            <a:srgbClr val="1B2B2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733288" y="106070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733288" y="1261872"/>
            <a:ext cx="28437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插入: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堆排: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快排: -2 -2 0 1 3 3 7 9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基数: -2 -2 0 1 3 3 7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2377440"/>
            <a:ext cx="3063240" cy="594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-std=c++17 -Wall -Wextra -Werror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-Icode/ch08/sorting \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 code/ch08/sorting/demo.cpp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623560" y="3063240"/>
            <a:ext cx="3063240" cy="1600200"/>
          </a:xfrm>
          <a:prstGeom prst="roundRect">
            <a:avLst>
              <a:gd name="adj" fmla="val 4571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760720" y="315468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看到了什么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733288" y="3447288"/>
            <a:ext cx="2843784" cy="1143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四种算法交出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同一条非递减序列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，含重复值和负数。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插入排序保持两个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、两个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的相对次序；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堆排和快排不保证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这一点。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没有一个用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std::sort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顶替——那样等于把这一章删掉。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排序问题的基本概念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内排序与外排序 · 排序码与关键码 · 稳定性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比较次数与移动次数 · 本章的分类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术语先约定清楚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：把序列重排为有序；本章对记录数组做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：记录全部放在内存里（本章）；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外排序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：记录太多，还要访问外存（第 9 章）。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/ 元素」代替前 7 章的「结点」，用「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」代替「线性表」。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每个记录有一个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（sort key）域作为排序依据；本章假设排序码为整数。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不减序列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k′₀ ≤ k′₁ ≤ ⋯；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不增序列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反之。没有重复排序码时分别称升序、降序。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：待排序列正好符合要求；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：把它逆转过来才符合要求。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1005840"/>
            <a:ext cx="2880360" cy="1783080"/>
          </a:xfrm>
          <a:prstGeom prst="roundRect">
            <a:avLst>
              <a:gd name="adj" fmla="val 4103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排序码不一定是关键码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943600" y="1389888"/>
            <a:ext cx="26060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关键码唯一确定一个记录；排序码不是关键码时，可能有多个记录排序码相同，因此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排序结果可能不唯一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806440" y="2926080"/>
            <a:ext cx="2880360" cy="1737360"/>
          </a:xfrm>
          <a:prstGeom prst="roundRect">
            <a:avLst>
              <a:gd name="adj" fmla="val 4211"/>
            </a:avLst>
          </a:prstGeom>
          <a:solidFill>
            <a:srgbClr val="FFF6E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943600" y="30175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生活里的排序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916168" y="3310128"/>
            <a:ext cx="2660904" cy="1280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图书按编号放上书架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资源管理器按名称、大小、类型排列</a:t>
            </a:r>
            <a:endParaRPr lang="en-US" sz="11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搜索引擎把最相关的页面排在前面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稳定性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稳定：相同排序码的记录，排序后相对次序不变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全章用同一个序列，两个 34 记作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和 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（34 在前）：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488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2461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79476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solidFill>
            <a:srgbClr val="FFF6E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4340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4068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989320" y="1371600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1371600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21488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6974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32461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79476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solidFill>
            <a:srgbClr val="CDEBD9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34340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9204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44068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989320" y="1938528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1938528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 ✓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21488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26974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32461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379476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34340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489204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44068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5989320" y="2505456"/>
            <a:ext cx="548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200" dirty="0"/>
          </a:p>
        </p:txBody>
      </p:sp>
      <p:sp>
        <p:nvSpPr>
          <p:cNvPr id="58" name="Text 56"/>
          <p:cNvSpPr txBox="1"/>
          <p:nvPr/>
        </p:nvSpPr>
        <p:spPr>
          <a:xfrm>
            <a:off x="457200" y="2505456"/>
            <a:ext cx="1554480" cy="38404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 ✗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6720840" y="1371600"/>
            <a:ext cx="1965960" cy="3291840"/>
          </a:xfrm>
          <a:prstGeom prst="roundRect">
            <a:avLst>
              <a:gd name="adj" fmla="val 3721"/>
            </a:avLst>
          </a:prstGeom>
          <a:solidFill>
            <a:srgbClr val="CFE0D8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858000" y="146304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稳定不是装饰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6858000" y="1755648"/>
            <a:ext cx="1691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按成绩排序时，两名同分学生若仍按原来的姓名顺序出现，后续按姓名再排才有意义。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的 LSD 基数排序：第一趟之后的每一趟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都要求稳定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，否则前几趟的成果会被打乱。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457200" y="3108960"/>
            <a:ext cx="6080760" cy="1554480"/>
          </a:xfrm>
          <a:prstGeom prst="roundRect">
            <a:avLst>
              <a:gd name="adj" fmla="val 4706"/>
            </a:avLst>
          </a:prstGeom>
          <a:solidFill>
            <a:srgbClr val="F1F4F2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40080" y="3172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读每一种方法时，同时问四件事</a:t>
            </a:r>
            <a:endParaRPr lang="en-US" sz="1250" dirty="0"/>
          </a:p>
        </p:txBody>
      </p:sp>
      <p:sp>
        <p:nvSpPr>
          <p:cNvPr id="64" name="Shape 62"/>
          <p:cNvSpPr/>
          <p:nvPr/>
        </p:nvSpPr>
        <p:spPr>
          <a:xfrm>
            <a:off x="64008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400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102412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</a:t>
            </a:r>
            <a:endParaRPr lang="en-US" sz="1050" dirty="0"/>
          </a:p>
        </p:txBody>
      </p:sp>
      <p:sp>
        <p:nvSpPr>
          <p:cNvPr id="67" name="Shape 65"/>
          <p:cNvSpPr/>
          <p:nvPr/>
        </p:nvSpPr>
        <p:spPr>
          <a:xfrm>
            <a:off x="210312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10312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248716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稳定吗？</a:t>
            </a:r>
            <a:endParaRPr lang="en-US" sz="1050" dirty="0"/>
          </a:p>
        </p:txBody>
      </p:sp>
      <p:sp>
        <p:nvSpPr>
          <p:cNvPr id="70" name="Shape 68"/>
          <p:cNvSpPr/>
          <p:nvPr/>
        </p:nvSpPr>
        <p:spPr>
          <a:xfrm>
            <a:off x="356616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356616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395020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额外空间多少？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5029200" y="3611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02920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5413248" y="3547872"/>
            <a:ext cx="1051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最坏？</a:t>
            </a:r>
            <a:endParaRPr lang="en-US" sz="1050" dirty="0"/>
          </a:p>
        </p:txBody>
      </p:sp>
      <p:sp>
        <p:nvSpPr>
          <p:cNvPr id="76" name="Text 74"/>
          <p:cNvSpPr txBox="1"/>
          <p:nvPr/>
        </p:nvSpPr>
        <p:spPr>
          <a:xfrm>
            <a:off x="640080" y="41605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证明稳定要对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一对相同排序码论证；证明不稳定，举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一个反例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代价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怎么衡量代价：比较次数 + 移动次数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主要看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；有特殊空间限制时，再挑辅助空间小的算法。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时间代价用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记录的总比较次数和总移动次数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衡量：一次移动 = 一次记录赋值。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影响运行时间的因素：记录数量、排序码和记录的大小，以及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输入的原始有序程度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分别考虑三种情况：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最佳、最差、平均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平均怎么定义：不含重复记录时，长度为 n 的序列共有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种排列；假定每种等概率，所有排列的平均运行时间就是平均时间代价。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23560" y="1005840"/>
            <a:ext cx="306324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760720" y="1078992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swap = 三次移动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806440" y="15361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806440" y="1536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536192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tmp = a;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806440" y="20116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806440" y="20116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0116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b;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806440" y="24871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806440" y="24871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487168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D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tmp;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0" y="30632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插入排序挪一格只要 1 次赋值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23560" y="3657600"/>
            <a:ext cx="306324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760720" y="374904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这条换算后面要用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4041648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 解释「同样是 Θ(n²)，冒泡为什么比插入慢几十倍」时，靠的就是它。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8.1 基本概念 · 分类与总览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本章的分类，以及一张先记住的总表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57784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1417320"/>
                <a:gridCol w="731520"/>
                <a:gridCol w="24688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主要特点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小规模、近乎有序时简单有效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教学直观，通常不作为通用选择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交换次数少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最坏情况也有保证，原地排序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 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实务常用，坏划分时会退化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O(n log n)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需要 O(n) 辅助空间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计数/基数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与值域或位数有关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可稳定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适合整数键，不是比较排序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263640" y="1005840"/>
            <a:ext cx="2423160" cy="2103120"/>
          </a:xfrm>
          <a:prstGeom prst="roundRect">
            <a:avLst>
              <a:gd name="adj" fmla="val 3478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00800" y="10972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原书的分类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373368" y="1389888"/>
            <a:ext cx="2203704" cy="1645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：直接插入、Shell（8.2）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：直接选择、堆排序（8.3）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交换类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：冒泡、快速排序（8.4）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（8.5）；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：桶式、基数、索引（8.6）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263640" y="3246120"/>
            <a:ext cx="24231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3375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另一种常见分法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363016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插入、直接选择、冒泡是「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」；快排和归并是「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206240"/>
            <a:ext cx="5577840" cy="365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本章所有实现都接受有符号整数，测试含重复值和负数。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逐个把新记录插进已排好的前缀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 · 逆置 · Shell 排序（缩小增量）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直接插入：线性搜索找位置，边比边挪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12064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处理：每个新记录与已排好序的记录比较，插到适当位置。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找位置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（从右往左比，直到第一个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不大于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新记录的值）＋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挪位置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（比它大的都后移一格）。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 </a:t>
            </a:r>
            <a:r>
              <a:rPr lang="en-US" sz="12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values[index]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暂存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、腾出空位（hole），挪完再回填。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相等元素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不越过彼此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：图 8.1 中 i=4 那一行，34 与 34′ 的原始顺序没变，直到排序结束也没变。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空间只多一个临时变量：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Θ(1)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pic>
        <p:nvPicPr>
          <p:cNvPr id="9" name="Image 0" descr="fig-8-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1230435"/>
            <a:ext cx="2697480" cy="287922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06440" y="4343400"/>
            <a:ext cx="28803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 插入排序（‖ 左边已有序）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insertion_sort 与逐趟结果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846320" cy="2103120"/>
          </a:xfrm>
          <a:prstGeom prst="roundRect">
            <a:avLst>
              <a:gd name="adj" fmla="val 347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700016" cy="2011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算法8.1：直接插入排序。相等元素不越过彼此，故稳定。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insertion_sort(std::vector&lt;int&gt;&amp;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 &lt; values[hole - 1])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48463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&lt; values[hole - 1]</a:t>
            </a: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是严格小于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584448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遇到相等就停 → 新记录落在相等者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稳定。写成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就会越过相等元素。</a:t>
            </a:r>
            <a:endParaRPr lang="en-US" sz="11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960120"/>
          <a:ext cx="3200400" cy="914400"/>
        </p:xfrm>
        <a:graphic>
          <a:graphicData uri="http://schemas.openxmlformats.org/drawingml/2006/table">
            <a:tbl>
              <a:tblPr/>
              <a:tblGrid>
                <a:gridCol w="420624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  <a:gridCol w="347472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486400" y="3566160"/>
            <a:ext cx="3200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黄色：本趟插入的记录落点；绿色：i=4 时 34′ 停在 34 后面。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114800"/>
            <a:ext cx="32004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与图 8.1 逐行一致。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直接插入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版：同一策略，边界条件的代价不同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669280" cy="2240280"/>
          </a:xfrm>
          <a:prstGeom prst="roundRect">
            <a:avLst>
              <a:gd name="adj" fmla="val 326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522976" cy="21488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算法8.1：直接插入排序。相等元素不越过彼此，故稳定。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insertion_sort(values: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 in range(1, len(values)):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 = values[index]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hole = index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`hole &gt; 0` 这个条件在 Python 里是**承重的**，不是防御性写法：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C++ 版越界会被 ASan 当场抓住，Python 的 values[-1] 却合法——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它悄悄环绕到最后一个元素，把排序结果搅乱而不报任何错。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hole &gt; 0 and value &lt; values[hole - 1]: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hole -=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337560"/>
            <a:ext cx="5669280" cy="1325880"/>
          </a:xfrm>
          <a:prstGeom prst="roundRect">
            <a:avLst>
              <a:gd name="adj" fmla="val 5517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4290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同一处笔误，两种结局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721608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漏写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hole &gt; 0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：C++ 下标越界，被 AddressSanitizer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当场抓住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；Python 的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values[-1]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完全合法，环绕到最后一个元素——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交出一个看起来正常的错答案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355080" y="960120"/>
            <a:ext cx="2331720" cy="3703320"/>
          </a:xfrm>
          <a:prstGeom prst="roundRect">
            <a:avLst>
              <a:gd name="adj" fmla="val 313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两份实现的约定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464808" y="1344168"/>
            <a:ext cx="211226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的章节同时给 Python 实现；讲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的章节只有 C++（D-025）。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两份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不是逐行翻译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：策略同一份，代价不是同一份——差在哪里，每处都点名。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Θ(n)，最坏 Θ(n²)；平均要靠「逆置」来数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493776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143000"/>
                <a:gridCol w="1600200"/>
                <a:gridCol w="96012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情况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移动次数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最佳（正序）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 − 1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2(n − 1)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最差（逆序）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n(n−1)/2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(n−1)(n+4)/2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≈ 逆置数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逆置数 + 2(n − 1)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493776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最差时第 i 趟：比较 i 次；暂存 1 次 + 后移 i 次 + 回填 1 次 = i + 2 次移动。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926080"/>
            <a:ext cx="4937760" cy="1737360"/>
          </a:xfrm>
          <a:prstGeom prst="roundRect">
            <a:avLst>
              <a:gd name="adj" fmla="val 4211"/>
            </a:avLst>
          </a:prstGeom>
          <a:solidFill>
            <a:srgbClr val="F1F4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0080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逆置（inversion）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329184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排列 P 中 i &lt; j 而 pᵢ &gt; pⱼ 的一对。例如图 8.1 处理 i=3 时，12 前面有 3 个比它大的数：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801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solidFill>
            <a:srgbClr val="CFE0D8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7373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78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solidFill>
            <a:srgbClr val="F9D5D0"/>
          </a:solidFill>
          <a:ln w="12700">
            <a:solidFill>
              <a:srgbClr val="3E7C6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194560" y="3840480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2788920" y="37947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(34,12) (45,12) (78,12)</a:t>
            </a:r>
            <a:endParaRPr lang="en-US" sz="1050" dirty="0"/>
          </a:p>
          <a:p>
            <a:pPr algn="l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3 个逆置，内层挪 3 次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23560" y="960120"/>
            <a:ext cx="3063240" cy="2240280"/>
          </a:xfrm>
          <a:prstGeom prst="roundRect">
            <a:avLst>
              <a:gd name="adj" fmla="val 3265"/>
            </a:avLst>
          </a:prstGeom>
          <a:solidFill>
            <a:srgbClr val="FFF6E0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760720" y="10515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平均有多少逆置？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760720" y="1344168"/>
            <a:ext cx="27889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个元素两两成对共 n(n−1)/2 对；每一对要么是 P 的逆置、要么是全逆置序列 P′ 的逆置。等概率下 P 平均占一半：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n(n−1)/4 个逆置 → Θ(n²)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23560" y="3337560"/>
            <a:ext cx="3063240" cy="1325880"/>
          </a:xfrm>
          <a:prstGeom prst="roundRect">
            <a:avLst>
              <a:gd name="adj" fmla="val 5517"/>
            </a:avLst>
          </a:prstGeom>
          <a:solidFill>
            <a:srgbClr val="CFE0D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5760720" y="34290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一条很强的结论（8.7.1）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5760720" y="3721608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任何只对相邻记录做比较和移动的排序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，平均时间代价都是 Θ(n²)——说的是一整类算法。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排序：先跨大步，最后一趟再细排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02920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直接插入的代价全花在「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一次只能挪一格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」：一个很小的元素落在末尾，要一路挪回 n−1 次。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排序（D. L. Shell，1959）利用插入排序的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两条性质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：正序时 Θ(n)；短序列上很有效。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把序列分成若干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不相邻、间距相同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的子序列，各自做插入排序；再缩小间距、重复。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间距减到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时整个序列已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，最后这趟插入排序接近 Θ(n)。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又称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缩小增量排序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（diminishing increment sorting）。本书按原书取增量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每次除以 2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：(2ᵏ, 2ᵏ⁻¹, ⋯, 2, 1)。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0" y="960120"/>
            <a:ext cx="3017520" cy="3703320"/>
          </a:xfrm>
          <a:prstGeom prst="roundRect">
            <a:avLst>
              <a:gd name="adj" fmla="val 2424"/>
            </a:avLst>
          </a:prstGeom>
          <a:solidFill>
            <a:srgbClr val="F1F4F2"/>
          </a:solidFill>
          <a:ln/>
        </p:spPr>
      </p:sp>
      <p:pic>
        <p:nvPicPr>
          <p:cNvPr id="9" name="Image 0" descr="fig-8-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1499811"/>
            <a:ext cx="2834640" cy="2303899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669280" y="4297680"/>
            <a:ext cx="30175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8.2 Shell 排序（同一种连线 = 同一子序列）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8：gap = 4 → 2 → 1，一步跨四格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  <a:gridCol w="5257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C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gap=1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154680"/>
            <a:ext cx="512064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初始行的底色：gap=4 时的 4 个子序列 {45,34′} {34,32} {78,29} {12,64}，各自排好。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70332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7947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一步跨四格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087368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从下标 6 一步搬到下标 2；34′ 从下标 4 一步搬到下标 0——直接插入做不到。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3657600"/>
          </a:xfrm>
          <a:prstGeom prst="roundRect">
            <a:avLst>
              <a:gd name="adj" fmla="val 2540"/>
            </a:avLst>
          </a:prstGeom>
          <a:solidFill>
            <a:srgbClr val="FDF0EE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代价：不稳定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 与 34′ 落在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不同的子序列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里，34′ 在第一趟就越过了 34，最终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 排在 34 前面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，与输入次序相反。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原因正是「跨越式移动」；稳定性依赖「只与相邻元素比较、绝不跳过相等元素」。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shell_sort：把插入排序里的 1 换成 gap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4864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3400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算法8.2：增量每次减半的 Shell 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shell_sort(std::vector&lt;int&gt;&amp;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gap = values.size() / 2; gap != 0; gap /= 2)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gap;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&gt;= gap &amp;&amp; value &lt; values[hole - gap])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values[hole] = values[hole - gap];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hole -= gap;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566160"/>
            <a:ext cx="548640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内两层就是 insertion_sort，只是「减 1」换成「减 gap」；最外层让 gap 从 n/2 减半到 1。</a:t>
            </a:r>
            <a:endParaRPr lang="en-US" sz="11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960120"/>
          <a:ext cx="251460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9144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增量序列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减半（本书）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1, 3, 7, …, 2ᵏ−1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Sedgewick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实测更好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172200" y="2606040"/>
            <a:ext cx="251460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至今没有完全解决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309360" y="2990088"/>
            <a:ext cx="2240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增量序列直接决定复杂度。本书取减半，是因为它最容易讲清楚「增量」这件事本身。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 插入排序 · Shell 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为什么「除以 2 递减」效果有限；换增量能换来质变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减半增量：仍是 Θ(n²)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2011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增量之间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不互质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：间距 2ᵏ⁻¹ 的子序列由间距 2ᵏ 的子序列组成，而后者上一轮已排过，后面的处理效率不高。</a:t>
            </a: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endParaRPr lang="en-US" sz="10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最坏：大数都在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下标、小数都在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下标。每轮子序列非奇即偶，排完大数仍在奇数位——直到最后 gap=1 那一趟，序列仍未基本有序。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514600"/>
          </a:xfrm>
          <a:prstGeom prst="roundRect">
            <a:avLst>
              <a:gd name="adj" fmla="val 2909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Hibbard：{2ᵏ−1, …, 7, 3, 1}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508760"/>
            <a:ext cx="370332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推理证明可达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Θ(n^(3/2))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；模拟实验甚至 Θ(n^(5/4))，尚无理论证明。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「每次除以 3 递减」也是 Θ(n^(3/2))。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有的增量序列可达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Θ(n^(7/6))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，很接近 Θ(n log n)。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65760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74904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注意两条边界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41648"/>
            <a:ext cx="8010144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最后一趟增量必须是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：换用其他增量序列时，一定要人为补上间距 1，否则不能保证有序。</a:t>
            </a:r>
            <a:endParaRPr lang="en-US" sz="11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Shell 排序不稳定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：子序列互相交错、跨度大（34 与 34′ 就是例子）。空间仍是 Θ(1)。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逐个选出第 i 小的记录放到第 i 位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直接选择（线性扫描） · 堆排序（最大堆）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直接选择：选出第 i 小，一次交换到位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5778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431536" cy="18745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算法8.3：直接选择排序。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selection_sort(std::vector&lt;int&gt;&amp; values)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minimum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values.size();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values[minimum]) minimum = index;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swap(values[first], values[minimum]);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63240"/>
            <a:ext cx="5577840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关键：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如何从剩余的未排序记录中找出最小的那个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。本节两种办法：线性查找（直接选择）、二叉树堆（堆排序）。</a:t>
            </a:r>
            <a:endParaRPr lang="en-US" sz="12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i 轮从剩下的 n−i 个记录里线性扫描出最小者，与下标 i 交换。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960120"/>
            <a:ext cx="2423160" cy="1965960"/>
          </a:xfrm>
          <a:prstGeom prst="roundRect">
            <a:avLst>
              <a:gd name="adj" fmla="val 3721"/>
            </a:avLst>
          </a:prstGeom>
          <a:solidFill>
            <a:srgbClr val="1E3D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0" y="1024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比较次数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3258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Σ(n−1−i) = n(n−1)/2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17373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与输入顺序无关</a:t>
            </a: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：已排好的输入照样扫这么多次。最好、平均、最坏都是 Θ(n²)。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63640" y="3063240"/>
            <a:ext cx="2423160" cy="1600200"/>
          </a:xfrm>
          <a:prstGeom prst="roundRect">
            <a:avLst>
              <a:gd name="adj" fmla="val 4571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0800" y="315468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别人没有的优点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447288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交换最多 n−1 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。记录很大、比较很便宜时，移动开销才是主导，这时选择排序反而合适。空间 Θ(1)。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直接选择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逐轮结果：第 3 轮就看得出不稳定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420624"/>
                <a:gridCol w="1024128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本轮交换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与下标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 与下标 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5D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与下标 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与下标 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i=6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与下标 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为什么不稳定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扫描从前往后，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34′（下标 4）先于 34（下标 6）被选中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，排完是 34′ 34。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更本质：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交换跨度很大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——i=1 那轮把 34 从下标 1 一脚踢到下标 6，越过了 34′。稳定的排序必须避免这种远距离交换。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434340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（与原书图 8.3 同一序列）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堆排序：用最大堆代替线性扫描来「选最大」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8" name="Image 0" descr="fig-8-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19631" y="1005840"/>
            <a:ext cx="5904738" cy="1920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108960"/>
            <a:ext cx="5120640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先把数组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建成最大堆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，再反复把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堆顶与堆尾交换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、缩小堆，把新堆顶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筛下去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sift_down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必须比较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左右两个孩子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，与较大者交换。</a:t>
            </a:r>
            <a:endParaRPr lang="en-US" sz="12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每取一次，就把一个最大值放进后面已排好的那一段——</a:t>
            </a:r>
            <a:r>
              <a:rPr lang="en-US" sz="12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不需要额外数组</a:t>
            </a:r>
            <a:r>
              <a:rPr lang="en-US" sz="12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806440" y="3108960"/>
            <a:ext cx="28803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943600" y="3200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5943600" y="3493008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 O(n)（5.5.1a 证过）＋ n−1 次筛选各 O(log n)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最坏也有保证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。空间 Θ(1)；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不稳定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sift_down 与 heap_sort：全手写，不委托标准库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154680"/>
          </a:xfrm>
          <a:prstGeom prst="roundRect">
            <a:avLst>
              <a:gd name="adj" fmla="val 23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063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算法8.4：手写最大堆筛选与堆排序，不委托 std::make_heap/sort_heap。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sift_down(std::vector&lt;int&gt;&amp; values, std::size_t root, std::size_t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(root * 2 + 1 &lt; count)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child = root * 2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(child + 1 &lt; count &amp;&amp; values[child] &lt; values[child + 1]) ++child;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(values[root] &gt;= values[child])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swap(values[root], values[child]);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 = child;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heap_sort(std::vector&lt;int&gt;&amp;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root = values.size() / 2; root != 0; --root)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root - 1,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swap(values[0], values[end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sift_down(values, 0, end - 1);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5 行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选左右孩子中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的那个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4612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3756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建堆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02336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从最后一个非叶结点 n/2−1 往前筛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4206240"/>
            <a:ext cx="2606040" cy="457200"/>
          </a:xfrm>
          <a:prstGeom prst="roundRect">
            <a:avLst>
              <a:gd name="adj" fmla="val 16000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26480" y="4206240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6812280" y="42062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堆顶换到 end−1，堆缩小一格再筛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8.3 选择排序 · 堆排序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heap_sort 逐步：建堆 4 次筛选，排序 7 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14400"/>
          <a:ext cx="6035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2194560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数组（堆部分 | 已排好）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这一步做了什么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12 34′ 32 29 64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64，交换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78 64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 ≥ 32，不动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64 78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 与 64 交换；再看 12，停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筛 root=0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 64 45 34 34′ 32 29 12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 与 78 交换 → 最大堆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end=8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 34 45 12 34′ 32 29 |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上顶，筛到下标 1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end=7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 34 32 12 34′ 29 |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上顶，筛到下标 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end=6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 34′ 32 12 29 |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29 被 34、34′ 依次顶上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end=5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 29 32 12 |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堆顶 34 被换到下标 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0E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end=4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 29 12 |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end=3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 12 |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end=2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| 29 32 34′ 34 45 64 78</a:t>
                      </a:r>
                      <a:endParaRPr lang="en-US" sz="8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 34′ 在 34 前</a:t>
                      </a:r>
                      <a:endParaRPr lang="en-US" sz="8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675120" y="932688"/>
            <a:ext cx="2011680" cy="3730752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812280" y="1024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不稳定就发生在这里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12280" y="1316736"/>
            <a:ext cx="1737360" cy="3273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end=6 时 34 在堆顶、34′ 在下标 1；end=5 时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堆顶 34 被一次远距离交换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送进已排好区，34′ 留在前面，最后落在 34 之前。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这就是习题 2「举一个使堆排序打乱相等键次序的例子」的答案之一。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发现逆置就交换，直到没有逆置为止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 · 快速排序 · 深递归与小区间两处优化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冒泡：只比较相邻两个，逆序就交换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52120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交换排序的思想：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两两比较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关键码，发现逆置就交换，直到没有逆置对为止。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冒泡排序不停地比较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两个记录，一趟走完，最大（或最小）的那个必然被顶到一端——像气泡从水底冒上来。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原书从数组末端往前比，每趟把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的推到最左；本书从前往后比，每趟把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的顶到最右。原书自己也说「取决于编程人员的个人喜好」，两种写法对称等价。</a:t>
            </a:r>
            <a:endParaRPr lang="en-US" sz="125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关键优化（原书算法 8.5 已有）：记一个「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本趟有没有交换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」的标志，没有就说明已经有序，立刻结束。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852160" y="960120"/>
            <a:ext cx="2834640" cy="3703320"/>
          </a:xfrm>
          <a:prstGeom prst="roundRect">
            <a:avLst>
              <a:gd name="adj" fmla="val 2581"/>
            </a:avLst>
          </a:prstGeom>
          <a:solidFill>
            <a:srgbClr val="F1F4F2"/>
          </a:solidFill>
          <a:ln/>
        </p:spPr>
      </p:sp>
      <p:pic>
        <p:nvPicPr>
          <p:cNvPr id="9" name="Image 0" descr="fig-8-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523693"/>
            <a:ext cx="2651760" cy="225613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852160" y="4297680"/>
            <a:ext cx="2834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8.5 冒泡排序（原书：最小者推到最左）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冒泡排序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bubble_sort：本趟无交换即结束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452628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37997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算法8.5：带“本趟无交换即结束”优化的冒泡排序。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bubble_sort(std::vector&lt;int&gt;&amp;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end = values.size(); end &gt; 1; --end)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bool changed =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1; index &lt; end;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(values[index] &lt; values[index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using std::swap;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swap(values[index], values[index - 1]);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changed =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(!changed)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66360" y="960120"/>
          <a:ext cx="352044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  <a:gridCol w="36576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第1趟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第2趟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第3趟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第4趟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第5趟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第6趟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78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166360" y="3429000"/>
            <a:ext cx="3520440" cy="457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 趟一次交换都没有 → 结束。绿色：本趟被顶到位的最大者。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3566160"/>
            <a:ext cx="452628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" y="365760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稳定：只有严格小于才交换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3950208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相等的两个元素永远不会互换位置——第 3、4 趟里 34 往左走，34′ 也在走，但始终「34 在前」。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，稳定性当场消失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，这是最容易犯的错。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166360" y="3931920"/>
            <a:ext cx="3520440" cy="731520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03520" y="4023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5303520" y="431596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Θ(n)（有序，第一趟就退出）；最坏逆序 n(n−1)/2 = Θ(n²)。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快速排序：分、治，不用合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Tony Hoare，1962 年；被评为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世纪十大算法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之一，平均 Θ(n log n)。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从序列中任选一个记录 k 作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（pivot）；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把其余记录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（partition）成左子序列 L 和右子序列 R；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L 中都 ≤ k、R 中都 ≥ k，于是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 正好在最终位置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对 L、R 递归，直到子序列只含 0 或 1 个元素。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轴值已到位，L 的记录再也不会跑到 k 右边——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不需要明显的「合」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，这是它与归并最大的区别。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pic>
        <p:nvPicPr>
          <p:cNvPr id="9" name="Image 0" descr="fig-8-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58656"/>
            <a:ext cx="2926080" cy="187978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317296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8.6 快速排序图示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3611880"/>
            <a:ext cx="3108960" cy="1051560"/>
          </a:xfrm>
          <a:prstGeom prst="roundRect">
            <a:avLst>
              <a:gd name="adj" fmla="val 6957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370332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看成一棵二叉树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3995928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轴值是子根，L、R 是左右子树；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中序遍历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收集轴值和叶子，就是排序结果。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轴值怎么选，影响很大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DF0E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✗ 选第一个或最后一个记录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输入恰好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时，每次分割都把剩余记录全分到一边，另一边为空——分治法根本起不到作用。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递归深度 n，时间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EAF4E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 选中间点 (start + end) / 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508760"/>
            <a:ext cx="3657600" cy="17373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正序或逆序输入时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正好平分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序列，实验效果非常好。</a:t>
            </a:r>
            <a:endParaRPr lang="en-US" sz="11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实务中的快排一定要配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三数取中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或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随机枢轴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本书的实现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904488"/>
            <a:ext cx="3758184" cy="6858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区间末元素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为枢轴，把更小的元素换到左侧，再递归两边。</a:t>
            </a:r>
            <a:endParaRPr lang="en-US" sz="105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硬要求：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全相等的输入必须也能结束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520440"/>
            <a:ext cx="3977640" cy="1143000"/>
          </a:xfrm>
          <a:prstGeom prst="roundRect">
            <a:avLst>
              <a:gd name="adj" fmla="val 64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61188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等于轴值的记录怎么办？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904488"/>
            <a:ext cx="3703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快排本来就不稳定，处理方法有多种。原书算法 8.6 注释：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也可以改写为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，但增加记录移动——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两种都对，差别只在移动次数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原书的分割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8.7：两端交替找空闲位置，把逆置记录移过去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291840" cy="3703320"/>
          </a:xfrm>
          <a:prstGeom prst="roundRect">
            <a:avLst>
              <a:gd name="adj" fmla="val 2222"/>
            </a:avLst>
          </a:prstGeom>
          <a:solidFill>
            <a:srgbClr val="F1F4F2"/>
          </a:solidFill>
          <a:ln/>
        </p:spPr>
      </p:sp>
      <p:pic>
        <p:nvPicPr>
          <p:cNvPr id="8" name="Image 0" descr="fig-8-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231" y="1005840"/>
            <a:ext cx="2585778" cy="36118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3977640" y="100584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977640" y="1005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389120" y="969264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准备</a:t>
            </a:r>
            <a:endParaRPr lang="en-US" sz="115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96926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 32 与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末记录交换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并存入临时变量 → 末位成了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空闲位置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（方框）。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977640" y="15727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977640" y="1572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389120" y="153619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 向右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166360" y="15361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 ≤ 轴值的，停在 34（&gt; 32），把它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r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；l 处空出。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977640" y="213969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977640" y="21396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389120" y="2103120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向左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103120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r 前面找 &lt; 轴值的，停在 29，把它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放到空闲位 l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处空出。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977640" y="270662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977640" y="2706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4389120" y="267004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交替</a:t>
            </a:r>
            <a:endParaRPr lang="en-US" sz="1150" dirty="0"/>
          </a:p>
        </p:txBody>
      </p:sp>
      <p:sp>
        <p:nvSpPr>
          <p:cNvPr id="24" name="Text 21"/>
          <p:cNvSpPr txBox="1"/>
          <p:nvPr/>
        </p:nvSpPr>
        <p:spPr>
          <a:xfrm>
            <a:off x="5166360" y="267004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如此循环，直到 l、r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相遇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，整个序列扫描完毕。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977640" y="3273552"/>
            <a:ext cx="329184" cy="329184"/>
          </a:xfrm>
          <a:prstGeom prst="ellipse">
            <a:avLst/>
          </a:prstGeom>
          <a:solidFill>
            <a:srgbClr val="A06A00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977640" y="3273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4389120" y="3236976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回填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5166360" y="323697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此时空闲位置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正是轴值的正确位置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，回填 32：左边都小、右边都大。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977640" y="3703320"/>
            <a:ext cx="4709160" cy="987552"/>
          </a:xfrm>
          <a:prstGeom prst="roundRect">
            <a:avLst>
              <a:gd name="adj" fmla="val 7407"/>
            </a:avLst>
          </a:prstGeom>
          <a:solidFill>
            <a:srgbClr val="FFF6E0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4114800" y="3794760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分割是快排的全部工作量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4114800" y="4087368"/>
            <a:ext cx="4434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 O(n) 的线性扫描。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分得均不均匀决定递归有多深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：每次平分 O(n log n)，每次只切下一个元素 O(n²)。另一种写法是 l、r 各停在逆置记录上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直接交换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本书的 partition：末元素当轴，一趟扫描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286000"/>
          </a:xfrm>
          <a:prstGeom prst="roundRect">
            <a:avLst>
              <a:gd name="adj" fmla="val 32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194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std::size_t partition(std::vector&lt;int&gt;&amp;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int pivot = values[last - 1];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boundary = first;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+ 1 &lt; last; ++index)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(values[index] &lt; pivot)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swap(values[boundary], values[index]);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using std::swap;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swap(values[boundary], values[last - 1]);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boundary;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循环不变式（区间左闭右开）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70332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03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[first, boundary)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2377440" y="37033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&lt; pivot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032504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0325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[boundary, index)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03250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都 ≥ pivot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4361688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43616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last − 1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2377440" y="436168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pivot 本身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663440" y="338328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FF6E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00600" y="34747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要点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3767328"/>
            <a:ext cx="3803904" cy="822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扫描结束，把 pivot 换到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boundary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：左边都更小，右边都不小于它。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等于 pivot 的都留在右侧；全相等时每次切下一个，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一定结束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（只是 Θ(n²)）。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partition 手算：demo 数据 [3, −2, 7, 3′, 0, −2′, 9, 1]，轴 = 1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8521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005840"/>
                <a:gridCol w="1325880"/>
                <a:gridCol w="2057400"/>
                <a:gridCol w="8229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index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values[index]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&lt; 1 ?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数组（下标 0…7）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boundary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3 -2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[0]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3 7 3′ 0 -2′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[1]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7 3′ 3 -2′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-2′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E7C68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是，与 [2] 交换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3′ 3 7 9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收尾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[3] ↔ [7]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-2 0 -2′ 1 3 7 9 3′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 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840480"/>
            <a:ext cx="5852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此后递归 [0,3) 与 [4,8)，最终得到：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33088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-2′  -2  0  1  3′  3  7  9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92240" y="960120"/>
            <a:ext cx="2194560" cy="3703320"/>
          </a:xfrm>
          <a:prstGeom prst="roundRect">
            <a:avLst>
              <a:gd name="adj" fmla="val 3333"/>
            </a:avLst>
          </a:prstGeom>
          <a:solidFill>
            <a:srgbClr val="FDF0E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105156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相等键被打乱了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629400" y="1344168"/>
            <a:ext cx="192024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[0,3) 以 −2′ 为轴：没有更小的，−2′ 被换到下标 0，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越过了 −2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[4,8) 以 3′ 为轴，同样把 3′ 换到 3 前面。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这就是 demo 那句「快排不保证」：输出看起来一样，是因为 int 看不出谁是谁。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代价分析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quick_sort_range 与三种情况的代价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1600200"/>
          </a:xfrm>
          <a:prstGeom prst="roundRect">
            <a:avLst>
              <a:gd name="adj" fmla="val 457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508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quick_sort_range(std::vector&lt;int&gt;&amp; values, std::size_t first, std::size_t last) {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partition(values, first,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last);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算法8.6：手写快排。</a:t>
            </a:r>
            <a:endParaRPr lang="en-US" sz="9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quick_sort(std::vector&lt;int&gt;&amp; values) { quick_sort_range(values, 0, values.size()); }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最差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每次只切下一个元素：Θ(n) 次分割 → 时间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；每层栈上存一个轴值 → 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每次恰好平分：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cn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同除以 n 逐层叠加（log n 层）→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2697480"/>
            <a:ext cx="2606040" cy="1965960"/>
          </a:xfrm>
          <a:prstGeom prst="roundRect">
            <a:avLst>
              <a:gd name="adj" fmla="val 3721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2761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平均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127248"/>
            <a:ext cx="23774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轴值落在各位置概率都是 1/n：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cn + (2/n)ΣT(k)</a:t>
            </a:r>
            <a:endParaRPr lang="en-US" sz="10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相减、同除 n(n+1)、叠加 →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，空间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同一个缺陷：Python 里真的崩，C++ 里只是慢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852160" cy="2880360"/>
          </a:xfrm>
          <a:prstGeom prst="roundRect">
            <a:avLst>
              <a:gd name="adj" fmla="val 254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5705856" cy="2788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quick_sort_range(values: list[int], first: int, last: int)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last - first &lt; 2: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middle = partition(values, first,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middle + 1,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算法8.6：手写快排。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**这一版在 Python 里会真的崩，而在 C++ 里只是慢**：末元素当轴，遇到已排好序的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输入就退化成 n 层递归。C++ 有 8 MB 栈，几万层才炸；CPython 的递归上限默认是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1000 层，一千个有序元素就抛 RecursionError。同一个算法缺陷，两种语言的暴露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阈值差两个数量级——8.7 的「短侧递归」因此在 Python 里不是优化，是能不能跑。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test.py 里有断言把这两件事都钉住。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quick_sort(values: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quick_sort_range(values, 0, len(values))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492240" y="960120"/>
            <a:ext cx="2194560" cy="1188720"/>
          </a:xfrm>
          <a:prstGeom prst="roundRect">
            <a:avLst>
              <a:gd name="adj" fmla="val 6154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10058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298448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 8 MB 栈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几万层才炸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92240" y="2240280"/>
            <a:ext cx="2194560" cy="1600200"/>
          </a:xfrm>
          <a:prstGeom prst="roundRect">
            <a:avLst>
              <a:gd name="adj" fmla="val 457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22860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CPython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2578608"/>
            <a:ext cx="2011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递归上限 1000 层</a:t>
            </a:r>
            <a:endParaRPr lang="en-US" sz="1150" dirty="0"/>
          </a:p>
          <a:p>
            <a:pPr algn="l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两千个有序元素就抛 RecursionError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57200" y="3977640"/>
            <a:ext cx="8229600" cy="685800"/>
          </a:xfrm>
          <a:prstGeom prst="roundRect">
            <a:avLst>
              <a:gd name="adj" fmla="val 10667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94360" y="40690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94360" y="4361688"/>
            <a:ext cx="7955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暴露阈值差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两个数量级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。下一页「只对较短的一侧递归」：在 C++ 里是省栈，在 Python 里是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能不能跑完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8.7 的两处对策：短侧递归 + 小区间插入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quick_sort_optimized_range(std::vector&lt;int&gt;&amp; values,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(last - first &gt;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middle = partition(values, first,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(middle - first &lt; last - middle - 1)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first = middle + 1;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quick_sort_optimized_range(values, middle + 1,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last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first &amp;&amp; value &lt; values[hole - 1])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values[hole - 1];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--hole;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quick_sort_optimized(std::vector&lt;int&gt;&amp;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quick_sort_optimized_range(values,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1371600"/>
            <a:ext cx="278892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4630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递归太深 → 只递归短侧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755648"/>
            <a:ext cx="2514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较短的一侧递归，较长的一侧改成循环。每次递归的区间至少减半 → 深度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O(log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6440" y="28803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小区间 → 插入排序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264408"/>
            <a:ext cx="2514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只剩十几个元素时，调用与划分的固定开销超过收益。本书阈值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；原书按表 8.4 取 28。阈值在不同环境下得到过 9、16、28——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要在自己的机器上重测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8.4 交换排序 · 快速排序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两处优化管的是栈深与常数，管不了最坏时间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36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万个</a:t>
            </a:r>
            <a:r>
              <a:rPr lang="en-US" sz="13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已经排好序</a:t>
            </a:r>
            <a:r>
              <a:rPr lang="en-US" sz="13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的数（8.7.2 节实测，单位毫秒）：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FDF0E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008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105.9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枢轴仍取末元素：有序输入每次划分都最坏，Θ(n²) 次比较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09160" y="1417320"/>
            <a:ext cx="3977640" cy="1920240"/>
          </a:xfrm>
          <a:prstGeom prst="roundRect">
            <a:avLst>
              <a:gd name="adj" fmla="val 3810"/>
            </a:avLst>
          </a:prstGeom>
          <a:solidFill>
            <a:srgbClr val="EAF4E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92040" y="1508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直接插入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187452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0.0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51760"/>
            <a:ext cx="3657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有序输入内层循环一次都不进，Θ(n)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520440"/>
            <a:ext cx="822960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3611880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快排在这种输入上比 Θ(n²) 的插入排序还慢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390448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想根治得换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枢轴策略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（三数取中、随机枢轴）——那是习题里的事。原书的实现取中间点作轴值，所以原书的实验里「快排正序和逆序一样快」；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同一个算法，选轴策略不同，对输入形态的反应可以完全相反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对半切，力气全花在「合」上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两路归并 · 稳定性来自一个 &lt; · 两处优化 · 逆序对计数</a:t>
            </a:r>
            <a:endParaRPr lang="en-US" sz="13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归并排序：分得随意，合得用心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937760" cy="19202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把序列划分成两个子序列；② 分别递归归并排序；③ 把两个有序子序列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成一个。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合并：每次比较两个子序列的头，取较小的进入结果，其后的记录顶上来，继续比较。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区间长度小于 2 时已经有序，递归停止。每层合并共扫描 n 个元素：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834640"/>
            <a:ext cx="4937760" cy="502920"/>
          </a:xfrm>
          <a:prstGeom prst="roundRect">
            <a:avLst>
              <a:gd name="adj" fmla="val 14545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B1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T(n) = 2T(n/2) + Θ(n) = Θ(n log n)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74720"/>
          <a:ext cx="493776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103120"/>
                <a:gridCol w="21945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用轴值分割（全部工作量）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对半切，常数时间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不需要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线性归并（全部工作量）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n)，不依赖输入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577840" y="960120"/>
            <a:ext cx="3108960" cy="260604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pic>
        <p:nvPicPr>
          <p:cNvPr id="12" name="Image 0" descr="fig-8-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11624"/>
            <a:ext cx="2926080" cy="201956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577840" y="3246120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8.8 归并排序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5577840" y="3703320"/>
            <a:ext cx="3108960" cy="960120"/>
          </a:xfrm>
          <a:prstGeom prst="roundRect">
            <a:avLst>
              <a:gd name="adj" fmla="val 7619"/>
            </a:avLst>
          </a:prstGeom>
          <a:solidFill>
            <a:srgbClr val="CFE0D8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715000" y="37947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5715000" y="408736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只分配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与输入等长的缓冲区，所有递归层复用：辅助 Θ(n)，栈另占 O(log n)。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merge_ranges / merge_sort_range / merge_sort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49040"/>
          </a:xfrm>
          <a:prstGeom prst="roundRect">
            <a:avLst>
              <a:gd name="adj" fmla="val 1951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57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merge_ranges(std::vector&lt;int&gt;&amp;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std::size_t first, std::size_t middle,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buffer[output++] = values[right] &lt; values[left] ? values[right++] :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merge_sort_range(std::vector&lt;int&gt;&amp; values, std::vector&lt;int&gt;&amp; buffer,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std::size_t first, std::size_t last)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first, middle);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merge_ranges(values, buffer, first, middle, last);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算法8.8：两路归并排序。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merge_sort(std::vector&lt;int&gt;&amp; values) {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merge_sort_range(values, buffer, 0, values.size());</a:t>
            </a:r>
            <a:endParaRPr lang="en-US" sz="84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4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6492240" y="1920240"/>
            <a:ext cx="210312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62940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行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2304288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「右侧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严格更小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才取右侧」：相等先取左侧 → 稳定。原书注释：「为保证稳定性，相等时左边优先」。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92240" y="3520440"/>
            <a:ext cx="2103120" cy="914400"/>
          </a:xfrm>
          <a:prstGeom prst="roundRect">
            <a:avLst>
              <a:gd name="adj" fmla="val 8000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629400" y="3611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缓冲区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629400" y="39044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里一次开够，不在递归里反复申请。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手算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最后一次合并：(25 32 34 45) + (12 34′ 64 78)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669280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731520"/>
                <a:gridCol w="731520"/>
                <a:gridCol w="1965960"/>
                <a:gridCol w="182880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输出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 &lt; 25，取右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25？否，取左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34？否（相等）→ </a:t>
                      </a: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34′ &lt; 45，取右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取左，左段取完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… 34 34′ 45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64 78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右段剩余照抄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E7C6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 25 32 34 34′ 45 64 78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3977640"/>
            <a:ext cx="566928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（两段取自图 8.8 倒数第二行：左 25 32 34 45，右 12 34′ 64 78）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355080" y="960120"/>
            <a:ext cx="2331720" cy="1691640"/>
          </a:xfrm>
          <a:prstGeom prst="roundRect">
            <a:avLst>
              <a:gd name="adj" fmla="val 4324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6492240" y="105156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稳定性的全部来源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492240" y="134416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 &lt; values[left]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里的这个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：相等取左。写成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就取右，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稳定性当场消失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355080" y="2743200"/>
            <a:ext cx="2331720" cy="1920240"/>
          </a:xfrm>
          <a:prstGeom prst="roundRect">
            <a:avLst>
              <a:gd name="adj" fmla="val 3810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92240" y="283464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版验证不了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12724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里两个相等的 3 换不换位置，排完一模一样。Python 版能排任何可比较对象：测试用「只按 key 比较、payload 不参与」的记录，检查 payload 是否仍是入场顺序——改成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&lt;=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断言就红。</a:t>
            </a:r>
            <a:endParaRPr lang="en-US" sz="9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8.9 的两处优化，本书都实现了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807208"/>
          </a:xfrm>
          <a:prstGeom prst="roundRect">
            <a:avLst>
              <a:gd name="adj" fmla="val 260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7157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&lt;= 16)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index = first + 1; index &lt; last; ++index)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int value = values[index];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std::size_t hole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while (hole != first &amp;&amp; value &lt; values[hole - 1]) { values[hole] = values[hole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values[hole]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first, middle);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(values[middle] &lt; values[middle - 1]) merge_ranges(values,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merge_sort_optimized(std::vector&lt;int&gt;&amp;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merge_sort_optimized_range(values,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840480"/>
            <a:ext cx="2743200" cy="850392"/>
          </a:xfrm>
          <a:prstGeom prst="roundRect">
            <a:avLst>
              <a:gd name="adj" fmla="val 8602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9319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小区间改用直接插入（阈值 16）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4224528"/>
            <a:ext cx="24688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递归到十几个元素时，划分与调用的固定开销超过收益。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840480"/>
            <a:ext cx="5349240" cy="850392"/>
          </a:xfrm>
          <a:prstGeom prst="roundRect">
            <a:avLst>
              <a:gd name="adj" fmla="val 86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9319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两段本来就接得上 → 跳过归并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4224528"/>
            <a:ext cx="507492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values[middle-1] &lt;= values[middle]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时整趟不归并：有序输入的搬移从 Θ(n log n) 压到接近 Θ(n)；随机输入几乎不命中。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副产品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逆序对计数：在合并里多写一句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42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05840"/>
            <a:ext cx="4754880" cy="36576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8.2.1 的逆置：i &lt; j 而 pᵢ &gt; pⱼ。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整趟直接插入的挪位次数 = 逆置数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；总移动 = 逆置数 + 2(n−1)。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照着插入排序去数逆置是 Θ(n²)；归并排序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就能数完。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一对逆置要么都在左半段、要么都在右半段（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递归数掉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），要么一左一右（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合并时数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两段各自有序：右段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values[right]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严格小于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左段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values[left]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时，左段还没输出的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[left, middle)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全都比它大 → 一次记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middle − left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相等时取左、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不计数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：相等元素不构成逆置——与稳定性来自同一个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4068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手算：[2, 4, 1, 3, 5]，middle = 2</a:t>
            </a:r>
            <a:endParaRPr lang="en-US" sz="12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80160"/>
          <a:ext cx="324612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1463040"/>
                <a:gridCol w="685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左头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右头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动作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计数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&lt; 2，取右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&lt; 4，取右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+1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取左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照抄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40680" y="3246120"/>
            <a:ext cx="324612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子段 [2,4] 与 [1,3,5] 自身各 0 个。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40680" y="3611880"/>
            <a:ext cx="3246120" cy="1051560"/>
          </a:xfrm>
          <a:prstGeom prst="roundRect">
            <a:avLst>
              <a:gd name="adj" fmla="val 6957"/>
            </a:avLst>
          </a:prstGeom>
          <a:solidFill>
            <a:srgbClr val="1E3D3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577840" y="3639312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合计 3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40690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(2,1) (4,1) (4,3) ✓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merge_count_ranges：与 merge_ranges 同一个合并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429000"/>
          </a:xfrm>
          <a:prstGeom prst="roundRect">
            <a:avLst>
              <a:gd name="adj" fmla="val 213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3375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归并排序的副产品（原书无清单）：逆置（逆序对）计数，Θ(n log n)。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与 merge_ranges 同一个合并过程，只多一句计数：右段的 values[right] 严格小于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左段的 values[left] 时，左段还没输出的 [left, middle) 都比它大，一次记 middle - left 个。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相等时取左边、不计数——相等元素不构成逆置，这与稳定性是同一个 `&lt;`。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merge_count_ranges(std::vector&lt;int&gt;&amp;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std::size_t first, std::size_t middle,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std::uint64_t inversions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left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right = middle;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 &amp;&amp; right &lt;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(values[right] &lt; values[left])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inversions += middle - left;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else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(left &lt; middle) buffer[output++] = values[left++];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(right &lt; last) buffer[output++] = values[right++];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index = first; index &lt; last; ++index) values[index] = buffer[index];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inversions;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 </a:t>
            </a:r>
            <a:r>
              <a:rPr lang="en-US" sz="11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merge_ranges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相比只多了第 13 行；写成闭区间 [i, mid] 就是常见的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mid − i + 1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count_inversions：计数不顺手排序；结果必须 64 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514600"/>
          </a:xfrm>
          <a:prstGeom prst="roundRect">
            <a:avLst>
              <a:gd name="adj" fmla="val 290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4231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count_inversions_range(std::vector&lt;int&gt;&amp; values, std::vector&lt;int&gt;&amp; buffer,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std::size_t first, std::size_t last)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(last - first &lt; 2) return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std::size_t middle = first + (last - first) / 2;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first, middle)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count_inversions_range(values, buffer, middle, last)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+ merge_count_ranges(values, buffer, first, middle, last);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按值传参：函数在自己的副本上归并，调用方的序列原样不动（计数是查询，不该顺手排序）。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调用方若本来就要排序，写 count_inversions(std::move(v)) 即可省掉这次拷贝。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返回 64 位：逆置数最多 n(n-1)/2，n &gt;= 65537 时就超过 INT_MAX，用 int 累加是有符号溢出。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std::uint64_t count_inversions(std::vector&lt;int&gt;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count_inversions_range(values, buffer, 0, 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计数不顺手排序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按值传参、在副本上归并；本来就要排序的调用方写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std::move(v)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省掉拷贝。Python 版先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list(values)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再归并。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09160" y="3611880"/>
            <a:ext cx="3977640" cy="1051560"/>
          </a:xfrm>
          <a:prstGeom prst="roundRect">
            <a:avLst>
              <a:gd name="adj" fmla="val 6957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46320" y="370332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 结果必须是 64 位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995928"/>
            <a:ext cx="3703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= 70000 的递减序列应得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2449965000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：累加器写成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，UBSan 报有符号溢出，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-O2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悄悄给错数。OJ 上就是「答案开 long long」。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8.5 归并排序 · 逆序对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变形题与另一条路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变形题（留作练习）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求满足 i &lt; j 且 aᵢ + aⱼ &gt; bᵢ + bⱼ 的对数。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011680"/>
            <a:ext cx="3749040" cy="2606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移项：aᵢ − bᵢ &gt; bⱼ − aⱼ；令 cᵢ = aᵢ − bᵢ，条件变成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cᵢ &gt; −cⱼ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仍是「前面的数比后面的某个量大」：合并时拿左段的 cᵢ 去比右段的 −cⱼ（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先用双指针数完，再照常合并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）。</a:t>
            </a:r>
            <a:endParaRPr lang="en-US" sz="11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条件等价于 cᵢ + cⱼ &gt; 0，对 i、j 对称，「i &lt; j」其实不起作用——把 c 排序后双指针也能数，可用来对拍。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09160" y="1005840"/>
            <a:ext cx="3977640" cy="3657600"/>
          </a:xfrm>
          <a:prstGeom prst="roundRect">
            <a:avLst>
              <a:gd name="adj" fmla="val 2000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离散化 + 树状数组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508760"/>
            <a:ext cx="3749040" cy="31089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从左到右扫描，把每个值换成它在全体值中的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名次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（离散化）。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树状数组维护「已扫过的值里各名次出现几次」；扫到 aⱼ 时，前面比它大的个数 = 已扫过的个数 − 名次不超过 aⱼ 的个数。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查询与更新都是 O(log n)；相等元素名次相同、落在「不超过」一侧，同样不计入。</a:t>
            </a:r>
            <a:endParaRPr lang="en-US" sz="105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可测实现在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code/ch12/fenwick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。归并法不需要离散化；树状数组法能在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序列动态追加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时继续回答。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分配排序和索引排序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不比较关键码，但要事先知道记录的情况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 · 基数排序（LSD） · 索引排序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跳出比较模型：直接算出每个元素该去哪儿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8229600" cy="8686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比较排序最坏至少 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次比较（8.7.3）。要突破它，只能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不再比较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，转而利用关键码本身的数字结构——这就是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：唯一特征是不需要关键码之间的比较，但</a:t>
            </a:r>
            <a:r>
              <a:rPr lang="en-US" sz="12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需要事先知道记录序列的一些具体情况</a:t>
            </a:r>
            <a:r>
              <a:rPr lang="en-US" sz="12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FF6E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 桶式排序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排序码都落在某个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小区间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[0, m) 里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 个计数器，数一遍再累加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4612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CFE0D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8328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 基数排序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338328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把排序码拆成 d 位，逐位做桶式排序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035040" y="20116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1F4F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72200" y="2103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 索引排序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172200" y="26060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什么情况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72200" y="2880360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记录很大，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搬不起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6172200" y="3520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172200" y="379476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只移动指针或下标，不移动记录本身</a:t>
            </a:r>
            <a:endParaRPr lang="en-US" sz="11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桶式排序：先数一遍，把计数累加成位置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32688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原书例子：m = 10，序列 {7, 3, 8, 9, 6, 1, 8′, 1′, 2}</a:t>
            </a:r>
            <a:endParaRPr lang="en-US" sz="1250" dirty="0"/>
          </a:p>
        </p:txBody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取值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出现次数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累加之后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2286000"/>
            <a:ext cx="8229600" cy="29260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累加后 </a:t>
            </a:r>
            <a:r>
              <a:rPr lang="en-US" sz="11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count[i]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是「≤ i 的元素共有几个」，也就是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的结束位置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57200" y="2651760"/>
            <a:ext cx="42062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pic>
        <p:nvPicPr>
          <p:cNvPr id="11" name="Image 0" descr="fig-8-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5374" y="2697480"/>
            <a:ext cx="3349892" cy="1691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4370832"/>
            <a:ext cx="42062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8.9 桶式排序示意图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846320" y="2651760"/>
            <a:ext cx="384048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4983480" y="2743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倒着扫：稳定性的唯一来源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4983480" y="3035808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count[8] == 8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：值 8 占结果下标 6、7。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从原序列尾部往前扫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：先遇到 8′ 放下标 7，后遇到 8 放下标 6——两个 8 的次序不变。正着扫就不稳定了。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先数再累加，只需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一个长度为 n 的辅助数组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，不用 m 条变长的链。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counting_sort：与原书不同的三处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148840"/>
          </a:xfrm>
          <a:prstGeom prst="roundRect">
            <a:avLst>
              <a:gd name="adj" fmla="val 3404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0574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算法8.10：桶式（计数）排序，支持负数但不适合巨大稀疏值域。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counting_sort(std::vector&lt;int&gt;&amp;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(values.empty()) return;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low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high = values[0];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{ if (value &lt; low) low = value; if (high &lt; value) high = value;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range = static_cast&lt;unsigned long long&gt;(static_cast&lt;long long&gt;(high) - low + 1);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(range &gt; counting_range_limit) throw std::invalid_argument("counting sort value range is too sparse");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counts(static_cast&lt;std::size_t&gt;(range), 0);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(int value : values) ++counts[static_cast&lt;std::size_t&gt;(value - low)];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bucket = 0; bucket &lt; counts.size(); ++bucket)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(counts[bucket]-- != 0) values[output++] = static_cast&lt;int&gt;(bucket) + low;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不要求下界为 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先扫出实际的 [low, high]，按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− low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计数；负数不用调用者先平移。C++ 必须先转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在 int 里自己就会溢出。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FDF0E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值域太稀疏直接抛异常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时间、空间都是 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Θ(m + n)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，m 是值域长度。排 10 个数、值域 [0, 10⁹)，会分配十亿个计数器。m &gt; 10⁷ 抛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invalid_argument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——当场失败好过拖垮机器。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246120"/>
            <a:ext cx="2651760" cy="1417320"/>
          </a:xfrm>
          <a:prstGeom prst="roundRect">
            <a:avLst>
              <a:gd name="adj" fmla="val 5161"/>
            </a:avLst>
          </a:prstGeom>
          <a:solidFill>
            <a:srgbClr val="CFE0D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重建取值 ≠ 搬移记录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630168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本书按计数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重建取值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；对纯整数输出一样。带卫星数据（学号、姓名）时，必须回到原书写法：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倒序扫描 + 搬移原记录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桶式排序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桶式排序只在 m 较小时才有实际意义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</a:t>
            </a:r>
            <a:endParaRPr lang="en-US" sz="900" dirty="0"/>
          </a:p>
        </p:txBody>
      </p:sp>
      <p:graphicFrame>
        <p:nvGraphicFramePr>
          <p:cNvPr id="5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3716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值域长度 m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 Θ(m +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评价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相对比较排序的</a:t>
                      </a: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一次飞跃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没有优势，还倒贴 Θ(m + n) 空间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 = 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不如比较排序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834640"/>
            <a:ext cx="512064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时间：扫一遍计数 + 累加 m 个计数器 + 输出循环 n 次；空间：m 个计数器 + 长度 n 的临时数组。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3520440"/>
            <a:ext cx="512064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94360" y="36118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判断能不能用，看 m 与 n 的比值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3904488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这也正是下一节要把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大值域拆成若干小值域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的原因。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806440" y="1005840"/>
            <a:ext cx="288036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943600" y="10972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版的差别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0" y="1389888"/>
            <a:ext cx="2606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整数没有宽度，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high − low + 1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溢出的坑不存在——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但值域上限的检查一条都不能少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：它挡的是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内存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，不是溢出。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5806440" y="3154680"/>
            <a:ext cx="2880360" cy="1508760"/>
          </a:xfrm>
          <a:prstGeom prst="roundRect">
            <a:avLst>
              <a:gd name="adj" fmla="val 4848"/>
            </a:avLst>
          </a:prstGeom>
          <a:solidFill>
            <a:srgbClr val="FFF6E0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943600" y="3246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分配排序天然稳定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0" y="3538728"/>
            <a:ext cx="2606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同一个桶里的记录按进桶顺序出桶，从头到尾没有任何一次比较能打乱它们（前提：收集方式保持入桶顺序）。</a:t>
            </a:r>
            <a:endParaRPr lang="en-US" sz="105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基数排序：把排序码拆成 d 位；MSD 与 LSD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5029200" cy="2743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值域 m 很大时，把排序码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按进制的基数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拆开：0～9999 可拆成千、百、十、个位。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排序码 K = (k_(d−1), …, k₁, k₀)；k_(d−1) 最高位，k₀ 最低位。子码可以是不同类型：扑克牌 =（花色，面值）。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 r：十进制 10；二进制串可取 2、4、8、16；字符串取 26。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（高位优先）：先按最高位分成子序列，再对每个子序列按次高位分……——分、分、⋯、分、收，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递归分治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（低位优先）：从最低位开始，每趟分配、收集——分、收；⋯；分、收。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本节都讨论 LSD。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3794760"/>
            <a:ext cx="5029200" cy="868680"/>
          </a:xfrm>
          <a:prstGeom prst="roundRect">
            <a:avLst>
              <a:gd name="adj" fmla="val 8421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384048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扑克 S3 HJ C8 H9 S9 D3 CA D7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MSD：C8 CA D3 D7 HJ H9 S3 S9 → C8 CA D3 D7 H9 HJ S3 S9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LSD：S3 D3 D7 C8 H9 S9 HJ CA → C8 CA D3 D7 H9 HJ S3 S9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0" y="960120"/>
            <a:ext cx="301752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pic>
        <p:nvPicPr>
          <p:cNvPr id="11" name="Image 0" descr="fig-8-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35387" y="1005840"/>
            <a:ext cx="2485306" cy="233172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69280" y="3474720"/>
            <a:ext cx="30175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06440" y="3566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为什么计算机用 LSD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06440" y="3858768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MSD 分完还要处理各子集，桶数随位数指数增长；LSD 速度快、便于统一处理——前提是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每一趟都稳定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LSD 走一遍：{97, 53, 88, 59, 26, 41, 88′, 31, 22}，d=2，r=10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52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566160" cy="3703320"/>
          </a:xfrm>
          <a:prstGeom prst="roundRect">
            <a:avLst>
              <a:gd name="adj" fmla="val 2051"/>
            </a:avLst>
          </a:prstGeom>
          <a:solidFill>
            <a:srgbClr val="F1F4F2"/>
          </a:solidFill>
          <a:ln/>
        </p:spPr>
      </p:sp>
      <p:pic>
        <p:nvPicPr>
          <p:cNvPr id="8" name="Image 0" descr="fig-8-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35844"/>
            <a:ext cx="3383280" cy="3277553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4343400"/>
            <a:ext cx="35661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8.11 顺序存储：每趟桶式排序搬进辅助数组</a:t>
            </a:r>
            <a:endParaRPr lang="en-US" sz="950" dirty="0"/>
          </a:p>
        </p:txBody>
      </p:sp>
      <p:graphicFrame>
        <p:nvGraphicFramePr>
          <p:cNvPr id="5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06240" y="960120"/>
          <a:ext cx="4480560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  <a:gridCol w="41148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按个位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按十位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22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59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88′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97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4206240" y="2423160"/>
            <a:ext cx="4480560" cy="2240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分配收集：41 31 | 22 | 53 | 26 | 97 | 88 88′ | 59。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第二趟按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十位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：十位相同的 22、26 之间，保持了第一趟排好的个位次序。</a:t>
            </a:r>
            <a:endParaRPr lang="en-US" sz="11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88 与 88′ 始终保持原来的先后——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每一趟都必须稳定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，否则低位排好的次序会被高位那趟打乱。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radix_sort：按字节 4 趟，翻转符号位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68880"/>
          </a:xfrm>
          <a:prstGeom prst="roundRect">
            <a:avLst>
              <a:gd name="adj" fmla="val 296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算法8.11：LSD 基数排序。翻转符号位使二补码有符号 int 按无符号序排序。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counts[256]{};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++counts[(key &gt;&gt; shift) &amp; 0xffU];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offset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(std::size_t&amp; count : counts) { const std::size_t old = count; count = offset; offset += old;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buffer[counts[(key &gt;&gt; shift) &amp; 0xffU]++]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为什么异或 0x80000000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否则负数按无符号序会排到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最大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。翻转符号位后，负数的位模式整体排到正数前面。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4612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11 行：计数 → 起始位置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与桶式排序同一招；这里是「起始」偏移，所以正着扫也稳定。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3566160"/>
            <a:ext cx="2651760" cy="1097280"/>
          </a:xfrm>
          <a:prstGeom prst="roundRect">
            <a:avLst>
              <a:gd name="adj" fmla="val 6667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657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 Θ(d(n + r))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95020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= 4 趟，r = 256 个桶。把「值域 m」换成「位数 d 与基数 r」，[0, 2³²) 也排得动。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modern.py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本章最值得看的一处语言差异：没有「最高位」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54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512064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497433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算法8.11：LSD 基数排序，每趟按 8 位分桶。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radix_sort(values: list[int]) -&gt; None: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not values: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shift_base = min(values)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keys = [value - shift_base for value in values]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largest = max(keys)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buffer = [0] * len(keys)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shift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(largest &gt;&gt; shift) &gt; 0 or shift == 0: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counts = [0] * RADIX_BUCKETS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counts[(key &gt;&gt; shift) &amp; (RADIX_BUCKETS - 1)]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offset = 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bucket in range(RADIX_BUCKETS):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counts[bucket], offset = offset, offset + counts[bucket]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key in keys: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digit = (key &gt;&gt; shift) &amp; (RADIX_BUCKETS - 1)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buffer[counts[digit]] = key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counts[digit] += 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keys, buffer = buffer, keys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shift += RADIX_BITS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index, key in enumerate(keys):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values[index] = key + shift_base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806440" y="960120"/>
            <a:ext cx="2880360" cy="1691640"/>
          </a:xfrm>
          <a:prstGeom prst="roundRect">
            <a:avLst>
              <a:gd name="adj" fmla="val 4324"/>
            </a:avLst>
          </a:prstGeom>
          <a:solidFill>
            <a:srgbClr val="FDF0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的技巧在 Python 里不成立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1344168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C++ 的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是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定长补码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，翻转符号位即可。Python 整数任意精度，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没有「最高位」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的二进制是概念上无限长的 1。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806440" y="2788920"/>
            <a:ext cx="2880360" cy="1874520"/>
          </a:xfrm>
          <a:prstGeom prst="roundRect">
            <a:avLst>
              <a:gd name="adj" fmla="val 3902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0" y="28803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换一种办法：整体平移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3172968"/>
            <a:ext cx="2606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减去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min(values)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平移到非负区间，排完再加回来。代价是多一次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扫描；换来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不依赖任何机器字长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——对 10³⁰ 一样成立，测试就拿这个规模钉住。</a:t>
            </a:r>
            <a:endParaRPr lang="en-US" sz="10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原书代码 8.12：显式的桶——固定容量队列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3611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代码8.12：固定容量 FIFO，是基数排序的桶而非通用 STL queue 替身。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&lt;typename T&gt;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StaticQueue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explicit StaticQueue(std::size_t capacity) : data_(capacity), capacity_(capacity) {}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push(const T&amp; value)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capacity_) return false;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data_[(front_ + size_++) % capacity_] =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std::optional&lt;T&gt; pop()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(size_ == 0) return std::nullopt;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 value = data_[front_];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front_ = (front_ + 1) % capacity_;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--size_;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[[nodiscard]] bool empty() const noexcept { return size_ == 0;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std::vector&lt;T&gt; data_;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capacity_{0};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front_{0};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size_{0};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0" y="1874520"/>
            <a:ext cx="29260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5DDD9"/>
            </a:solidFill>
            <a:prstDash val="solid"/>
          </a:ln>
        </p:spPr>
      </p:sp>
      <p:pic>
        <p:nvPicPr>
          <p:cNvPr id="10" name="Image 0" descr="fig-8-12-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6896" y="1920240"/>
            <a:ext cx="2070847" cy="15087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669280" y="3547872"/>
            <a:ext cx="292608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806440" y="363931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不是 std::queue 的替身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806440" y="3931920"/>
            <a:ext cx="2651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容量固定、不扩容：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满了返回 false，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空了返回 </a:t>
            </a: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nullopt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。Python 侧不实现：容量、环绕是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存储管理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8.13：push 进 256 个桶，按桶号依次 pop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56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377440"/>
          </a:xfrm>
          <a:prstGeom prst="roundRect">
            <a:avLst>
              <a:gd name="adj" fmla="val 3077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2860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算法8.13：以显式桶队列演示顺序收集的基数排序。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radix_sort_linked_style(std::vector&lt;int&gt;&amp;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std::vector&lt;int&gt; buffer(values.size());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(unsigned shift = 0; shift &lt; 32; shift += 8)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std::vector&lt;StaticQueue&lt;int&gt;&gt; buckets;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buckets.reserve(256);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(std::size_t bucket = 0; bucket &lt; 256; ++bucket) buckets.emplace_back(values.size());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(int value :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auto key = static_cast&lt;std::uint32_t&gt;(value) ^ 0x80000000U;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(void)buckets[(key &gt;&gt; shift) &amp; 0xffU].push(value);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output = 0;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(auto&amp; bucket : buckets) while (auto value = bucket.pop()) buffer[output++] = *value;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values.swap(buffer);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隐式桶 vs 显式桶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radix_sort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把桶做成计数数组（先数、再累加、再放）；这一版更接近「分配—收集」的字面意思，更好懂，代价是每趟维护 256 个队列。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37560" y="3474720"/>
            <a:ext cx="246888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474720" y="35661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结果逐字节相同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8587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两种写法排出来的结果逐字节相同，测试对拍了这一点。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3474720"/>
            <a:ext cx="274320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080760" y="35661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Python 用 list 作桶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3858768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稳定性来自「桶内保持入桶顺序、收集时按桶号从小到大」——一个字都没少。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分配排序 · 基数排序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基数排序到底是不是 Θ(n) 的？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E9E6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看起来是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Θ(d(n + r))：r 远小于 n 时（r = 10、26 都是常数）忽略 r，得 Θ(d·n)；d 若相对 n 很小，就是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1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似乎是最快的排序算法——但它不是。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709160" y="1005840"/>
            <a:ext cx="3977640" cy="2011680"/>
          </a:xfrm>
          <a:prstGeom prst="roundRect">
            <a:avLst>
              <a:gd name="adj" fmla="val 3636"/>
            </a:avLst>
          </a:prstGeom>
          <a:solidFill>
            <a:srgbClr val="FDF0E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92040" y="1097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其实不是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92040" y="1463040"/>
            <a:ext cx="3657600" cy="15087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互不相同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的关键码需要 n 个不同编码：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≥ log_r n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，d 不能再当常数。时间变成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log_r n)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；r = 2 时就是 Θ(n log n)——与堆、快排、归并同一量级。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「常数时间比较」的默认假设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32 位 int 的位数几乎都比 log n 大，比较两个长整数理论上是 Ω(log n)，但人们认为整数比较是常数时间——这条假设正是上面那笔账能算出差别的原因。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200400"/>
            <a:ext cx="3977640" cy="1463040"/>
          </a:xfrm>
          <a:prstGeom prst="roundRect">
            <a:avLst>
              <a:gd name="adj" fmla="val 5000"/>
            </a:avLst>
          </a:prstGeom>
          <a:solidFill>
            <a:srgbClr val="CFE0D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846320" y="3291840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一处值得抄下来的工程优化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584448"/>
            <a:ext cx="3703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 = 2ᵍ 时，取第 i 位不用循环除 i 次，改用位操作：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= ((k &amp; (0xFF &lt;&lt; (i*g))) &gt;&gt; (i*g)) % r;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原书实测 1M 数据、r = 16：0.6570 s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0.5532 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索引排序：记录一个都不动，动的是索引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58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937760" cy="21945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前面所有算法都在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搬记录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。记录很大时（一条学籍几百字节、一张图片几兆），搬移代价压过比较代价。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办法：数组元素存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指向记录的指针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（或下标），移动时只动指针。8.6.2 的静态链基数排序也是一种索引排序。</a:t>
            </a:r>
            <a:endParaRPr lang="en-US" sz="11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用空间换时间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；排完再按索引整理原数组，这一步必须 </a:t>
            </a:r>
            <a:r>
              <a:rPr lang="en-US" sz="11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O(n)</a:t>
            </a:r>
            <a:r>
              <a:rPr lang="en-US" sz="11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，否则省下的搬移又还回去了。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77840" y="960120"/>
            <a:ext cx="3108960" cy="1234440"/>
          </a:xfrm>
          <a:prstGeom prst="roundRect">
            <a:avLst>
              <a:gd name="adj" fmla="val 5926"/>
            </a:avLst>
          </a:prstGeom>
          <a:solidFill>
            <a:srgbClr val="F1F4F2"/>
          </a:solidFill>
          <a:ln/>
        </p:spPr>
      </p:sp>
      <p:pic>
        <p:nvPicPr>
          <p:cNvPr id="9" name="Image 0" descr="fig-8-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0" y="1190393"/>
            <a:ext cx="2926080" cy="499575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5577840" y="1892808"/>
            <a:ext cx="310896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8.13 (a) 排序前 (b) 排序后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577840" y="22860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71500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约定（原书表 8.1 第二种）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715000" y="2670048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index[i]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结果第 i 位应从原数组哪个下标取值，即 </a:t>
            </a:r>
            <a:r>
              <a:rPr lang="en-US" sz="9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结果[i] == 原数组[index[i]]</a:t>
            </a: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950" dirty="0"/>
          </a:p>
        </p:txBody>
      </p:sp>
      <p:graphicFrame>
        <p:nvGraphicFramePr>
          <p:cNvPr id="5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91840"/>
          <a:ext cx="82296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原下标 i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排序码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索引 index[i]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7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按索引取值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1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insertion_index_sort：排的是索引，不是记录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59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011680"/>
          </a:xfrm>
          <a:prstGeom prst="roundRect">
            <a:avLst>
              <a:gd name="adj" fmla="val 3636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算法8.14：排序索引，不移动原记录。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std::vector&lt;std::size_t&gt; insertion_index_sort(const std::vector&lt;int&gt;&amp; values)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std::vector&lt;std::size_t&gt; indexes(values.size());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0; i &lt; indexes.size(); ++i) indexes[i]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i = 1; i &lt; indexes.size(); ++i)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std::size_t index = indexes[i];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hole = i;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(hole != 0 &amp;&amp; values[index] &lt; values[indexes[hole - 1]]) { indexes[hole] = indexes[hole - 1]; --hole;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indexes[hole] = index;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indexes;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9436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排索引可以用任何排序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9436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原书算法 8.14 用直接插入：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const&amp;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传入，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一次都不写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；动的只有 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indexes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4612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CFE0D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38328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稳定性是免费的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38328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插入排序不越过相等元素，所以 34 与 34′ 的先后没变——</a:t>
            </a:r>
            <a:r>
              <a:rPr lang="en-US" sz="105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里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 排在 4 前面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35040" y="310896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FF6E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172200" y="32004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代价与收益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493008"/>
            <a:ext cx="2377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多用 Θ(n) 的索引空间，换来「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排序阶段一次记录搬移都没有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」。</a:t>
            </a:r>
            <a:endParaRPr lang="en-US" sz="10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8.6 索引排序 · modern.hpp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adjust_by_index：沿置换环整理，Θ(n)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8229600" cy="2423160"/>
          </a:xfrm>
          <a:prstGeom prst="roundRect">
            <a:avLst>
              <a:gd name="adj" fmla="val 301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30352" y="1005840"/>
            <a:ext cx="8083296" cy="23317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7C8F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算法8.15：沿置换环把索引顺序落实为记录顺序。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inline void adjust_by_index(std::vector&lt;int&gt;&amp; values, std::vector&lt;std::size_t&gt;&amp; indexes)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(std::size_t first = 0; first &lt; values.size(); ++first)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(indexes[first] == first) continue;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 current = first;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int saved = values[first];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while (indexes[current] != first) {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const std::size_t source = indexes[current];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values[current] = values[source];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current = source;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values[current] = saved;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indexes[current] = current;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2B2B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760720" y="1280160"/>
            <a:ext cx="2834640" cy="2011680"/>
          </a:xfrm>
          <a:prstGeom prst="roundRect">
            <a:avLst>
              <a:gd name="adj" fmla="val 3636"/>
            </a:avLst>
          </a:prstGeom>
          <a:solidFill>
            <a:srgbClr val="CFE0D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89788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顺着置换环走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870448" y="1664208"/>
            <a:ext cx="2615184" cy="15544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该放 5 的值、5 该放 4 的值、4 该放 2 的值、2 该放 0 的值——一圈回到起点，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这一环上的元素一次到位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到位一个就把索引改成自己的下标，不再参与后续的环。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20440"/>
          <a:ext cx="5852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  <a:gridCol w="5486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初始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{0, 5, 4, 2}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 {3, 6, 7}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29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32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34′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45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B2B2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64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EF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6446520" y="3520440"/>
            <a:ext cx="2240280" cy="1143000"/>
          </a:xfrm>
          <a:prstGeom prst="roundRect">
            <a:avLst>
              <a:gd name="adj" fmla="val 6400"/>
            </a:avLst>
          </a:prstGeom>
          <a:solidFill>
            <a:srgbClr val="FFF6E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583680" y="3611880"/>
            <a:ext cx="1965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每个元素恰好搬一次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904488"/>
            <a:ext cx="1965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 Θ(n) 次移动、O(1) 辅助空间。（底稿把这一环印成 {0,5,4,1}，与元素对不上，应为 {0,5,4,2}。）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0" y="-1188720"/>
            <a:ext cx="3840480" cy="384048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Shape 1"/>
          <p:cNvSpPr/>
          <p:nvPr/>
        </p:nvSpPr>
        <p:spPr>
          <a:xfrm>
            <a:off x="7223760" y="3017520"/>
            <a:ext cx="2651760" cy="2651760"/>
          </a:xfrm>
          <a:prstGeom prst="ellipse">
            <a:avLst/>
          </a:prstGeom>
          <a:solidFill>
            <a:srgbClr val="F2B134">
              <a:alpha val="45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874520"/>
            <a:ext cx="64008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排序算法的时间代价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697480"/>
            <a:ext cx="576072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三种简单排序为什么快不起来 · 实测：同阶不等于同速</a:t>
            </a:r>
            <a:endParaRPr lang="en-US" sz="13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是怎么拼起来的 · 判定树：比较排序的下限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8.7.1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简单排序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 Θ(n²)：差别在对输入形态的反应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62</a:t>
            </a:r>
            <a:endParaRPr lang="en-US" sz="900" dirty="0"/>
          </a:p>
        </p:txBody>
      </p:sp>
      <p:graphicFrame>
        <p:nvGraphicFramePr>
          <p:cNvPr id="6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417320"/>
                <a:gridCol w="868680"/>
                <a:gridCol w="1417320"/>
                <a:gridCol w="868680"/>
                <a:gridCol w="1920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算法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交换/搬移次数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Θ(n²)（逆序）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搬移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冒泡（带无交换退出）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Θ(n)（已有序）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交换 ≤ n − 1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2606040"/>
            <a:ext cx="5120640" cy="2057400"/>
          </a:xfrm>
          <a:prstGeom prst="roundRect">
            <a:avLst>
              <a:gd name="adj" fmla="val 3556"/>
            </a:avLst>
          </a:prstGeom>
          <a:solidFill>
            <a:srgbClr val="FFF6E0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94360" y="269748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为什么都快不起来：原因是同一个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2990088"/>
            <a:ext cx="4901184" cy="16002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插入和冒泡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只对相邻的两个记录比较和移动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，记录只能一步步挪向目标。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直接选择改进了交换次数，但在剩余记录中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逐个线性比较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，比较次数没降。</a:t>
            </a:r>
            <a:endParaRPr lang="en-US" sz="1050" dirty="0"/>
          </a:p>
          <a:p>
            <a:pPr marL="177800" indent="-1778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相邻比较的算法平均步长由逆置数决定：平均 n(n−1)/4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Θ(n²)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806440" y="2606040"/>
            <a:ext cx="2880360" cy="2057400"/>
          </a:xfrm>
          <a:prstGeom prst="roundRect">
            <a:avLst>
              <a:gd name="adj" fmla="val 3556"/>
            </a:avLst>
          </a:prstGeom>
          <a:solidFill>
            <a:srgbClr val="CFE0D8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943600" y="26974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要从数量级上提速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0" y="2990088"/>
            <a:ext cx="26060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必须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摆脱逐个一步步操作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：Shell 排序跨越相邻元素做分区插入，就达到 Θ(n^1.5)（取决于增量：减半最坏 Θ(n²)，Hibbard 最坏 Θ(n^(3/2))）。</a:t>
            </a:r>
            <a:endParaRPr lang="en-US" sz="10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量出来的数量级（g++ 13.3，-O2，随机数据，毫秒）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63</a:t>
            </a:r>
            <a:endParaRPr lang="en-US" sz="900" dirty="0"/>
          </a:p>
        </p:txBody>
      </p:sp>
      <p:graphicFrame>
        <p:nvGraphicFramePr>
          <p:cNvPr id="6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n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选择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2.8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162.4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50000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213.5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482.1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5821.9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2.2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242316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输入形态的影响（2 万个数）</a:t>
            </a:r>
            <a:endParaRPr lang="en-US" sz="1200" dirty="0"/>
          </a:p>
        </p:txBody>
      </p:sp>
      <p:graphicFrame>
        <p:nvGraphicFramePr>
          <p:cNvPr id="12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43200"/>
          <a:ext cx="5120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188720"/>
                <a:gridCol w="118872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 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插入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优化快排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已经排好序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105.9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随机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675.1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0.7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840480"/>
            <a:ext cx="512064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上机题第 1 题要求的正是这张表。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5806440" y="960120"/>
            <a:ext cx="2880360" cy="3703320"/>
          </a:xfrm>
          <a:prstGeom prst="roundRect">
            <a:avLst>
              <a:gd name="adj" fmla="val 2540"/>
            </a:avLst>
          </a:prstGeom>
          <a:solidFill>
            <a:srgbClr val="FFF6E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5943600" y="105156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两件事值得停下来看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916168" y="1344168"/>
            <a:ext cx="2660904" cy="32461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同为 Θ(n²)，冒泡比插入慢 27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（5822 对 214）：常数差来自三步交换 vs 一次搬移。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从 1 万到 5 万（5 倍）：Θ(n²) 的三个涨约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，Θ(n log n) 的三个只涨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5～6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优化快排在有序输入上比插入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慢了不止 100 倍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：末元素当轴，有序输入每次划分都最坏。</a:t>
            </a:r>
            <a:endParaRPr lang="en-US" sz="10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实测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对数据分布的敏感性；标准库的排序是怎么拼的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64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960120"/>
            <a:ext cx="4206240" cy="3703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选择、归并、基数排序对数据分布不敏感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；插入、冒泡、Shell 都是正序比逆序快，正序或基本有序时简单算法最好。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原书快排（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中间点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作轴）正序和逆序一样快，都比随机快；本书取末元素，这两种输入上反而最慢。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堆排序逆序比正序稍快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：最大堆下，逆序输入已自然成堆，建堆快。</a:t>
            </a:r>
            <a:endParaRPr lang="en-US" sz="11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顺序基数排序比链式快；但记录是较大的组合类型时，应采用链式存储减少移动。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46320" y="960120"/>
            <a:ext cx="3840480" cy="3703320"/>
          </a:xfrm>
          <a:prstGeom prst="roundRect">
            <a:avLst>
              <a:gd name="adj" fmla="val 1975"/>
            </a:avLst>
          </a:prstGeom>
          <a:solidFill>
            <a:srgbClr val="F1F4F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83480" y="102412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std::sort = 本章三种算法拼起来（introsort）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0" y="1463040"/>
            <a:ext cx="3474720" cy="384048"/>
          </a:xfrm>
          <a:prstGeom prst="roundRect">
            <a:avLst>
              <a:gd name="adj" fmla="val 50000"/>
            </a:avLst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0" y="1463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快速排序（三点选中）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1874520"/>
            <a:ext cx="0" cy="411480"/>
          </a:xfrm>
          <a:prstGeom prst="line">
            <a:avLst/>
          </a:prstGeom>
          <a:noFill/>
          <a:ln w="19050">
            <a:solidFill>
              <a:srgbClr val="A06A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680960" y="1874520"/>
            <a:ext cx="0" cy="411480"/>
          </a:xfrm>
          <a:prstGeom prst="line">
            <a:avLst/>
          </a:prstGeom>
          <a:noFill/>
          <a:ln w="19050">
            <a:solidFill>
              <a:srgbClr val="C0392B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5559552" y="187452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长度 &lt; 阈值（原书记 20）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1874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深度 &gt; 2 log n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02920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A06A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2920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最后整体插入排序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12280" y="2331720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2331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转堆排序 O(n log n)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98348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最坏比堆排序差一些，比快排好得多；平均与快排差不多。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983480" y="32918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stable_sort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归并排序；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partial_sort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→ 堆排序；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nth_element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找区间内某位置的元素；C 语言有 </a:t>
            </a:r>
            <a:r>
              <a:rPr lang="en-US" sz="1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qsort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983480" y="39776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这也是本书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不用 std::sort 顶替</a:t>
            </a:r>
            <a:r>
              <a:rPr lang="en-US" sz="10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这一章的理由：读懂它的前提，正是先把这三种都手写一遍。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8.7.3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8.7 时间代价 · 排序问题的下限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判定树：任何比较排序最坏至少 Ω(n log n) 次比较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3657600" cy="2697480"/>
          </a:xfrm>
          <a:prstGeom prst="roundRect">
            <a:avLst>
              <a:gd name="adj" fmla="val 2712"/>
            </a:avLst>
          </a:prstGeom>
          <a:solidFill>
            <a:srgbClr val="F1F4F2"/>
          </a:solidFill>
          <a:ln/>
        </p:spPr>
      </p:sp>
      <p:pic>
        <p:nvPicPr>
          <p:cNvPr id="8" name="Image 0" descr="fig-8-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998" y="1005840"/>
            <a:ext cx="2954005" cy="23774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3383280"/>
            <a:ext cx="3657600" cy="2743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8.14 用判定树模拟基于比较的排序（n = 3）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343400" y="1024128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343400" y="1024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754880" y="987552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每个内部结点是一次比较「aᵢ &lt; aⱼ ?」，每片叶子是一种输出排列；比较次数 = 根到叶的路径长度。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343400" y="1728216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343400" y="1728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754880" y="16916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个互不相同的元素有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种排列，每种都必须被区分 →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叶子 ≥ n!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343400" y="2432304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4343400" y="24323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54880" y="2395728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高度为 h 的二叉树最多 2ʰ 片叶子：2ʰ ≥ n!，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343400" y="3136392"/>
            <a:ext cx="310896" cy="310896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343400" y="31363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3099816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 ≥ log₂(n!) ≥ log₂(n/2)^(n/2) = (n/2) log₂(n/2) = 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Θ(n log n)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。树高正是最坏比较次数。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721608"/>
            <a:ext cx="4206240" cy="941832"/>
          </a:xfrm>
          <a:prstGeom prst="roundRect">
            <a:avLst>
              <a:gd name="adj" fmla="val 7767"/>
            </a:avLst>
          </a:prstGeom>
          <a:solidFill>
            <a:srgbClr val="FFF6E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94360" y="38130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上限与下限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94360" y="4105656"/>
            <a:ext cx="393192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 = 问题可能达到的最佳效率；上限 = 已知最快算法。光 I/O 就要 Ω(n)；比较排序上下限都是 n log n 量级：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重合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，不可能更快。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4800600" y="3721608"/>
            <a:ext cx="3886200" cy="941832"/>
          </a:xfrm>
          <a:prstGeom prst="roundRect">
            <a:avLst>
              <a:gd name="adj" fmla="val 7767"/>
            </a:avLst>
          </a:prstGeom>
          <a:solidFill>
            <a:srgbClr val="CFE0D8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4937760" y="381304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下界只管比较排序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4937760" y="4105656"/>
            <a:ext cx="361188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桶式、基数不比较，做到 Θ(m+n)、Θ(d(n+r))——站在下界</a:t>
            </a:r>
            <a:r>
              <a:rPr lang="en-US" sz="10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管辖范围之外</a:t>
            </a:r>
            <a:r>
              <a:rPr lang="en-US" sz="1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；代价是值域要够密或位数要够少。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总表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九种内排序放在一张表里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82296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143000"/>
                <a:gridCol w="1143000"/>
                <a:gridCol w="960120"/>
                <a:gridCol w="731520"/>
                <a:gridCol w="32004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平均时间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最坏时间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辅助空间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备注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D3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直接插入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Θ(n)；小规模、基本有序最快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Shell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取决于增量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减半 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Hibbard 最坏 Θ(n^(3/2))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直接选择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最好也 Θ(n²)；交换 ≤ n−1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堆排序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最坏有保证，原地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冒泡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Θ(1)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有序时 Θ(n)；实测最慢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快速排序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Θ(n²)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实践中最快；枢轴策略决定最坏输入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归并排序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对初始排列不敏感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桶式排序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Θ(m +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只适合值域 m 较小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基数排序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Θ(d(n + r))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Θ(n + r)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E9E6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稳定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B2B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关键码互不相同时实为 Θ(n log n)</a:t>
                      </a:r>
                      <a:endParaRPr lang="en-US" sz="10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D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稳定：插入、冒泡、归并、分配（桶式、基数）。不稳定（举反例即可）：直接选择、堆、Shell、快排。</a:t>
            </a:r>
            <a:endParaRPr lang="en-US" sz="10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∑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本章总结 · 怎么选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按规模、稳定性、有序程度、关键码形态来选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104241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0424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4400" y="98755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98755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关键码序列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基本有序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98755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直接插入最快，冒泡也较快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1517904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4400" y="1463040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463040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要求速度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、对初始排列不敏感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657600" y="1463040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归并排序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1993392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" y="1938528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938528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记录个数 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较小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657600" y="1938528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直接插入或直接选择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2468880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14400" y="2414016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2414016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较大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0" y="2414016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O(n log n) 的快排、堆排序、归并或基数排序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2944368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720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4400" y="2889504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05840" y="288950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较大、输入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杂乱无序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、无稳定性要求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657600" y="2889504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快速排序效果最好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3419856"/>
            <a:ext cx="329184" cy="329184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5720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14400" y="3364992"/>
            <a:ext cx="4754880" cy="420624"/>
          </a:xfrm>
          <a:prstGeom prst="roundRect">
            <a:avLst>
              <a:gd name="adj" fmla="val 17391"/>
            </a:avLst>
          </a:prstGeom>
          <a:solidFill>
            <a:srgbClr val="F1F4F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005840" y="3364992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 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很大</a:t>
            </a:r>
            <a:r>
              <a:rPr lang="en-US" sz="11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且关键码</a:t>
            </a:r>
            <a:r>
              <a:rPr lang="en-US" sz="110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位数较少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3657600" y="3364992"/>
            <a:ext cx="1965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→ 静态链的基数排序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897880" y="987552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FFF6E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035040" y="107899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记录很大、搬不起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035040" y="13716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减少移动：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索引排序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；或直接选择（交换 ≤ n−1）。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897880" y="2286000"/>
            <a:ext cx="2788920" cy="1188720"/>
          </a:xfrm>
          <a:prstGeom prst="roundRect">
            <a:avLst>
              <a:gd name="adj" fmla="val 6154"/>
            </a:avLst>
          </a:prstGeom>
          <a:solidFill>
            <a:srgbClr val="CFE0D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035040" y="237744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有空间限制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035040" y="2670048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插入、选择、冒泡、Shell、堆：Θ(1)；快排 Θ(log n)；归并 Θ(n)。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5897880" y="3584448"/>
            <a:ext cx="2788920" cy="1078992"/>
          </a:xfrm>
          <a:prstGeom prst="roundRect">
            <a:avLst>
              <a:gd name="adj" fmla="val 6780"/>
            </a:avLst>
          </a:prstGeom>
          <a:solidFill>
            <a:srgbClr val="FFF6E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035040" y="367588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也可以组合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035040" y="396849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插入排序常与其他方法结合使用：优化快排、优化归并、std::sort。</a:t>
            </a:r>
            <a:endParaRPr lang="en-US" sz="10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475488" cy="475488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365760" y="2560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✎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课后练习（精选）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20624"/>
            <a:ext cx="7772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几道代表性的习题与上机题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503920" y="4828032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7B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8" name="Shape 6"/>
          <p:cNvSpPr/>
          <p:nvPr/>
        </p:nvSpPr>
        <p:spPr>
          <a:xfrm>
            <a:off x="59436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9436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1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9436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 {49, 38, 65, 97, 76, 13, 27} 分别画出直接插入、冒泡、简单选择的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第一趟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63440" y="98755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FF6E0"/>
          </a:solidFill>
          <a:ln/>
        </p:spPr>
      </p:sp>
      <p:sp>
        <p:nvSpPr>
          <p:cNvPr id="12" name="Shape 10"/>
          <p:cNvSpPr/>
          <p:nvPr/>
        </p:nvSpPr>
        <p:spPr>
          <a:xfrm>
            <a:off x="4800600" y="109728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0972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习题 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44475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说明为什么直接插入稳定、堆排序不稳定；举一个使堆排序打乱相等键次序的例子。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16" name="Shape 14"/>
          <p:cNvSpPr/>
          <p:nvPr/>
        </p:nvSpPr>
        <p:spPr>
          <a:xfrm>
            <a:off x="59436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14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红、白、蓝三色条块共 n 个：Θ(n) 时间、最少辅助空间排成</a:t>
            </a:r>
            <a:r>
              <a:rPr lang="en-US" sz="1050" b="1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荷兰国旗</a:t>
            </a: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22199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0" name="Shape 18"/>
          <p:cNvSpPr/>
          <p:nvPr/>
        </p:nvSpPr>
        <p:spPr>
          <a:xfrm>
            <a:off x="4800600" y="233172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00600" y="23317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19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00600" y="267919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「归并 Θ(n log n)、插入 Θ(n²)，所以排 256 个数归并快 64 倍」——对吗？为什么？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5720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36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9436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原书 12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用栈代替快排的递归：最坏栈多深？怎样组织递归顺序让栈最浅？能用队列吗？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3456432"/>
            <a:ext cx="4023360" cy="1115568"/>
          </a:xfrm>
          <a:prstGeom prst="roundRect">
            <a:avLst>
              <a:gd name="adj" fmla="val 6557"/>
            </a:avLst>
          </a:prstGeom>
          <a:solidFill>
            <a:srgbClr val="F1F4F2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0600" y="3566160"/>
            <a:ext cx="914400" cy="292608"/>
          </a:xfrm>
          <a:prstGeom prst="roundRect">
            <a:avLst>
              <a:gd name="adj" fmla="val 50000"/>
            </a:avLst>
          </a:prstGeom>
          <a:solidFill>
            <a:srgbClr val="1E3D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800600" y="35661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上机 2</a:t>
            </a:r>
            <a:endParaRPr lang="en-US" sz="1000" dirty="0"/>
          </a:p>
        </p:txBody>
      </p:sp>
      <p:sp>
        <p:nvSpPr>
          <p:cNvPr id="30" name="Text 28"/>
          <p:cNvSpPr txBox="1"/>
          <p:nvPr/>
        </p:nvSpPr>
        <p:spPr>
          <a:xfrm>
            <a:off x="4800600" y="3913632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构造使快排退化的输入，观察递归深度（对照本章 Python 版的 RecursionError）。</a:t>
            </a:r>
            <a:endParaRPr lang="en-US" sz="10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-2103120"/>
            <a:ext cx="3108960" cy="3108960"/>
          </a:xfrm>
          <a:prstGeom prst="ellipse">
            <a:avLst/>
          </a:prstGeom>
          <a:solidFill>
            <a:srgbClr val="2F5C4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65760"/>
            <a:ext cx="5486400" cy="54864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本章小结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5" name="Shape 3"/>
          <p:cNvSpPr/>
          <p:nvPr/>
        </p:nvSpPr>
        <p:spPr>
          <a:xfrm>
            <a:off x="713232" y="1234440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097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80360" y="10972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比较还是分配？稳不稳定？额外空间？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最好 / 平均 / 最坏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三个时间？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1856232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0" name="Shape 8"/>
          <p:cNvSpPr/>
          <p:nvPr/>
        </p:nvSpPr>
        <p:spPr>
          <a:xfrm>
            <a:off x="713232" y="1993392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13232" y="19933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234440" y="1856232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简单排序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1856232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插入、选择、冒泡都是 Θ(n²)：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只做相邻比较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的算法平均逃不出逆置数 n(n−1)/4。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615184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15" name="Shape 13"/>
          <p:cNvSpPr/>
          <p:nvPr/>
        </p:nvSpPr>
        <p:spPr>
          <a:xfrm>
            <a:off x="713232" y="2752344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523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234440" y="2615184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分治排序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2880360" y="2615184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快排力气花在「分」、平均最快但会退化；归并力气花在「合」，稳定、Θ(n) 空间。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374136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0" name="Shape 18"/>
          <p:cNvSpPr/>
          <p:nvPr/>
        </p:nvSpPr>
        <p:spPr>
          <a:xfrm>
            <a:off x="713232" y="3511296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13232" y="3511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3374136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稳定的来源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2880360" y="3374136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 </a:t>
            </a:r>
            <a:r>
              <a:rPr lang="en-US" sz="1200" b="1" dirty="0">
                <a:solidFill>
                  <a:srgbClr val="CFE0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：相等不越过、相等取左、桶内保持入桶顺序；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跨越式移动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就不稳定。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133088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25493F"/>
          </a:solidFill>
          <a:ln/>
        </p:spPr>
      </p:sp>
      <p:sp>
        <p:nvSpPr>
          <p:cNvPr id="25" name="Shape 23"/>
          <p:cNvSpPr/>
          <p:nvPr/>
        </p:nvSpPr>
        <p:spPr>
          <a:xfrm>
            <a:off x="713232" y="4270248"/>
            <a:ext cx="365760" cy="36576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270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234440" y="4133088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下限与分配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2880360" y="4133088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比较排序最坏 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Ω(n log n)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；桶式、基数靠关键码结构站在下界之外。</a:t>
            </a:r>
            <a:r>
              <a:rPr lang="en-US" sz="12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同阶不等于同速</a:t>
            </a: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69</Slides>
  <Notes>69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69</vt:i4>
      </vt:variant>
    </vt:vector>
  </HeadingPairs>
  <TitlesOfParts>
    <vt:vector size="7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第八章 内部排序</dc:title>
  <dc:subject>PptxGenJS Presentation</dc:subject>
  <dc:creator>Hongfei Yan</dc:creator>
  <cp:lastModifiedBy>Hongfei Yan</cp:lastModifiedBy>
  <cp:revision>1</cp:revision>
  <dcterms:created xsi:type="dcterms:W3CDTF">2026-09-22T02:59:47Z</dcterms:created>
  <dcterms:modified xsi:type="dcterms:W3CDTF">2026-09-22T02:59:47Z</dcterms:modified>
</cp:coreProperties>
</file>