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5029200" cy="5029200"/>
          </a:xfrm>
          <a:prstGeom prst="ellipse">
            <a:avLst/>
          </a:prstGeom>
          <a:solidFill>
            <a:srgbClr val="3E7C6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931920"/>
            <a:ext cx="2926080" cy="2926080"/>
          </a:xfrm>
          <a:prstGeom prst="ellipse">
            <a:avLst/>
          </a:prstGeom>
          <a:solidFill>
            <a:srgbClr val="F2B134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 · 2026 Fall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课堂提问：MOOC 习题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14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图（12 题） · 第八章 内排序（上）（14 题） · 第八章 内排序（下）（12 题）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每页先出题，请同学作答；单击显示答案与解析，再单击进入下一题。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5029200" cy="5029200"/>
          </a:xfrm>
          <a:prstGeom prst="ellipse">
            <a:avLst/>
          </a:prstGeom>
          <a:solidFill>
            <a:srgbClr val="3E7C6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931920"/>
            <a:ext cx="2926080" cy="2926080"/>
          </a:xfrm>
          <a:prstGeom prst="ellipse">
            <a:avLst/>
          </a:prstGeom>
          <a:solidFill>
            <a:srgbClr val="F2B134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Chapter 7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图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14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12 题 · 准备好了吗？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图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度数之和与边数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在一个无向图中，所有顶点的度数之和等于所有边数的 (   ) 倍。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2737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2737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60270" y="262737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60270" y="262737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771900" y="262737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71900" y="262737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383530" y="262737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83530" y="262737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1/2</a:t>
            </a:r>
            <a:endParaRPr lang="en-US" sz="2000" dirty="0"/>
          </a:p>
        </p:txBody>
      </p:sp>
      <p:sp>
        <p:nvSpPr>
          <p:cNvPr id="15" name="ANS_0"/>
          <p:cNvSpPr/>
          <p:nvPr/>
        </p:nvSpPr>
        <p:spPr>
          <a:xfrm>
            <a:off x="548640" y="2627376"/>
            <a:ext cx="1474470" cy="822960"/>
          </a:xfrm>
          <a:prstGeom prst="roundRect">
            <a:avLst>
              <a:gd name="adj" fmla="val 11111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16" name="ANS_1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7" name="ANS_2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18" name="ANS_3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4400" dirty="0"/>
          </a:p>
        </p:txBody>
      </p:sp>
      <p:sp>
        <p:nvSpPr>
          <p:cNvPr id="19" name="ANS_4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0" name="ANS_5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ANS_6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每条边连接两个顶点，给两端各贡献 1 度。</a:t>
            </a:r>
            <a:endParaRPr lang="en-US" sz="1700" dirty="0"/>
          </a:p>
        </p:txBody>
      </p:sp>
      <p:sp>
        <p:nvSpPr>
          <p:cNvPr id="22" name="ANS_7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3" name="ANS_8"/>
          <p:cNvSpPr txBox="1"/>
          <p:nvPr/>
        </p:nvSpPr>
        <p:spPr>
          <a:xfrm>
            <a:off x="7818120" y="3416503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所以度数之和 = 2|E|。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图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BFS 求单源最短路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设各边权值均为正数，满足下列哪项条件时，普通 BFS 保证能求出单源最短路径？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27376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27376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均互不相等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97480" y="2627376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97480" y="2627376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均相等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846320" y="2627376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46320" y="2627376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不一定相等</a:t>
            </a:r>
            <a:endParaRPr lang="en-US" sz="2000" dirty="0"/>
          </a:p>
        </p:txBody>
      </p:sp>
      <p:sp>
        <p:nvSpPr>
          <p:cNvPr id="13" name="ANS_9"/>
          <p:cNvSpPr/>
          <p:nvPr/>
        </p:nvSpPr>
        <p:spPr>
          <a:xfrm>
            <a:off x="2697480" y="2627376"/>
            <a:ext cx="2011680" cy="822960"/>
          </a:xfrm>
          <a:prstGeom prst="roundRect">
            <a:avLst>
              <a:gd name="adj" fmla="val 11111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14" name="ANS_10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5" name="ANS_11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16" name="ANS_12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4400" dirty="0"/>
          </a:p>
        </p:txBody>
      </p:sp>
      <p:sp>
        <p:nvSpPr>
          <p:cNvPr id="17" name="ANS_13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8" name="ANS_14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9" name="ANS_15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BFS 按层扩展，先到达的顶点经过的边数最少。</a:t>
            </a:r>
            <a:endParaRPr lang="en-US" sz="1700" dirty="0"/>
          </a:p>
        </p:txBody>
      </p:sp>
      <p:sp>
        <p:nvSpPr>
          <p:cNvPr id="20" name="ANS_16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ANS_17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所有边权为同一正数时，路径权重正比于边数，故 BFS 保证正确。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图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拓扑序列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在有向图 G 的拓扑序列中，若顶点 V</a:t>
            </a:r>
            <a:r>
              <a:rPr lang="en-US" sz="2000" baseline="-4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在顶点 V</a:t>
            </a:r>
            <a:r>
              <a:rPr lang="en-US" sz="2000" baseline="-4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之前，则下列情形不可能出现的是：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70052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00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2737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 中有一条从 V</a:t>
            </a:r>
            <a:r>
              <a:rPr lang="en-US" sz="2000" baseline="-4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到 V</a:t>
            </a:r>
            <a:r>
              <a:rPr lang="en-US" sz="2000" baseline="-4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的路径。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35889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58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28574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 中有边 (V</a:t>
            </a:r>
            <a:r>
              <a:rPr lang="en-US" sz="2000" baseline="-4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V</a:t>
            </a:r>
            <a:r>
              <a:rPr lang="en-US" sz="2000" baseline="-4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)。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01726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17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94411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 中有一条从 V</a:t>
            </a:r>
            <a:r>
              <a:rPr lang="en-US" sz="2000" baseline="-4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到 V</a:t>
            </a:r>
            <a:r>
              <a:rPr lang="en-US" sz="2000" baseline="-4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的路径。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75632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675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60248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 中没有边 (V</a:t>
            </a:r>
            <a:r>
              <a:rPr lang="en-US" sz="2000" baseline="-4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V</a:t>
            </a:r>
            <a:r>
              <a:rPr lang="en-US" sz="2000" baseline="-4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)。</a:t>
            </a:r>
            <a:endParaRPr lang="en-US" sz="2000" dirty="0"/>
          </a:p>
        </p:txBody>
      </p:sp>
      <p:sp>
        <p:nvSpPr>
          <p:cNvPr id="19" name="ANS_18"/>
          <p:cNvSpPr/>
          <p:nvPr/>
        </p:nvSpPr>
        <p:spPr>
          <a:xfrm>
            <a:off x="457200" y="2590800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0" name="ANS_19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1" name="ANS_20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2" name="ANS_21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4400" dirty="0"/>
          </a:p>
        </p:txBody>
      </p:sp>
      <p:sp>
        <p:nvSpPr>
          <p:cNvPr id="23" name="ANS_2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4" name="ANS_23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24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若有 V</a:t>
            </a:r>
            <a:r>
              <a:rPr lang="en-US" sz="1700" baseline="-4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V</a:t>
            </a:r>
            <a:r>
              <a:rPr lang="en-US" sz="1700" baseline="-4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的路径，拓扑序中 V</a:t>
            </a:r>
            <a:r>
              <a:rPr lang="en-US" sz="1700" baseline="-4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必须排在 V</a:t>
            </a:r>
            <a:r>
              <a:rPr lang="en-US" sz="1700" baseline="-4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之前，矛盾。</a:t>
            </a:r>
            <a:endParaRPr lang="en-US" sz="1700" dirty="0"/>
          </a:p>
        </p:txBody>
      </p:sp>
      <p:sp>
        <p:nvSpPr>
          <p:cNvPr id="26" name="ANS_25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ANS_26"/>
          <p:cNvSpPr txBox="1"/>
          <p:nvPr/>
        </p:nvSpPr>
        <p:spPr>
          <a:xfrm>
            <a:off x="7818120" y="3416503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B、C、D 都可能出现。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图  ·  多选题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图的基本性质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下面关于图的说法正确的有：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6524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65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9209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对于有向图，每个结点的出度必须要等于入度。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139440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139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950464"/>
            <a:ext cx="57607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对于一个连通图，一定存在一种给边添加方向的方案使得这个图变成强连通图。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02945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29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840480"/>
            <a:ext cx="57607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对于有向图，所有结点的入度加起来一定为奇数。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919472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730496"/>
            <a:ext cx="57607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对于无向图，所有结点的度数加起来一定是偶数。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580948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809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5620512"/>
            <a:ext cx="57607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将有向图的一个强连通分量中的边全部反向，仍然是强连通分量。</a:t>
            </a:r>
            <a:endParaRPr lang="en-US" sz="2000" dirty="0"/>
          </a:p>
        </p:txBody>
      </p:sp>
      <p:sp>
        <p:nvSpPr>
          <p:cNvPr id="22" name="ANS_27"/>
          <p:cNvSpPr/>
          <p:nvPr/>
        </p:nvSpPr>
        <p:spPr>
          <a:xfrm>
            <a:off x="457200" y="4693920"/>
            <a:ext cx="6492240" cy="835152"/>
          </a:xfrm>
          <a:prstGeom prst="roundRect">
            <a:avLst>
              <a:gd name="adj" fmla="val 10949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3" name="ANS_28"/>
          <p:cNvSpPr/>
          <p:nvPr/>
        </p:nvSpPr>
        <p:spPr>
          <a:xfrm>
            <a:off x="457200" y="5583936"/>
            <a:ext cx="6492240" cy="835152"/>
          </a:xfrm>
          <a:prstGeom prst="roundRect">
            <a:avLst>
              <a:gd name="adj" fmla="val 10949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4" name="ANS_29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5" name="ANS_30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6" name="ANS_31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D、E</a:t>
            </a:r>
            <a:endParaRPr lang="en-US" sz="4400" dirty="0"/>
          </a:p>
        </p:txBody>
      </p:sp>
      <p:sp>
        <p:nvSpPr>
          <p:cNvPr id="27" name="ANS_3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8" name="ANS_33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9" name="ANS_34"/>
          <p:cNvSpPr txBox="1"/>
          <p:nvPr/>
        </p:nvSpPr>
        <p:spPr>
          <a:xfrm>
            <a:off x="7818120" y="2651760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✗ 出度与入度一般不相等。</a:t>
            </a:r>
            <a:endParaRPr lang="en-US" sz="1700" dirty="0"/>
          </a:p>
        </p:txBody>
      </p:sp>
      <p:sp>
        <p:nvSpPr>
          <p:cNvPr id="30" name="ANS_35"/>
          <p:cNvSpPr/>
          <p:nvPr/>
        </p:nvSpPr>
        <p:spPr>
          <a:xfrm>
            <a:off x="7616952" y="3228289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1" name="ANS_36"/>
          <p:cNvSpPr txBox="1"/>
          <p:nvPr/>
        </p:nvSpPr>
        <p:spPr>
          <a:xfrm>
            <a:off x="7818120" y="3131515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✗ 反例：一条边 u–v（有桥），无论定什么方向都回不来。</a:t>
            </a:r>
            <a:endParaRPr lang="en-US" sz="1700" dirty="0"/>
          </a:p>
        </p:txBody>
      </p:sp>
      <p:sp>
        <p:nvSpPr>
          <p:cNvPr id="32" name="ANS_37"/>
          <p:cNvSpPr/>
          <p:nvPr/>
        </p:nvSpPr>
        <p:spPr>
          <a:xfrm>
            <a:off x="7616952" y="399303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3" name="ANS_38"/>
          <p:cNvSpPr txBox="1"/>
          <p:nvPr/>
        </p:nvSpPr>
        <p:spPr>
          <a:xfrm>
            <a:off x="7818120" y="3896258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✗ 入度之和 = 边数，奇偶不定。</a:t>
            </a:r>
            <a:endParaRPr lang="en-US" sz="1700" dirty="0"/>
          </a:p>
        </p:txBody>
      </p:sp>
      <p:sp>
        <p:nvSpPr>
          <p:cNvPr id="34" name="ANS_39"/>
          <p:cNvSpPr/>
          <p:nvPr/>
        </p:nvSpPr>
        <p:spPr>
          <a:xfrm>
            <a:off x="7616952" y="4757776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5" name="ANS_40"/>
          <p:cNvSpPr txBox="1"/>
          <p:nvPr/>
        </p:nvSpPr>
        <p:spPr>
          <a:xfrm>
            <a:off x="7818120" y="4661002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✓ 度数之和 = 2|E|。</a:t>
            </a:r>
            <a:endParaRPr lang="en-US" sz="1700" dirty="0"/>
          </a:p>
        </p:txBody>
      </p:sp>
      <p:sp>
        <p:nvSpPr>
          <p:cNvPr id="36" name="ANS_41"/>
          <p:cNvSpPr/>
          <p:nvPr/>
        </p:nvSpPr>
        <p:spPr>
          <a:xfrm>
            <a:off x="7616952" y="5237531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7" name="ANS_42"/>
          <p:cNvSpPr txBox="1"/>
          <p:nvPr/>
        </p:nvSpPr>
        <p:spPr>
          <a:xfrm>
            <a:off x="7818120" y="5140757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✓ u 能到 v 且 v 能到 u，全部反向后仍互相可达。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图  ·  多选题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Dijkstra 算法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下列关于最短路算法的说法正确的有：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481072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81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92096"/>
            <a:ext cx="57607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当图中不存在负权回路但存在负权边时，Dijkstra 算法不一定能求出源点到所有点的最短路。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37108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71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182112"/>
            <a:ext cx="57607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当图中不存在负权边时，Dijkstra 算法能求出每对顶点间的最短路径。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26110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072128"/>
            <a:ext cx="57607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当图中存在负权回路时，Dijkstra 算法也一定能求出源点到所有点的最短路。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5151120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51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962144"/>
            <a:ext cx="57607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Dijkstra 算法不能用于每对顶点间最短路计算。</a:t>
            </a:r>
            <a:endParaRPr lang="en-US" sz="2000" dirty="0"/>
          </a:p>
        </p:txBody>
      </p:sp>
      <p:sp>
        <p:nvSpPr>
          <p:cNvPr id="19" name="ANS_43"/>
          <p:cNvSpPr/>
          <p:nvPr/>
        </p:nvSpPr>
        <p:spPr>
          <a:xfrm>
            <a:off x="457200" y="2255520"/>
            <a:ext cx="6492240" cy="835152"/>
          </a:xfrm>
          <a:prstGeom prst="roundRect">
            <a:avLst>
              <a:gd name="adj" fmla="val 10949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0" name="ANS_44"/>
          <p:cNvSpPr/>
          <p:nvPr/>
        </p:nvSpPr>
        <p:spPr>
          <a:xfrm>
            <a:off x="457200" y="3145536"/>
            <a:ext cx="6492240" cy="835152"/>
          </a:xfrm>
          <a:prstGeom prst="roundRect">
            <a:avLst>
              <a:gd name="adj" fmla="val 10949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1" name="ANS_45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2" name="ANS_46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3" name="ANS_47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A、B</a:t>
            </a:r>
            <a:endParaRPr lang="en-US" sz="4400" dirty="0"/>
          </a:p>
        </p:txBody>
      </p:sp>
      <p:sp>
        <p:nvSpPr>
          <p:cNvPr id="24" name="ANS_48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5" name="ANS_49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ANS_50"/>
          <p:cNvSpPr txBox="1"/>
          <p:nvPr/>
        </p:nvSpPr>
        <p:spPr>
          <a:xfrm>
            <a:off x="7818120" y="2651760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✓ Dijkstra 假设已确定的顶点距离不会再变小，负权边会破坏这一点。</a:t>
            </a:r>
            <a:endParaRPr lang="en-US" sz="1700" dirty="0"/>
          </a:p>
        </p:txBody>
      </p:sp>
      <p:sp>
        <p:nvSpPr>
          <p:cNvPr id="27" name="ANS_51"/>
          <p:cNvSpPr/>
          <p:nvPr/>
        </p:nvSpPr>
        <p:spPr>
          <a:xfrm>
            <a:off x="7616952" y="3798265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8" name="ANS_52"/>
          <p:cNvSpPr txBox="1"/>
          <p:nvPr/>
        </p:nvSpPr>
        <p:spPr>
          <a:xfrm>
            <a:off x="7818120" y="3701491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✓ 以每个顶点为源各跑一次，就得到所有点对的最短路（D ✗）。</a:t>
            </a:r>
            <a:endParaRPr lang="en-US" sz="1700" dirty="0"/>
          </a:p>
        </p:txBody>
      </p:sp>
      <p:sp>
        <p:nvSpPr>
          <p:cNvPr id="29" name="ANS_53"/>
          <p:cNvSpPr/>
          <p:nvPr/>
        </p:nvSpPr>
        <p:spPr>
          <a:xfrm>
            <a:off x="7616952" y="4847996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0" name="ANS_54"/>
          <p:cNvSpPr txBox="1"/>
          <p:nvPr/>
        </p:nvSpPr>
        <p:spPr>
          <a:xfrm>
            <a:off x="7818120" y="4751222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✗ 有负权回路时最短路本身不存在。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图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全部拓扑序列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写出有向图 G 的所有拓扑序列（顶点用数字标号表示，按字典序排列，用空格分隔）：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27376"/>
            <a:ext cx="6309360" cy="1347216"/>
          </a:xfrm>
          <a:prstGeom prst="roundRect">
            <a:avLst>
              <a:gd name="adj" fmla="val 543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627376"/>
            <a:ext cx="6035040" cy="1347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       V2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        |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         v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V3 -----&gt; V4</a:t>
            </a:r>
            <a:endParaRPr lang="en-US" sz="1600" dirty="0"/>
          </a:p>
        </p:txBody>
      </p:sp>
      <p:sp>
        <p:nvSpPr>
          <p:cNvPr id="9" name="ANS_55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0" name="ANS_56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11" name="ANS_57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1234 1324 2134</a:t>
            </a:r>
            <a:endParaRPr lang="en-US" sz="2600" dirty="0"/>
          </a:p>
        </p:txBody>
      </p:sp>
      <p:sp>
        <p:nvSpPr>
          <p:cNvPr id="12" name="ANS_58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3" name="ANS_59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60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约束：1 在 3 前，3 在 4 前，2 在 4 前。</a:t>
            </a:r>
            <a:endParaRPr lang="en-US" sz="1700" dirty="0"/>
          </a:p>
        </p:txBody>
      </p:sp>
      <p:sp>
        <p:nvSpPr>
          <p:cNvPr id="15" name="ANS_61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62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必须最后；1、2、3 中只要 1 在 3 前。</a:t>
            </a:r>
            <a:endParaRPr lang="en-US" sz="1700" dirty="0"/>
          </a:p>
        </p:txBody>
      </p:sp>
      <p:sp>
        <p:nvSpPr>
          <p:cNvPr id="17" name="ANS_63"/>
          <p:cNvSpPr/>
          <p:nvPr/>
        </p:nvSpPr>
        <p:spPr>
          <a:xfrm>
            <a:off x="7616952" y="427802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8" name="ANS_64"/>
          <p:cNvSpPr txBox="1"/>
          <p:nvPr/>
        </p:nvSpPr>
        <p:spPr>
          <a:xfrm>
            <a:off x="7818120" y="4181246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满足条件的有 1 2 3、1 3 2、2 1 3。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图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简单图的最多边数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如果无向图 G = (V, E) 是简单图，并且 |V| = n &gt; 0，那么图 G 最多包含多少条边？</a:t>
            </a:r>
            <a:endParaRPr lang="en-US" sz="2000" dirty="0"/>
          </a:p>
        </p:txBody>
      </p:sp>
      <p:sp>
        <p:nvSpPr>
          <p:cNvPr id="7" name="ANS_65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66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67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n(n-1)/2</a:t>
            </a:r>
            <a:endParaRPr lang="en-US" sz="4400" dirty="0"/>
          </a:p>
        </p:txBody>
      </p:sp>
      <p:sp>
        <p:nvSpPr>
          <p:cNvPr id="10" name="ANS_68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69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70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简单图没有自环和重边，每对顶点之间最多一条边。</a:t>
            </a:r>
            <a:endParaRPr lang="en-US" sz="1700" dirty="0"/>
          </a:p>
        </p:txBody>
      </p:sp>
      <p:sp>
        <p:nvSpPr>
          <p:cNvPr id="13" name="ANS_71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72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顶点对数 C(n, 2) = n(n−1)/2（完全图）。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图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强连通分量个数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下图中的强连通分量的个数为多少个？</a:t>
            </a:r>
            <a:endParaRPr lang="en-US" sz="2000" dirty="0"/>
          </a:p>
        </p:txBody>
      </p:sp>
      <p:pic>
        <p:nvPicPr>
          <p:cNvPr id="7" name="Image 0" descr="强连通分量个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92096"/>
            <a:ext cx="6309360" cy="2298410"/>
          </a:xfrm>
          <a:prstGeom prst="rect">
            <a:avLst/>
          </a:prstGeom>
        </p:spPr>
      </p:pic>
      <p:sp>
        <p:nvSpPr>
          <p:cNvPr id="8" name="ANS_73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9" name="ANS_74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10" name="ANS_75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4400" dirty="0"/>
          </a:p>
        </p:txBody>
      </p:sp>
      <p:sp>
        <p:nvSpPr>
          <p:cNvPr id="11" name="ANS_76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2" name="ANS_77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3" name="ANS_78"/>
          <p:cNvSpPr txBox="1"/>
          <p:nvPr/>
        </p:nvSpPr>
        <p:spPr>
          <a:xfrm>
            <a:off x="7818120" y="2651760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 4 个顶点：上左 → 上右 → 下左 → 下右 → 上左，构成一个环，是一个强连通分量。</a:t>
            </a:r>
            <a:endParaRPr lang="en-US" sz="1700" dirty="0"/>
          </a:p>
        </p:txBody>
      </p:sp>
      <p:sp>
        <p:nvSpPr>
          <p:cNvPr id="14" name="ANS_79"/>
          <p:cNvSpPr/>
          <p:nvPr/>
        </p:nvSpPr>
        <p:spPr>
          <a:xfrm>
            <a:off x="7616952" y="3798265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5" name="ANS_80"/>
          <p:cNvSpPr txBox="1"/>
          <p:nvPr/>
        </p:nvSpPr>
        <p:spPr>
          <a:xfrm>
            <a:off x="7818120" y="3701491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最左顶点只有出边，最右顶点只有出边，各自单独成为一个分量。</a:t>
            </a:r>
            <a:endParaRPr lang="en-US" sz="1700" dirty="0"/>
          </a:p>
        </p:txBody>
      </p:sp>
      <p:sp>
        <p:nvSpPr>
          <p:cNvPr id="16" name="ANS_81"/>
          <p:cNvSpPr/>
          <p:nvPr/>
        </p:nvSpPr>
        <p:spPr>
          <a:xfrm>
            <a:off x="7616952" y="4563008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7" name="ANS_82"/>
          <p:cNvSpPr txBox="1"/>
          <p:nvPr/>
        </p:nvSpPr>
        <p:spPr>
          <a:xfrm>
            <a:off x="7818120" y="4466234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1 + 1 + 1 = 3 个。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图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 与 BFS 序列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从顶点 1 出发，写出深度优先（DFS）和广度优先（BFS）的顶点序列。优先访问编号小的结点；序列内无空格，先 DFS 后 BFS，用空格隔开。</a:t>
            </a:r>
            <a:endParaRPr lang="en-US" sz="2000" dirty="0"/>
          </a:p>
        </p:txBody>
      </p:sp>
      <p:pic>
        <p:nvPicPr>
          <p:cNvPr id="7" name="Image 0" descr="DFS 与 BFS 序列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6871" y="2962656"/>
            <a:ext cx="2712897" cy="2468880"/>
          </a:xfrm>
          <a:prstGeom prst="rect">
            <a:avLst/>
          </a:prstGeom>
        </p:spPr>
      </p:pic>
      <p:sp>
        <p:nvSpPr>
          <p:cNvPr id="8" name="ANS_83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9" name="ANS_84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10" name="ANS_85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123456 123564</a:t>
            </a:r>
            <a:endParaRPr lang="en-US" sz="2600" dirty="0"/>
          </a:p>
        </p:txBody>
      </p:sp>
      <p:sp>
        <p:nvSpPr>
          <p:cNvPr id="11" name="ANS_86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2" name="ANS_87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3" name="ANS_88"/>
          <p:cNvSpPr txBox="1"/>
          <p:nvPr/>
        </p:nvSpPr>
        <p:spPr>
          <a:xfrm>
            <a:off x="7818120" y="2651760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邻接：1:{2,3,5,6}，2:{1,3,4}，3:{1,2,4}，4:{2,3,5,6}，5:{1,4,6}，6:{1,4,5}</a:t>
            </a:r>
            <a:endParaRPr lang="en-US" sz="1700" dirty="0"/>
          </a:p>
        </p:txBody>
      </p:sp>
      <p:sp>
        <p:nvSpPr>
          <p:cNvPr id="14" name="ANS_89"/>
          <p:cNvSpPr/>
          <p:nvPr/>
        </p:nvSpPr>
        <p:spPr>
          <a:xfrm>
            <a:off x="7616952" y="3798265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5" name="ANS_90"/>
          <p:cNvSpPr txBox="1"/>
          <p:nvPr/>
        </p:nvSpPr>
        <p:spPr>
          <a:xfrm>
            <a:off x="7818120" y="3701491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DFS：1 → 2 → 3 → 4 → 5 → 6</a:t>
            </a:r>
            <a:endParaRPr lang="en-US" sz="1700" dirty="0"/>
          </a:p>
        </p:txBody>
      </p:sp>
      <p:sp>
        <p:nvSpPr>
          <p:cNvPr id="16" name="ANS_91"/>
          <p:cNvSpPr/>
          <p:nvPr/>
        </p:nvSpPr>
        <p:spPr>
          <a:xfrm>
            <a:off x="7616952" y="427802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7" name="ANS_92"/>
          <p:cNvSpPr txBox="1"/>
          <p:nvPr/>
        </p:nvSpPr>
        <p:spPr>
          <a:xfrm>
            <a:off x="7818120" y="4181246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BFS：先访问 1 的邻居 2、3、5、6，再从 2 扩展到 4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图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 算法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Prim 算法从结点 0 出发求最小生成树，依次写出加入的边的编号（a &lt; b 时 a、b 之间的边编号为 ab；并列时选编号小的；用空格分隔）。</a:t>
            </a:r>
            <a:endParaRPr lang="en-US" sz="2000" dirty="0"/>
          </a:p>
        </p:txBody>
      </p:sp>
      <p:pic>
        <p:nvPicPr>
          <p:cNvPr id="7" name="Image 0" descr="Prim 算法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4240" y="2962656"/>
            <a:ext cx="3078159" cy="2377440"/>
          </a:xfrm>
          <a:prstGeom prst="rect">
            <a:avLst/>
          </a:prstGeom>
        </p:spPr>
      </p:pic>
      <p:sp>
        <p:nvSpPr>
          <p:cNvPr id="8" name="ANS_93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9" name="ANS_94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10" name="ANS_95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02 25 35 12 14</a:t>
            </a:r>
            <a:endParaRPr lang="en-US" sz="2600" dirty="0"/>
          </a:p>
        </p:txBody>
      </p:sp>
      <p:sp>
        <p:nvSpPr>
          <p:cNvPr id="11" name="ANS_96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2" name="ANS_97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3" name="ANS_98"/>
          <p:cNvSpPr txBox="1"/>
          <p:nvPr/>
        </p:nvSpPr>
        <p:spPr>
          <a:xfrm>
            <a:off x="7818120" y="2651760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{0}：最小边 02 (1)</a:t>
            </a:r>
            <a:endParaRPr lang="en-US" sz="1700" dirty="0"/>
          </a:p>
        </p:txBody>
      </p:sp>
      <p:sp>
        <p:nvSpPr>
          <p:cNvPr id="14" name="ANS_99"/>
          <p:cNvSpPr/>
          <p:nvPr/>
        </p:nvSpPr>
        <p:spPr>
          <a:xfrm>
            <a:off x="7616952" y="3228289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5" name="ANS_100"/>
          <p:cNvSpPr txBox="1"/>
          <p:nvPr/>
        </p:nvSpPr>
        <p:spPr>
          <a:xfrm>
            <a:off x="7818120" y="3131515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{0,2}：25 (4)</a:t>
            </a:r>
            <a:endParaRPr lang="en-US" sz="1700" dirty="0"/>
          </a:p>
        </p:txBody>
      </p:sp>
      <p:sp>
        <p:nvSpPr>
          <p:cNvPr id="16" name="ANS_101"/>
          <p:cNvSpPr/>
          <p:nvPr/>
        </p:nvSpPr>
        <p:spPr>
          <a:xfrm>
            <a:off x="7616952" y="370804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7" name="ANS_102"/>
          <p:cNvSpPr txBox="1"/>
          <p:nvPr/>
        </p:nvSpPr>
        <p:spPr>
          <a:xfrm>
            <a:off x="7818120" y="3611270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{0,2,5}：35 (2)</a:t>
            </a:r>
            <a:endParaRPr lang="en-US" sz="1700" dirty="0"/>
          </a:p>
        </p:txBody>
      </p:sp>
      <p:sp>
        <p:nvSpPr>
          <p:cNvPr id="18" name="ANS_103"/>
          <p:cNvSpPr/>
          <p:nvPr/>
        </p:nvSpPr>
        <p:spPr>
          <a:xfrm>
            <a:off x="7616952" y="418780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9" name="ANS_104"/>
          <p:cNvSpPr txBox="1"/>
          <p:nvPr/>
        </p:nvSpPr>
        <p:spPr>
          <a:xfrm>
            <a:off x="7818120" y="4091026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{0,2,3,5}：候选 12 (5)、01/24/45 (6) → 12</a:t>
            </a:r>
            <a:endParaRPr lang="en-US" sz="1700" dirty="0"/>
          </a:p>
        </p:txBody>
      </p:sp>
      <p:sp>
        <p:nvSpPr>
          <p:cNvPr id="20" name="ANS_105"/>
          <p:cNvSpPr/>
          <p:nvPr/>
        </p:nvSpPr>
        <p:spPr>
          <a:xfrm>
            <a:off x="7616952" y="4952543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ANS_106"/>
          <p:cNvSpPr txBox="1"/>
          <p:nvPr/>
        </p:nvSpPr>
        <p:spPr>
          <a:xfrm>
            <a:off x="7818120" y="4855769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{0,1,2,3,5}：14 (3)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图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Kruskal 算法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Kruskal 算法求题 10 图的最小生成树，依次写出每次被选择的边的编号。</a:t>
            </a:r>
            <a:endParaRPr lang="en-US" sz="2000" dirty="0"/>
          </a:p>
        </p:txBody>
      </p:sp>
      <p:pic>
        <p:nvPicPr>
          <p:cNvPr id="7" name="Image 0" descr="Kruskal 算法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4240" y="2627376"/>
            <a:ext cx="3078159" cy="2377440"/>
          </a:xfrm>
          <a:prstGeom prst="rect">
            <a:avLst/>
          </a:prstGeom>
        </p:spPr>
      </p:pic>
      <p:sp>
        <p:nvSpPr>
          <p:cNvPr id="8" name="ANS_107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9" name="ANS_108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10" name="ANS_109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02 35 14 25 12</a:t>
            </a:r>
            <a:endParaRPr lang="en-US" sz="2600" dirty="0"/>
          </a:p>
        </p:txBody>
      </p:sp>
      <p:sp>
        <p:nvSpPr>
          <p:cNvPr id="11" name="ANS_110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2" name="ANS_111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3" name="ANS_112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按权值从小到大：02 (1)、35 (2)、14 (3)、25 (4) 都不成环。</a:t>
            </a:r>
            <a:endParaRPr lang="en-US" sz="1700" dirty="0"/>
          </a:p>
        </p:txBody>
      </p:sp>
      <p:sp>
        <p:nvSpPr>
          <p:cNvPr id="14" name="ANS_113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5" name="ANS_114"/>
          <p:cNvSpPr txBox="1"/>
          <p:nvPr/>
        </p:nvSpPr>
        <p:spPr>
          <a:xfrm>
            <a:off x="7818120" y="3416503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 5 的边：03 会成环 0-2-5-3，跳过；12 连通 {1,4} 与其余顶点 → 选 12。</a:t>
            </a:r>
            <a:endParaRPr lang="en-US" sz="1700" dirty="0"/>
          </a:p>
        </p:txBody>
      </p:sp>
      <p:sp>
        <p:nvSpPr>
          <p:cNvPr id="16" name="ANS_115"/>
          <p:cNvSpPr/>
          <p:nvPr/>
        </p:nvSpPr>
        <p:spPr>
          <a:xfrm>
            <a:off x="7616952" y="4563008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7" name="ANS_116"/>
          <p:cNvSpPr txBox="1"/>
          <p:nvPr/>
        </p:nvSpPr>
        <p:spPr>
          <a:xfrm>
            <a:off x="7818120" y="4466234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已选 5 条边，结束。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图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深度优先遍历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39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无向图 G = (V, E)，V = {a, b, c, d, e, f}，E = {(a,b), (a,e), (a,c), (b,e), (c,f), (f,d), (e,d)}。从 a 深度优先遍历（优先访问编号小的结点）得到的顶点序列为（无空格）：</a:t>
            </a:r>
            <a:endParaRPr lang="en-US" sz="2000" dirty="0"/>
          </a:p>
        </p:txBody>
      </p:sp>
      <p:sp>
        <p:nvSpPr>
          <p:cNvPr id="7" name="ANS_117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118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119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abedfc</a:t>
            </a:r>
            <a:endParaRPr lang="en-US" sz="4400" dirty="0"/>
          </a:p>
        </p:txBody>
      </p:sp>
      <p:sp>
        <p:nvSpPr>
          <p:cNvPr id="10" name="ANS_120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121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122"/>
          <p:cNvSpPr txBox="1"/>
          <p:nvPr/>
        </p:nvSpPr>
        <p:spPr>
          <a:xfrm>
            <a:off x="7818120" y="2651760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邻接：a:{b,c,e}，b:{a,e}，c:{a,f}，d:{e,f}，e:{a,b,d}，f:{c,d}</a:t>
            </a:r>
            <a:endParaRPr lang="en-US" sz="1700" dirty="0"/>
          </a:p>
        </p:txBody>
      </p:sp>
      <p:sp>
        <p:nvSpPr>
          <p:cNvPr id="13" name="ANS_123"/>
          <p:cNvSpPr/>
          <p:nvPr/>
        </p:nvSpPr>
        <p:spPr>
          <a:xfrm>
            <a:off x="7616952" y="3798265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124"/>
          <p:cNvSpPr txBox="1"/>
          <p:nvPr/>
        </p:nvSpPr>
        <p:spPr>
          <a:xfrm>
            <a:off x="7818120" y="3701491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→ b → e → d → f → c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5029200" cy="5029200"/>
          </a:xfrm>
          <a:prstGeom prst="ellipse">
            <a:avLst/>
          </a:prstGeom>
          <a:solidFill>
            <a:srgbClr val="3E7C6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931920"/>
            <a:ext cx="2926080" cy="2926080"/>
          </a:xfrm>
          <a:prstGeom prst="ellipse">
            <a:avLst/>
          </a:prstGeom>
          <a:solidFill>
            <a:srgbClr val="F2B134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Chapter 8 · 上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内排序（上）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14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14 题 · 准备好了吗？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内排序（上）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Shell 排序的比较次数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对序列 {E, A, S, Y, Q, U, E, S, T, I, O, N}，以 {6, 3, 1} 为增量做 Shell 排序。头两趟（增量 6、3）排序后，关键字的累积比较次数为：</a:t>
            </a:r>
            <a:endParaRPr lang="en-US" sz="2000" dirty="0"/>
          </a:p>
        </p:txBody>
      </p:sp>
      <p:sp>
        <p:nvSpPr>
          <p:cNvPr id="7" name="ANS_125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126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127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4400" dirty="0"/>
          </a:p>
        </p:txBody>
      </p:sp>
      <p:sp>
        <p:nvSpPr>
          <p:cNvPr id="10" name="ANS_128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129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130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每趟对各组做直接插入排序，逐次比较计数。</a:t>
            </a:r>
            <a:endParaRPr lang="en-US" sz="1700" dirty="0"/>
          </a:p>
        </p:txBody>
      </p:sp>
      <p:sp>
        <p:nvSpPr>
          <p:cNvPr id="13" name="ANS_131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132"/>
          <p:cNvSpPr txBox="1"/>
          <p:nvPr/>
        </p:nvSpPr>
        <p:spPr>
          <a:xfrm>
            <a:off x="7818120" y="3416503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 6：6 组各 2 个元素，各比较 1 次 → 6 次，得 E A S I O N E S T Y Q U</a:t>
            </a:r>
            <a:endParaRPr lang="en-US" sz="1700" dirty="0"/>
          </a:p>
        </p:txBody>
      </p:sp>
      <p:sp>
        <p:nvSpPr>
          <p:cNvPr id="15" name="ANS_133"/>
          <p:cNvSpPr/>
          <p:nvPr/>
        </p:nvSpPr>
        <p:spPr>
          <a:xfrm>
            <a:off x="7616952" y="4563008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134"/>
          <p:cNvSpPr txBox="1"/>
          <p:nvPr/>
        </p:nvSpPr>
        <p:spPr>
          <a:xfrm>
            <a:off x="7818120" y="4466234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 3：3 组各 4 个元素：{E I E Y} 4 次，{A O S Q} 4 次，{S N T U} 3 次 → 11 次</a:t>
            </a:r>
            <a:endParaRPr lang="en-US" sz="1700" dirty="0"/>
          </a:p>
        </p:txBody>
      </p:sp>
      <p:sp>
        <p:nvSpPr>
          <p:cNvPr id="17" name="ANS_135"/>
          <p:cNvSpPr/>
          <p:nvPr/>
        </p:nvSpPr>
        <p:spPr>
          <a:xfrm>
            <a:off x="7616952" y="561274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8" name="ANS_136"/>
          <p:cNvSpPr txBox="1"/>
          <p:nvPr/>
        </p:nvSpPr>
        <p:spPr>
          <a:xfrm>
            <a:off x="7818120" y="5515966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 6 + 11 = 17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内排序（上）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放错的书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图书馆里有些书放错了位置，但通常偏离不超过一个书架。要把这些书放回正确位置，应该使用何种排序方法？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03580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6265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插入排序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69417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62102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归并排序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35254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27939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快速排序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5010912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93776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直接选择排序</a:t>
            </a:r>
            <a:endParaRPr lang="en-US" sz="2000" dirty="0"/>
          </a:p>
        </p:txBody>
      </p:sp>
      <p:sp>
        <p:nvSpPr>
          <p:cNvPr id="19" name="ANS_137"/>
          <p:cNvSpPr/>
          <p:nvPr/>
        </p:nvSpPr>
        <p:spPr>
          <a:xfrm>
            <a:off x="457200" y="2926080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0" name="ANS_138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1" name="ANS_139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2" name="ANS_140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4400" dirty="0"/>
          </a:p>
        </p:txBody>
      </p:sp>
      <p:sp>
        <p:nvSpPr>
          <p:cNvPr id="23" name="ANS_141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4" name="ANS_142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143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数据「几乎有序」，每个元素只需向前移动很短的距离。</a:t>
            </a:r>
            <a:endParaRPr lang="en-US" sz="1700" dirty="0"/>
          </a:p>
        </p:txBody>
      </p:sp>
      <p:sp>
        <p:nvSpPr>
          <p:cNvPr id="26" name="ANS_144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ANS_145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插入排序在这种情况下接近 O(n)。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内排序（上）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移动代价很大的记录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需要对 1000 个大型记录排序，记录移动代价很大，但比较非常快，应该使用何种排序方法？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70052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00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2737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直接选择排序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35889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58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28574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堆排序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01726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17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94411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快速排序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75632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675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60248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插入排序</a:t>
            </a:r>
            <a:endParaRPr lang="en-US" sz="2000" dirty="0"/>
          </a:p>
        </p:txBody>
      </p:sp>
      <p:sp>
        <p:nvSpPr>
          <p:cNvPr id="19" name="ANS_146"/>
          <p:cNvSpPr/>
          <p:nvPr/>
        </p:nvSpPr>
        <p:spPr>
          <a:xfrm>
            <a:off x="457200" y="2590800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0" name="ANS_147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1" name="ANS_148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2" name="ANS_149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4400" dirty="0"/>
          </a:p>
        </p:txBody>
      </p:sp>
      <p:sp>
        <p:nvSpPr>
          <p:cNvPr id="23" name="ANS_150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4" name="ANS_151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152"/>
          <p:cNvSpPr txBox="1"/>
          <p:nvPr/>
        </p:nvSpPr>
        <p:spPr>
          <a:xfrm>
            <a:off x="7818120" y="2651760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直接选择排序每趟只交换一次，总移动次数 O(n)，是各方法中最少的。</a:t>
            </a:r>
            <a:endParaRPr lang="en-US" sz="1700" dirty="0"/>
          </a:p>
        </p:txBody>
      </p:sp>
      <p:sp>
        <p:nvSpPr>
          <p:cNvPr id="26" name="ANS_153"/>
          <p:cNvSpPr/>
          <p:nvPr/>
        </p:nvSpPr>
        <p:spPr>
          <a:xfrm>
            <a:off x="7616952" y="3798265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ANS_154"/>
          <p:cNvSpPr txBox="1"/>
          <p:nvPr/>
        </p:nvSpPr>
        <p:spPr>
          <a:xfrm>
            <a:off x="7818120" y="3701491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比较次数 n(n−1)/2 虽多，但比较很便宜。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内排序（上）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比较次数与初始状态无关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下列排序方法中，比较次数与记录的初始排列状态无关的是：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70052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00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2737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直接选择排序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35889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58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28574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直接插入排序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01726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17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94411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冒泡排序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75632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675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60248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快速排序</a:t>
            </a:r>
            <a:endParaRPr lang="en-US" sz="2000" dirty="0"/>
          </a:p>
        </p:txBody>
      </p:sp>
      <p:sp>
        <p:nvSpPr>
          <p:cNvPr id="19" name="ANS_155"/>
          <p:cNvSpPr/>
          <p:nvPr/>
        </p:nvSpPr>
        <p:spPr>
          <a:xfrm>
            <a:off x="457200" y="2590800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0" name="ANS_156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1" name="ANS_157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2" name="ANS_158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4400" dirty="0"/>
          </a:p>
        </p:txBody>
      </p:sp>
      <p:sp>
        <p:nvSpPr>
          <p:cNvPr id="23" name="ANS_159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4" name="ANS_160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161"/>
          <p:cNvSpPr txBox="1"/>
          <p:nvPr/>
        </p:nvSpPr>
        <p:spPr>
          <a:xfrm>
            <a:off x="7818120" y="2651760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直接选择排序每趟都要扫完未排序部分找最小值，总比较次数恒为 n(n−1)/2。</a:t>
            </a:r>
            <a:endParaRPr lang="en-US" sz="1700" dirty="0"/>
          </a:p>
        </p:txBody>
      </p:sp>
      <p:sp>
        <p:nvSpPr>
          <p:cNvPr id="26" name="ANS_162"/>
          <p:cNvSpPr/>
          <p:nvPr/>
        </p:nvSpPr>
        <p:spPr>
          <a:xfrm>
            <a:off x="7616952" y="3798265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ANS_163"/>
          <p:cNvSpPr txBox="1"/>
          <p:nvPr/>
        </p:nvSpPr>
        <p:spPr>
          <a:xfrm>
            <a:off x="7818120" y="3701491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插入、冒泡（带提前结束）、快排的比较次数都随初始次序变化。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内排序（上）  ·  多选题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拓扑排序（一）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下面属于给定图的拓扑排序的是？</a:t>
            </a:r>
            <a:endParaRPr lang="en-US" sz="1700" dirty="0"/>
          </a:p>
        </p:txBody>
      </p:sp>
      <p:pic>
        <p:nvPicPr>
          <p:cNvPr id="7" name="Image 0" descr="拓扑排序（一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5259" y="2203399"/>
            <a:ext cx="2496122" cy="17876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4248912"/>
            <a:ext cx="381305" cy="381305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4248912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33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4208678"/>
            <a:ext cx="57607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2 8 0 7 1 3 5 6 4 9 10 11 12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19498"/>
            <a:ext cx="381305" cy="381305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4819498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33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4779264"/>
            <a:ext cx="57607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2 8 7 0 6 9 11 12 10 1 3 5 4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48640" y="5390083"/>
            <a:ext cx="381305" cy="381305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" y="5390083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33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" y="5349850"/>
            <a:ext cx="57607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8 2 7 3 0 6 1 5 4 9 10 11 12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5960669"/>
            <a:ext cx="381305" cy="381305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48640" y="5960669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33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5920435"/>
            <a:ext cx="57607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8 2 7 0 6 9 10 11 12 1 3 5 4</a:t>
            </a:r>
            <a:endParaRPr lang="en-US" sz="1700" dirty="0"/>
          </a:p>
        </p:txBody>
      </p:sp>
      <p:sp>
        <p:nvSpPr>
          <p:cNvPr id="20" name="ANS_164"/>
          <p:cNvSpPr/>
          <p:nvPr/>
        </p:nvSpPr>
        <p:spPr>
          <a:xfrm>
            <a:off x="457200" y="4172102"/>
            <a:ext cx="6492240" cy="534924"/>
          </a:xfrm>
          <a:prstGeom prst="roundRect">
            <a:avLst>
              <a:gd name="adj" fmla="val 17094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1" name="ANS_165"/>
          <p:cNvSpPr/>
          <p:nvPr/>
        </p:nvSpPr>
        <p:spPr>
          <a:xfrm>
            <a:off x="457200" y="4742688"/>
            <a:ext cx="6492240" cy="534924"/>
          </a:xfrm>
          <a:prstGeom prst="roundRect">
            <a:avLst>
              <a:gd name="adj" fmla="val 17094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2" name="ANS_166"/>
          <p:cNvSpPr/>
          <p:nvPr/>
        </p:nvSpPr>
        <p:spPr>
          <a:xfrm>
            <a:off x="457200" y="5313274"/>
            <a:ext cx="6492240" cy="534924"/>
          </a:xfrm>
          <a:prstGeom prst="roundRect">
            <a:avLst>
              <a:gd name="adj" fmla="val 17094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3" name="ANS_167"/>
          <p:cNvSpPr/>
          <p:nvPr/>
        </p:nvSpPr>
        <p:spPr>
          <a:xfrm>
            <a:off x="457200" y="5883859"/>
            <a:ext cx="6492240" cy="534924"/>
          </a:xfrm>
          <a:prstGeom prst="roundRect">
            <a:avLst>
              <a:gd name="adj" fmla="val 17094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4" name="ANS_168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5" name="ANS_169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6" name="ANS_170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A、B、C、D</a:t>
            </a:r>
            <a:endParaRPr lang="en-US" sz="3600" dirty="0"/>
          </a:p>
        </p:txBody>
      </p:sp>
      <p:sp>
        <p:nvSpPr>
          <p:cNvPr id="27" name="ANS_171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8" name="ANS_172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9" name="ANS_173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逐条检查每条边 u→v：u 必须排在 v 之前。</a:t>
            </a:r>
            <a:endParaRPr lang="en-US" sz="1700" dirty="0"/>
          </a:p>
        </p:txBody>
      </p:sp>
      <p:sp>
        <p:nvSpPr>
          <p:cNvPr id="30" name="ANS_174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1" name="ANS_175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关键约束：2 排在 0、3 之前；8 → 7 → 6 → 9。</a:t>
            </a:r>
            <a:endParaRPr lang="en-US" sz="1700" dirty="0"/>
          </a:p>
        </p:txBody>
      </p:sp>
      <p:sp>
        <p:nvSpPr>
          <p:cNvPr id="32" name="ANS_176"/>
          <p:cNvSpPr/>
          <p:nvPr/>
        </p:nvSpPr>
        <p:spPr>
          <a:xfrm>
            <a:off x="7616952" y="427802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3" name="ANS_177"/>
          <p:cNvSpPr txBox="1"/>
          <p:nvPr/>
        </p:nvSpPr>
        <p:spPr>
          <a:xfrm>
            <a:off x="7818120" y="4181246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中 3 在 0 之前也可以：3 只要求 2 在前、5 在后。</a:t>
            </a:r>
            <a:endParaRPr lang="en-US" sz="1700" dirty="0"/>
          </a:p>
        </p:txBody>
      </p:sp>
      <p:sp>
        <p:nvSpPr>
          <p:cNvPr id="34" name="ANS_178"/>
          <p:cNvSpPr/>
          <p:nvPr/>
        </p:nvSpPr>
        <p:spPr>
          <a:xfrm>
            <a:off x="7616952" y="504276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5" name="ANS_179"/>
          <p:cNvSpPr txBox="1"/>
          <p:nvPr/>
        </p:nvSpPr>
        <p:spPr>
          <a:xfrm>
            <a:off x="7818120" y="494599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注：md 只收录了正确选项，原题的错误选项未列出。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内排序（上）  ·  多选题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拓扑排序（二）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363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4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下面属于给定 AOV 网的拓扑排序的是？（Ci 记为 i）</a:t>
            </a:r>
            <a:endParaRPr lang="en-US" sz="1840" dirty="0"/>
          </a:p>
        </p:txBody>
      </p:sp>
      <p:pic>
        <p:nvPicPr>
          <p:cNvPr id="7" name="Image 0" descr="拓扑排序（二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9923" y="2244791"/>
            <a:ext cx="3146793" cy="20189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4554200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4554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4499336"/>
            <a:ext cx="5760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4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12 13 1 4 2 3 9 10 5 8 6 7 11</a:t>
            </a:r>
            <a:endParaRPr lang="en-US" sz="1840" dirty="0"/>
          </a:p>
        </p:txBody>
      </p:sp>
      <p:sp>
        <p:nvSpPr>
          <p:cNvPr id="11" name="Shape 8"/>
          <p:cNvSpPr/>
          <p:nvPr/>
        </p:nvSpPr>
        <p:spPr>
          <a:xfrm>
            <a:off x="548640" y="5165750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516575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5110886"/>
            <a:ext cx="5760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4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1 12 4 13 2 3 9 10 11 7 6 8 5</a:t>
            </a:r>
            <a:endParaRPr lang="en-US" sz="1840" dirty="0"/>
          </a:p>
        </p:txBody>
      </p:sp>
      <p:sp>
        <p:nvSpPr>
          <p:cNvPr id="14" name="Shape 11"/>
          <p:cNvSpPr/>
          <p:nvPr/>
        </p:nvSpPr>
        <p:spPr>
          <a:xfrm>
            <a:off x="548640" y="5777301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" y="577730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" y="5722437"/>
            <a:ext cx="5760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4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12 1 4 13 2 3 5 6 8 9 10 11 7</a:t>
            </a:r>
            <a:endParaRPr lang="en-US" sz="1840" dirty="0"/>
          </a:p>
        </p:txBody>
      </p:sp>
      <p:sp>
        <p:nvSpPr>
          <p:cNvPr id="17" name="ANS_180"/>
          <p:cNvSpPr/>
          <p:nvPr/>
        </p:nvSpPr>
        <p:spPr>
          <a:xfrm>
            <a:off x="457200" y="4462760"/>
            <a:ext cx="6492240" cy="566928"/>
          </a:xfrm>
          <a:prstGeom prst="roundRect">
            <a:avLst>
              <a:gd name="adj" fmla="val 16129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18" name="ANS_181"/>
          <p:cNvSpPr/>
          <p:nvPr/>
        </p:nvSpPr>
        <p:spPr>
          <a:xfrm>
            <a:off x="457200" y="5074310"/>
            <a:ext cx="6492240" cy="566928"/>
          </a:xfrm>
          <a:prstGeom prst="roundRect">
            <a:avLst>
              <a:gd name="adj" fmla="val 16129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19" name="ANS_182"/>
          <p:cNvSpPr/>
          <p:nvPr/>
        </p:nvSpPr>
        <p:spPr>
          <a:xfrm>
            <a:off x="457200" y="5685861"/>
            <a:ext cx="6492240" cy="566928"/>
          </a:xfrm>
          <a:prstGeom prst="roundRect">
            <a:avLst>
              <a:gd name="adj" fmla="val 16129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0" name="ANS_183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1" name="ANS_184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2" name="ANS_185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A、B、C</a:t>
            </a:r>
            <a:endParaRPr lang="en-US" sz="4400" dirty="0"/>
          </a:p>
        </p:txBody>
      </p:sp>
      <p:sp>
        <p:nvSpPr>
          <p:cNvPr id="23" name="ANS_186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4" name="ANS_187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188"/>
          <p:cNvSpPr txBox="1"/>
          <p:nvPr/>
        </p:nvSpPr>
        <p:spPr>
          <a:xfrm>
            <a:off x="7818120" y="2651760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入度为 0 的起点：C1、C12。</a:t>
            </a:r>
            <a:endParaRPr lang="en-US" sz="1700" dirty="0"/>
          </a:p>
        </p:txBody>
      </p:sp>
      <p:sp>
        <p:nvSpPr>
          <p:cNvPr id="26" name="ANS_189"/>
          <p:cNvSpPr/>
          <p:nvPr/>
        </p:nvSpPr>
        <p:spPr>
          <a:xfrm>
            <a:off x="7616952" y="3228289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ANS_190"/>
          <p:cNvSpPr txBox="1"/>
          <p:nvPr/>
        </p:nvSpPr>
        <p:spPr>
          <a:xfrm>
            <a:off x="7818120" y="3131515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要等 C1、C13；C3 要等 C1、C13；C4 要等 C1、C12。</a:t>
            </a:r>
            <a:endParaRPr lang="en-US" sz="1700" dirty="0"/>
          </a:p>
        </p:txBody>
      </p:sp>
      <p:sp>
        <p:nvSpPr>
          <p:cNvPr id="28" name="ANS_191"/>
          <p:cNvSpPr/>
          <p:nvPr/>
        </p:nvSpPr>
        <p:spPr>
          <a:xfrm>
            <a:off x="7616952" y="399303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9" name="ANS_192"/>
          <p:cNvSpPr txBox="1"/>
          <p:nvPr/>
        </p:nvSpPr>
        <p:spPr>
          <a:xfrm>
            <a:off x="7818120" y="3896258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C9 要等 C3、C4；C7 要等 C3、C4、C9；C10 → C11。</a:t>
            </a:r>
            <a:endParaRPr lang="en-US" sz="1700" dirty="0"/>
          </a:p>
        </p:txBody>
      </p:sp>
      <p:sp>
        <p:nvSpPr>
          <p:cNvPr id="30" name="ANS_193"/>
          <p:cNvSpPr/>
          <p:nvPr/>
        </p:nvSpPr>
        <p:spPr>
          <a:xfrm>
            <a:off x="7616952" y="4757776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1" name="ANS_194"/>
          <p:cNvSpPr txBox="1"/>
          <p:nvPr/>
        </p:nvSpPr>
        <p:spPr>
          <a:xfrm>
            <a:off x="7818120" y="4661002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三个序列都满足全部边约束。注：原题的错误选项未列出。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内排序（上）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冒泡排序的交换与趟数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39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对记录（50, 40, 95, 20, 15, 70, 60, 45, 80）从小到大冒泡排序（从后往前冒泡），第一趟相邻记录交换的次数为 ____，整个排序共需 ____ 趟。（两个数字用空格隔开）</a:t>
            </a:r>
            <a:endParaRPr lang="en-US" sz="2000" dirty="0"/>
          </a:p>
        </p:txBody>
      </p:sp>
      <p:sp>
        <p:nvSpPr>
          <p:cNvPr id="7" name="ANS_195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196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197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6 7</a:t>
            </a:r>
            <a:endParaRPr lang="en-US" sz="4400" dirty="0"/>
          </a:p>
        </p:txBody>
      </p:sp>
      <p:sp>
        <p:nvSpPr>
          <p:cNvPr id="10" name="ANS_198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199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200"/>
          <p:cNvSpPr txBox="1"/>
          <p:nvPr/>
        </p:nvSpPr>
        <p:spPr>
          <a:xfrm>
            <a:off x="7818120" y="2651760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趟：15 一路交换到最前，共 6 次 → 15 50 40 95 20 45 70 60 80</a:t>
            </a:r>
            <a:endParaRPr lang="en-US" sz="1700" dirty="0"/>
          </a:p>
        </p:txBody>
      </p:sp>
      <p:sp>
        <p:nvSpPr>
          <p:cNvPr id="13" name="ANS_201"/>
          <p:cNvSpPr/>
          <p:nvPr/>
        </p:nvSpPr>
        <p:spPr>
          <a:xfrm>
            <a:off x="7616952" y="3798265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202"/>
          <p:cNvSpPr txBox="1"/>
          <p:nvPr/>
        </p:nvSpPr>
        <p:spPr>
          <a:xfrm>
            <a:off x="7818120" y="3701491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之后各趟交换 4、2、2、1、1 次，第 6 趟后已有序。</a:t>
            </a:r>
            <a:endParaRPr lang="en-US" sz="1700" dirty="0"/>
          </a:p>
        </p:txBody>
      </p:sp>
      <p:sp>
        <p:nvSpPr>
          <p:cNvPr id="15" name="ANS_203"/>
          <p:cNvSpPr/>
          <p:nvPr/>
        </p:nvSpPr>
        <p:spPr>
          <a:xfrm>
            <a:off x="7616952" y="4563008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204"/>
          <p:cNvSpPr txBox="1"/>
          <p:nvPr/>
        </p:nvSpPr>
        <p:spPr>
          <a:xfrm>
            <a:off x="7818120" y="4466234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趟没有发生交换，确认有序后结束 → 共 7 趟。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内排序（上）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直接选择排序：第 3 次后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排序码为（46, 74, 16, 53, 14, 26, 40, 38, 86, 65, 27, 34），用直接选择排序，写出第三次选择和交换后的结果（12 个数字，空格隔开）：</a:t>
            </a:r>
            <a:endParaRPr lang="en-US" sz="2000" dirty="0"/>
          </a:p>
        </p:txBody>
      </p:sp>
      <p:sp>
        <p:nvSpPr>
          <p:cNvPr id="7" name="ANS_205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206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207"/>
          <p:cNvSpPr txBox="1"/>
          <p:nvPr/>
        </p:nvSpPr>
        <p:spPr>
          <a:xfrm>
            <a:off x="7589520" y="1097280"/>
            <a:ext cx="3749040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14 16 26 53 46 74 40 38 86 65 27 34</a:t>
            </a:r>
            <a:endParaRPr lang="en-US" sz="2600" dirty="0"/>
          </a:p>
        </p:txBody>
      </p:sp>
      <p:sp>
        <p:nvSpPr>
          <p:cNvPr id="10" name="ANS_208"/>
          <p:cNvSpPr txBox="1"/>
          <p:nvPr/>
        </p:nvSpPr>
        <p:spPr>
          <a:xfrm>
            <a:off x="7589520" y="2252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209"/>
          <p:cNvSpPr/>
          <p:nvPr/>
        </p:nvSpPr>
        <p:spPr>
          <a:xfrm>
            <a:off x="7616952" y="2806446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210"/>
          <p:cNvSpPr txBox="1"/>
          <p:nvPr/>
        </p:nvSpPr>
        <p:spPr>
          <a:xfrm>
            <a:off x="7818120" y="2709672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次：最小 14 与 46 交换 → 14 74 16 53 46 …</a:t>
            </a:r>
            <a:endParaRPr lang="en-US" sz="1700" dirty="0"/>
          </a:p>
        </p:txBody>
      </p:sp>
      <p:sp>
        <p:nvSpPr>
          <p:cNvPr id="13" name="ANS_211"/>
          <p:cNvSpPr/>
          <p:nvPr/>
        </p:nvSpPr>
        <p:spPr>
          <a:xfrm>
            <a:off x="7616952" y="3571189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212"/>
          <p:cNvSpPr txBox="1"/>
          <p:nvPr/>
        </p:nvSpPr>
        <p:spPr>
          <a:xfrm>
            <a:off x="7818120" y="3474415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次：16 与 74 交换 → 14 16 74 53 46 26 …</a:t>
            </a:r>
            <a:endParaRPr lang="en-US" sz="1700" dirty="0"/>
          </a:p>
        </p:txBody>
      </p:sp>
      <p:sp>
        <p:nvSpPr>
          <p:cNvPr id="15" name="ANS_213"/>
          <p:cNvSpPr/>
          <p:nvPr/>
        </p:nvSpPr>
        <p:spPr>
          <a:xfrm>
            <a:off x="7616952" y="433593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214"/>
          <p:cNvSpPr txBox="1"/>
          <p:nvPr/>
        </p:nvSpPr>
        <p:spPr>
          <a:xfrm>
            <a:off x="7818120" y="4239158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次：26 与 74 交换 → 14 16 26 53 46 74 40 38 86 65 27 34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内排序（上）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直接插入排序：第 4 次后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排序码为（46, 74, 16, 53, 14, 26, 40, 38, 86, 65, 27, 34），用直接插入排序（第一个数字不用插入），写出第四次插入后的结果：</a:t>
            </a:r>
            <a:endParaRPr lang="en-US" sz="2000" dirty="0"/>
          </a:p>
        </p:txBody>
      </p:sp>
      <p:sp>
        <p:nvSpPr>
          <p:cNvPr id="7" name="ANS_215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216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217"/>
          <p:cNvSpPr txBox="1"/>
          <p:nvPr/>
        </p:nvSpPr>
        <p:spPr>
          <a:xfrm>
            <a:off x="7589520" y="1097280"/>
            <a:ext cx="3749040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14 16 46 53 74 26 40 38 86 65 27 34</a:t>
            </a:r>
            <a:endParaRPr lang="en-US" sz="2600" dirty="0"/>
          </a:p>
        </p:txBody>
      </p:sp>
      <p:sp>
        <p:nvSpPr>
          <p:cNvPr id="10" name="ANS_218"/>
          <p:cNvSpPr txBox="1"/>
          <p:nvPr/>
        </p:nvSpPr>
        <p:spPr>
          <a:xfrm>
            <a:off x="7589520" y="2252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219"/>
          <p:cNvSpPr/>
          <p:nvPr/>
        </p:nvSpPr>
        <p:spPr>
          <a:xfrm>
            <a:off x="7616952" y="2806446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220"/>
          <p:cNvSpPr txBox="1"/>
          <p:nvPr/>
        </p:nvSpPr>
        <p:spPr>
          <a:xfrm>
            <a:off x="7818120" y="2709672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次插 74 → 46 74</a:t>
            </a:r>
            <a:endParaRPr lang="en-US" sz="1700" dirty="0"/>
          </a:p>
        </p:txBody>
      </p:sp>
      <p:sp>
        <p:nvSpPr>
          <p:cNvPr id="13" name="ANS_221"/>
          <p:cNvSpPr/>
          <p:nvPr/>
        </p:nvSpPr>
        <p:spPr>
          <a:xfrm>
            <a:off x="7616952" y="3286201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222"/>
          <p:cNvSpPr txBox="1"/>
          <p:nvPr/>
        </p:nvSpPr>
        <p:spPr>
          <a:xfrm>
            <a:off x="7818120" y="3189427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次插 16 → 16 46 74</a:t>
            </a:r>
            <a:endParaRPr lang="en-US" sz="1700" dirty="0"/>
          </a:p>
        </p:txBody>
      </p:sp>
      <p:sp>
        <p:nvSpPr>
          <p:cNvPr id="15" name="ANS_223"/>
          <p:cNvSpPr/>
          <p:nvPr/>
        </p:nvSpPr>
        <p:spPr>
          <a:xfrm>
            <a:off x="7616952" y="3765956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224"/>
          <p:cNvSpPr txBox="1"/>
          <p:nvPr/>
        </p:nvSpPr>
        <p:spPr>
          <a:xfrm>
            <a:off x="7818120" y="3669182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次插 53 → 16 46 53 74</a:t>
            </a:r>
            <a:endParaRPr lang="en-US" sz="1700" dirty="0"/>
          </a:p>
        </p:txBody>
      </p:sp>
      <p:sp>
        <p:nvSpPr>
          <p:cNvPr id="17" name="ANS_225"/>
          <p:cNvSpPr/>
          <p:nvPr/>
        </p:nvSpPr>
        <p:spPr>
          <a:xfrm>
            <a:off x="7616952" y="424571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8" name="ANS_226"/>
          <p:cNvSpPr txBox="1"/>
          <p:nvPr/>
        </p:nvSpPr>
        <p:spPr>
          <a:xfrm>
            <a:off x="7818120" y="4148938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次插 14 → 14 16 46 53 74，其余不动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内排序（上）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冒泡排序的交换次数范围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个记录的冒泡排序，所需最大交换次数为 ____，最小交换次数为 ____。</a:t>
            </a:r>
            <a:endParaRPr lang="en-US" sz="2000" dirty="0"/>
          </a:p>
        </p:txBody>
      </p:sp>
      <p:sp>
        <p:nvSpPr>
          <p:cNvPr id="7" name="ANS_227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228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229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105 0</a:t>
            </a:r>
            <a:endParaRPr lang="en-US" sz="4400" dirty="0"/>
          </a:p>
        </p:txBody>
      </p:sp>
      <p:sp>
        <p:nvSpPr>
          <p:cNvPr id="10" name="ANS_230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231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232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每次相邻交换恰好消除一个逆序对。</a:t>
            </a:r>
            <a:endParaRPr lang="en-US" sz="1700" dirty="0"/>
          </a:p>
        </p:txBody>
      </p:sp>
      <p:sp>
        <p:nvSpPr>
          <p:cNvPr id="13" name="ANS_233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234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逆序时逆序对最多：15×14/2 = 105</a:t>
            </a:r>
            <a:endParaRPr lang="en-US" sz="1700" dirty="0"/>
          </a:p>
        </p:txBody>
      </p:sp>
      <p:sp>
        <p:nvSpPr>
          <p:cNvPr id="15" name="ANS_235"/>
          <p:cNvSpPr/>
          <p:nvPr/>
        </p:nvSpPr>
        <p:spPr>
          <a:xfrm>
            <a:off x="7616952" y="427802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236"/>
          <p:cNvSpPr txBox="1"/>
          <p:nvPr/>
        </p:nvSpPr>
        <p:spPr>
          <a:xfrm>
            <a:off x="7818120" y="4181246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已有序时没有逆序对：0 次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内排序（上）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建初始最大堆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一组记录的关键字为 45, 80, 55, 40, 42, 85，用堆排序的方法建立的初始最大堆为：</a:t>
            </a:r>
            <a:endParaRPr lang="en-US" sz="2000" dirty="0"/>
          </a:p>
        </p:txBody>
      </p:sp>
      <p:sp>
        <p:nvSpPr>
          <p:cNvPr id="7" name="ANS_237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238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239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85 80 55 40 42 45</a:t>
            </a:r>
            <a:endParaRPr lang="en-US" sz="2600" dirty="0"/>
          </a:p>
        </p:txBody>
      </p:sp>
      <p:sp>
        <p:nvSpPr>
          <p:cNvPr id="10" name="ANS_240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241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242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筛选法从最后一个分支结点（下标 2）往前调整。</a:t>
            </a:r>
            <a:endParaRPr lang="en-US" sz="1700" dirty="0"/>
          </a:p>
        </p:txBody>
      </p:sp>
      <p:sp>
        <p:nvSpPr>
          <p:cNvPr id="13" name="ANS_243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244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下标 2：55 &lt; 85，交换 → 45 80 85 40 42 55</a:t>
            </a:r>
            <a:endParaRPr lang="en-US" sz="1700" dirty="0"/>
          </a:p>
        </p:txBody>
      </p:sp>
      <p:sp>
        <p:nvSpPr>
          <p:cNvPr id="15" name="ANS_245"/>
          <p:cNvSpPr/>
          <p:nvPr/>
        </p:nvSpPr>
        <p:spPr>
          <a:xfrm>
            <a:off x="7616952" y="427802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246"/>
          <p:cNvSpPr txBox="1"/>
          <p:nvPr/>
        </p:nvSpPr>
        <p:spPr>
          <a:xfrm>
            <a:off x="7818120" y="4181246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下标 1：80 比 40、42 大，不动</a:t>
            </a:r>
            <a:endParaRPr lang="en-US" sz="1700" dirty="0"/>
          </a:p>
        </p:txBody>
      </p:sp>
      <p:sp>
        <p:nvSpPr>
          <p:cNvPr id="17" name="ANS_247"/>
          <p:cNvSpPr/>
          <p:nvPr/>
        </p:nvSpPr>
        <p:spPr>
          <a:xfrm>
            <a:off x="7616952" y="4757776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8" name="ANS_248"/>
          <p:cNvSpPr txBox="1"/>
          <p:nvPr/>
        </p:nvSpPr>
        <p:spPr>
          <a:xfrm>
            <a:off x="7818120" y="4661002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下标 0：45 与 85 交换，再与 55 交换 → 85 80 55 40 42 45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内排序（上）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堆排序：选出第一个后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39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个元素构成的最大堆为 X, T, S, P, L, R, A, M, O, E, E。将第一个选出的数据与最后位置的元素交换后，重新调整成最大堆，堆的元素序列为（空格隔开）：</a:t>
            </a:r>
            <a:endParaRPr lang="en-US" sz="2000" dirty="0"/>
          </a:p>
        </p:txBody>
      </p:sp>
      <p:sp>
        <p:nvSpPr>
          <p:cNvPr id="7" name="ANS_249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250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251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P S O L R A M E E</a:t>
            </a:r>
            <a:endParaRPr lang="en-US" sz="2600" dirty="0"/>
          </a:p>
        </p:txBody>
      </p:sp>
      <p:sp>
        <p:nvSpPr>
          <p:cNvPr id="10" name="ANS_25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253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254"/>
          <p:cNvSpPr txBox="1"/>
          <p:nvPr/>
        </p:nvSpPr>
        <p:spPr>
          <a:xfrm>
            <a:off x="7818120" y="2651760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与最后的 E 交换，X 归位，堆中剩 10 个：E T S P L R A M O E</a:t>
            </a:r>
            <a:endParaRPr lang="en-US" sz="1700" dirty="0"/>
          </a:p>
        </p:txBody>
      </p:sp>
      <p:sp>
        <p:nvSpPr>
          <p:cNvPr id="13" name="ANS_255"/>
          <p:cNvSpPr/>
          <p:nvPr/>
        </p:nvSpPr>
        <p:spPr>
          <a:xfrm>
            <a:off x="7616952" y="3798265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256"/>
          <p:cNvSpPr txBox="1"/>
          <p:nvPr/>
        </p:nvSpPr>
        <p:spPr>
          <a:xfrm>
            <a:off x="7818120" y="3701491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下沉：与较大孩子 T 交换 → 再与 P 交换 → 再与 O 交换</a:t>
            </a:r>
            <a:endParaRPr lang="en-US" sz="1700" dirty="0"/>
          </a:p>
        </p:txBody>
      </p:sp>
      <p:sp>
        <p:nvSpPr>
          <p:cNvPr id="15" name="ANS_257"/>
          <p:cNvSpPr/>
          <p:nvPr/>
        </p:nvSpPr>
        <p:spPr>
          <a:xfrm>
            <a:off x="7616952" y="4563008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258"/>
          <p:cNvSpPr txBox="1"/>
          <p:nvPr/>
        </p:nvSpPr>
        <p:spPr>
          <a:xfrm>
            <a:off x="7818120" y="4466234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结果：T P S O L R A M E E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内排序（上）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快速排序一次划分（一）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39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 A 的 10 个元素依次为 6, 2, 9, 7, 3, 8, 4, 5, 0, 1，用课程中的快速排序实现，取第一个元素 6 为分割数，写出第一次分割后 A 的结果（空格隔开）：</a:t>
            </a:r>
            <a:endParaRPr lang="en-US" sz="2000" dirty="0"/>
          </a:p>
        </p:txBody>
      </p:sp>
      <p:sp>
        <p:nvSpPr>
          <p:cNvPr id="7" name="ANS_259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260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261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1 2 0 5 3 4 6 8 7 9</a:t>
            </a:r>
            <a:endParaRPr lang="en-US" sz="2600" dirty="0"/>
          </a:p>
        </p:txBody>
      </p:sp>
      <p:sp>
        <p:nvSpPr>
          <p:cNvPr id="10" name="ANS_26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263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264"/>
          <p:cNvSpPr txBox="1"/>
          <p:nvPr/>
        </p:nvSpPr>
        <p:spPr>
          <a:xfrm>
            <a:off x="7818120" y="2651760"/>
            <a:ext cx="3520440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课程实现：轴值 6 先与末元素交换，留出空位；l 从左找比轴值大的，r 从右找比轴值小的，交替填坑。</a:t>
            </a:r>
            <a:endParaRPr lang="en-US" sz="1700" dirty="0"/>
          </a:p>
        </p:txBody>
      </p:sp>
      <p:sp>
        <p:nvSpPr>
          <p:cNvPr id="13" name="ANS_265"/>
          <p:cNvSpPr/>
          <p:nvPr/>
        </p:nvSpPr>
        <p:spPr>
          <a:xfrm>
            <a:off x="7616952" y="4083253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266"/>
          <p:cNvSpPr txBox="1"/>
          <p:nvPr/>
        </p:nvSpPr>
        <p:spPr>
          <a:xfrm>
            <a:off x="7818120" y="3986479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与 1 交换后：9→右端，0→左，7→右，5→左，8→右，4→左</a:t>
            </a:r>
            <a:endParaRPr lang="en-US" sz="1700" dirty="0"/>
          </a:p>
        </p:txBody>
      </p:sp>
      <p:sp>
        <p:nvSpPr>
          <p:cNvPr id="15" name="ANS_267"/>
          <p:cNvSpPr/>
          <p:nvPr/>
        </p:nvSpPr>
        <p:spPr>
          <a:xfrm>
            <a:off x="7616952" y="4847996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268"/>
          <p:cNvSpPr txBox="1"/>
          <p:nvPr/>
        </p:nvSpPr>
        <p:spPr>
          <a:xfrm>
            <a:off x="7818120" y="4751222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l、r 相遇处放回轴值 6：1 2 0 5 3 4 6 8 7 9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内排序（上）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快速排序一次划分（二）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39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 A 的 10 个元素依次为 4, 2, 7, 3, 7, 2, 9, 1, 0, 8，用课程中的快速排序实现，取第一个元素 4 为分割数，写出第一次分割后 A 的结果（空格隔开）：</a:t>
            </a:r>
            <a:endParaRPr lang="en-US" sz="2000" dirty="0"/>
          </a:p>
        </p:txBody>
      </p:sp>
      <p:sp>
        <p:nvSpPr>
          <p:cNvPr id="7" name="ANS_269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270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271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0 2 1 3 2 4 9 7 7 8</a:t>
            </a:r>
            <a:endParaRPr lang="en-US" sz="2600" dirty="0"/>
          </a:p>
        </p:txBody>
      </p:sp>
      <p:sp>
        <p:nvSpPr>
          <p:cNvPr id="10" name="ANS_27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273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274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轴值 4 先与末元素 8 交换：8 2 7 3 7 2 9 1 0 | 4</a:t>
            </a:r>
            <a:endParaRPr lang="en-US" sz="1700" dirty="0"/>
          </a:p>
        </p:txBody>
      </p:sp>
      <p:sp>
        <p:nvSpPr>
          <p:cNvPr id="13" name="ANS_275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276"/>
          <p:cNvSpPr txBox="1"/>
          <p:nvPr/>
        </p:nvSpPr>
        <p:spPr>
          <a:xfrm>
            <a:off x="7818120" y="3416503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左侧找 &gt; 4、右侧找 &lt; 4，交替填坑：8→右端，0→左，7→右，1→左，7→右，2→左 …</a:t>
            </a:r>
            <a:endParaRPr lang="en-US" sz="1700" dirty="0"/>
          </a:p>
        </p:txBody>
      </p:sp>
      <p:sp>
        <p:nvSpPr>
          <p:cNvPr id="15" name="ANS_277"/>
          <p:cNvSpPr/>
          <p:nvPr/>
        </p:nvSpPr>
        <p:spPr>
          <a:xfrm>
            <a:off x="7616952" y="4563008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278"/>
          <p:cNvSpPr txBox="1"/>
          <p:nvPr/>
        </p:nvSpPr>
        <p:spPr>
          <a:xfrm>
            <a:off x="7818120" y="4466234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相遇处放回 4：0 2 1 3 2 4 9 7 7 8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5029200" cy="5029200"/>
          </a:xfrm>
          <a:prstGeom prst="ellipse">
            <a:avLst/>
          </a:prstGeom>
          <a:solidFill>
            <a:srgbClr val="3E7C6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931920"/>
            <a:ext cx="2926080" cy="2926080"/>
          </a:xfrm>
          <a:prstGeom prst="ellipse">
            <a:avLst/>
          </a:prstGeom>
          <a:solidFill>
            <a:srgbClr val="F2B134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Chapter 8 · 下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内排序（下）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14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12 题 · 准备好了吗？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内排序（下）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基数排序的空间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数组长度为 n (n ≥ 20)，基数为 r (r ≥ 10)，排序码个数为 d (d ≥ 3)，则采用顺序存储的基数排序的空间复杂度至少为 Θ(____)。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96265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96265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n+r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60270" y="296265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60270" y="296265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771900" y="296265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71900" y="296265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383530" y="296265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83530" y="296265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n*r</a:t>
            </a:r>
            <a:endParaRPr lang="en-US" sz="2000" dirty="0"/>
          </a:p>
        </p:txBody>
      </p:sp>
      <p:sp>
        <p:nvSpPr>
          <p:cNvPr id="15" name="ANS_279"/>
          <p:cNvSpPr/>
          <p:nvPr/>
        </p:nvSpPr>
        <p:spPr>
          <a:xfrm>
            <a:off x="548640" y="2962656"/>
            <a:ext cx="1474470" cy="822960"/>
          </a:xfrm>
          <a:prstGeom prst="roundRect">
            <a:avLst>
              <a:gd name="adj" fmla="val 11111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16" name="ANS_280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7" name="ANS_281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18" name="ANS_282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4400" dirty="0"/>
          </a:p>
        </p:txBody>
      </p:sp>
      <p:sp>
        <p:nvSpPr>
          <p:cNvPr id="19" name="ANS_283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0" name="ANS_284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ANS_285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需要长度为 n 的辅助数组存放分配结果。</a:t>
            </a:r>
            <a:endParaRPr lang="en-US" sz="1700" dirty="0"/>
          </a:p>
        </p:txBody>
      </p:sp>
      <p:sp>
        <p:nvSpPr>
          <p:cNvPr id="22" name="ANS_286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3" name="ANS_287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还要长度为 r 的计数数组记录每个桶的大小与起点。</a:t>
            </a:r>
            <a:endParaRPr lang="en-US" sz="1700" dirty="0"/>
          </a:p>
        </p:txBody>
      </p:sp>
      <p:sp>
        <p:nvSpPr>
          <p:cNvPr id="24" name="ANS_288"/>
          <p:cNvSpPr/>
          <p:nvPr/>
        </p:nvSpPr>
        <p:spPr>
          <a:xfrm>
            <a:off x="7616952" y="427802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289"/>
          <p:cNvSpPr txBox="1"/>
          <p:nvPr/>
        </p:nvSpPr>
        <p:spPr>
          <a:xfrm>
            <a:off x="7818120" y="4181246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 Θ(n + r)，与 d 无关（每趟复用）。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内排序（下）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一次交换最多消除的逆置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大部分排序算法通过交换记录来减小逆置数。有 n 个记录时，交换序列中两个不同的记录，最多能减少多少个逆置？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96265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96265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2n−3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60270" y="296265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60270" y="296265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2n−1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771900" y="296265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71900" y="296265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n−1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383530" y="296265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83530" y="296265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n+1</a:t>
            </a:r>
            <a:endParaRPr lang="en-US" sz="2000" dirty="0"/>
          </a:p>
        </p:txBody>
      </p:sp>
      <p:sp>
        <p:nvSpPr>
          <p:cNvPr id="15" name="ANS_290"/>
          <p:cNvSpPr/>
          <p:nvPr/>
        </p:nvSpPr>
        <p:spPr>
          <a:xfrm>
            <a:off x="548640" y="2962656"/>
            <a:ext cx="1474470" cy="822960"/>
          </a:xfrm>
          <a:prstGeom prst="roundRect">
            <a:avLst>
              <a:gd name="adj" fmla="val 11111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16" name="ANS_291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7" name="ANS_292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18" name="ANS_293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4400" dirty="0"/>
          </a:p>
        </p:txBody>
      </p:sp>
      <p:sp>
        <p:nvSpPr>
          <p:cNvPr id="19" name="ANS_294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0" name="ANS_295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ANS_296"/>
          <p:cNvSpPr txBox="1"/>
          <p:nvPr/>
        </p:nvSpPr>
        <p:spPr>
          <a:xfrm>
            <a:off x="7818120" y="2651760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 a[i]、a[j]（i &lt; j，a[i] &gt; a[j]）：两者本身构成的 1 个逆置消失。</a:t>
            </a:r>
            <a:endParaRPr lang="en-US" sz="1700" dirty="0"/>
          </a:p>
        </p:txBody>
      </p:sp>
      <p:sp>
        <p:nvSpPr>
          <p:cNvPr id="22" name="ANS_297"/>
          <p:cNvSpPr/>
          <p:nvPr/>
        </p:nvSpPr>
        <p:spPr>
          <a:xfrm>
            <a:off x="7616952" y="3798265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3" name="ANS_298"/>
          <p:cNvSpPr txBox="1"/>
          <p:nvPr/>
        </p:nvSpPr>
        <p:spPr>
          <a:xfrm>
            <a:off x="7818120" y="3701491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夹在中间的每个元素最多与两端各消除 1 个逆置：2(j − i − 1)。</a:t>
            </a:r>
            <a:endParaRPr lang="en-US" sz="1700" dirty="0"/>
          </a:p>
        </p:txBody>
      </p:sp>
      <p:sp>
        <p:nvSpPr>
          <p:cNvPr id="24" name="ANS_299"/>
          <p:cNvSpPr/>
          <p:nvPr/>
        </p:nvSpPr>
        <p:spPr>
          <a:xfrm>
            <a:off x="7616952" y="4847996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300"/>
          <p:cNvSpPr txBox="1"/>
          <p:nvPr/>
        </p:nvSpPr>
        <p:spPr>
          <a:xfrm>
            <a:off x="7818120" y="4751222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 i = 0、j = n−1：1 + 2(n − 2) = 2n − 3（例：n, 2, 3, …, n−1, 1 交换首尾）。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内排序（下）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初始递增时最省时间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对初始状态为递增的表按递增顺序排序，最省时间的是：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70052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00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2737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插入排序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35889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58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28574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堆排序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01726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17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94411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快速排序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75632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675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60248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归并排序</a:t>
            </a:r>
            <a:endParaRPr lang="en-US" sz="2000" dirty="0"/>
          </a:p>
        </p:txBody>
      </p:sp>
      <p:sp>
        <p:nvSpPr>
          <p:cNvPr id="19" name="ANS_301"/>
          <p:cNvSpPr/>
          <p:nvPr/>
        </p:nvSpPr>
        <p:spPr>
          <a:xfrm>
            <a:off x="457200" y="2590800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0" name="ANS_302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1" name="ANS_303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2" name="ANS_304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4400" dirty="0"/>
          </a:p>
        </p:txBody>
      </p:sp>
      <p:sp>
        <p:nvSpPr>
          <p:cNvPr id="23" name="ANS_305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4" name="ANS_306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307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插入排序每个元素只比较 1 次就停，总共 O(n)。</a:t>
            </a:r>
            <a:endParaRPr lang="en-US" sz="1700" dirty="0"/>
          </a:p>
        </p:txBody>
      </p:sp>
      <p:sp>
        <p:nvSpPr>
          <p:cNvPr id="26" name="ANS_308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ANS_309"/>
          <p:cNvSpPr txBox="1"/>
          <p:nvPr/>
        </p:nvSpPr>
        <p:spPr>
          <a:xfrm>
            <a:off x="7818120" y="3416503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快速排序在有序输入上反而退化为 O(n</a:t>
            </a: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)；堆、归并仍是 O(n log n)。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内排序（下）  ·  多选题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索引排序的索引数组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对数组 67 98 45 78 23 56 14 77 使用索引排序时，辅助用的索引数组最后可以是：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70052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00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2737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6 4 2 5 0 7 3 1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35889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58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28574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4 7 2 6 1 3 0 5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01726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17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94411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4 7 2 6 1 5 0 3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75632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675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60248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0 7 3 1 6 4 2 5</a:t>
            </a:r>
            <a:endParaRPr lang="en-US" sz="2000" dirty="0"/>
          </a:p>
        </p:txBody>
      </p:sp>
      <p:sp>
        <p:nvSpPr>
          <p:cNvPr id="19" name="ANS_310"/>
          <p:cNvSpPr/>
          <p:nvPr/>
        </p:nvSpPr>
        <p:spPr>
          <a:xfrm>
            <a:off x="457200" y="2590800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0" name="ANS_311"/>
          <p:cNvSpPr/>
          <p:nvPr/>
        </p:nvSpPr>
        <p:spPr>
          <a:xfrm>
            <a:off x="457200" y="3249168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1" name="ANS_312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2" name="ANS_313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3" name="ANS_314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A、B</a:t>
            </a:r>
            <a:endParaRPr lang="en-US" sz="4400" dirty="0"/>
          </a:p>
        </p:txBody>
      </p:sp>
      <p:sp>
        <p:nvSpPr>
          <p:cNvPr id="24" name="ANS_315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5" name="ANS_316"/>
          <p:cNvSpPr/>
          <p:nvPr/>
        </p:nvSpPr>
        <p:spPr>
          <a:xfrm>
            <a:off x="7616952" y="274015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ANS_317"/>
          <p:cNvSpPr txBox="1"/>
          <p:nvPr/>
        </p:nvSpPr>
        <p:spPr>
          <a:xfrm>
            <a:off x="7818120" y="2651760"/>
            <a:ext cx="3520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排好序后：14(6) 23(4) 45(2) 56(5) 67(0) 77(7) 78(3) 98(1)，括号内为原下标。</a:t>
            </a:r>
            <a:endParaRPr lang="en-US" sz="1600" dirty="0"/>
          </a:p>
        </p:txBody>
      </p:sp>
      <p:sp>
        <p:nvSpPr>
          <p:cNvPr id="27" name="ANS_318"/>
          <p:cNvSpPr/>
          <p:nvPr/>
        </p:nvSpPr>
        <p:spPr>
          <a:xfrm>
            <a:off x="7616952" y="373136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8" name="ANS_319"/>
          <p:cNvSpPr txBox="1"/>
          <p:nvPr/>
        </p:nvSpPr>
        <p:spPr>
          <a:xfrm>
            <a:off x="7818120" y="3642970"/>
            <a:ext cx="3520440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✓ IndexArray[i] = 第 i 小元素的原下标：6 4 2 5 0 7 3 1</a:t>
            </a:r>
            <a:endParaRPr lang="en-US" sz="1600" dirty="0"/>
          </a:p>
        </p:txBody>
      </p:sp>
      <p:sp>
        <p:nvSpPr>
          <p:cNvPr id="29" name="ANS_320"/>
          <p:cNvSpPr/>
          <p:nvPr/>
        </p:nvSpPr>
        <p:spPr>
          <a:xfrm>
            <a:off x="7616952" y="445434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0" name="ANS_321"/>
          <p:cNvSpPr txBox="1"/>
          <p:nvPr/>
        </p:nvSpPr>
        <p:spPr>
          <a:xfrm>
            <a:off x="7818120" y="4365955"/>
            <a:ext cx="3520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✓ IndexArray[i] = 原第 i 个元素排好后的位置：67 排第 4、98 排第 7 … → 4 7 2 6 1 3 0 5</a:t>
            </a:r>
            <a:endParaRPr lang="en-US" sz="1600" dirty="0"/>
          </a:p>
        </p:txBody>
      </p:sp>
      <p:sp>
        <p:nvSpPr>
          <p:cNvPr id="31" name="ANS_322"/>
          <p:cNvSpPr/>
          <p:nvPr/>
        </p:nvSpPr>
        <p:spPr>
          <a:xfrm>
            <a:off x="7616952" y="544555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2" name="ANS_323"/>
          <p:cNvSpPr txBox="1"/>
          <p:nvPr/>
        </p:nvSpPr>
        <p:spPr>
          <a:xfrm>
            <a:off x="7818120" y="5357165"/>
            <a:ext cx="352044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C、D 两种解释都不符合。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内排序（下）  ·  多选题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最坏 Θ(n log n) 的排序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下列排序算法中，最坏情况下时间复杂度为 Θ(n log n) 的是：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528621"/>
            <a:ext cx="381305" cy="381305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28621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33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488387"/>
            <a:ext cx="57607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归并排序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099206"/>
            <a:ext cx="381305" cy="381305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99206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33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058973"/>
            <a:ext cx="57607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堆排序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669792"/>
            <a:ext cx="381305" cy="381305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669792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33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629558"/>
            <a:ext cx="57607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直接插入排序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240378"/>
            <a:ext cx="381305" cy="381305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240378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33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200144"/>
            <a:ext cx="57607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选择排序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4810963"/>
            <a:ext cx="381305" cy="381305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810963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33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770730"/>
            <a:ext cx="57607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快速排序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48640" y="5381549"/>
            <a:ext cx="381305" cy="381305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381549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33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5341315"/>
            <a:ext cx="57607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shell 排序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48640" y="5952134"/>
            <a:ext cx="381305" cy="381305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5952134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endParaRPr lang="en-US" sz="133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5911901"/>
            <a:ext cx="57607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桶式排序</a:t>
            </a:r>
            <a:endParaRPr lang="en-US" sz="1700" dirty="0"/>
          </a:p>
        </p:txBody>
      </p:sp>
      <p:sp>
        <p:nvSpPr>
          <p:cNvPr id="28" name="ANS_324"/>
          <p:cNvSpPr/>
          <p:nvPr/>
        </p:nvSpPr>
        <p:spPr>
          <a:xfrm>
            <a:off x="457200" y="2451811"/>
            <a:ext cx="6492240" cy="534924"/>
          </a:xfrm>
          <a:prstGeom prst="roundRect">
            <a:avLst>
              <a:gd name="adj" fmla="val 17094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9" name="ANS_325"/>
          <p:cNvSpPr/>
          <p:nvPr/>
        </p:nvSpPr>
        <p:spPr>
          <a:xfrm>
            <a:off x="457200" y="3022397"/>
            <a:ext cx="6492240" cy="534924"/>
          </a:xfrm>
          <a:prstGeom prst="roundRect">
            <a:avLst>
              <a:gd name="adj" fmla="val 17094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30" name="ANS_326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31" name="ANS_327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32" name="ANS_328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A、B</a:t>
            </a:r>
            <a:endParaRPr lang="en-US" sz="4400" dirty="0"/>
          </a:p>
        </p:txBody>
      </p:sp>
      <p:sp>
        <p:nvSpPr>
          <p:cNvPr id="33" name="ANS_329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34" name="ANS_330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5" name="ANS_331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归并排序、堆排序任何情况下都是 Θ(n log n)。</a:t>
            </a:r>
            <a:endParaRPr lang="en-US" sz="1700" dirty="0"/>
          </a:p>
        </p:txBody>
      </p:sp>
      <p:sp>
        <p:nvSpPr>
          <p:cNvPr id="36" name="ANS_332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7" name="ANS_333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插入、选择：Θ(n</a:t>
            </a: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)；快速排序最坏 Θ(n</a:t>
            </a: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)。</a:t>
            </a:r>
            <a:endParaRPr lang="en-US" sz="1700" dirty="0"/>
          </a:p>
        </p:txBody>
      </p:sp>
      <p:sp>
        <p:nvSpPr>
          <p:cNvPr id="38" name="ANS_334"/>
          <p:cNvSpPr/>
          <p:nvPr/>
        </p:nvSpPr>
        <p:spPr>
          <a:xfrm>
            <a:off x="7616952" y="427802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9" name="ANS_335"/>
          <p:cNvSpPr txBox="1"/>
          <p:nvPr/>
        </p:nvSpPr>
        <p:spPr>
          <a:xfrm>
            <a:off x="7818120" y="4181246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shell 排序依赖增量序列，达不到 Θ(n log n)；桶式排序是 Θ(n + m)，与桶数有关。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内排序（下）  ·  多选题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不适合链式存储的排序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排序算法大都基于数组实现，大部分也能用链表实现。不适合链式存储（会使复杂度增大）的算法有：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70052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00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2737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堆排序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35889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58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28574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shell 排序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01726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17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94411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直接选择排序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75632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675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60248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插入排序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5334000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334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5260848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归并排序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48640" y="599236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992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591921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快速排序</a:t>
            </a:r>
            <a:endParaRPr lang="en-US" sz="2000" dirty="0"/>
          </a:p>
        </p:txBody>
      </p:sp>
      <p:sp>
        <p:nvSpPr>
          <p:cNvPr id="25" name="ANS_336"/>
          <p:cNvSpPr/>
          <p:nvPr/>
        </p:nvSpPr>
        <p:spPr>
          <a:xfrm>
            <a:off x="457200" y="2590800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6" name="ANS_337"/>
          <p:cNvSpPr/>
          <p:nvPr/>
        </p:nvSpPr>
        <p:spPr>
          <a:xfrm>
            <a:off x="457200" y="3249168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7" name="ANS_338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8" name="ANS_339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9" name="ANS_340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A、B</a:t>
            </a:r>
            <a:endParaRPr lang="en-US" sz="4400" dirty="0"/>
          </a:p>
        </p:txBody>
      </p:sp>
      <p:sp>
        <p:nvSpPr>
          <p:cNvPr id="30" name="ANS_341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31" name="ANS_342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2" name="ANS_343"/>
          <p:cNvSpPr txBox="1"/>
          <p:nvPr/>
        </p:nvSpPr>
        <p:spPr>
          <a:xfrm>
            <a:off x="7818120" y="2651760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堆排序要按下标 2i+1、2i+2 随机访问孩子，链表上找一次要 O(n)。</a:t>
            </a:r>
            <a:endParaRPr lang="en-US" sz="1700" dirty="0"/>
          </a:p>
        </p:txBody>
      </p:sp>
      <p:sp>
        <p:nvSpPr>
          <p:cNvPr id="33" name="ANS_344"/>
          <p:cNvSpPr/>
          <p:nvPr/>
        </p:nvSpPr>
        <p:spPr>
          <a:xfrm>
            <a:off x="7616952" y="3798265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4" name="ANS_345"/>
          <p:cNvSpPr txBox="1"/>
          <p:nvPr/>
        </p:nvSpPr>
        <p:spPr>
          <a:xfrm>
            <a:off x="7818120" y="3701491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shell 排序要按增量 d 跳跃访问，链表上同样代价很大。</a:t>
            </a:r>
            <a:endParaRPr lang="en-US" sz="1700" dirty="0"/>
          </a:p>
        </p:txBody>
      </p:sp>
      <p:sp>
        <p:nvSpPr>
          <p:cNvPr id="35" name="ANS_346"/>
          <p:cNvSpPr/>
          <p:nvPr/>
        </p:nvSpPr>
        <p:spPr>
          <a:xfrm>
            <a:off x="7616952" y="4563008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6" name="ANS_347"/>
          <p:cNvSpPr txBox="1"/>
          <p:nvPr/>
        </p:nvSpPr>
        <p:spPr>
          <a:xfrm>
            <a:off x="7818120" y="4466234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选择、插入、归并、快排都只需顺序扫描，链表上复杂度不变。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内排序（下）  ·  多选题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排序过程访问哪些记录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对于排序算法特性的叙述正确的是：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243633"/>
            <a:ext cx="381305" cy="381305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243633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33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03399"/>
            <a:ext cx="57607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冒泡排序不需要访问那些已排好序的记录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914040"/>
            <a:ext cx="381305" cy="381305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914040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33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773985"/>
            <a:ext cx="576072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shell 排序中，对确定规模的这些小序列进行插入排序时，要访问序列中的所有记录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684270"/>
            <a:ext cx="381305" cy="381305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684270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33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544214"/>
            <a:ext cx="576072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快速排序的一次划分会访问当前子序列中所有待划分的记录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354678"/>
            <a:ext cx="381305" cy="381305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54678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33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314444"/>
            <a:ext cx="576072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选择排序需要访问那些已排好序的记录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5025085"/>
            <a:ext cx="381305" cy="381305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025085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33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885030"/>
            <a:ext cx="576072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归并排序中，递归树上每个层次的归并操作不需要访问序列中的所有记录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48640" y="5795315"/>
            <a:ext cx="381305" cy="381305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795315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33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5655259"/>
            <a:ext cx="576072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基数排序中，按照每个排序码进行的桶式排序不需要访问序列中的所有记录</a:t>
            </a:r>
            <a:endParaRPr lang="en-US" sz="1700" dirty="0"/>
          </a:p>
        </p:txBody>
      </p:sp>
      <p:sp>
        <p:nvSpPr>
          <p:cNvPr id="25" name="ANS_348"/>
          <p:cNvSpPr/>
          <p:nvPr/>
        </p:nvSpPr>
        <p:spPr>
          <a:xfrm>
            <a:off x="457200" y="2166823"/>
            <a:ext cx="6492240" cy="534924"/>
          </a:xfrm>
          <a:prstGeom prst="roundRect">
            <a:avLst>
              <a:gd name="adj" fmla="val 17094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6" name="ANS_349"/>
          <p:cNvSpPr/>
          <p:nvPr/>
        </p:nvSpPr>
        <p:spPr>
          <a:xfrm>
            <a:off x="457200" y="2737409"/>
            <a:ext cx="6492240" cy="734568"/>
          </a:xfrm>
          <a:prstGeom prst="roundRect">
            <a:avLst>
              <a:gd name="adj" fmla="val 12448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7" name="ANS_350"/>
          <p:cNvSpPr/>
          <p:nvPr/>
        </p:nvSpPr>
        <p:spPr>
          <a:xfrm>
            <a:off x="457200" y="3507638"/>
            <a:ext cx="6492240" cy="734568"/>
          </a:xfrm>
          <a:prstGeom prst="roundRect">
            <a:avLst>
              <a:gd name="adj" fmla="val 12448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8" name="ANS_351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9" name="ANS_352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30" name="ANS_353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A、B、C</a:t>
            </a:r>
            <a:endParaRPr lang="en-US" sz="4400" dirty="0"/>
          </a:p>
        </p:txBody>
      </p:sp>
      <p:sp>
        <p:nvSpPr>
          <p:cNvPr id="31" name="ANS_354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32" name="ANS_355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3" name="ANS_356"/>
          <p:cNvSpPr txBox="1"/>
          <p:nvPr/>
        </p:nvSpPr>
        <p:spPr>
          <a:xfrm>
            <a:off x="7818120" y="2651760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✓ 冒泡每趟只扫未排好的部分；D ✗ 选择排序同样只扫未排序部分。</a:t>
            </a:r>
            <a:endParaRPr lang="en-US" sz="1700" dirty="0"/>
          </a:p>
        </p:txBody>
      </p:sp>
      <p:sp>
        <p:nvSpPr>
          <p:cNvPr id="34" name="ANS_357"/>
          <p:cNvSpPr/>
          <p:nvPr/>
        </p:nvSpPr>
        <p:spPr>
          <a:xfrm>
            <a:off x="7616952" y="3798265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5" name="ANS_358"/>
          <p:cNvSpPr txBox="1"/>
          <p:nvPr/>
        </p:nvSpPr>
        <p:spPr>
          <a:xfrm>
            <a:off x="7818120" y="3701491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✓ 同一增量下各组合起来覆盖全部记录。</a:t>
            </a:r>
            <a:endParaRPr lang="en-US" sz="1700" dirty="0"/>
          </a:p>
        </p:txBody>
      </p:sp>
      <p:sp>
        <p:nvSpPr>
          <p:cNvPr id="36" name="ANS_359"/>
          <p:cNvSpPr/>
          <p:nvPr/>
        </p:nvSpPr>
        <p:spPr>
          <a:xfrm>
            <a:off x="7616952" y="4563008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7" name="ANS_360"/>
          <p:cNvSpPr txBox="1"/>
          <p:nvPr/>
        </p:nvSpPr>
        <p:spPr>
          <a:xfrm>
            <a:off x="7818120" y="4466234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✓ 一次划分扫描当前子序列；已就位的轴值不参与下一层划分。</a:t>
            </a:r>
            <a:endParaRPr lang="en-US" sz="1700" dirty="0"/>
          </a:p>
        </p:txBody>
      </p:sp>
      <p:sp>
        <p:nvSpPr>
          <p:cNvPr id="38" name="ANS_361"/>
          <p:cNvSpPr/>
          <p:nvPr/>
        </p:nvSpPr>
        <p:spPr>
          <a:xfrm>
            <a:off x="7616952" y="532775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9" name="ANS_362"/>
          <p:cNvSpPr txBox="1"/>
          <p:nvPr/>
        </p:nvSpPr>
        <p:spPr>
          <a:xfrm>
            <a:off x="7818120" y="5230978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✗ 归并每层都要搬动全部记录；F ✗ 每趟分配都要处理全部记录。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内排序（下）  ·  多选题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稳定的排序算法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下面的排序算法哪些是稳定的：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292096"/>
            <a:ext cx="308610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292096"/>
            <a:ext cx="30861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插入排序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771900" y="2292096"/>
            <a:ext cx="308610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71900" y="2292096"/>
            <a:ext cx="30861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冒泡排序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252216"/>
            <a:ext cx="308610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252216"/>
            <a:ext cx="30861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归并排序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771900" y="3252216"/>
            <a:ext cx="308610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71900" y="3252216"/>
            <a:ext cx="30861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桶式排序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4212336"/>
            <a:ext cx="308610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212336"/>
            <a:ext cx="30861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shell 排序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771900" y="4212336"/>
            <a:ext cx="308610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771900" y="4212336"/>
            <a:ext cx="30861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选择排序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5172456"/>
            <a:ext cx="308610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172456"/>
            <a:ext cx="30861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堆排序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771900" y="5172456"/>
            <a:ext cx="308610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771900" y="5172456"/>
            <a:ext cx="30861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快速排序</a:t>
            </a:r>
            <a:endParaRPr lang="en-US" sz="2000" dirty="0"/>
          </a:p>
        </p:txBody>
      </p:sp>
      <p:sp>
        <p:nvSpPr>
          <p:cNvPr id="23" name="ANS_363"/>
          <p:cNvSpPr/>
          <p:nvPr/>
        </p:nvSpPr>
        <p:spPr>
          <a:xfrm>
            <a:off x="548640" y="2292096"/>
            <a:ext cx="3086100" cy="822960"/>
          </a:xfrm>
          <a:prstGeom prst="roundRect">
            <a:avLst>
              <a:gd name="adj" fmla="val 11111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4" name="ANS_364"/>
          <p:cNvSpPr/>
          <p:nvPr/>
        </p:nvSpPr>
        <p:spPr>
          <a:xfrm>
            <a:off x="3771900" y="2292096"/>
            <a:ext cx="3086100" cy="822960"/>
          </a:xfrm>
          <a:prstGeom prst="roundRect">
            <a:avLst>
              <a:gd name="adj" fmla="val 11111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5" name="ANS_365"/>
          <p:cNvSpPr/>
          <p:nvPr/>
        </p:nvSpPr>
        <p:spPr>
          <a:xfrm>
            <a:off x="548640" y="3252216"/>
            <a:ext cx="3086100" cy="822960"/>
          </a:xfrm>
          <a:prstGeom prst="roundRect">
            <a:avLst>
              <a:gd name="adj" fmla="val 11111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6" name="ANS_366"/>
          <p:cNvSpPr/>
          <p:nvPr/>
        </p:nvSpPr>
        <p:spPr>
          <a:xfrm>
            <a:off x="3771900" y="3252216"/>
            <a:ext cx="3086100" cy="822960"/>
          </a:xfrm>
          <a:prstGeom prst="roundRect">
            <a:avLst>
              <a:gd name="adj" fmla="val 11111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7" name="ANS_367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8" name="ANS_368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9" name="ANS_369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A、B、C、D</a:t>
            </a:r>
            <a:endParaRPr lang="en-US" sz="3600" dirty="0"/>
          </a:p>
        </p:txBody>
      </p:sp>
      <p:sp>
        <p:nvSpPr>
          <p:cNvPr id="30" name="ANS_370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31" name="ANS_371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2" name="ANS_372"/>
          <p:cNvSpPr txBox="1"/>
          <p:nvPr/>
        </p:nvSpPr>
        <p:spPr>
          <a:xfrm>
            <a:off x="7818120" y="2651760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稳定：相邻比较交换（插入、冒泡）、归并时相等取左、桶式按原顺序分配收集。</a:t>
            </a:r>
            <a:endParaRPr lang="en-US" sz="1700" dirty="0"/>
          </a:p>
        </p:txBody>
      </p:sp>
      <p:sp>
        <p:nvSpPr>
          <p:cNvPr id="33" name="ANS_373"/>
          <p:cNvSpPr/>
          <p:nvPr/>
        </p:nvSpPr>
        <p:spPr>
          <a:xfrm>
            <a:off x="7616952" y="3798265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4" name="ANS_374"/>
          <p:cNvSpPr txBox="1"/>
          <p:nvPr/>
        </p:nvSpPr>
        <p:spPr>
          <a:xfrm>
            <a:off x="7818120" y="3701491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不稳定：shell（跨组移动）、选择（远距离交换）、堆（下沉跨越）、快排（划分时远距离交换）。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内排序（下）  ·  多选题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有序数据上更快的操作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下面哪些操作在已排序数据上实施比在无序数据上快：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70052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00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2737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找最小值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35889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58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28574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找中位数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01726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17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94411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计算算术平均值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75632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675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60248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计算标准差</a:t>
            </a:r>
            <a:endParaRPr lang="en-US" sz="2000" dirty="0"/>
          </a:p>
        </p:txBody>
      </p:sp>
      <p:sp>
        <p:nvSpPr>
          <p:cNvPr id="19" name="ANS_375"/>
          <p:cNvSpPr/>
          <p:nvPr/>
        </p:nvSpPr>
        <p:spPr>
          <a:xfrm>
            <a:off x="457200" y="2590800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0" name="ANS_376"/>
          <p:cNvSpPr/>
          <p:nvPr/>
        </p:nvSpPr>
        <p:spPr>
          <a:xfrm>
            <a:off x="457200" y="3249168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1" name="ANS_377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2" name="ANS_378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3" name="ANS_379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A、B</a:t>
            </a:r>
            <a:endParaRPr lang="en-US" sz="4400" dirty="0"/>
          </a:p>
        </p:txBody>
      </p:sp>
      <p:sp>
        <p:nvSpPr>
          <p:cNvPr id="24" name="ANS_380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5" name="ANS_381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ANS_382"/>
          <p:cNvSpPr txBox="1"/>
          <p:nvPr/>
        </p:nvSpPr>
        <p:spPr>
          <a:xfrm>
            <a:off x="7818120" y="2651760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有序时：最小值就是第一个，中位数就是中间那个，都是 O(1)；无序时至少 O(n)。</a:t>
            </a:r>
            <a:endParaRPr lang="en-US" sz="1700" dirty="0"/>
          </a:p>
        </p:txBody>
      </p:sp>
      <p:sp>
        <p:nvSpPr>
          <p:cNvPr id="27" name="ANS_383"/>
          <p:cNvSpPr/>
          <p:nvPr/>
        </p:nvSpPr>
        <p:spPr>
          <a:xfrm>
            <a:off x="7616952" y="3798265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8" name="ANS_384"/>
          <p:cNvSpPr txBox="1"/>
          <p:nvPr/>
        </p:nvSpPr>
        <p:spPr>
          <a:xfrm>
            <a:off x="7818120" y="3701491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平均值、标准差都要读遍所有数据，有序无序都是 O(n)。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内排序（下）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LSD 基数排序第一轮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 A：45 23 64 15 90 87 61 42，采用低位优先法（LSD）的基数排序进行升序排序，第一轮之后的结果为（空格隔开）：</a:t>
            </a:r>
            <a:endParaRPr lang="en-US" sz="2000" dirty="0"/>
          </a:p>
        </p:txBody>
      </p:sp>
      <p:sp>
        <p:nvSpPr>
          <p:cNvPr id="7" name="ANS_385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386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387"/>
          <p:cNvSpPr txBox="1"/>
          <p:nvPr/>
        </p:nvSpPr>
        <p:spPr>
          <a:xfrm>
            <a:off x="7589520" y="1097280"/>
            <a:ext cx="3749040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90 61 42 23 64 45 15 87</a:t>
            </a:r>
            <a:endParaRPr lang="en-US" sz="2600" dirty="0"/>
          </a:p>
        </p:txBody>
      </p:sp>
      <p:sp>
        <p:nvSpPr>
          <p:cNvPr id="10" name="ANS_388"/>
          <p:cNvSpPr txBox="1"/>
          <p:nvPr/>
        </p:nvSpPr>
        <p:spPr>
          <a:xfrm>
            <a:off x="7589520" y="2252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389"/>
          <p:cNvSpPr/>
          <p:nvPr/>
        </p:nvSpPr>
        <p:spPr>
          <a:xfrm>
            <a:off x="7616952" y="2806446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390"/>
          <p:cNvSpPr txBox="1"/>
          <p:nvPr/>
        </p:nvSpPr>
        <p:spPr>
          <a:xfrm>
            <a:off x="7818120" y="2709672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第一轮按个位分配到 0–9 号桶，桶内保持原来的相对次序。</a:t>
            </a:r>
            <a:endParaRPr lang="en-US" sz="1700" dirty="0"/>
          </a:p>
        </p:txBody>
      </p:sp>
      <p:sp>
        <p:nvSpPr>
          <p:cNvPr id="13" name="ANS_391"/>
          <p:cNvSpPr/>
          <p:nvPr/>
        </p:nvSpPr>
        <p:spPr>
          <a:xfrm>
            <a:off x="7616952" y="3571189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392"/>
          <p:cNvSpPr txBox="1"/>
          <p:nvPr/>
        </p:nvSpPr>
        <p:spPr>
          <a:xfrm>
            <a:off x="7818120" y="3474415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个位 0、1、2、3、4 各一个：90、61、42、23、64</a:t>
            </a:r>
            <a:endParaRPr lang="en-US" sz="1700" dirty="0"/>
          </a:p>
        </p:txBody>
      </p:sp>
      <p:sp>
        <p:nvSpPr>
          <p:cNvPr id="15" name="ANS_393"/>
          <p:cNvSpPr/>
          <p:nvPr/>
        </p:nvSpPr>
        <p:spPr>
          <a:xfrm>
            <a:off x="7616952" y="433593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394"/>
          <p:cNvSpPr txBox="1"/>
          <p:nvPr/>
        </p:nvSpPr>
        <p:spPr>
          <a:xfrm>
            <a:off x="7818120" y="4239158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个位 5：45、15（保持原序）；个位 7：87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内排序（下）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归并排序第二趟（一）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39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排序码为（46, 74, 16, 53, 14, 26, 40, 38, 86, 65, 27, 34），用自顶向下划分的非优化归并排序（划分到 ≤ 2 个元素），写出第二趟二路归并后的结果：</a:t>
            </a:r>
            <a:endParaRPr lang="en-US" sz="2000" dirty="0"/>
          </a:p>
        </p:txBody>
      </p:sp>
      <p:sp>
        <p:nvSpPr>
          <p:cNvPr id="7" name="ANS_395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396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397"/>
          <p:cNvSpPr txBox="1"/>
          <p:nvPr/>
        </p:nvSpPr>
        <p:spPr>
          <a:xfrm>
            <a:off x="7589520" y="1097280"/>
            <a:ext cx="3749040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14 16 26 46 53 74 27 34 38 40 65 86</a:t>
            </a:r>
            <a:endParaRPr lang="en-US" sz="2600" dirty="0"/>
          </a:p>
        </p:txBody>
      </p:sp>
      <p:sp>
        <p:nvSpPr>
          <p:cNvPr id="10" name="ANS_398"/>
          <p:cNvSpPr txBox="1"/>
          <p:nvPr/>
        </p:nvSpPr>
        <p:spPr>
          <a:xfrm>
            <a:off x="7589520" y="2252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399"/>
          <p:cNvSpPr/>
          <p:nvPr/>
        </p:nvSpPr>
        <p:spPr>
          <a:xfrm>
            <a:off x="7616952" y="2806446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400"/>
          <p:cNvSpPr txBox="1"/>
          <p:nvPr/>
        </p:nvSpPr>
        <p:spPr>
          <a:xfrm>
            <a:off x="7818120" y="2709672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→ 6 + 6 → 3 + 3 → 1 + 2，最底层是 1 个与 2 个元素的小段。</a:t>
            </a:r>
            <a:endParaRPr lang="en-US" sz="1700" dirty="0"/>
          </a:p>
        </p:txBody>
      </p:sp>
      <p:sp>
        <p:nvSpPr>
          <p:cNvPr id="13" name="ANS_401"/>
          <p:cNvSpPr/>
          <p:nvPr/>
        </p:nvSpPr>
        <p:spPr>
          <a:xfrm>
            <a:off x="7616952" y="38561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402"/>
          <p:cNvSpPr txBox="1"/>
          <p:nvPr/>
        </p:nvSpPr>
        <p:spPr>
          <a:xfrm>
            <a:off x="7818120" y="3759403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第一趟：1 + 2 归并成 4 个有序的 3 元段：16 46 74 | 14 26 53 | 38 40 86 | 27 34 65</a:t>
            </a:r>
            <a:endParaRPr lang="en-US" sz="1700" dirty="0"/>
          </a:p>
        </p:txBody>
      </p:sp>
      <p:sp>
        <p:nvSpPr>
          <p:cNvPr id="15" name="ANS_403"/>
          <p:cNvSpPr/>
          <p:nvPr/>
        </p:nvSpPr>
        <p:spPr>
          <a:xfrm>
            <a:off x="7616952" y="4905908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404"/>
          <p:cNvSpPr txBox="1"/>
          <p:nvPr/>
        </p:nvSpPr>
        <p:spPr>
          <a:xfrm>
            <a:off x="7818120" y="4809134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第二趟：3 + 3 归并成两个 6 元段：14 16 26 46 53 74 | 27 34 38 40 65 86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内排序（下）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归并排序第二趟（二）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39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排序码为（67, 34, 56, 12, 88, 3, 15, 36, 27, 98, 11, 55），用自顶向下划分的非优化归并排序（划分到 ≤ 2 个元素），写出第二趟二路归并后的结果：</a:t>
            </a:r>
            <a:endParaRPr lang="en-US" sz="2000" dirty="0"/>
          </a:p>
        </p:txBody>
      </p:sp>
      <p:sp>
        <p:nvSpPr>
          <p:cNvPr id="7" name="ANS_405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406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407"/>
          <p:cNvSpPr txBox="1"/>
          <p:nvPr/>
        </p:nvSpPr>
        <p:spPr>
          <a:xfrm>
            <a:off x="7589520" y="1097280"/>
            <a:ext cx="3749040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3 12 34 56 67 88 11 15 27 36 55 98</a:t>
            </a:r>
            <a:endParaRPr lang="en-US" sz="2600" dirty="0"/>
          </a:p>
        </p:txBody>
      </p:sp>
      <p:sp>
        <p:nvSpPr>
          <p:cNvPr id="10" name="ANS_408"/>
          <p:cNvSpPr txBox="1"/>
          <p:nvPr/>
        </p:nvSpPr>
        <p:spPr>
          <a:xfrm>
            <a:off x="7589520" y="2252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409"/>
          <p:cNvSpPr/>
          <p:nvPr/>
        </p:nvSpPr>
        <p:spPr>
          <a:xfrm>
            <a:off x="7616952" y="2806446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410"/>
          <p:cNvSpPr txBox="1"/>
          <p:nvPr/>
        </p:nvSpPr>
        <p:spPr>
          <a:xfrm>
            <a:off x="7818120" y="2709672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划分方式同上：每 3 个一段，最底层是 1 + 2。</a:t>
            </a:r>
            <a:endParaRPr lang="en-US" sz="1700" dirty="0"/>
          </a:p>
        </p:txBody>
      </p:sp>
      <p:sp>
        <p:nvSpPr>
          <p:cNvPr id="13" name="ANS_411"/>
          <p:cNvSpPr/>
          <p:nvPr/>
        </p:nvSpPr>
        <p:spPr>
          <a:xfrm>
            <a:off x="7616952" y="3571189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412"/>
          <p:cNvSpPr txBox="1"/>
          <p:nvPr/>
        </p:nvSpPr>
        <p:spPr>
          <a:xfrm>
            <a:off x="7818120" y="3474415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第一趟：34 56 67 | 3 12 88 | 15 27 36 | 11 55 98</a:t>
            </a:r>
            <a:endParaRPr lang="en-US" sz="1700" dirty="0"/>
          </a:p>
        </p:txBody>
      </p:sp>
      <p:sp>
        <p:nvSpPr>
          <p:cNvPr id="15" name="ANS_413"/>
          <p:cNvSpPr/>
          <p:nvPr/>
        </p:nvSpPr>
        <p:spPr>
          <a:xfrm>
            <a:off x="7616952" y="433593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414"/>
          <p:cNvSpPr txBox="1"/>
          <p:nvPr/>
        </p:nvSpPr>
        <p:spPr>
          <a:xfrm>
            <a:off x="7818120" y="4239158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第二趟：3 12 34 56 67 88 | 11 15 27 36 55 98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 MOOC Quiz CH07-08</dc:title>
  <dc:subject>PptxGenJS Presentation</dc:subject>
  <dc:creator>Hongfei Yan</dc:creator>
  <cp:lastModifiedBy>Hongfei Yan</cp:lastModifiedBy>
  <cp:revision>1</cp:revision>
  <dcterms:created xsi:type="dcterms:W3CDTF">2026-10-28T12:30:46Z</dcterms:created>
  <dcterms:modified xsi:type="dcterms:W3CDTF">2026-10-28T12:30:46Z</dcterms:modified>
</cp:coreProperties>
</file>