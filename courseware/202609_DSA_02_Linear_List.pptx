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 线性表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Linear List：顺序表与链表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线性表的定义 (K, R) 与结构特点 · 抽象数据类型与运算的五个类别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顺序表：类定义、检索、插入、删除、翻倍扩容 · 三法则与二次释放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单链表：结点、头结点、尾指针、循链定位 · 双链表 · 循环链表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两种实现的代价对比与取舍 · 附录：6 道链表编程练习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2026-09-16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一串同类型元素排成唯一的先后次序，怎么存？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（单链表、双链表、循环链表）。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为什么同一个操作，在两种结构上代价差一个数量级？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关键是分清「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已知结点后改链接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」这两类操作。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自己管着 </a:t>
            </a:r>
            <a:r>
              <a:rPr lang="en-US" sz="13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出来的内存，最少要写哪几个函数？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：析构、拷贝构造、拷贝赋值。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顺序表按下标读是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，插删要搬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个元素；链表已知前驱后插删是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，但找到那个前驱仍是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线性表的概念：定义 (K, R)、结构特点、ADT 运算表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顺序表：类定义、检索、插入、删除、扩容、三法则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链表：单链表（头结点、尾指针、循链定位）、双链表、循环链表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两种实现方法的比较与取舍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预备：结点定义、三条铁律、哨兵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单向链表：E160 相交链表、E206 反转链表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双向链表：M1472 浏览器历史、M146 LRU 缓存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核心技巧：E21 合并有序链表、E234 回文链表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小结：复杂度总表、五个模板、自检清单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讲的是「如何自己造一个链表类」；练的是「拿到别人造好的链表，怎么在上面写算法」——两者合起来才是完整的。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ArrayList 走一遍 append / insert / find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"顺序表:";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 begin()/end()，range-for 可用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pos = values.find(20))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"\n查找 20 的下标: " &lt;&lt; *pos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"删除位置 1 得到 " &lt;&lt; values.remove(1)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顺序表: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20 的下标: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1 得到 20，剩余: 10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94560"/>
            <a:ext cx="30175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-Icode/ch02/array_list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code/ch02/array_list/demo.cpp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28803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79008" y="32644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insert(1, 20)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要把后面的元素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右移一位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——顺序表的固有代价。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有值才解引用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，「没找到」不是错误。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把删掉的元素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，不用先读一次再删。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LinkedList 走一遍 append / insert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经尾指针 O(1) 接链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只改两条链接，但要先循链找前驱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"链表:";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"\n删除位置 0 得到 " &lt;&lt; values.remove(0)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"\nappend 之后尾元素是 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values.at(values.size() - 1)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0 得到 10，剩余: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之后尾元素是 30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1945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79008" y="25786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同一组操作，链表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只改两条链接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，不搬元素。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按位置找前驱仍是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——定位是链表的瓶颈。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O(1) 接链，不必再从头走到尾。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4114800"/>
            <a:ext cx="301752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顺序表：搬 · 链表：走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(K, R) 与结构特点 · 运算的五个类别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运算表 · 两类存储结构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线性表：有限且有序的元素序列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（linear list）是由称为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（element）的数据项组成的一种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有限且有序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的序列。用二元组 B = (K, R) 写出来就是：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 k₀, k₁, ⋯, kₙ₋₁ },    R = { r },    r = { ⟨kᵢ, kᵢ₊₁⟩,  0 ≤ i ≤ n−2 }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31720"/>
            <a:ext cx="51206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称为线性表的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 = 0 时称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 称开始结点或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表首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，kₙ₋₁ 称终止结点或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 r 刻画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前驱、后继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关系，具有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反对称性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06440" y="233172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逻辑特征（一句话）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7157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中每个结点在关系 r 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最多只有一个前驱和一个后继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155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299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291840" y="3977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0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kₙ₋₁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每个结点最多一个前驱、一个后继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线性结构的两个结构特点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同一线性表中的各数据元素必定具有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相同的数据类型和长度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各元素在表中都有自己的位置，元素之间的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相对位置是线性的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986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概念上并不反对元素类型不同（例如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），但那属于高级线性结构。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同一种线性结构，不同场合不同称谓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· 链表 · 串 · 栈 · 顺序文件；元素相应地叫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线性表上的运算：两大类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EAF4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对整个表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/ 置空一个线性表；合并两个线性表；判断表是否为空或为满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对表中元素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查找满足一定条件的元素；在表中插入或删除指定的元素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按特性细分：线性表的运算分 5 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10058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创建线性表的一个实例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62763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162763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276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16276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消除实例并释放所占空间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24942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224942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2494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获取信息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22494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由内容寻找位置、由位置读取元素内容——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不改变表的内容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287121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871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访问并改变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287121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更新指定元素、添加元素、删除元素、清空线性表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493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4930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辅助管理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349300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例如求表的当前长度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为什么要分类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② 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，③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查询，④ 才会改内容或结构，⑤ 是辅助。分清「只读」与「会改」，接口的常量性（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）和异常口径就都定下来了。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把这组运算定义在 ArrayList&lt;T&gt; 上：这张表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 / set(i,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按下标取值、改值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按内容查位置；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找不到返回「没有」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在位置 i 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在表尾追加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删除位置 i 上的元素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并把它带回来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empty() / clear()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长度、判空、置空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05156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43560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可能装着下标的盒子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找到了盒子里是下标；没找到盒子是空的（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取值必须先开盒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，这一步绕不过去。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空盒子取值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4472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取值是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.value()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取会抛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std::bad_optional_access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运算的具体实现与它在计算机中的物理存储结构密切相关，效率也与存储结构相关。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两类存储结构：逻辑结构到存储空间的映射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存储结构本质上是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逻辑结构到存储空间的映射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：既要为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到存储器单元建立映射，也要为元素之间的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到相应存储单元地址间的关系建立映射。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EAF4EF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64592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定长的顺序存储结构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顺序表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通过创建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建立，分配一块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的存储空间；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元素顺序存储在地址连续的空间中，以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物理位置相邻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表示元素之间的关系；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限制了线性表的长度变化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164592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7375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变长的线性存储结构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6752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链表（链接式存储）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表示元素之间的线性关系，靠前驱 / 后继关系把元素链接起来；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对表长不加限制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，要加新元素时可方便地申请空间并链接到合适位置；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代价：每个结点多一根指针。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4160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连续数组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04688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17336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0216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0" y="4160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散落的结点 + 指针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地址公式与随机存取 · 类定义 · 检索 / 插入 / 删除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翻倍扩容 · 三法则与二次释放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故意只给 C++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51206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顺序表的重点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「把几个值放进一个序列」，而是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对象生命周期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扩容失败时旧数组是否仍然有效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若直接写成 Python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，扩容、元素搬迁和析构都由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解释器隐藏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；得到的是一个可用的容器，却看不到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、移动语义和强异常保证为何存在。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算法侧可以把同一思想用 Python 重讲；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若也用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，反而会把本节要教的课删掉。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本节要看见的三件事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755648"/>
            <a:ext cx="26609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与长度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成对出现，谁来配对？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旧数组还能不能用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按顺序方式存储的线性表称为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（array-based list），又称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（vector），通过数组建立。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地址公式：顺序表是随机存取的存储结构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假设每个元素占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个存储单元，开始结点 k₀ 的存储位置记为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loc(k₀)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（首地址），则下标为 i 的元素 kᵢ 的存储位置是：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4475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loc(kᵢ) = b + i × 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只要确定了基地址，任一元素的地址都能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按下标取值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物理相邻表示了逻辑相邻。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线性表的逻辑结构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"/>
                <a:gridCol w="493776"/>
                <a:gridCol w="411480"/>
                <a:gridCol w="493776"/>
                <a:gridCol w="411480"/>
                <a:gridCol w="6675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逻辑地址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70916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线性表的顺序存储结构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65760"/>
                <a:gridCol w="566928"/>
                <a:gridCol w="320040"/>
                <a:gridCol w="722376"/>
                <a:gridCol w="320040"/>
                <a:gridCol w="813816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存储地址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b+i·L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b+(n−1)·L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内存里的样子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k₃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3090672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749040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1115568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b+L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1773936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b+2L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7033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4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capacity_ = 6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22376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空槽位不属于表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类定义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缓冲区是裸指针，于是这个类必须守三法则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ArrayList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ArrayList(size_type initial_capacity = 8)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~ArrayList() { delete[] data_;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三法则的另外两个见下文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指向底层数组      —— 原书 T* aList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capacity_;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数组能放多少个    —— 原书 int maxSize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现在放了几个      —— 原书 int curLen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852160" y="1005840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3898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一个类只要写了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析构函数、拷贝构造、拷贝赋值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中的任意一个，通常这三个都得写。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219456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为什么用裸指针而不是 unique_ptr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2578608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顺序表的存储管理正是本节的教学内容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std::unique_ptr&lt;T[]&gt;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时这几个函数编译器生成的就够用，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看不到它们为什么必须存在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52120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理由很直白：你之所以要写析构函数，是因为你在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；既然在管资源，编译器那份「逐成员照抄」的拷贝就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——照抄一个指针成员的结果是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，各自析构时各释放一次，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同一块内存被释放两次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检索之一：按位置的检索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按位置的检索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直接由地址公式算出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：先查下标合不合法，然后直接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0657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T&amp; at(size_type index)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std::out_of_range("ArrayList::at: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data_[index];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直接算地址，没有循环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set(size_type index, const T&amp;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std::out_of_range("ArrayList::set: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data_[index] = 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52160" y="137160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893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两种「出错」的口径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75564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是调用方的错误 →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是可预期的结果 → 返回空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同一个类里两种口径并存，判断依据是「这算不算错」。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随机存取：跳着读，代价一样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3593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at(4)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0" y="37947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206240" y="3977640"/>
            <a:ext cx="44805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at(1000)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一样快——地址是算出来的，不是走出来的。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检索之二：按内容的检索 O(n)，并说清「没找到」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 find(const T&amp; value)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(data_[i] ==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没找到：空盒子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23160"/>
            <a:ext cx="506577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调用方：取值必须先开盒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pos = values.find(20)) {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先问盒子空不空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*pos &lt;&lt; '\n';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确认非空后才取值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91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检索的时间代价体现在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6118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118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个元素即为所求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6118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77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表中没有该元素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9776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34340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等概率假设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96012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89320" y="1024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 p × i = (1 + 2 + ⋯ + n) / 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= (n + 1) / 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即平均要检查表中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的元素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242316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一次调用要带回两件事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28072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找没找到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在第几个位置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把这两件事装进一个返回值，而且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79476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8932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反复出现的问题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4178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「没找到怎么告诉调用方」在后面各章还会遇到；第一次遇到值得说透。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插入：搬 O(n) 个元素，而且必须从后往前搬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就是追加到表尾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std::out_of_range("ArrayList::insert: 插入位置非法");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(size_ == capacity_)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grow();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size_; i &gt; pos; --i)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- 1];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从后往前搬，否则会自己覆盖自己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data_[pos]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append(const T&amp; value) { insert(size_, value);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「从后往前搬」不是风格问题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反过来写（从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开始往后覆盖），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第一步就把后面的数据抹掉了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，整段变成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处那一个值的复制。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 == size()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35584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追加到表尾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insert(size_, x)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insert(1, 20)：先腾位置，再写入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96596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23360" y="3794760"/>
            <a:ext cx="502920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从后往前逐个右移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写入新元素，size_ + 1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删除与扩容：左移一位；容量翻倍而不是加一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std::out_of_range("ArrayList::remove: 下标越界");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removed = data_[pos];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pos; i + 1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+ 1];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后面的元素左移一位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removed;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把删掉的元素带回来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grow() {   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私有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next = (capacity_ == 0) ? 1 : capacity_ * 2;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T[next];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 fresh[i] = 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先搬完再释放旧的，顺序反了就会读到已释放的内存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翻倍而不是加一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增长到 n 一共搬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个元素，平摊到 n 次追加上是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；若每次只加一，总搬运量是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 clear()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只有一行：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 size_ = 0;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——已经申请的数组留着接着用。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+1：1 + 2 + ⋯ + 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1000 个元素的总搬运次数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×2：1 + 2 + 4 + ⋯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1000 个元素（容量从 1 起翻倍）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三法则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三法则：写了析构，就得写拷贝构造和拷贝赋值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ArrayList(const ArrayList&amp; other)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data_(new T[other.capacity_]), capacity_(other.capacity_), size_(other.size_)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other.data_[i];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深拷贝：各自一块内存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ArrayList&amp; operator=(const ArrayList&amp; 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{ return *this; }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自赋值：a = a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T[other.capacity_];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先申请新的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other.size_; ++i) { fresh[i] = other.data_[i];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成功了再释放旧的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other.capacity_;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other.size_;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注意赋值的顺序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先申请、拷完、再释放旧的。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倒过来写（先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抛异常就把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原对象也毁掉了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432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7432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a.data_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5204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520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b.data_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0" y="289864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315200" y="340156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0936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 → 析构两次 →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74720"/>
            <a:ext cx="5669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你之所以要写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，是因为你在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既然在管资源，编译器那份「逐成员照抄」的拷贝就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照抄一个指针成员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各释放一次 → 同一块内存被释放两次。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把逻辑相邻写进结点的链接域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单链表：头结点 · 尾指针 · 循链定位 · 插入删除 · 析构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· 循环链表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顺序表用物理相邻，链表用链接域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表示逻辑相邻：按下标读取 O(1)，但中间插入删除要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搬动后续元素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链表把逻辑相邻写进结点的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散落在内存中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给定一个前驱结点后，插入或删除只改常数条指针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代价必须如实保留：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要按位置找到那个前驱，仍须从表头循链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所以按位置访问、查找、插入和删除的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总时间仍是 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2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48467"/>
            <a:ext cx="7863840" cy="8009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单链表示例：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域存真正的数据，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域存后继结点的地址；终止结点的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是空指针（图里用「\」表示）。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访问只能从表头开始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8，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50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4612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5584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结点不必两两相邻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这正是链表能以常数条指针完成插入删除的原因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3504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4476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表越长，这条链越长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循链的代价随长度线性增长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 tail：让「在表尾追加」不必每次走到底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为了让「在表尾追加」不必每次走到底，另设一个指向尾结点的变量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67712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73552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9584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91456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325880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325880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737360" y="178308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11496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11496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22976" y="1783080"/>
            <a:ext cx="0" cy="310896"/>
          </a:xfrm>
          <a:prstGeom prst="line">
            <a:avLst/>
          </a:prstGeom>
          <a:noFill/>
          <a:ln w="1778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具有头、尾两指针的单链表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AF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94360" y="34198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tail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291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append(x)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新结点接到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后面，再让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指向它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39502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DF0EE"/>
          </a:solidFill>
          <a:ln/>
        </p:spPr>
      </p:sp>
      <p:sp>
        <p:nvSpPr>
          <p:cNvPr id="37" name="Shape 35"/>
          <p:cNvSpPr/>
          <p:nvPr/>
        </p:nvSpPr>
        <p:spPr>
          <a:xfrm>
            <a:off x="594360" y="407822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782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tail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737360" y="3950208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都要从表头走到最后一个结点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插在表尾、删掉最后一个结点时，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都要跟着改——这就是后面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里那两行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的来源。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结点与头结点：消特例的哨兵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LinkedList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原书【代码2.6】：一个数据域 + 一根指向后继的链接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放在 private：调用方拿不到指针，就改不坏链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LinkedList() : head_(new Node), tail_(head_), size_(0)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head_;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头结点：不存放数据的哨兵，等价于原书「第 -1 个结点」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tail_;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尾指针：空表时回指头结点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头结点（head node）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44168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9260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结点定义放 private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调用方拿不到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改不坏链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6" name="Image 0" descr="fig-2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040" y="3520440"/>
            <a:ext cx="3716721" cy="1051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12648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带头结点的空表；(b) 一个典型的带头结点的单链表。带阴影的那个结点就是头结点，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它的数据域不算表中元素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循链定位：头结点的意义就在那一行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predecessor_at(size_type pos)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std::out_of_range("LinkedList: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head_;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0 时前驱就是头结点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pos;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predecessor = predecessor-&gt;next;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predecessor;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没有头结点会怎样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就要为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，插入、删除各写一次。头结点把「表头」和「中间」统一成了同一件事。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predecessor_at(2)：从头结点起走 2 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2452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8056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243584" y="3520440"/>
            <a:ext cx="0" cy="310896"/>
          </a:xfrm>
          <a:prstGeom prst="line">
            <a:avLst/>
          </a:prstGeom>
          <a:noFill/>
          <a:ln w="1778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15798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15798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9464" y="352044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48386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48386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2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95344" y="3520440"/>
            <a:ext cx="0" cy="310896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24612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返回它：位置 2 的前驱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35040" y="297180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355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这是链表所有「按位置」操作的瓶颈。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插入与删除：不搬元素，但定位要走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① 循链找前驱，O(n)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predecessor-&gt;next;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② 改两条链接，O(1)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fresh;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(predecessor == tail_) { tail_ = fresh;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插在表尾，尾指针要跟上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std::out_of_range("LinkedList::remove: 下标越界");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predecessor-&gt;next;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dying-&gt;next;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只改一条链接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(dying == tail_) { tail_ = predecessor;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删的是最后一个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两步的代价不一样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循链找前驱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：O(n)，走出来的；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改两条链接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：O(1)，不搬任何元素。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链表的插入不搬元素，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但定位要走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——这就是链表与顺序表的全部分工。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别忘了 tail_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387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 / 删掉最后一个结点时，尾指针必须跟着改。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insert：② fresh-&gt;next = p-&gt;next  →  ③ p-&gt;next = fresh（顺序不能反）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08176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9696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59152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206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新结点（绿）插在 p 与 30 之间：只改两条链接，不搬元素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析构必须循环，不能递归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head_-&gt;next;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nullptr) {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 next 逐个释放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current;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current-&gt;next;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head_-&gt;next = nullptr;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tail_ = head_;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表空了，尾指针退回头结点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 { clear(); delete head_;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两条必须记住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1344168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十万级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时，递归释放会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，否则就是从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里读指针。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顺序：先记后继，再释放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3840480"/>
            <a:ext cx="347472" cy="347472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记下后继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 = current-&gt;next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4612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383280" y="3840480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832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释放当前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 dying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72200" y="38404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重复到 nullptr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while (current != nullptr)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91840"/>
            <a:ext cx="2743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清掉所有真结点，再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head_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释放头结点本身——头结点是构造函数里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双链表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多一根 prev，只买到一件事，但这件事很值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8" name="Image 0" descr="fig-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438" y="1051560"/>
            <a:ext cx="3927764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双链表的结点：一个数据域，两根指针 ——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指前驱，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指后继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960120"/>
            <a:ext cx="38404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（64 位机上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字节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它只买到一件事：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单链表要做同一件事，得先从头走到它的前驱 ——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单链表从一个结点走不回前一个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 x，删除它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单链表：O(n)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2801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9933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1945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611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要从表头重新走到 x 的前驱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84632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双链表：O(1)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4068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26364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892040" y="42611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x-&gt;prev-&gt;next = x-&gt;next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等两句即可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尾结点的 next 接回首结点：没有 nullptr 作为终点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循环链表把尾结点的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接回首结点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作为终点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轮转调度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循环缓冲区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等「处理完最后一个又回到第一个」的场景。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：多个进程串成一个环，用一个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指针指向下一个要激活的进程，指针往前走一步就轮到下一个。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只要把单链表最后一个结点的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指回表首就得到循环链表：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不多花任何存储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，却让「从任一结点都能访问到其余全部结点」成为可能。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只保存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：取首结点是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，尾插只需改两根链接，均为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059168" y="1307592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9168" y="1307592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9168" y="2734056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9168" y="27340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45936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04304" y="1883664"/>
            <a:ext cx="621792" cy="621792"/>
          </a:xfrm>
          <a:prstGeom prst="donut">
            <a:avLst/>
          </a:prstGeom>
          <a:solidFill>
            <a:srgbClr val="E8EC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0" y="20482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20482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进程轮转：串成一个环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66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代价是边界更容易写错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58768"/>
            <a:ext cx="60899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遍历时必须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再次遇到起点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时停止——不能写成「走到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为止」；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删除最后一个结点后要把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清空；删除首结点则把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跳过被删结点；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测试至少应覆盖三种长度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（空表、单结点、多结点），并验证从每个结点出发恰好走一整圈。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47472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循环双链表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85876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把双链表的首尾也接起来，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反向遍历同样闭合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线性表实现方法的比较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六行对比表 · 取舍时的两个因素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同一组运算，两种实现的代价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按下标读写 at(i)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随机访问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只能循链数过去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按内容查找 find(x)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已知前驱后插入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要搬后续元素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只改常数条链接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按位置插入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定位是瓶颈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表尾追加 append(x)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靠尾指针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每个结点一根指针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注意第三、第四行的差别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前提是已经拿到了前驱结点。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只给位置 i 的话，两种结构都是 O(n)，只是瓶颈不同：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顺序表是搬，链表是走。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取舍时的两个因素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不要使用顺序表的场合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经常插入 / 删除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元素时不宜使用 —— 平均情况下需要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移动表中一半的元素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无法确定线性表长度的最大值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时也不宜采用。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不要使用链表的场合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、而且按位读比插删频繁时不宜使用 ——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顺链扫描比按下标读元素费时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指针本身的存储开销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也要考虑：如果与结点内容所占空间相比，指针所占比例较大（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 1:1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），应该慎重选择。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86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选顺序表还是链表，不看「哪个更高级」，只看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5272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5272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515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0515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本质上就是利用线性表管理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214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9202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192024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顺序表和链表结合起来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的一种数据结构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900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900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3、4 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27889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栈、队列、串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27889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8587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5876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10、8 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0" y="36576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 / 快速排序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6576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顺序表提供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，因此适合这两者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本章的两种结构会在后面各章反复出现——先把「搬」与「走」的代价记牢。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最常用的结构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线性结构是最简单且最常用的一种数据结构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，元素之间满足线性关系。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线性表通常有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两种存储方式，各运算的实现效率各有千秋。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/ 链表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顺序表易用、空间开销小、支持随机访问，适合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静态数据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；链表适合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频繁增删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长度事先不定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写了析构函数，就得写拷贝构造和拷贝赋值 —— 否则是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消特例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的工具：表头插删不再需要单写一套分支。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道题：把「链表的 O(1) 前提是拿到前驱」拆成三层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· E206 · M1472 · M146 · E21 · E234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6 道题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前提是「已经拿到了前驱结点」。只给位置 i 的话两种结构都是 O(n)，只是瓶颈不同：顺序表是搬，链表是走。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4114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指针即身份；双指针把 O(n) 的定位做成 O(1) 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改链接的最小动作：断链前先存后继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指针买到了什么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用哈希表把「找前驱」的 O(n) 降到 O(1)，链表的 O(1) 才真正兑现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 + 第 10 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合并两个有序链表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头结点（哨兵）为什么能省掉分支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快慢指针找中点 + 反转的综合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4348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：它是「散列方法是把顺序表和链表结合起来的一种数据结构」在工程里最常见的一次落地。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结点定义：与 2.3.1 的 struct Node 是同一个东西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05740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ListNode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ListNode() : val(0),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x) : val(x),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x, ListNode *next) : val(x), next(next)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5176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LeetCode 与课件的一个差别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344168"/>
            <a:ext cx="243230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课件里的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带头结点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（哨兵永远排在第一个真元素前面），所以「表头插入」和「中间插入」共用一套代码；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传给你的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第一个真元素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这正是很多同学在 E21、E206 里写出一堆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分支的原因。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课件：带头结点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252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482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677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LeetCode：head 就是第一个真元素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400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630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825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解决办法：自己临时造一个哨兵（下一页）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三条铁律与哨兵（dummy / 虚拟头结点）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96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比较结点用「地址」不用「值」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271016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，C++ 直接比指针。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全靠这一条。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断链之前先把后继存下来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05740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算法题里是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curr.next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之前，与课件析构函数里的顺序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道理完全一样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569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先在纸上画 0 个、1 个、2 个结点的情形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84378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链表题的 bug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出在这三种长度上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3429000"/>
            <a:ext cx="52486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再释放，否则就是从已释放的内存里读指针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哨兵：课件 2.3.1 的原话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134416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头结点是一个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26974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8192" y="274320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在 dummy 之后操作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永远返回 dummy.next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08192" y="3657600"/>
            <a:ext cx="25054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 dummy(0, head);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dummy.next;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4069080"/>
            <a:ext cx="539496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什么时候一定要用哨兵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453128"/>
            <a:ext cx="5120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（删除首元素、合并、插入排序），或者「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先建表再返回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」的场合（E21）。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相交链表：先想清楚什么叫「相交」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给你两个单链表的头节点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，找出并返回两个单链表相交的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；不存在则返回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。数据保证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，且函数返回后链表必须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 O(m+n)、空间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243584" y="1938528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3936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8992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43584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3936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938528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47872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78224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42816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1938528"/>
            <a:ext cx="1078992" cy="37490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2633472" y="2313432"/>
            <a:ext cx="384048" cy="384048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12064" y="178308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254203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2578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相交后是</a:t>
            </a: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同一串结点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，不是「值相同」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1554480"/>
            <a:ext cx="2651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两个链表相交之后，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后面的结点是同一批对象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（同一个地址），不可能再分开——因为每个结点只有一个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判断相交只能用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is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==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一旦相交，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两条链的尾巴长度必然相同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。这是所有解法的出发点。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46" name="Shape 44"/>
          <p:cNvSpPr/>
          <p:nvPr/>
        </p:nvSpPr>
        <p:spPr>
          <a:xfrm>
            <a:off x="59436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436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时间 / O(m) 空间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好写、好调试，当正确性对照组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51" name="Shape 49"/>
          <p:cNvSpPr/>
          <p:nvPr/>
        </p:nvSpPr>
        <p:spPr>
          <a:xfrm>
            <a:off x="338328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38328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对齐长度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383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338328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长的先走 |m−n| 步，此后同步前进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03504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220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7220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双指针换道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17220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17220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考试要写这个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：代码最短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解法一 哈希表 / 解法二 对齐长度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 = set()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visited.add(p)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存的是结点对象，按 id 哈希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 in visited: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set 正好够用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对没有自定义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__hash__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的对象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id()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，正好是「按地址」，符合我们的需要。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71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解法二：对齐长度（O(1) 空间，最容易证明）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长 m、B 长 n。若相交，公共尾部长度相同，那么把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|m−n| 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，两个指针到表尾的距离就一样了；此后同步前进，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第一次相等处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即为交点。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5156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934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9222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000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32888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764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6052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1830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0118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7947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1 步 → 到表尾的距离相同 → 此后同步前进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09360" y="29718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335584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遍历两遍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求长度；代码比换道法长。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452628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两种解法都是 O(m+n) 时间，区别只在空间与遍历遍数。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解法三 双指针「换道」：走完自己走对面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headA or not headB: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pA, pB = headA,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pA is not pB: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用 is，比地址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pA.next if pA else headB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走到尽头(None)后换到对面的头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pB.next if pB else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交点，或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560320"/>
            <a:ext cx="552297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*getIntersectionNode(ListNode *headA, ListNode *headB)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(headA == nullptr || headB == nullptr) return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ListNode *pA = headA, *pB = headB;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(pA != pB)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(pA == nullptr) ? headB : pA-&gt;next;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(pB == nullptr) ? headA : pB-&gt;next;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相交则为交点，不相交则两者同时为 nullptr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34416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循环条件比的是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指针）；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换道条件是「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指针本身为空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」，不是「它的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为空」；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即可：相交时是交点，不相交时两者同时为空。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090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路程相等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383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pA: a + c +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pB: b + c + 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 → 必在同一步相遇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每个指针最多换道一次，走过的结点数不超过 (a+c)+(b+c)+1 → O(m+n)，只用两个指针变量 → 空间 O(1)。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双指针法的数学证明（本题重点）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A 独有部分长度（图中 a = 2），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B 独有部分长度（b = 3），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公共部分长度（c = 3）；于是 A 总长 a+c，B 总长 b+c。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AF4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情形一：相交（c &gt; 0）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b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a + c + b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B（b+c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a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b + c + 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7375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情形二：不相交（c = 0）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 步，此时为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）→ 换到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走完 B（b 步）→ 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a+b+1 步为 None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b+a+1 步为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。两者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is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为真 → 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为什么「不会更早相遇」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5394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抵达交点之前，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A 的独有段或 B 的前 b 个结点上，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B 的独有段或 A 的前 a 个结点上；两条链在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没有公共结点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，且两指针此时位于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同一条链上的不同偏移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（偏移差恒为 a−b，只有走到公共段才归零），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不可能提前相等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333756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80760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7216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既然两个指针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每轮各走一步、步数又相同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，它们必然在第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a+b+c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上，循环条件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!= 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首次失败，返回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本题最大的坑 + 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875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换道的判断必须写成「指针本身为空时换道」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32588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1371600"/>
            <a:ext cx="771753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 pA.next if pA else headB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✓ 正确：None 也是一个必须被访问到的「站点」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pA.next is None: pA = headB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✗ 错误：跳过了 None，不相交时两指针无限循环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8366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换句话说：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就是两条链共同的「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虚拟终点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9144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好写、好调试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对齐长度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要遍历两遍求长度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代码最短，但要能讲清为什么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943600" y="23317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53328" y="2715768"/>
            <a:ext cx="25237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判断相交。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换道条件写成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pA.next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（不相交时死循环）。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修改链表（本题要求保持原始结构）。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为空要提前返回。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终止性：每个指针最多换道一次 → 一定停；正确性：路程相等 → 同步抵达交点。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 反转链表：迭代（三指针）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反转的本质是：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从「指向后继」改成「指向前驱」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。单链表从一个结点走不回前一个，所以必须自己拿一个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把前驱背在身上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01368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51176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18104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67912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50792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34440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984248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830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 ← 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74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8803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118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7947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262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091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32588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214884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27432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结束:  ∅ ← 1 ← 2 ← 3 ← 4 ← 5      curr = None，返回 prev（新表头）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310896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154680"/>
            <a:ext cx="552297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prev, curr = None, head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断链前先存后继（铁律 2）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掉头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prev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④ curr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prev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curr 为 None 时，prev 是新表头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9360" y="31089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四个动作，顺序不能乱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419088" y="3493008"/>
            <a:ext cx="21579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空表时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一开始就是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，直接返回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① 不能省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：一旦执行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，原来的后继地址就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永远找不回来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递归版：假设后面那一段已经反转好了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87552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[ 2 → 3 → 4 → 5 ]        调用 reverseList(head.next)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 2 ← 3 ← 4 ← 5           返回 newHead = 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↑ head.next 现在是反转后那段的【尾结点】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head.next.next = head           即 2.next = 1，把自己接到尾巴后面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 = None                切断原来的正向链接，否则 1 ⇄ 2 成环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 or head.next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递归基：空表或只剩一个结点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new_head = self.reverseList(head.next)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head.next.next = head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后继的 next 指回自己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 = None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必须切断，否则成环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new_head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新表头一路原样向上传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8404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(head == nullptr || head-&gt;next == nullptr) return head;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newHead = reverseList(head-&gt;next);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 = head;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后继的 next 指回自己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nullptr;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必须切断，否则成环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newHead;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两个必须提醒的点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1316736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：漏掉它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1.next =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且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2.next =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，返回的表头一打印就死循环。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：本题 n ≤ 5000，CPython 默认递归上限 1000，本地跑要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sys.setrecursionlimit(10000)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（LeetCode 已代为放宽）。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32004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3200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O(n)（递归栈）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0" y="40233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44074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链表上的递归只适合「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/ 短链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工程代码一律写迭代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（呼应课件 2.3.1：链长十万级时递归释放会耗尽运行栈）。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忘了存后继就改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递归版忘记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返回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✅ 用 n = 0, 1, 2 手推一遍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 买到了什么：两道题的两种场景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 2.3.2 的一句话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。多出来的那个指针（64 位机上 8 字节）只买到一件事，但这件事很值：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。单链表要做同一件事，得先从头走到它的前驱，O(n)。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浏览器历史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已知当前结点，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向前 / 向后走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走——单链表走不回去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7375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把它摘下来重新挂到表头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，都是 O(1)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3474720"/>
            <a:ext cx="44256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双链表结点（本节两题通用）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已知任一结点，前后都能走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93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两根指针的双向链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设计浏览器历史记录：双链表的教科书例子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BrowserHistory(homepage)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homepage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visit(url)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：从当前页跳转到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此操作会把「前进」方向的记录全部删除。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：后退 / 前进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步，返回当前页 url。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数据范围：url 长度 ≤ 20，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steps &lt;= 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，最多调用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932688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←            → forward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900416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26096" y="1764792"/>
            <a:ext cx="0" cy="292608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7214616" y="20756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14616" y="2075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为什么这题是双链表的教科书例子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303580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0358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/ forward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148840" y="283464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沿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必须双向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，单链表走不回去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" y="390448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9044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148840" y="370332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后面接一个新结点，并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之后的全部旧记录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已知结点的插入 / 删除，正是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的那类操作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浏览器历史是一条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线性的页面序列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，加上一个「当前位置」指针。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实现：visit 的那一行就是「丢弃前进历史」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url: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self.url = 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DNode(homepage)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self.current.next = node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旧的前进历史在这一行被丢弃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node.prev = self.current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node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self.current.prev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self.current.prev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self.current.next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self.current.next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关键在 visit 的那一行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原来挂在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后面的那一整串结点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从此没有任何变量引用它们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会自动回收（旧链上的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指针也一起没了，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不存在引用环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0156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的循环条件同时判断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 &gt;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还有没有下一个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，返回当前 url。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实现：没有 GC，丢弃的那一段必须自己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url;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DNode(std::string u) : url(std::move(u))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freeForward(DNode* node) {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释放 node 及其后的全部结点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!= nullptr)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node-&gt;next;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BrowserHistory(std::string homepage)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current_(new DNode(std::move(homepage)))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~BrowserHistory() {       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三法则：析构必须循环，不能递归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(current_-&gt;prev != nullptr) current_ = current_-&gt;prev;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 → 禁止拷贝（三法则的另一半：要么都写，要么都禁）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BrowserHistory&amp; operator=(const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visit(std::string url)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freeForward(current_-&gt;next);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丢弃前进历史，否则内存泄漏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DNode(std::move(url));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current_-&gt;next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 / forward 与 Python 版一字对应，略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三法则在这里的三条落地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释放，不用递归；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顺序又一次出现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freeForward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= node-&gt;next;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——和课件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里那句注释一字不差：「否则就是从已释放的内存里读指针」。ASan 下立刻报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heap-use-after-free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对照组：顺序表实现（这题其实数组更优）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self.history = [homepage]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当前下标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有效历史的最后一个下标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self.cur &lt; len(self.history):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self.history[self.cur] = url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覆盖，等价于「删除前进历史」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self.history.append(url)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self.cur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前进历史作废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max(0, self.cur - steps)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一步到位，O(1)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min(self.top, self.cur + steps)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 版：vector&lt;string&gt; + cur / top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vector&lt;string&gt; history;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 = 0, top = 0;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BrowserHistory(string homepage) { history.push_back(move(homepage));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visit(string url) {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cur++;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 &lt; (int)history.size()) history[cur] = move(url);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原地复用内存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history.push_back(move(url));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cur;                    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截断前进历史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back(int steps)    { cur = max(0, cur - steps);  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forward(int steps) { cur = min(top, cur + steps);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6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维护有效历史的右边界：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时复用已有容量，避免频繁的 vector 缩容 / 重分配；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的直接计算。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这是本题最值得讲的一页：两种实现对照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顺序表（动态数组）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visit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 改两根指针（C++ 还要 O(k) 释放旧段）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O(1)，只改下标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back(steps) / forward(steps)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O(steps) 一步一步走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下标直接加减并截断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每结点两根指针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前进历史作废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断一根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（C++ 要遍历释放）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移动一个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变量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387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按位置跳转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」，顺序表的随机访问在这里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。真实浏览器用双链表，是因为每条历史记录还要挂标题、截图、表单数据等一大坨东西，且需要在中间删除单条记录；但就这道题而言，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数组版又短又快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31546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取舍原则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538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经常按位置访问、而且按位读比插删频繁时不宜使用链表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」。做题时把双链表版写出来是为了练手，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工程选型要看真实负载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之后没切断前进历史（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会走到早已作废的页面）　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不判断边界（越界崩溃）　❌ C++ 版不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被丢弃的分支（内存泄漏，ASan 会报）　✅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超过可走步数时走到头就停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缓存：为什么必须是「哈希表 + 双链表」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都必须是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get(key)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命中则返回并标记为「最近使用」，否则 −1；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put(key, value)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存在则更新并刷新，不存在则插入，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超出容量则逐出最久未使用的关键字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capacity &lt;= 3000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 2×10⁵ 次调用）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只用哈希表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key 查 value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循链找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维护「使用时间」次序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无序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表头最新、表尾最旧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但…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把某个元素移到最前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O(1)（已知结点）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搬元素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删除最旧的元素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O(1)（表尾）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160020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4652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两张表各有一半能力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98424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合起来正好补全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：哈希表用 key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直接拿到结点地址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，跳过「循链定位」这一步；双链表负责 O(1) 的摘链与插入。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1792" y="3675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  key ──┐  直接拿到结点地址，跳过「循链定位」O(1)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581912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569464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57016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44568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856232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最旧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818888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585216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这就是课件那句「链表的 O(1) 前提是已经拿到了前驱结点」的最佳注脚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：链表本身给不出「拿到结点」这一步，哈希表补上了它。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为什么要用两个哨兵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不存数据的哨兵结点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（头结点思想的双向版），可以让：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「插到表头」= 插在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「删除表尾」= 删除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之前的那个；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空表、单结点表、多结点表用同一套代码，一个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2423160"/>
            <a:ext cx="524865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_remove(self, node):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已知结点，摘链。双链表的看家本领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node.prev.next = node.next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node.next.prev = node.prev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_add_front(self, node):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 head 哨兵之后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 = self.head.next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 = self.head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self.head.next.prev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_move_to_front(self, node):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self._remove(node); self._add_front(node)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1" name="Image 0" descr="l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443" y="1051560"/>
            <a:ext cx="1617515" cy="30632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每个真结点前后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一定有结点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LRU：哈希表 + 双向链表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实现（手写双链表）：结构与哨兵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__slots__ = ('key', 'value', 'prev', 'next')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结点里必须存 key，逐出时要拿它去删哈希表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 = {}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key -&gt; DNode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哨兵：head.next 是最近使用的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哨兵：tail.prev 是最久未使用的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self.head.next = self.tail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self.tail.prev = self.head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逐出时我们是从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两个哨兵在这里接好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 = 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；此后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再也不出现在赋值号左边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669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三个私有辅助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_move_to_front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见上一页。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实现：对外接口 get / put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self._move_to_front(node)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命中即刷新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node.value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not None: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已存在：原地改值 + 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self._move_to_front(node)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DNode(key, value)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self.table[key] = 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self._add_front(node)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len(self.table) &gt; self.capacity: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lru = self.tail.prev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表尾哨兵之前 = 最久未使用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self._remove(lru)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 self.table[lru.key]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别忘了同步删哈希表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370332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三个细节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：逐出时我们是从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d[k]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d.pop(k)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O(1)，符合题目对平均复杂度的要求。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漏删哈希表的后果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len(self.table)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不再下降，此后每次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都会触发逐出；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到已被逐出的 key 时，还会对一个早已摘下的结点调用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，它残留的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把链表改乱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。在 Python 里这是「结果错」，不是 C++ 意义上的内存泄漏。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命中即刷新；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已存在则原地改值并刷新，不存在才新建结点。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为什么整段代码里 self.tail 从来没被赋值？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之后再也没有出现在赋值号左边——于是会怀疑「表尾变了，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却没跟着改」。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本来就不该变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：它是哨兵，永远是表尾那个不存数据的空结点。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「最久未使用的是谁」记在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里，而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在两个辅助函数里被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修改了：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什么时候就是在改 tail.prev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_add_front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self.head.next.prev = 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表为空时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_remove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node.next.prev = node.prev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摘最后一个真结点时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逐步跟踪一遍（capacity = 2）</a:t>
            </a:r>
            <a:endParaRPr lang="en-US" sz="120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  <a:gridCol w="1371600"/>
                <a:gridCol w="12344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tail.prev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正向（head→tail）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反向（tail→head）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改在哪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put(1,1)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_add_front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put(2,2)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get(1)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k2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_remove(k1)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put(3,3)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[k3,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k3]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逐出 k2 时 _remove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这正是哨兵的价值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哨兵、让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直接指向最后一个真结点，就得到处补分支：插第一个结点时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表空: self.tail = node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，删最后一个时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node is self.tail: ...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，删成空表还要置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代价只是「表尾是谁」从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挪到了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实现（上）：结构与三个私有辅助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key,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DNode(int k = 0, int v =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key(k), value(v), prev(nullptr), next(nullptr) {}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capacity_;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std::unordered_map&lt;int, DNode*&gt; table_;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head_;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哨兵：head_-&gt;next 最新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tail_;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哨兵：tail_-&gt;prev 最旧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remove(DNode* node) {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已知结点，O(1) 摘链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node-&gt;prev-&gt;next = node-&gt;next;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node-&gt;next-&gt;prev = node-&gt;prev;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addFront(DNode* node)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 = head_-&gt;next;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head_;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head_-&gt;next-&gt;prev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moveToFront(DNode* node) { remove(node); addFront(node);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Python 版一一对应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moveToFront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三个私有辅助，都是 O(1)；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结点里同样存着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，逐出时靠它反查哈希表；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DNode*&gt;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就是那张「key → 结点地址」的表。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91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758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 / 析构 / 禁拷贝，以及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都不用写——与 Python 版完全同构。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实现（下）：构造 / 析构 / 禁拷贝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LRUCache(int capacity)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capacity_(capacity), head_(new DNode()), tail_(new DNode())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tail_;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tail_-&gt;prev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table_.reserve(capacity * 2);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减少 rehash，常数优化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~LRUCache() {  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 new 的就自己 delete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curr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curr;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curr-&gt;next;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先记后继，再释放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LRUCache(const LRUCache&amp;) = delete;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持有裸指针，禁止拷贝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LRUCache&amp; operator=(const LRUCache&amp;) = delete;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比 Python 多做两件事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所有结点（含两个哨兵）——不能递归；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），这是三法则的另一半：要么都写，要么都禁。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10896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reserve 只是常数优化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930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table_.reserve(capacity * 2)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减少 rehash，不影响复杂度。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0332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两个哨兵在构造函数里接好，之后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不再赋值；「最旧是谁」记在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curr-&gt;next;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同样必须写在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之前。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get / put：逐出时要删哈希表，还要真正释放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get(int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== table_.end()) return -1;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it-&gt;second-&gt;value;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put(int key,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!= table_.end()) {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已存在：改值 + 刷新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it-&gt;second-&gt;value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DNode(key,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table_[key] =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addFront(node);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(static_cast&lt;int&gt;(table_.size()) &gt; capacity_)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lru = tail_-&gt;prev;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remove(lru);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table_.erase(lru-&gt;key);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靠结点里存的 key 反查哈希表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lru;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C++ 还要真正释放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逐出那三行是考点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就是最久未使用的结点；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table_.erase(lru-&gt;key)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靠结点里存的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C++ 还要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判超容量用 &gt; 不是 &gt;=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84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先插入、再判断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table_.size() &gt; capacity_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，所以是严格大于。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都是「哈希表定位 O(1) + 改常数条链接 O(1)」。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速写版：OrderedDict 与 std::list::splice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OrderedDict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 = OrderedDict()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底层=哈希表+双链表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not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self.od.move_to_end(key)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self.od[key]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self.od.move_to_end(key)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self.od[key] = value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len(self.od) &gt; self.capacity: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self.od.popitem(last=False)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弹出最旧的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Item = std::pair&lt;int,int&gt;;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{key, value}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std::list&lt;Item&gt; lst_;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 最新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std::list&lt;Item&gt;::iterator&gt; table_;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get(int key)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== table_.end()) return -1;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O(1)：把它挪到表头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lst_.splice(lst_.begin(), lst_, it-&gt;second);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it-&gt;second-&gt;second;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put(int key, int value)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!= table_.end()) { it-&gt;second-&gt;second = value;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lst_.splice(lst_.begin(), lst_, it-&gt;second); return;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lst_.emplace_front(key, value);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table_[key] = lst_.begin();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((int)table_.size() &gt; capacity_)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靠 pair 里存下的 key 反查哈希表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table_.erase(lst_.back().first);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lst_.pop_back();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OrderedDict = 你手写的那一版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OrderedDict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CPython 实现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本身就是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一个哈希表加一条循环双向链表。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move_to_end(key)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popitem(last=False)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 O(1)。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但习题课要求先能手写前面那版。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0" y="370332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8348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splice 的价值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循环双向链表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splice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O(1) 的「摘下来重新挂」，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迭代器（相当于结点地址）保持有效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给不了的。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（哈希 O(1) + 改常数条链接 O(1)）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O(capacity)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82880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2212848"/>
            <a:ext cx="5175504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结点里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，逐出时删不掉哈希表项。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逐出时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只摘链表不删哈希表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（表越撑越大，后续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返回已作废的结点）。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key 时，又插了一个新结点（同一个 key 在链表里出现两次）。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判断超容量用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C++ 版忘记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用哨兵后，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所有分支判断都不需要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——如果你写出了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self.head is 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，说明哨兵没用对。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182880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为什么说它是收官题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链表本身给不出「拿到结点」这一步，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哈希表补上了它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，于是链表的 O(1) 插删才真正兑现。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CH02 结尾预告的「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散列方法是把顺序表和链表结合起来的一种数据结构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10 章）」。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合并两个有序链表：哨兵省掉了什么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链表合并为一个新的升序链表并返回。新链表是通过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给定的两个链表的所有结点组成的（结点数目 [0, 50]）。注意题目说的是「拼接」：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新结点，只改链接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——这正是链表最擅长的事。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27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list1: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55648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22576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05456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0299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list2: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72768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55648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22576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05456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272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1732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2938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093976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06040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70632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82696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47288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59352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3944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3600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0060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8680" y="2926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dummy：哨兵，最后 return dummy.next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035040" y="1536192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72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思路：归并 + 哨兵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172200" y="192024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 merge 步骤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一模一样：两个指针各指一条链的当前最小元素，每次挑小的接到结果尾部。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哨兵在这里省掉了什么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3767328"/>
            <a:ext cx="7863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如果不用哨兵，第一次接结点时要写「结果表还是空的，得把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指过去」，之后每次又要写「接到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两套分支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。有了哨兵，第一次接也是「接到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一套代码走到底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。这就是课件 2.3.1 说的「空表也不必另写一套分支」。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迭代版：最后一行是链表相对数组的一次胜利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dummy = ListNode(0)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哨兵：不存数据，只为省掉分支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dummy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list1 and list2: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list1.val &lt;= list2.val: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用 &lt;= 保证稳定性（相等时优先取 list1）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list1 = list1.next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list2 = list2.next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tail = tail.next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list1 if list1 else list2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剩下那条整体挂上，不必逐个搬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dummy.next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66928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200400"/>
            <a:ext cx="552297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mergeTwoLists(ListNode* list1, ListNode* list2)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dummy(0);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放栈上，函数返回时自动销毁，不泄漏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ListNode* tail = &amp;dummy;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(list1 != nullptr &amp;&amp; list2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(list1-&gt;val &lt;= list2-&gt;val) { tail-&gt;next = list1; list1 = list1-&gt;next;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                         { tail-&gt;next = list2; list2 = list2-&gt;next;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tail-&gt;next = (list1 != nullptr) ? list1 : list2;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剩余整段直接挂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960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O(m+n)，空间 O(1)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最后那一行的价值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167128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数组做归并时，剩余部分必须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到结果数组；链表只要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改一根指针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，剩下几万个结点一次性挂上，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&lt;=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0448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结果仍然正确，但作为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归并排序的子过程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会破坏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——养成用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的习惯。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递归版，以及往后看：这就是归并排序的核心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list2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list1.val &lt;= list2.val: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list1.next = self.mergeTwoLists(list1.next, list2)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list2.next = self.mergeTwoLists(list1, list2.next)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递归版读起来最像定义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1344168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「两条链的合并结果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较小的那个头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剩下两条链的合并结果」。代价是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的栈深度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——本题 n ≤ 50 无所谓，但换成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M23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（合并 K 个升序链表，单链可达 10⁴）就必须写迭代。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9443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往后看：M148 排序链表 = 快慢指针找中点断开 + 递归排序两半 + 本题的 merge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46120"/>
            <a:ext cx="7863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链表归并排序是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唯一能做到 O(n log n) 时间且 O(1) 额外空间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（自底向上写法）的链表排序。CH02 说「顺序表提供随机访问，因此适合二分检索与快速排序」，反过来：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链表不适合快排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（要随机访问定位 pivot），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但天生适合归并排序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（只需顺序扫描）。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07408"/>
            <a:ext cx="8010144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不用哨兵，导致要写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的分支。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（破坏稳定性）。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循环结束后忘记挂剩余段。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新建结点拷贝值（题目要求拼接，多余的 O(n) 空间）。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 回文链表：三步走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判断单链表是否为回文（结点数目 [1, 10⁵]，0 ≤ val ≤ 9）。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进阶：O(n) 时间、O(1) 空间。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解法一：倒进数组（先保证会做）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vals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head: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vals.append(head.val)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vals == vals[::-1]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O(n) 时间 O(n) 空间，但没练到链表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解法二：快慢指针 + 反转后半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进阶解法，本题重点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时间、O(1) 空间；把 E206 的三指针模板用进来。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035808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奇数 n=5                      偶数 n=4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快慢指针找中点    1 → 2 → [3] → 2 → 1           1 → 2 → [2] →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slow 停在第 3 个（正中间）    slow 停在第 3 个（后半段第一个）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从 slow 起反转    1 → 2 → [3] ← 2 ← 1           1 → 2 → [2] ←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left            right         left        right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逐个比较          (1,1) (2,2) (3,3)             (1,1) (2,2)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right 走完即止                right 走完即止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 [ ] 标出的是 slow。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① 步的原理：数 slow 前面有几个结点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78561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 = slow.next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fast = fast.next.next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960120"/>
            <a:ext cx="4114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走到尽头时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走了一半」这句话在奇偶长度下到底落在哪，很容易想糊涂。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别去想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是不是「中点」，而是数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前面有几个结点。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不变量：把结点从 1 开始编号，循环体执行 t 次之后</a:t>
            </a:r>
            <a:endParaRPr lang="en-US" sz="11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前面有几个结点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前面的结点数永远是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1874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什么时候停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258568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要求第 2t+1、第 2t+2 个结点都存在，即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2t+2 ≤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。第一次不满足时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停在第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⌊n/2⌋+1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个结点，前面恰好有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个结点。</a:t>
            </a:r>
            <a:endParaRPr lang="en-US" sz="1000" dirty="0"/>
          </a:p>
        </p:txBody>
      </p:sp>
      <p:graphicFrame>
        <p:nvGraphicFramePr>
          <p:cNvPr id="1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48056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链表长度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停下的原因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落在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偶数 n = 2k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在第 2k+1 个，已跑出链表：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后半段的第一个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奇数 n = 2k+1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恰在最后一个（第 2k+1 个）：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fast.next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正中间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奇偶只影响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停下的原因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，不影响这个公式。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实际轨迹、落点表，以及换一个循环条件就错了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n=4（偶）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fast=None   ← fast 跑出去了，停；slow 前面 2 个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n=5（奇）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fast=5      ← fast 在最后一个，fast.next 为空，停</a:t>
            </a:r>
            <a:endParaRPr lang="en-US" sz="8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停在第几个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前面（前段）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slow 起（后段）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566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前段 ⌊n/2⌋ 个，后段 ⌈n/2⌉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；奇数时多出的那个（正中间）归后段。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0" y="960120"/>
            <a:ext cx="27432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slow 开始反转刚好对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53328" y="1344168"/>
            <a:ext cx="25237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判回文只需比较「从前数第 i 个」与「从后数第 i 个」，i = 1..⌊n/2⌋，奇数时正中间不用比。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：前后段一样长，正好两两配对；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：后段多出中点，它最后和自己比，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，不影响结果。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32918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80760" y="33467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对照：写成 while fast.next and fast.next.next</a:t>
            </a:r>
            <a:endParaRPr lang="en-US" sz="950" dirty="0"/>
          </a:p>
        </p:txBody>
      </p:sp>
      <p:graphicFrame>
        <p:nvGraphicFramePr>
          <p:cNvPr id="1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53328" y="3767328"/>
          <a:ext cx="25237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"/>
                <a:gridCol w="310896"/>
                <a:gridCol w="310896"/>
                <a:gridCol w="310896"/>
                <a:gridCol w="34747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这种写法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6080760" y="4498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奇数一样，</a:t>
            </a: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偶数时早了一位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；它必须配合「从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slow.next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起反转」。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3977640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手推 n = 1, 2, 3, 4 四种长度，快慢指针的落点问题就再也不会错了。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完整解法 + 为什么用 while right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快慢指针找中点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 = slow.next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fast = fast.next.next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反转后半段（就是 E206 的迭代模板）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None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slow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前半段与反转后的后半段逐个比较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以较短的后半段为准，right 走完即止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result = False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= left.next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 = right.next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为什么用 while right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 `while left`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：反转之后，前半段的最后一个结点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在反转中被改成了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的那根链接没动），所以从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出发能一直走到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才停；而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恰好在走完后半段后变成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以短的那条为准最稳妥。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429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版逐句对应，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加分项：比较完把链表恢复原状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工程上「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判断函数不应该改坏输入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」。反转一次是 O(n)，再反转回来还是 O(n)，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总复杂度不变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reverse(node):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node: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node.next, prev, node = prev, node, node.next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prev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slow, fast = slow.next, fast.next.next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second = reverse(slow)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反转后半段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second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ok =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ok =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left, right = left.next, right.next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reverse(second)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复原：再反转一次接回去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一行版的三指针反转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node.next, prev, node = prev, node, 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右边整体先求值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取的还是修改前的值。写给自己看可以，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考试时建议写展开版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，可读性更重要。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43600" y="320040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3584448"/>
            <a:ext cx="25237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循环条件写成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fast.next and fast.next.next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，却仍从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开始反转（偶数长度时早一位）。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比较时用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（偶数时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链更长，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先为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，访问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right.val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直接报错）。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空表 / 单结点其实</a:t>
            </a:r>
            <a:r>
              <a:rPr lang="en-US" sz="8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不需要特判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；开头那句只是让意图更清楚。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09160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反转两次，输入链表最终与调用前一致。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六道题的复杂度总表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234440"/>
                <a:gridCol w="11887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最优解法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走完自己走对面，路程必然相等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三指针迭代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断链前先存后继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双链表（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数组更优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 O(steps)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买来的就是「能往回走」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 + 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O(capacity)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哈希补上「定位」，链表的 O(1) 才兑现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合并有序链表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哨兵 + 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剩余段整体挂上，O(1)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 + 反转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中点定义要靠手推确认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选顺序表还是链表，只看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五个必须形成肌肉记忆的模板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哨兵（虚拟头结点）—— 表头可能变化时一律用它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head); ...; return dummy.next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三指针反转 —— E206 / E234 / M92 / T25 都在用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prev, curr = None,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 = curr.next; curr.next = prev; prev = curr; curr = nxt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快慢指针找中点 —— E234 / E876 / M148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快慢指针判环 —— E141 / M142（Floyd 判圈）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slow is fast: return True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双指针换道对齐 —— E160 / M142 求环入口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pA, pB = headA,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pA is not pB: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 = pA.next if pA else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pB = pB.next if pB else headA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CH02 的那张表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属于「不要用链表」那条：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是按位置跳，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数组完胜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属于「不要用顺序表」那条：每次访问都要把元素挪到最前面，数组要搬一半元素，链表只改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根指针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/ E234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说明链表的另一个优势：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只改链接、不搬数据、不额外分配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，所以能做到 O(1) 额外空间。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 &amp; 课后拓展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24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371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）走通了吗？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181965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177393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只有一个结点呢？两个呢？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22199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1762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有没有在断链之前忘记保存后继？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262432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5786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返回的是新表头（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）还是旧的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26664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9809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有没有制造出环（改完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a.next = 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是否还指着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383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指针，还是误用了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83133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8561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了吗？持有裸指针的类禁用拷贝了吗（三法则）？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23367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18795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Python：递归深度会不会超（n &gt; 1000 时）？</a:t>
            </a:r>
            <a:endParaRPr lang="en-US" sz="95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960120"/>
          <a:ext cx="32918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3716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复用的模板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E141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E876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链表的中间结点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移除链表元素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1（哨兵）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删除排序链表中的重复元素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单指针扫描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 + 数学证明（与 E160 同一套推导）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M19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删除链表的倒数第 N 个结点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快慢指针错开 N 步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两数相加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进位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两两交换链表中的结点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M148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 + E21 的 merge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M92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反转链表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M430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扁平化多级双向链表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 + 栈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个一组翻转链表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2，集大成者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 K 个升序链表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+ 堆 / 分治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39496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M142 特别推荐</a:t>
            </a: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：它的证明与 E160 是同一类（两个指针走过的路程列方程）。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脚手架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本地调试脚手架：以后所有链表题直接复用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 &lt;&lt; 20)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链表递归题必备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build(values):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"""由列表造链表，返回头结点"""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dummy = ListNode(0)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dummy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 in values: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ListNode(v)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to_list(head, limit=100):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"""链表转列表；limit 用于防止成环时死循环"""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head and len(out) &lt; limit: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out.append(head.val)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build_intersect(a, b, common):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"""为 E160 造两条共享尾部的链表"""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build(common)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attach(prefix):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build(prefix)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tail        </a:t>
            </a:r>
            <a:r>
              <a:rPr lang="en-US" sz="7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前缀空：整条链即公共段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p.next: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p.next = tail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attach(a), attach(b), tail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5577840" y="2971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50992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开发档：开满警告 + 地址/未定义行为检查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-std=c++17 -Wall -Wextra -Werror -g \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-fsanitize=address,undefined main.cpp -o main &amp;&amp; ./main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发布档：看真实性能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-std=c++17 -O2 main.cpp -o main &amp;&amp; ./main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5577840" y="39319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强烈建议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4315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本地用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档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M1472 和 M146 的手写版：忘记 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之后又读指针，这两类错误在 LeetCode 上可能照样 AC，但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会当场报出来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。这是「三法则」那一节最值钱的实践部分。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版脚手架同样提供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三个函数（讲义附录 A.1）。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第二章 线性表</dc:title>
  <dc:subject>PptxGenJS Presentation</dc:subject>
  <dc:creator>Hongfei Yan</dc:creator>
  <cp:lastModifiedBy>Hongfei Yan</cp:lastModifiedBy>
  <cp:revision>1</cp:revision>
  <dcterms:created xsi:type="dcterms:W3CDTF">2026-09-17T19:03:18Z</dcterms:created>
  <dcterms:modified xsi:type="dcterms:W3CDTF">2026-09-17T19:03:18Z</dcterms:modified>
</cp:coreProperties>
</file>