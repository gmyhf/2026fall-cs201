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charts/chart1.xml" ContentType="application/vnd.openxmlformats-officedocument.drawingml.chart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notesMasterIdLst>
    <p:notesMasterId r:id="rId6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3D34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E3D34"/>
                </a:solidFill>
                <a:latin typeface="Microsoft YaHei"/>
              </a:rPr>
              <a:t>n 辆车的合法出栈序列数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合法出栈序列数</c:v>
                </c:pt>
              </c:strCache>
            </c:strRef>
          </c:tx>
          <c:spPr>
            <a:solidFill>
              <a:srgbClr val="3E7C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3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5</c:v>
                </c:pt>
                <c:pt idx="3">
                  <c:v>14</c:v>
                </c:pt>
                <c:pt idx="4">
                  <c:v>42</c:v>
                </c:pt>
                <c:pt idx="5">
                  <c:v>132</c:v>
                </c:pt>
                <c:pt idx="6">
                  <c:v>429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E3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B7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B74"/>
                    </a:solidFill>
                    <a:latin typeface="Arial"/>
                  </a:rPr>
                  <a:t>n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 栈与队列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 &amp; Queue：加了限制的线性表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ADT 与 LIFO · 顺序栈 / 链式栈 · 后缀表达式 · 调度场算法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运行栈与递归深度实测 · 显式栈改写 · 背包问题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ADT 与 FIFO · 假溢出 · 循环队列「牺牲一格」 · 链式队列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 · 出栈序列判定与 Catalan 数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2026-09-17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在线性表上只加一条限制，能换来什么？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（LIFO）；一端进、另一端出是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递归为什么会崩，崩在哪里？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运行栈、栈帧，以及一组会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推翻直觉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的实测数字。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「空栈弹出」是错误，还是正常状态？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这个判断决定了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接口怎么写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还是异常。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栈和队列不是新的存储结构，是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加了限制的线性表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。限制换来的是：每个操作都能做到 </a:t>
            </a: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O(1)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 栈的抽象数据类型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顺序栈（教学版完整实现）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链式栈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表达式求值（后缀式）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中缀 → 后缀：调度场算法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 栈与递归：运行栈实测、显式栈改写、背包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队列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队列的抽象数据类型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顺序队列：假溢出、循环队列、牺牲一格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链式队列：队尾指针与边界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 深入讨论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 顺序栈 vs 链式栈；双栈共享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 顺序队列 vs 链式队列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限制存取点的表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ArrayStack 走一遍 push / top /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stack.push(1);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stack.push(2);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stack.push(3);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top() 返回 optional：有值才解引用，空栈不会崩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(auto value = stack.top())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"栈顶是 " &lt;&lt; *value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"依次弹出:";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"\n空栈再弹?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(stack.pop() ? "有值" : "空")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097280"/>
          </a:xfrm>
          <a:prstGeom prst="roundRect">
            <a:avLst>
              <a:gd name="adj" fmla="val 6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栈顶是 3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依次弹出: 3 2 1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空栈再弹? 空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24028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-Icode/ch03/array_stack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code/ch03/array_stack/demo.cpp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2926080"/>
            <a:ext cx="306324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01752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310128"/>
            <a:ext cx="284378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：最后压入的 3 最先出来。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 optional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：不打印、不崩溃。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(auto v = stack.pop())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一行完成「判空 + 取值」。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用教学版 ArrayQueue 走一遍 enqueue / dequeue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"teaching.hpp"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ArrayQueue&lt;int&gt; queue(3);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(!queue.enqueue(1) || !queue.enqueue(2)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|| !queue.enqueue(3))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"入队失败\n";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1;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"逻辑容量 3 时再入队? 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&lt;&lt; (queue.enqueue(4) ? "成功" : "已满")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"依次出队:";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value = queue.dequeue())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 ' &lt;&lt; *value;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914400"/>
          </a:xfrm>
          <a:prstGeom prst="roundRect">
            <a:avLst>
              <a:gd name="adj" fmla="val 8000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逻辑容量 3 时再入队? 已满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依次出队: 1 2 3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23560" y="2103120"/>
            <a:ext cx="3063240" cy="2560320"/>
          </a:xfrm>
          <a:prstGeom prst="roundRect">
            <a:avLst>
              <a:gd name="adj" fmla="val 28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760720" y="2194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733288" y="2487168"/>
            <a:ext cx="2843784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 最先入队，也最先出队。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区分空与满：逻辑容量 3 实际申请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个槽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顺序队列容量固定：队满时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，而不是自动扩容。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Stack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只在一端进出 · 后进先出 LIFO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· 链式栈 · 表达式求值 · 栈与递归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栈：限定仅在一端插入和删除的线性表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475488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（stack）：插入和删除都只在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进行。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（top），另一端称为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（bottom）。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元素按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（LIFO, last in first out）的次序访问。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进和出都在栈顶，</a:t>
            </a:r>
            <a:r>
              <a:rPr lang="en-US" sz="14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栈底不动</a:t>
            </a:r>
            <a:r>
              <a:rPr lang="en-US" sz="14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063240"/>
            <a:ext cx="475488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1546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生活里的栈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447288"/>
            <a:ext cx="4535424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一摞盘子：只能从最上面放、从最上面拿。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浏览器「后退」、编辑器 undo 序列。</a:t>
            </a:r>
            <a:endParaRPr lang="en-US" sz="12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函数调用：最后调用的函数最先返回。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0" y="1051560"/>
            <a:ext cx="3200400" cy="356616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pic>
        <p:nvPicPr>
          <p:cNvPr id="12" name="Image 0" descr="fig-3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293146"/>
            <a:ext cx="2834640" cy="2717229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486400" y="420624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栈的示意图：进和出都在栈顶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ADT 描述的是「一组运算」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模板本身就承担了这层抽象：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提供哪些运算由接口决定，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不需要继承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Stack&lt;T&gt;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。这一节要定下来的是这张表：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1206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01752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时间代价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push(x)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x 压到栈顶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摊还 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弹出栈顶并把它带回来；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top()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只看栈顶，不弹出；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空栈返回「没有」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栈里还有没有元素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栈里有几个元素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清空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52160" y="1554480"/>
            <a:ext cx="283464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89320" y="16459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「没有」在 C++17 里怎么说？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61888" y="1938528"/>
            <a:ext cx="2615184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：把「有没有值」搬进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取值前必须先判断：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s.pop())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*v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取出；没值：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std::nullopt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52160" y="3611880"/>
            <a:ext cx="28346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89320" y="37033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89320" y="3995928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可预期的状态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，不是错误 → 返回空盒子；参数非法、容量溢出才是错误 → 抛异常。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数组的哪一端当栈顶？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顺序栈：用一块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连续区域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存储元素。第一个要做的设计决定——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第 0 个位置当栈顶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29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2801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7373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1945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310896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10896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到这里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51560" y="2057400"/>
            <a:ext cx="0" cy="164592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1325880" y="2880360"/>
            <a:ext cx="2194560" cy="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1280160" y="29260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所有元素都要后移一位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都要把所有元素后移或前移一位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709160" y="1371600"/>
            <a:ext cx="3977640" cy="3246120"/>
          </a:xfrm>
          <a:prstGeom prst="roundRect">
            <a:avLst>
              <a:gd name="adj" fmla="val 2254"/>
            </a:avLst>
          </a:prstGeom>
          <a:solidFill>
            <a:srgbClr val="EAF4E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892040" y="1463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最后一个元素的位置当栈顶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749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074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321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55321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893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59893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465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4465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03720" y="224028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69037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7360920" y="2240280"/>
            <a:ext cx="457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7360920" y="2624328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800" dirty="0"/>
          </a:p>
        </p:txBody>
      </p:sp>
      <p:sp>
        <p:nvSpPr>
          <p:cNvPr id="51" name="Text 49"/>
          <p:cNvSpPr txBox="1"/>
          <p:nvPr/>
        </p:nvSpPr>
        <p:spPr>
          <a:xfrm>
            <a:off x="6629400" y="1856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 = size-1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086600" y="2057400"/>
            <a:ext cx="0" cy="164592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489204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新元素加在表尾、出栈也删表尾，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其他元素一个都不动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48920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顺序栈一律选后者——「选对了就没有代价」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成员、构造与三法则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ArrayStack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容量不够时会自动翻倍，初值给多少都不影响正确性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ArrayStack(size_type initial_capacity = 8)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T[initial_capacity]),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capacity_(initial_capacity), size_(0)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~ArrayStack() { delete[] data_; }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new[] 来的就 delete[] 回去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拷贝构造：必须自己写，否则两个栈共享同一块内存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ArrayStack(const ArrayStack&amp; other)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data_(new T[other.capacity_]),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capacity_(other.capacity_), size_(other.size_)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data_[i]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拷贝赋值：先备好新数组，再释放旧的，最后接管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ArrayStack&amp; operator=(const ArrayStack&amp; other)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== &amp;other) return *this;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自赋值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T[other.capacity_];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other.size_; ++i) fresh[i] = other.data_[i];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 capacity_ = other.capacity_; size_ = other.size_;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355080" y="960120"/>
            <a:ext cx="233172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三个数据成员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129844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T* data_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指向底层数组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capacity_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数组能放多少个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size_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现有几个 = 下一个空位下标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2651760"/>
            <a:ext cx="233172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27432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为什么要自己写拷贝？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035808"/>
            <a:ext cx="2057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编译器生成的拷贝会把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这根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指针照抄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 → 两个栈指向同一块内存，各析构一次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double 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。原书 arrStack 正是漏了这个。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教学版 teaching.hpp（下）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top 与翻倍扩容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入栈。满了就翻倍，所以不会有「栈满溢出」这回事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grow();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data_[size_]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出栈并带回元素。空栈返回空 optional，不是错误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top() const {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只看不弹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data_[size_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 size_ = 0; }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数组留着接着用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grow()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size_type next = (capacity_ == 0) ? 1 : capacity_ *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T* fresh = new T[next];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(size_type i = 0; i &lt; size_; ++i) fresh[i] = data_[i];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delete[] data_;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先搬完再释放旧的，顺序反了就读到已释放内存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 = fresh;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capacity_ = next;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63550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grow() 的四步顺序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55080" y="135331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55080" y="13533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766560" y="129844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申请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766560" y="1527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T[2·cap]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55080" y="19202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55080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766560" y="1865376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搬运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209397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逐个复制旧元素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355080" y="2487168"/>
            <a:ext cx="329184" cy="32918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5508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766560" y="2432304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66090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delete[] 旧数组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355080" y="30540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355080" y="30540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766560" y="299923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接管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66560" y="32278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data_ = fresh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355080" y="3611880"/>
            <a:ext cx="233172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92240" y="37033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顺序写反会怎样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99592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先释放再搬 = 读已经还回去的内存，ASan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heap-use-after-free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1–2：空状态用 optional；资源类要守三法则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 pop / top 返回空 optional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把「有没有值」搬进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，取值前必须先判断。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空栈不是错误，是可预期的状态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返回空盒子，不抛异常。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真正的错误（参数非法、容量溢出）才抛异常。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361188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429000"/>
            <a:ext cx="3465576" cy="1005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(auto v = stack.pop())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use(*v);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有值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/* 空栈：正常分支 */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三法则（Rule of Three）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45920"/>
            <a:ext cx="3657600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自己写了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 / 拷贝构造 / 拷贝赋值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中的任意一个，通常三个都得写。你写析构是因为在管资源；在管资源，编译器「逐成员照抄」的拷贝就一定是错的。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983480" y="2971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3480" y="29718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A.data_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83480" y="38404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83480" y="384048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B.data_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86600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70648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54696" y="3401568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1363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 flipV="1">
            <a:off x="6217920" y="3593592"/>
            <a:ext cx="86868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31" name="Text 29"/>
          <p:cNvSpPr txBox="1"/>
          <p:nvPr/>
        </p:nvSpPr>
        <p:spPr>
          <a:xfrm>
            <a:off x="6400800" y="40690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浅拷贝：析构两次 → double free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3：翻倍扩容让 push 的摊还代价保持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grow()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每次把容量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乘 2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，而不是加 1。差别不是常数——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+1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⋯ + n = O(n²)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499,500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709160" y="141732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 ×2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 + 4 + ⋯ + n &lt; 2n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317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1,023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1000 个元素的总搬运次数（容量从 1 起翻倍）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摊还分析一句话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94360" y="399592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翻倍时总搬运 &lt; 2n，平摊到每次 push 就是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。每个元素在均摊意义下只被搬运常数次——偶尔一次 O(n) 的 grow 被之前大量 O(1) 的 push「预付」了。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顺序栈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 4–5：new T[n] 的限制；容器里一个 cout 都没有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new T[n] 会默认构造整块槽位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645920"/>
            <a:ext cx="36576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T[n]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 n 个槽位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出来。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 必须能默认构造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——只有带参构造函数的类放不进这个栈。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工程版（modern.hpp）用未初始化内存 + 定位构造解决，并补齐移动语义、强异常保证。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361188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566160"/>
            <a:ext cx="3465576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Point { Point(int, int); 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ArrayStack&lt;Point&gt; s;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编译错误：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没有 Point()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92040" y="11430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89204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94960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数据结构负责数据结构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9204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报错交给调用方。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92040" y="210312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029200" y="210312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12280" y="224942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12280" y="224942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 optional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92040" y="288036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029200" y="288036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调用方的错误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812280" y="302666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812280" y="302666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抛异常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92040" y="3657600"/>
            <a:ext cx="361188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29200" y="36576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容器内部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812280" y="3803904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12280" y="38039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链式栈：栈顶就是链表的第一个结点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pic>
        <p:nvPicPr>
          <p:cNvPr id="8" name="Image 0" descr="fig-3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22" y="1097280"/>
            <a:ext cx="6821557" cy="1325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697480"/>
            <a:ext cx="512064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结点分散在堆上，压栈只是接一个新结点——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不需要连续空间，也没有「栈满」这回事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在链头插入、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删链头，两者都是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反过来把栈顶放在链尾？每次都得从头走到尾，退化成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代价：每个元素多一根指针（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结构性开销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，64 位机上 8 字节）。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806440" y="2697480"/>
            <a:ext cx="28803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27889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刻意保持接口一致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081528"/>
            <a:ext cx="2606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的接口形状与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完全一样——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ADT，换一种存储结构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，两者才好拿来对比。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构造函数没有参数：链式栈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不需要预设容量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 teaching.hpp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/ pop / clear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LinkedStack() : top_(nullptr), size_(0) {}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不需要预设容量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~LinkedStack() { clear();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造新结点，让它指向原栈顶，再让栈顶指向它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push(const T&amp; value)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fresh;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摘下栈顶结点，取走值，再释放它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std::optional&lt;T&gt; pop()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(empty()) return std::nullopt;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dying = top_;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dying-&gt;value;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top_ = dying-&gt;next;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empty() const { return top_ == nullptr;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逐个释放结点。用循环，不要用递归！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(top_ != nullptr)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dying = top_; top_ = top_-&gt;next; delete dying;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 = 0;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2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push(x) 三步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06440" y="187452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874520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top_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solidFill>
            <a:srgbClr val="CDEBD9"/>
          </a:solidFill>
          <a:ln w="15240">
            <a:solidFill>
              <a:srgbClr val="2E9E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1228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1228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26948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36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909560" y="2468880"/>
            <a:ext cx="182880" cy="0"/>
          </a:xfrm>
          <a:prstGeom prst="line">
            <a:avLst/>
          </a:prstGeom>
          <a:noFill/>
          <a:ln w="1524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92440" y="2286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059168" y="1783080"/>
            <a:ext cx="0" cy="50292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132320" y="18745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next = top_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 flipV="1">
            <a:off x="6446520" y="1600200"/>
            <a:ext cx="365760" cy="365760"/>
          </a:xfrm>
          <a:prstGeom prst="line">
            <a:avLst/>
          </a:prstGeom>
          <a:noFill/>
          <a:ln w="19050">
            <a:solidFill>
              <a:srgbClr val="C0392B"/>
            </a:solidFill>
            <a:prstDash val="dash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5806440" y="27432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top_ = fresh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806440" y="301752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943600" y="31089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clear() 必须用循环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943600" y="3401568"/>
            <a:ext cx="2606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链式结构最自然的写法是递归释放，但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深链会耗尽运行栈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。教学版测试压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万个结点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再整体析构；换成递归释放，AddressSanitizer 当场报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stack-overflow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三法则同样适用：copy_from 保持「顶 → 底」次序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LinkedStack(const LinkedStack&amp; other) : top_(nullptr), size_(0)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LinkedStack&amp; operator=(const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(this == &amp;other)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clear();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copy_from(other);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*this;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从原栈的顶开始走，每次把新结点接到上一个新结点后面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copy_from(const LinkedStack&amp; other)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Node** tail = &amp;top_;  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指向「下一个新结点该挂在哪」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(Node* source = other.top_; source !=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source = source-&gt;next)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fresh-&gt;value = source-&gt;value;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fresh-&gt;next 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*tail = fresh;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tail = &amp;fresh-&gt;next;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++size_;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233172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Node** tail 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16168" y="1344168"/>
            <a:ext cx="266090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tail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指向的是「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指针变量本身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」：一开始是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，之后是上一个结点的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于是「挂第一个结点」和「挂后续结点」写法完全相同，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不用特判空链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，得到的栈次序会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颠倒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3429000"/>
            <a:ext cx="288036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352044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原书缺陷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813048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lnkStack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有析构函数却没有拷贝构造和拷贝赋值——与顺序栈是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同一个错误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：两个栈共享结点，二次释放。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链式栈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对着顺序栈看：三处差别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" y="1353312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13533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612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 capacity，也没有 grow()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150876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链式栈不需要连续空间，压多少个都不用扩容。顺序栈那一节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大半篇幅在讲扩容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，这里整段消失了。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2402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2542032"/>
            <a:ext cx="457200" cy="45720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2542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235000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代价在别处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269748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每个元素多带一根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指针（64 位机 8 字节）；结点分散在堆上，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缓存局部性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不如连续数组。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368" y="3730752"/>
            <a:ext cx="457200" cy="45720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58368" y="37307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325880" y="353872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用循环，不用递归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3886200"/>
            <a:ext cx="7223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递归释放是最自然的写法，但深链会耗尽运行栈。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万结点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的测试专门为这条兜底。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栈的应用 &amp; 表达式的形式化定义（BNF）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，都可以用栈：网页访问历史、编辑器 undo、函数调用地址与参数保存、二叉树深度优先周游……表达式求值是编译器最基本的问题之一。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5394960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1536192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&lt;表达式&gt;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572768" y="1536192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 + &lt;项&gt; | &lt;项&gt; - &lt;项&gt; | &lt;项&gt;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21792" y="2011680"/>
            <a:ext cx="5065776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31520" y="2011680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&lt;项&gt;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737360" y="2011680"/>
            <a:ext cx="387705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| &lt;因子&gt; / &lt;因子&gt; | &lt;因子&gt;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86384" y="2487168"/>
            <a:ext cx="4736592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2487168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901952" y="2487168"/>
            <a:ext cx="35478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 | ( &lt;表达式&gt; 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50976" y="2962656"/>
            <a:ext cx="4407408" cy="420624"/>
          </a:xfrm>
          <a:prstGeom prst="roundRect">
            <a:avLst>
              <a:gd name="adj" fmla="val 17391"/>
            </a:avLst>
          </a:prstGeom>
          <a:solidFill>
            <a:srgbClr val="CFE0D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0704" y="2962656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066544" y="296265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 | &lt;数字&gt; &lt;常数&gt;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115568" y="3438144"/>
            <a:ext cx="4078224" cy="420624"/>
          </a:xfrm>
          <a:prstGeom prst="roundRect">
            <a:avLst>
              <a:gd name="adj" fmla="val 17391"/>
            </a:avLst>
          </a:prstGeom>
          <a:solidFill>
            <a:srgbClr val="E3EEE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225296" y="3438144"/>
            <a:ext cx="1005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&lt;数字&gt;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231136" y="3438144"/>
            <a:ext cx="2889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| 1 | 2 | … | 9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80760" y="1554480"/>
            <a:ext cx="260604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217920" y="16276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三个符号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1965960"/>
            <a:ext cx="246888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::=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读作「定义为」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读作「或者」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一个语法成分（分类标签）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217920" y="306324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层级越深，绑定越紧：括号 &gt; 乘除 &gt; 加减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959352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05079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核心思想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94360" y="4343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把算式拆成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表达式(加减) → 项(乘除) → 因子(括号和数字)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三个层级，机器在语法上自然实现「先算括号，再算乘除，最后算加减」。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实战拆解：计算机如何看懂 (1 + 2) * 3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24712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124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60120" y="1051560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60120" y="10515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051560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1、2 是 &lt;常数&gt; → &lt;因子&gt; → &lt;项&gt;；&lt;项&gt; + &lt;项&gt; 组成 &lt;表达式&gt;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728216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7282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60120" y="1655064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60120" y="1655064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834640" y="1655064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( &lt;表达式&gt; ) → 变成一个 &lt;因子&gt;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60120" y="2258568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60120" y="225856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2834640" y="2258568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&lt;常数&gt;，也是一个 &lt;因子&gt;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2935224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9352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60120" y="2862072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60120" y="286207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+ 2) * 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2834640" y="2862072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&lt;因子&gt; * &lt;因子&gt; → 一个 &lt;项&gt;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3538728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35387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60120" y="3465576"/>
            <a:ext cx="1737360" cy="512064"/>
          </a:xfrm>
          <a:prstGeom prst="roundRect">
            <a:avLst>
              <a:gd name="adj" fmla="val 14286"/>
            </a:avLst>
          </a:prstGeom>
          <a:solidFill>
            <a:srgbClr val="1E3D3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60120" y="3465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2834640" y="3465576"/>
            <a:ext cx="3017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 &lt;项&gt; 本身就是合法的 &lt;表达式&gt; ✓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035040" y="105156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172200" y="11155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语法树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949440" y="14630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49440" y="14630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949440" y="196596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49440" y="196596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626364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364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7086600" y="2514600"/>
            <a:ext cx="54864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7086600" y="25146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7726680" y="251460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26680" y="25146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因子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144768" y="3063240"/>
            <a:ext cx="1051560" cy="292608"/>
          </a:xfrm>
          <a:prstGeom prst="roundRect">
            <a:avLst>
              <a:gd name="adj" fmla="val 18750"/>
            </a:avLst>
          </a:prstGeom>
          <a:solidFill>
            <a:srgbClr val="CFE0D8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144768" y="3063240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 表达式 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726680" y="306324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726680" y="306324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6263640" y="3611880"/>
            <a:ext cx="822960" cy="292608"/>
          </a:xfrm>
          <a:prstGeom prst="roundRect">
            <a:avLst>
              <a:gd name="adj" fmla="val 18750"/>
            </a:avLst>
          </a:prstGeom>
          <a:solidFill>
            <a:srgbClr val="FFF6E0"/>
          </a:solidFill>
          <a:ln w="1016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63640" y="361188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+ 2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7360920" y="1755648"/>
            <a:ext cx="0" cy="21031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H="1">
            <a:off x="6675120" y="2258568"/>
            <a:ext cx="68580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360920" y="225856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360920" y="2258568"/>
            <a:ext cx="77724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67512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38160" y="280720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75120" y="3355848"/>
            <a:ext cx="0" cy="256032"/>
          </a:xfrm>
          <a:prstGeom prst="line">
            <a:avLst/>
          </a:prstGeom>
          <a:noFill/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72200" y="4069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后面用栈求值，走的就是这套拆解逻辑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后缀（逆波兰）表达式：不要括号，不要优先级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+ (34 × 45) / (5 + 6 + 7)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⟶  后缀 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34 45 * 5 6 + 7 + / +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遇操作数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压栈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324612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遇操作符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弹出两个，算完再压回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035040" y="155448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17" name="Shape 15"/>
          <p:cNvSpPr/>
          <p:nvPr/>
        </p:nvSpPr>
        <p:spPr>
          <a:xfrm>
            <a:off x="6217920" y="1691640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7920" y="1691640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读到末尾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217920" y="210312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栈里剩下的唯一元素就是结果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5120640" cy="1645920"/>
          </a:xfrm>
          <a:prstGeom prst="roundRect">
            <a:avLst>
              <a:gd name="adj" fmla="val 4444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3063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为什么后缀式不需要括号？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355848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运算符出现的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就已经决定了运算次序：每个运算符作用于它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最近的两个「值」。优先级和括号的信息，在转换成后缀式时就被编码进顺序里了。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806440" y="2971800"/>
            <a:ext cx="2880360" cy="1645920"/>
          </a:xfrm>
          <a:prstGeom prst="roundRect">
            <a:avLst>
              <a:gd name="adj" fmla="val 4444"/>
            </a:avLst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89320" y="30632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989320" y="3429000"/>
            <a:ext cx="2560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中缀式给人看，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后缀式给栈算。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逐步求值：23 34 45 * 5 6 + 7 + / +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57607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2240280"/>
                <a:gridCol w="1417320"/>
                <a:gridCol w="173736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待处理的后缀表达式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 → 顶）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进行的运算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 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23 34 45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× 45 = 1530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23 1530 5 6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+ 6 = 11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23 1530 11 7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 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23 1530 18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+ 7 = 18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23 85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1530 / 18 = 85 入栈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23 + 85 = 108 ✓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46520" y="932688"/>
            <a:ext cx="2240280" cy="3703320"/>
          </a:xfrm>
          <a:prstGeom prst="roundRect">
            <a:avLst>
              <a:gd name="adj" fmla="val 3265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583680" y="1024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第 11 步是考点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1316736"/>
            <a:ext cx="19659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先弹出的 18 是右操作数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，后弹出的 1530 才是左操作数。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减法和除法都不可交换，弹出次序写反：18 / 1530 ≈ 0.0118，结果就错。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evaluate_postfix：弹出次序写进代码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103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evaluate_postfix(std::string_view expression)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ArrayStack&lt;double&gt; operands;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pop_two = [&amp;operands](double&amp; left, double&amp; right)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(operands.size() &lt; 2)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std::invalid_argument("后缀表达式：操作数不足");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 = *operands.pop();          </a:t>
            </a:r>
            <a:r>
              <a:rPr lang="en-US" sz="10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先弹出的是右操作数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 = *operands.pop();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逐个记号：是数就压栈，是操作符就 pop_two 算完再 push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出错时怎么办？——调用方的错误，抛异常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7673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673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std::invalid_argument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37673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表达式不合法：操作数不足、无法识别的记号、最后栈里不止一个值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224528"/>
            <a:ext cx="237744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22452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std::domain_error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4224528"/>
            <a:ext cx="5669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除零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表达式求值 · 示例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24588：后序表达式求值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evaluate_postfix(expression):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tokens = expression.split()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token in tokens: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token in '+-*/':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弹出栈顶的两个元素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right_operand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left_operand = stack.pop()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token == '+':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+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'-':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-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'*':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*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token == '/':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stack.append(left_operand / right_operand)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stack.append(float(token))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操作数转浮点后入栈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stack[0]          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栈顶元素就是结果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int(input())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range(n):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print(f"{evaluate_postfix(input()):.2f}")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cs101.openjudge.cn/practice/24588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操作数是整数或小数，运算符 + - * /。「a b c」的值是 (a) c (b)。每行输出保留 2 位小数。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450592"/>
            <a:ext cx="2880360" cy="1143000"/>
          </a:xfrm>
          <a:prstGeom prst="roundRect">
            <a:avLst>
              <a:gd name="adj" fmla="val 64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49631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27432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         → 8.40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/      → 1.40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3.4 + 6 * 3 +  → 53.40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806440" y="3712464"/>
            <a:ext cx="2880360" cy="950976"/>
          </a:xfrm>
          <a:prstGeom prst="roundRect">
            <a:avLst>
              <a:gd name="adj" fmla="val 7692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0" y="380390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0" y="4096512"/>
            <a:ext cx="26060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split()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切分记号；先弹 right 后弹 left。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调度场算法（Shunting Yard, Dijkstra 1960s）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2062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shunt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7046"/>
            <a:ext cx="4023360" cy="304946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892040" y="960120"/>
            <a:ext cx="379476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上面的求值器有个前提：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表达式已经是后缀式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。可人写出来的是中缀式——中间隔着一步转换。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这一步是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栈最典型的应用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：括号和优先级造成的「先算什么」，全靠一把栈记住。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编译器把算术式变成机器指令，走的就是同一条路。</a:t>
            </a:r>
            <a:endParaRPr lang="en-US" sz="12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形象理解：数字直接开进「输出轨道」，运算符先停进「调度场」（运算符栈），等到优先级允许时再开出去。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五条规则：从左到右扫描中缀式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9494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遇到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 操作数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直接输出到后缀序列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(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反复弹出并输出，直到遇到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弹掉但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不输出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。没遇到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运算符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当「栈非空 且 栈顶不是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且 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栈顶优先级不低于当前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」时反复弹出并输出；然后把当前运算符入栈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扫描结束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栈里剩下的依次弹出输出；若弹出 </a:t>
                      </a:r>
                      <a:r>
                        <a:rPr lang="en-US" sz="12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→ 括号不匹配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优先级约定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2，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 1。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在栈里起「隔板」作用：第④条的循环碰到它就停。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逐步转换：23 + (34 * 45) / (5 + 6 + 7)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8229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743200"/>
                <a:gridCol w="1737360"/>
                <a:gridCol w="301752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记号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运算符栈（底 → 顶）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输出序列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栈空，入栈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(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*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+ 优先级低，入栈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② 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栈顶是 (，入栈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④ 栈顶 + </a:t>
                      </a: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不低于</a:t>
                      </a: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+，弹出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* 5 6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①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 (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)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③ 弹 + 输出，丢 (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+ /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5 6 + 7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⑤ 依次弹出 /、+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23 34 45 * 5 6 + 7 + / +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「不低于」三个字是承重的：左结合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</a:t>
            </a:r>
            <a:r>
              <a:rPr lang="en-US" sz="15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1 - 2 - 3</a:t>
            </a:r>
            <a:r>
              <a:rPr lang="en-US" sz="15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，正确答案是左结合的 </a:t>
            </a:r>
            <a:r>
              <a:rPr lang="en-US" sz="15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栈顶优先级「不低于」当前 → 弹出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2 - 3 -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(1 − 2) − 3 = −4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同优先级时先把前一个 − 弹出去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4630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15544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写成「高于」才弹出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011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2 3 - -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651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1 − (2 − 3) = 2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246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同优先级不弹，变成右结合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023360"/>
            <a:ext cx="5394960" cy="640080"/>
          </a:xfrm>
          <a:prstGeom prst="roundRect">
            <a:avLst>
              <a:gd name="adj" fmla="val 11429"/>
            </a:avLst>
          </a:prstGeom>
          <a:solidFill>
            <a:srgbClr val="F1F4F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4069080"/>
            <a:ext cx="5248656" cy="548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(*top == '(' || precedence(*top) &lt; precedence(c))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break;      </a:t>
            </a: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栈顶优先级严格更低才停；相等也要弹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023360"/>
            <a:ext cx="265176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测试里有一条专门算这个数：把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它立刻变红。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infix_to_postfix：准备工作与规则 ② 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std::string infix_to_postfix(std::string_view expression)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precedence = [](char op) -&gt; int {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- 同级，* / 更高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(op == '*' || op == '/') ? 2 : 1;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std::string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ArrayStack&lt;char&gt; operators;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emit = [&amp;output](std::string_view token)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(!output.empty()) output.push_back(' ');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记号之间一个空格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output.append(token);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i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expect_operand = true;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用来把 "-3" 的负号和二元减号区分开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(i &lt; expression.size())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c = expression[i];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 ' || c == '\t' || c == '\n') { ++i; continue;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'(')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(2) 入栈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 == ')') {           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(3) 弹到左括号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bool matched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(op == '(') { matched = true; break;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(!matched) throw std::invalid_argument("右括号没有配对的左括号");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false;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233172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三个小工具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1316736"/>
            <a:ext cx="2066544" cy="1874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precedence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：只有两级，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不参与比较，单独判断。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emit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：往输出里追加一个记号，自动补空格。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：刚读完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或运算符时为真——此时的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3383280"/>
            <a:ext cx="2286000" cy="1298448"/>
          </a:xfrm>
          <a:prstGeom prst="roundRect">
            <a:avLst>
              <a:gd name="adj" fmla="val 563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34747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③ 的出错口径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76732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弹空了还没遇到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括号不匹配 →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infix_to_postfix：规则 ④ ① 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14400"/>
            <a:ext cx="5760720" cy="3794760"/>
          </a:xfrm>
          <a:prstGeom prst="roundRect">
            <a:avLst>
              <a:gd name="adj" fmla="val 192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60120"/>
            <a:ext cx="5614416" cy="3703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bool is_sign = (c == '-' || c == '+') &amp;&amp; expect_operand;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(!is_sign &amp;&amp; (c == '+' || c == '-' || c == '*' || c == '/')) {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(4)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(const char* top = operators.peek())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if (*top == '(' || precedence(*top) &lt; precedence(c))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break;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栈顶严格更低才停：「不低于」就弹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operators.push(c);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expect_operand = true; ++i; continue;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(1) 操作数。用和 evaluate_postfix 同一套解析，两者才好对拍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consumed = 0;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(void)std::stod(std::string(expression.substr(i)), &amp;consumed);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(const std::exception&amp;)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std::invalid_argument("无法识别的记号");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emit(expression.substr(i, consumed));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expect_operand = false;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+= consumed;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(const char* top = operators.peek()) {  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(5)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(*top == '(') throw std::invalid_argument("左括号没有配对的右括号");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 op = *operators.pop();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emit(std::string_view(&amp;op, 1));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(output.empty()) throw std::invalid_argument("空表达式");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output;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④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返回指针：栈空时为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nullptr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自然停下；看栈顶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0" y="2286000"/>
            <a:ext cx="2286000" cy="1234440"/>
          </a:xfrm>
          <a:prstGeom prst="roundRect">
            <a:avLst>
              <a:gd name="adj" fmla="val 592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3774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①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6700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顺带告诉我们读了几个字符（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consumed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），整数、小数、负数一并处理。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0" y="3639312"/>
            <a:ext cx="2286000" cy="1042416"/>
          </a:xfrm>
          <a:prstGeom prst="roundRect">
            <a:avLst>
              <a:gd name="adj" fmla="val 7018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3730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4023360"/>
            <a:ext cx="2011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栈里剩下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左括号多了，同样抛异常。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把两步接起来：这正是转换算法存在的理由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640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double evaluate_infix(std::string_view expression) {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evaluate_postfix(infix_to_postfix(expression));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02920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+ (34*45) / (5+6+7)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1938528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157984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203704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infix_to_postfix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203704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运算符栈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639312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858768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04488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904488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34 45 * 5 6 + 7 + / +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340096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559552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05272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evaluate_postfix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5605272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操作数栈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040880" y="2468880"/>
            <a:ext cx="201168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260336" y="1965960"/>
            <a:ext cx="14630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06056" y="2029968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06056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2918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设计细节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3584448"/>
            <a:ext cx="8010144" cy="1005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expect_operand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标志：期待操作数时遇到的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负号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，否则是二元减号。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操作数用和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evaluate_postfix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同一套解析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std::stod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），两者才好对拍。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peek()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返回指针，看栈顶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不拷贝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口径互补。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与求值器一样：出错抛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不打印任何东西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中缀转后缀 · 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OJ 24591：中序表达式转后序表达式（number buffer 技巧）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96112"/>
            <a:ext cx="5394960" cy="3813048"/>
          </a:xfrm>
          <a:prstGeom prst="roundRect">
            <a:avLst>
              <a:gd name="adj" fmla="val 191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41832"/>
            <a:ext cx="5248656" cy="3721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infix_to_postfix(expression):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precedence = {'+':1, '-':1, '*':2, '/':2}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postfix = []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char in expression: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char.isnumeric() or char == '.':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number += char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数字字符先攒在缓冲里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else: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number: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遇到非数字：把攒好的数输出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number = ''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char in '+-*/':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in '+-*/' and \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precedence[char] &lt;= precedence[stack[-1]]: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stack.append(char)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char == ')':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while stack and stack[-1] != '(':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stack.pop()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number:                                </a:t>
            </a:r>
            <a:r>
              <a:rPr lang="en-US" sz="76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别忘了最后一个数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num = float(number)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postfix.append(int(num) if num.is_integer() else num)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postfix.append(stack.pop())</a:t>
            </a:r>
            <a:endParaRPr lang="en-US" sz="7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' '.join(str(x) for x in postfix)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6035040" y="932688"/>
            <a:ext cx="265176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172200" y="9875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样例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216152"/>
            <a:ext cx="2468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7+8.3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7 8.3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3+4.5*(7+2)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4.5 7 2 + * +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(3)*((3+4)*(2+3.5)/(4+5))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3 3 4 + 2 3.5 + * 4 5 + / *</a:t>
            </a:r>
            <a:endParaRPr lang="en-US" sz="780" dirty="0"/>
          </a:p>
        </p:txBody>
      </p:sp>
      <p:sp>
        <p:nvSpPr>
          <p:cNvPr id="12" name="Shape 10"/>
          <p:cNvSpPr/>
          <p:nvPr/>
        </p:nvSpPr>
        <p:spPr>
          <a:xfrm>
            <a:off x="6035040" y="265176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172200" y="2743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注意点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44768" y="3035808"/>
            <a:ext cx="243230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输入里数和运算符之间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没有空格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，要自己切分记号。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：同优先级也弹出（左结合）。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之后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stack.pop()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丢掉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84048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931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另一种切分：re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42245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re.split(r'([\(\)\+\-\*\/])', s)</a:t>
            </a:r>
            <a:endParaRPr lang="en-US" sz="9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分组让分隔符也留在结果里，再滤掉空串。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递归为什么非要有栈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206240" cy="3611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被调函数的局部变量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不能静态地占一块固定单元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——每调用一次就得有一份，返回时随即释放。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「执行到调用时才分配」叫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动态分配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，需要内存里有一块足够大的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栈上一格一格压着的叫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（stack frame / 活动记录），至少包含：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返回地址、参数、局部变量、保存的寄存器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调用一次压一格，返回一次弹一格——所以又叫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（call stack）。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84632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9" name="Image 0" descr="fig-3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597211"/>
            <a:ext cx="1691640" cy="183477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489204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运行时存储器：栈区放 LIFO 的函数调用；堆区放 new 出来的对象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812280" y="1005840"/>
            <a:ext cx="1874520" cy="361188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12" name="Image 1" descr="fig-3-7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578387"/>
            <a:ext cx="1691640" cy="187242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858000" y="39319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活动记录的内容：变量地址都是相对栈顶的相对地址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factorial(4)：递归深度 = 运行栈里的栈帧个数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pic>
        <p:nvPicPr>
          <p:cNvPr id="8" name="Image 0" descr="fig-3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441" y="1051560"/>
            <a:ext cx="5188479" cy="3520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035040" y="960120"/>
            <a:ext cx="2651760" cy="2514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同一个函数可以在栈上同时有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很多活动记录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，每个代表一次不同的调用。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同一个局部变量在不同层次被分到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不同的存储空间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逐层调用依次压栈；(b) 到达出口后按压栈的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逐层弹出，把结果一层层交回去。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35040" y="3520440"/>
            <a:ext cx="265176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72200" y="3584448"/>
            <a:ext cx="2423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每深一层就多一格活动记录。深度一旦超过栈区大小，程序不是「变慢」，而是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直接崩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运行栈有多大：三个档位，三种结果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同一份递归源码（每层做一次加法后返回），Linux · gcc 13.3 ·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MB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，逐档加深度：</a:t>
            </a:r>
            <a:endParaRPr lang="en-US" sz="1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0584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万层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-O0（不优化）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-O1 + ASan/UBSan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stack-overflow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 ?!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9E6B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989320" y="1417320"/>
            <a:ext cx="269748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172200" y="1508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改成显式栈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17220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1000 万层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172200" y="26060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三个档位全部通过。数据压进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ArrayStack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，也就是放到</a:t>
            </a:r>
            <a:r>
              <a:rPr lang="en-US" sz="1100" b="1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堆上</a:t>
            </a: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读这张表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39959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万层三档都过；50 万层 -O0 和 -O1 崩——栈帧大小 × 深度 超过了 8 MB。</a:t>
            </a:r>
            <a:endParaRPr lang="en-US" sz="11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在 100 万层居然通过——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不是因为它栈更大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。下一页揭晓。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-O2 为什么不崩：编译器把递归消掉了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-O0: recursive_sum 函数体内调用自己的次数 = 2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-O2: recursive_sum 函数体内调用自己的次数 = 0     // 已经变成一个循环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查汇编可以确认：-O2 做了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 / 递归转循环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，运行栈深度恒为 1。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教训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「用 -O2 就安全」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78892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尾调用优化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不是标准保证的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：换个编译器、换个写法就没了。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评测机用什么优化档、什么编译器版本——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这两件事你都控制不了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709160" y="228600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EAF4E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92040" y="2377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唯一与版本、评测机都无关的做法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7889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改写成显式栈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892040" y="347472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3474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74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吃运行栈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3474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上限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892040" y="400507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92040" y="400507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0" y="400507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吃堆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400507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只受内存限制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阶乘的三个版本：递归 / 迭代 / 显式栈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【算法3.6】递归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2344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103120" y="91440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176272" y="96012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factorial_recursive(long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 0) throw std::invalid_argument(...);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&gt; kMaxFactorialInput)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20! 是上限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std::overflow_error(...);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&lt;= 1) return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n * factorial_recursive(n - 1);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0116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【算法3.8】迭代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33172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不用栈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103120" y="2011680"/>
            <a:ext cx="420624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176272" y="2057400"/>
            <a:ext cx="4059936" cy="914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factorial_iterative(long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2; i &lt;= n; ++i)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i;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【算法3.9】显式栈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342900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3429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2103120" y="3108960"/>
            <a:ext cx="420624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176272" y="3154680"/>
            <a:ext cx="4059936" cy="1463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factorial_type factorial_with_explicit_stack(long long n) {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同样的两道检查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ArrayStack&lt;factorial_type&gt; pending;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(long long i = n; i &gt; 1; --i)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pending.push(i);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按递归规则压栈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factorial_type m = 1;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递归出口的返回值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(auto top = pending.pop())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 *= *top;                 </a:t>
            </a:r>
            <a:r>
              <a:rPr lang="en-US" sz="7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出栈即「递归返回」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m;</a:t>
            </a:r>
            <a:endParaRPr lang="en-US" sz="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492240" y="914400"/>
            <a:ext cx="2194560" cy="192024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629400" y="100584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差别不在快慢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1298448"/>
            <a:ext cx="1920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显式栈版其实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。它存在的意义是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演示编译系统处理递归的机制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：遇到递归规则就压栈，遇到递归出口就出栈返回。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92240" y="2926080"/>
            <a:ext cx="219456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62940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差别在数据放在哪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629400" y="3310128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递归版：返回地址与局部变量在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运行栈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上，受进程栈上限约束。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显式栈版：待处理数据在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上，只受内存约束。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84048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两道检查是原书没有的：负数是定义域错误，溢出是真错误。原书 </a:t>
            </a:r>
            <a:r>
              <a:rPr lang="en-US" sz="8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(n &lt;= 0) return 1;</a:t>
            </a: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把负数静默当 0。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两条递归规则的例子：子集和判定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能否从若干物品中选出一部分，使重量之和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等于背包承重 s？ 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knap(s, n)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：只考虑前 n 件物品。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472184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721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== 0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有解（什么都不再选）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039112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03911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出口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463040" y="198424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&lt; 0 或 n == 0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834640" y="19842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无解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60604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255117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选第 n-1 件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2834640" y="255117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knap(s − w[n−1], n−1)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72968"/>
            <a:ext cx="86868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31729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 2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463040" y="311810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不选第 n-1 件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2834640" y="311810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knap(s, n−1)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370332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7947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对比阶乘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4087368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阶乘只有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递归规则，改写成循环几乎是显然的。背包有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：规则 1 失败后要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再试规则 2——这就需要记住「回来之后该走哪一步」。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754880" y="141732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828032" y="1463040"/>
            <a:ext cx="3785616" cy="3154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knapsack_recursive(capacity: int,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weights: list[int]) -&gt; list[int] | None: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"""算法3.10：两条递归规则，返回选中物品的下标。"""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chosen: list[int] = []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solve(remaining: int, count: int) -&gt; bool: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 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remaining &lt; 0 or count == 0: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            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solve(remaining - weights[count - 1], count - 1):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chosen.append(count - 1)      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1：选它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True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solve(remaining, count - 1)   </a:t>
            </a: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2：不选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solve(capacity, len(weights)) else None</a:t>
            </a:r>
            <a:endParaRPr lang="en-US" sz="79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机械改写：把「返回地址」写成栈帧里的 stage 字段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原书的显式栈每帧保存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；返回地址是关键——它记的是「这一层算完之后该回到哪一步继续」，正是编译器替你做的那件事。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6002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参数：剩余承重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574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参数：可选物品数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25146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5146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返回地址 → stage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9718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29718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4747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一个栈帧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0" y="1600200"/>
          <a:ext cx="55778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31089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 goto 标签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 stage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label0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Enter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递归调用入口：判出口，否则按规则 1 展开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AfterRule1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1（选第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label2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AfterRule2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 2（不选第 n-1 件）返回后的处理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Shape 19"/>
          <p:cNvSpPr/>
          <p:nvPr/>
        </p:nvSpPr>
        <p:spPr>
          <a:xfrm>
            <a:off x="3108960" y="3566160"/>
            <a:ext cx="557784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246120" y="3657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为什么不用 goto？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3246120" y="3950208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跳进跳出会让编译器无法保证局部对象的构造与析构配对——在有 RAII 的 C++ 里不能这么写。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字段与标签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语义完全对应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749040"/>
            <a:ext cx="2514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3840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提到栈外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413308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child_result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充当 CPU 的「返回值寄存器」（如 RAX）。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【算法3.11】显式栈驱动（Python 版）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60350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8887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knapsack_with_explicit_stack(capacity, weights):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_validate(capacity, weights)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enter, after_rule1, after_rule2 = range(3)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模拟「返回地址」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stack = [(capacity, len(weights), enter)]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 = (remaining, count, stage)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chosen = []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child_result = False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模拟「返回值寄存器」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stack: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remaining, count, stage = stack.pop()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恢复该层全部局部变量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stage == enter: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remaining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True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1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elif remaining &lt; 0 or count == 0: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child_result = False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出口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after_rule1))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保存断点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 - weights[count - 1], count - 1, enter))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子调用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elif stage == after_rule1: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child_result: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chosen.append(count - 1)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规则 1 成功：选中它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else:                        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失败：回溯，改用规则 2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count, after_rule2))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stack.append((remaining, count - 1, enter))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2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after_rule2：结果已在 child_result 里，原样上传，无需代码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chosen if child_result else None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6675120" y="932688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每次「调用」压两帧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16736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：自己带着下一步的 stage；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：stage = enter。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子调用先出栈执行；结束后弹出的正是断点——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LIFO 恰好还原了调用/返回的次序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3566160"/>
            <a:ext cx="2011680" cy="1115568"/>
          </a:xfrm>
          <a:prstGeom prst="roundRect">
            <a:avLst>
              <a:gd name="adj" fmla="val 65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657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502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Stage { Enter, AfterRule1, AfterRule2 };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Frame { int s; size_t n; Stage stage; };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栈 · 栈与递归 · 背包问题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【算法3.12】优化：让每层要记的东西更少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栈帧：4 个域  →  2 个域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46304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60020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6888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solidFill>
            <a:srgbClr val="F4F4F4"/>
          </a:solidFill>
          <a:ln w="12700">
            <a:solidFill>
              <a:srgbClr val="BBBBBB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3474720" y="1463040"/>
            <a:ext cx="914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AAAAA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11880" y="1714500"/>
            <a:ext cx="640080" cy="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2194560"/>
            <a:ext cx="397764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360" y="230428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2304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51560" y="22860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结果单元 k 提到栈外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051560" y="2606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一旦某层为 true 就逐层上传且不再变化 → 一个函数级变量即可。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29000"/>
            <a:ext cx="397764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38728"/>
            <a:ext cx="347472" cy="347472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387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5204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 n 由栈深推出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1051560" y="38404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每递归一层 n 减 1、栈深加 1，所以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n₀ − 栈深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。只需维护一个 depth 计数器。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= [(capacity, enter)]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帧只剩两个域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 = len(weights)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depth 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stack: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remaining, stage = stack.pop()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depth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count = size - depth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 由栈深推出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stage == enter: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stack.append((remaining, after_rule1))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stack.append((remaining - weights[count-1],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enter))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depth += 2       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压了两帧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elif stage == after_rule1: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...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663440" y="3611880"/>
            <a:ext cx="402336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46320" y="3657600"/>
            <a:ext cx="3703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这才是真正的「优化」：不是跑得更快，而是想清楚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每一层到底需要记住什么</a:t>
            </a: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——这正是编译器替你想过的问题。</a:t>
            </a:r>
            <a:endParaRPr lang="en-US" sz="1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Queue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一端进、另一端出 · 先进先出 FIFO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· 假溢出 · 循环队列 · 链式队列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队列：一端插入，另一端删除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28800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395728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62656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529584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096512" y="123444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a₅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20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20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dequeue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627632" y="1463040"/>
            <a:ext cx="182880" cy="0"/>
          </a:xfrm>
          <a:prstGeom prst="line">
            <a:avLst/>
          </a:prstGeom>
          <a:noFill/>
          <a:ln w="2540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20" name="Shape 18"/>
          <p:cNvSpPr/>
          <p:nvPr/>
        </p:nvSpPr>
        <p:spPr>
          <a:xfrm>
            <a:off x="4681728" y="1463040"/>
            <a:ext cx="182880" cy="0"/>
          </a:xfrm>
          <a:prstGeom prst="line">
            <a:avLst/>
          </a:prstGeom>
          <a:noFill/>
          <a:ln w="2540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21" name="Shape 19"/>
          <p:cNvSpPr/>
          <p:nvPr/>
        </p:nvSpPr>
        <p:spPr>
          <a:xfrm>
            <a:off x="4892040" y="1289304"/>
            <a:ext cx="1280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289304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enqueue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 front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173736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 rear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148840"/>
            <a:ext cx="566928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队头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（front），删除叫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只允许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的一端叫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（rear），插入叫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按到达顺序释放元素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（FIFO）。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售票窗口前排队买票，就是日常版的队列。</a:t>
            </a:r>
            <a:endParaRPr lang="en-US" sz="12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005840"/>
          <a:ext cx="2377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clear()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变为空队列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enqueue(item)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插入队尾，成功返回真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返回并删除队头（optional）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front()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返回队头不删除（optional）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empty()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队列已空则返回真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A06A0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仅顺序实现才有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7" name="Text 24"/>
          <p:cNvSpPr txBox="1"/>
          <p:nvPr/>
        </p:nvSpPr>
        <p:spPr>
          <a:xfrm>
            <a:off x="6309360" y="3840480"/>
            <a:ext cx="237744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根据应用需要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适当增删运算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：链式队列不需要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full()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为什么两头都不能固定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两头都要动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：入队动队尾，出队动队头。沿用顺序表的实现方法会怎样？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0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入队要把所有元素后移一位 O(n)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1071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队尾固定在位置 n−1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341071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1071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出队要移动剩余 n−1 个元素 O(n)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06040" cy="2057400"/>
          </a:xfrm>
          <a:prstGeom prst="roundRect">
            <a:avLst>
              <a:gd name="adj" fmla="val 3556"/>
            </a:avLst>
          </a:prstGeom>
          <a:solidFill>
            <a:srgbClr val="EAF4E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99632" y="15087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两头都别固定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199632" y="1965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 O(1)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199632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 O(1)：front、rear 都往后走，元素一个都不搬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584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新问题：队列整体向数组尾部「漂移」——假溢出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499616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75104" y="4297680"/>
            <a:ext cx="475488" cy="384048"/>
          </a:xfrm>
          <a:prstGeom prst="rect">
            <a:avLst/>
          </a:prstGeom>
          <a:solidFill>
            <a:srgbClr val="F4F4F4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450592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26080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401568" y="4297680"/>
            <a:ext cx="475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31136" y="39136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688336" y="4114800"/>
            <a:ext cx="0" cy="16459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3" name="Text 31"/>
          <p:cNvSpPr txBox="1"/>
          <p:nvPr/>
        </p:nvSpPr>
        <p:spPr>
          <a:xfrm>
            <a:off x="3931920" y="42976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到末尾 →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120640" y="3977640"/>
            <a:ext cx="35661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数组前端还空着一大片，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却已到末尾，入队报满。解决：把数组在逻辑上看成一个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循环队列：下标 0 是下标 mSize−1 的直接后继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3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14862"/>
            <a:ext cx="7863840" cy="19307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初始队列里有 12、17、8、20 四个元素；(b) 两次出队、三次入队之后。入队增加 rear，出队增加 front，两者都在环上顺时针走。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5720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38587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 x 的后继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(x + 1) % mSize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4709160" y="3794760"/>
            <a:ext cx="397764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46320" y="388620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取模不能漏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4178808"/>
            <a:ext cx="3703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(rear_ + 1) % slots_;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走到末尾就绕回 0。少了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，下标越界写出数组。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绕回之后的麻烦：front == rear 既可能空、也可能满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抽屉原理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 个位置的数组，队列有「空、1 个、…、n 个」共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种状态；固定 front 后 rear 只有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种取值——必有两种状态撞在一起。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55448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1284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55448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1168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5331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空：front == rear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front=0  rear=0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4612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343400" y="2066544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048256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700" dirty="0"/>
          </a:p>
        </p:txBody>
      </p:sp>
      <p:sp>
        <p:nvSpPr>
          <p:cNvPr id="27" name="Shape 25"/>
          <p:cNvSpPr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01768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58968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343400" y="3383280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00600" y="336499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685032" y="272491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142232" y="2706624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Text 34"/>
          <p:cNvSpPr txBox="1"/>
          <p:nvPr/>
        </p:nvSpPr>
        <p:spPr>
          <a:xfrm>
            <a:off x="3383280" y="16002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满：(rear+1)%4 == front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3840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front=0  rear=3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035040" y="1554480"/>
            <a:ext cx="26517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108192" y="1600200"/>
            <a:ext cx="25054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empty()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front_ == rear_;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 再走一格就撞上 front：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那一格就是被牺牲掉的槽位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full() const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+ 1) % slots_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== front_;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7200" y="416052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FFF6E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94360" y="4251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牺牲一个槽位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594360" y="4544568"/>
            <a:ext cx="7955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数组开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n+1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格却只装 n 个元素：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slots_ = 容量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。这就是「逻辑容量 3 时第 4 个入不进去」的原因。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顺序队列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enqueue / dequeue / size，以及一次绕回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2062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0599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explicit ArrayQueue(size_type capacity)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slots_(capacity + 1), data_(new T[capacity + 1]),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front_(0), rear_(0) {}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(full()) return false;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容量固定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data_[rear_]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rear_ = (rear_ + 1) % slots_;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取模绕回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data_[front_];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(front_ + 1) % slots_;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size_type size() const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(rear_ &gt;= front_) ? (rear_ - front_)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: (slots_ - front_ + rear_);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front_: 队头元素的下标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rear_ : 下一个入队元素要写的下标</a:t>
            </a:r>
            <a:endParaRPr lang="en-US" sz="84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932688"/>
          <a:ext cx="384048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457200"/>
                <a:gridCol w="4572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操作（容量 3, slots 4）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data[0..3]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front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rear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enqueue(1)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enqueue(2)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enqueue(3)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enqueue(4)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2 3 4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true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full()?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(0+1)%4 == 1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满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dequeue() ×3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_ _ _ _</a:t>
                      </a:r>
                      <a:endParaRPr lang="en-US" sz="88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↺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8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2 3 4</a:t>
                      </a:r>
                      <a:endParaRPr lang="en-US" sz="88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846320" y="4023360"/>
            <a:ext cx="38404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 从 3 绕回 0；此时 front=1、rear=0，size = 4 − 1 + 0 = 3。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链式队列：front 指队首，rear 指队尾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91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a₁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28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34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331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971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77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74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0" y="1668780"/>
            <a:ext cx="502920" cy="0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17720" y="14630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a₄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1463040"/>
            <a:ext cx="274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∧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584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84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417320" y="1207008"/>
            <a:ext cx="0" cy="256032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526280" y="914400"/>
            <a:ext cx="731520" cy="29260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526280" y="91440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46320" y="1207008"/>
            <a:ext cx="0" cy="256032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Text 27"/>
          <p:cNvSpPr txBox="1"/>
          <p:nvPr/>
        </p:nvSpPr>
        <p:spPr>
          <a:xfrm>
            <a:off x="45720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出队：删最前面的结点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3840480" y="19659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入队：接到尾部、改 rear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377440"/>
            <a:ext cx="566928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链表的简化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：链接方向从队首指向队尾。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结点分散在堆上，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没有「队满」这回事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——「根据应用增删运算」的具体例子。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队尾指针是必需的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：没有它，每次入队都得从队头走到尾，O(n)；有了它，入队出队都是 O(1)。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309360" y="914400"/>
            <a:ext cx="2377440" cy="37490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46520" y="1005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不设表头虚结点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6419088" y="1298448"/>
            <a:ext cx="2157984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为减少访问队首的代价，这种实现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没有专用表头虚结点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。代价是两个边界要单独处理：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插入到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：front、rear 都指向新结点；</a:t>
            </a:r>
            <a:endParaRPr lang="en-US" sz="10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出队后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队列变空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：rear 也要置空。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队列 · 链式队列 · 教学版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最容易漏的一行：出队摘空时 rear 必须置空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入队：新结点接到队尾。原来是空队列的话，它同时也是队头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enqueue(const T&amp; value)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fresh = new Node;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fresh-&gt;value =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fresh-&gt;next = nullptr;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(rear_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rear_ = fresh;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①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rear_-&gt;next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fresh;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出队：摘下队头结点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std::optional&lt;T&gt; dequeue()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(empty()) return std::nullopt;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dying = front_;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 = dying-&gt;value;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front_ = dying-&gt;next;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(front_ == nullptr)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rear_ = nullptr;                 </a:t>
            </a:r>
            <a:r>
              <a:rPr lang="en-US" sz="84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边界 ②：否则 rear 成野指针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delete dying;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--size_;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value;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2423160"/>
          </a:xfrm>
          <a:prstGeom prst="roundRect">
            <a:avLst>
              <a:gd name="adj" fmla="val 3019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漏掉边界 ② 会发生什么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23560" y="1371600"/>
            <a:ext cx="123444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23560" y="13716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front = null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23760" y="1371600"/>
            <a:ext cx="640080" cy="27432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23760" y="13716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rear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7543800" y="1645920"/>
            <a:ext cx="0" cy="27432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solidFill>
            <a:srgbClr val="EEEEEE"/>
          </a:solidFill>
          <a:ln w="12700">
            <a:solidFill>
              <a:srgbClr val="C0392B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7269480" y="192024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已释放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5623560" y="24231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enqueue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看到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!= nullptr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，执行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rear_-&gt;next = fresh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写进已释放的内存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（use-after-free）。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0" y="3474720"/>
            <a:ext cx="32004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623560" y="35661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clear() 同样用循环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623560" y="3858768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结点，最后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rear_ = nullptr; size_ = 0;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——长队列的递归析构会把运行栈撑爆。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栈与队列的深入讨论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两种存储的取舍 · 双栈共享 · 限制存取点的表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出栈序列判定与 Catalan 数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栈和队列都用在哪里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 LIFO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函数调用与递归实现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深度优先周游（DFS）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表达式转换与求值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快速排序的非递归版本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伸展树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网页历史、undo 序列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11880"/>
          </a:xfrm>
          <a:prstGeom prst="roundRect">
            <a:avLst>
              <a:gd name="adj" fmla="val 2025"/>
            </a:avLst>
          </a:prstGeom>
          <a:solidFill>
            <a:srgbClr val="F1F4F2"/>
          </a:solidFill>
          <a:ln/>
        </p:spPr>
      </p:sp>
      <p:sp>
        <p:nvSpPr>
          <p:cNvPr id="12" name="Shape 10"/>
          <p:cNvSpPr/>
          <p:nvPr/>
        </p:nvSpPr>
        <p:spPr>
          <a:xfrm>
            <a:off x="4892040" y="114300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1430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  FIFO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消息 / 数据缓冲器：硬件设备间通信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操作系统资源管理：内存、打印机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广度优先搜索（BFS）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的主要中间数据结构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按优先级组织 →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优先队列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只要满足「先来先服务」即可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 vs 链式栈：时间难分伯仲，空间各有代价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291840"/>
                <a:gridCol w="32918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push / pop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O(1)（push 摊还）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需说明固定长度；栈不满时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浪费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一些空间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长度按需增减；每个元素一个指针域——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结构性开销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需扩容（翻倍）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没有这回事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按与栈顶的相对位置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快速定位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沿指针链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缓存局部性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连续数组，好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结点分散在堆上，差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" y="39319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正因为「访问内部元素」这一条，</a:t>
            </a: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顺序栈在实际中更常用一些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多栈管理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一个数组存两个栈：从两端迎面延伸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3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138949"/>
            <a:ext cx="7498080" cy="147114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493776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编译系统等系统软件往往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同时管理多个栈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利用顺序栈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单向延伸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的特性：数组两端分别是两个栈的栈底，向中间生长。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栈满条件：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top1 + 1 == top2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——中间余量用完才算满。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577840" y="2926080"/>
            <a:ext cx="31089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715000" y="3017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什么时候划算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715000" y="3310128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两个栈的空间需求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恰好相反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（一个涨、另一个缩）时很省空间；两个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，中间那点余量很快就没了。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顺序队列 vs 链式队列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74904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顺序队列（循环）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链式队列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enqueue / dequeue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存储空间固定；无法应对</a:t>
                      </a: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规模变化大且最大规模不可预测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轻松应对规模变化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访问内部元素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简单，适合需要访问队列内部元素的应用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需遍历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牺牲一格 + 未用空间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每结点一个指针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一个数组放两个？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</a:t>
                      </a: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——除非总有数据项从一个队列转入另一个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233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工程提示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1596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如果能预测「浪涌」的统计特性，就可以大致估算出缓冲队列的长度，用顺序队列。时间效率上两者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没有优劣之分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限制存取点的表：栈和队列的变种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 deque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插入和删除都限制在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。栈和队列都是它的特例。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73736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08483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43230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7977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8016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5" name="Text 13"/>
          <p:cNvSpPr txBox="1"/>
          <p:nvPr/>
        </p:nvSpPr>
        <p:spPr>
          <a:xfrm>
            <a:off x="1005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28016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17" name="Text 15"/>
          <p:cNvSpPr txBox="1"/>
          <p:nvPr/>
        </p:nvSpPr>
        <p:spPr>
          <a:xfrm>
            <a:off x="1005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17296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19" name="Text 17"/>
          <p:cNvSpPr txBox="1"/>
          <p:nvPr/>
        </p:nvSpPr>
        <p:spPr>
          <a:xfrm>
            <a:off x="361188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17296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61188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100584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双栈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141732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两个底部相连的栈：从 end1 插入的只能从 end1 删除。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89320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36792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84264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1736" y="202996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532120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525780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32120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32" name="Text 30"/>
          <p:cNvSpPr txBox="1"/>
          <p:nvPr/>
        </p:nvSpPr>
        <p:spPr>
          <a:xfrm>
            <a:off x="525780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424928" y="210312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34" name="Text 32"/>
          <p:cNvSpPr txBox="1"/>
          <p:nvPr/>
        </p:nvSpPr>
        <p:spPr>
          <a:xfrm>
            <a:off x="786384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424928" y="228600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7863840" y="21945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6684264" y="1965960"/>
            <a:ext cx="0" cy="475488"/>
          </a:xfrm>
          <a:prstGeom prst="line">
            <a:avLst/>
          </a:prstGeom>
          <a:noFill/>
          <a:ln w="31750">
            <a:solidFill>
              <a:srgbClr val="C039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720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4008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超队列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4008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只在一端，插入可在两端（删除受限）。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173736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8483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43230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77977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28016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46" name="Text 44"/>
          <p:cNvSpPr txBox="1"/>
          <p:nvPr/>
        </p:nvSpPr>
        <p:spPr>
          <a:xfrm>
            <a:off x="1005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280160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headEnd type="triangle"/>
          </a:ln>
        </p:spPr>
      </p:sp>
      <p:sp>
        <p:nvSpPr>
          <p:cNvPr id="48" name="Text 46"/>
          <p:cNvSpPr txBox="1"/>
          <p:nvPr/>
        </p:nvSpPr>
        <p:spPr>
          <a:xfrm>
            <a:off x="1005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17296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50" name="Text 48"/>
          <p:cNvSpPr txBox="1"/>
          <p:nvPr/>
        </p:nvSpPr>
        <p:spPr>
          <a:xfrm>
            <a:off x="361188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4709160" y="2788920"/>
            <a:ext cx="3977640" cy="1645920"/>
          </a:xfrm>
          <a:prstGeom prst="roundRect">
            <a:avLst>
              <a:gd name="adj" fmla="val 4444"/>
            </a:avLst>
          </a:prstGeom>
          <a:solidFill>
            <a:srgbClr val="F1F4F2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892040" y="2880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超栈</a:t>
            </a:r>
            <a:endParaRPr lang="en-US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4892040" y="320040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只在一端，删除可在两端（插入受限）。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5989320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336792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684264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31736" y="3813048"/>
            <a:ext cx="347472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532120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59" name="Text 57"/>
          <p:cNvSpPr txBox="1"/>
          <p:nvPr/>
        </p:nvSpPr>
        <p:spPr>
          <a:xfrm>
            <a:off x="525780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7424928" y="3886200"/>
            <a:ext cx="411480" cy="0"/>
          </a:xfrm>
          <a:prstGeom prst="line">
            <a:avLst/>
          </a:prstGeom>
          <a:noFill/>
          <a:ln w="22860">
            <a:solidFill>
              <a:srgbClr val="3E7C68"/>
            </a:solidFill>
            <a:prstDash val="solid"/>
            <a:headEnd type="triangle"/>
          </a:ln>
        </p:spPr>
      </p:sp>
      <p:sp>
        <p:nvSpPr>
          <p:cNvPr id="61" name="Text 59"/>
          <p:cNvSpPr txBox="1"/>
          <p:nvPr/>
        </p:nvSpPr>
        <p:spPr>
          <a:xfrm>
            <a:off x="7863840" y="377647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7424928" y="4069080"/>
            <a:ext cx="411480" cy="0"/>
          </a:xfrm>
          <a:prstGeom prst="line">
            <a:avLst/>
          </a:prstGeom>
          <a:noFill/>
          <a:ln w="2286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63" name="Text 61"/>
          <p:cNvSpPr txBox="1"/>
          <p:nvPr/>
        </p:nvSpPr>
        <p:spPr>
          <a:xfrm>
            <a:off x="7863840" y="397764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</a:t>
            </a:r>
            <a:endParaRPr lang="en-US" sz="850" dirty="0"/>
          </a:p>
        </p:txBody>
      </p:sp>
      <p:sp>
        <p:nvSpPr>
          <p:cNvPr id="64" name="Text 62"/>
          <p:cNvSpPr txBox="1"/>
          <p:nvPr/>
        </p:nvSpPr>
        <p:spPr>
          <a:xfrm>
            <a:off x="457200" y="45720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标准库有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std::deque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std::stack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std::queue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默认都由它实现——但那是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使用者的视角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。本章手写，是因为「存储怎么落、边界怎么守」本身就是教学内容。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车辆 1…n 依次进栈，给定出栈次序，能不能得到？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回答它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不需要搜索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。拿栈模拟一遍，每一步都没有选择余地——看下一辆要开出的车：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81328"/>
            <a:ext cx="411480" cy="41148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48132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3716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正在栈顶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13716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现在就开出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。再压进一辆，它就被盖住了。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212848"/>
            <a:ext cx="411480" cy="41148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还没进栈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108960" y="21031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只能把后面的车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一辆辆压进去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，直到它到达栈顶。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944368"/>
            <a:ext cx="411480" cy="4114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29443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8346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已在栈里、却不在栈顶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108960" y="28346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它上面压着别的车，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这个次序不可能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611880"/>
            <a:ext cx="53035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种不必单独判断：车全部进过栈了还等不到它，就是它。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371600"/>
            <a:ext cx="2743200" cy="329184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126480" y="14447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例：3, 1, 2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63640" y="30632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63640" y="265176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224028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949440" y="2258568"/>
            <a:ext cx="365760" cy="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7360920" y="21488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开出 ✓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7360920" y="26243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栈顶变成 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7360920" y="3063240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被压住 ✗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0" y="356616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要先开出 → 1、2 必须都已进栈，且 2 压在 1 上面；3 开走后栈顶是 2，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出不来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5303520" cy="640080"/>
          </a:xfrm>
          <a:prstGeom prst="roundRect">
            <a:avLst>
              <a:gd name="adj" fmla="val 11429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对照：2, 1, 3 可行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5029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Push Push Pop Pop Push Pop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深入讨论 · 出栈序列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stack_operations_for：O(n) 判定 &amp; Catalan 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75488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60857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 class StackOp { Push, Pop };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inline std::optional&lt;std::vector&lt;StackOp&gt;&gt;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stack_operations_for(const std::vector&lt;int&gt;&amp;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n = static_cast&lt;int&gt;(pop_order.size());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ArrayStack&lt;int&gt; stack;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std::vector&lt;StackOp&gt;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next_car = 1;               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下一辆等着进栈的车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wanted : pop_order)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(stack.empty() || *stack.peek() != wanted)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(next_car &gt; n)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return std::nullopt;     </a:t>
            </a: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车都进过栈了：它被压在下面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stack.push(next_car);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++next_car;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ops.push_back(StackOp::Push);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(void)stack.pop();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ops.push_back(StackOp::Pop);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ops;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931920"/>
            <a:ext cx="475488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「次序不可能」是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可预期结果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而不是抛异常——与空栈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口径一致。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每辆车至多进栈、出栈各一次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。重复、缺号、越界的编号同样返回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394960" y="932688"/>
          <a:ext cx="3291840" cy="2788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94960" y="3794760"/>
            <a:ext cx="329184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32120" y="38404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Catalan 数  Cₙ = (2n)! / ((n+1)! · n!)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5532120" y="41605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测试对 n = 1…7 穷举全部 5913 个排列逐个核对。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限制换 O(1)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栈和队列都是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限制了存取点的线性表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，限制换来的是每个操作 O(1)。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顺序实现省空间、能随机访问内部元素；链式实现不会满，但有指针开销。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用取模把数组看成环，解决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假溢出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牺牲一格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区分空与满。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 = 运行栈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深度受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ulimit -s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限制；可靠的深递归写法只有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显式栈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。-O2 把递归消成循环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不能依赖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接口口径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可预期的空状态返回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；调用方的错误抛异常；容器内部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 I/O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58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第三章 栈与队列</dc:title>
  <dc:subject>PptxGenJS Presentation</dc:subject>
  <dc:creator>Hongfei Yan</dc:creator>
  <cp:lastModifiedBy>Hongfei Yan</cp:lastModifiedBy>
  <cp:revision>1</cp:revision>
  <dcterms:created xsi:type="dcterms:W3CDTF">2026-09-17T19:03:18Z</dcterms:created>
  <dcterms:modified xsi:type="dcterms:W3CDTF">2026-09-17T19:03:18Z</dcterms:modified>
</cp:coreProperties>
</file>