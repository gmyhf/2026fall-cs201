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charts/chart1.xml" ContentType="application/vnd.openxmlformats-officedocument.drawingml.chart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notesMasterIdLst>
    <p:notesMasterId r:id="rId6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3D34"/>
                </a:solidFill>
                <a:latin typeface="Microsoft YaHei"/>
              </a:defRPr>
            </a:pPr>
            <a:r>
              <a:rPr sz="1100" b="0" i="0" u="none" strike="noStrike">
                <a:solidFill>
                  <a:srgbClr val="1E3D34"/>
                </a:solidFill>
                <a:latin typeface="Microsoft YaHei"/>
              </a:rPr>
              <a:t>n 辆车的合法出栈序列数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合法出栈序列数</c:v>
                </c:pt>
              </c:strCache>
            </c:strRef>
          </c:tx>
          <c:spPr>
            <a:solidFill>
              <a:srgbClr val="3E7C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3D3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5</c:v>
                </c:pt>
                <c:pt idx="3">
                  <c:v>14</c:v>
                </c:pt>
                <c:pt idx="4">
                  <c:v>42</c:v>
                </c:pt>
                <c:pt idx="5">
                  <c:v>132</c:v>
                </c:pt>
                <c:pt idx="6">
                  <c:v>429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3D3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B74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B7B74"/>
                    </a:solidFill>
                    <a:latin typeface="Arial"/>
                  </a:rPr>
                  <a:t>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B7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A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B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演算：承重 s=5，物品 weights=[2,3,4]；帧=(remaining,count,stage)，A1=AfterRule1，A2=AfterRule2。
 1. 弹出(5,3,Enter) → 压断点+子调用（选 w=4）
    栈(底→顶)：(5,3,A1) (1,2,Enter)
 2. 弹出(1,2,Enter) → 压断点+子调用（选 w=3）
    栈(底→顶)：(5,3,A1) (1,2,A1) (-2,1,Enter)
 3. 弹出(-2,1,Enter) → 出口2，child=F
    栈(底→顶)：(5,3,A1) (1,2,A1)
 4. 弹出(1,2,A1) → child=F，回溯：压 A2 + 不选子调用
    栈(底→顶)：(5,3,A1) (1,2,A2) (1,1,Enter)
 5. 弹出(1,1,Enter) → 压断点+子调用（选 w=2）
    栈(底→顶)：(5,3,A1) (1,2,A2) (1,1,A1) (-1,0,Enter)
 6. 弹出(-1,0,Enter) → 出口2，child=F
    栈(底→顶)：(5,3,A1) (1,2,A2) (1,1,A1)
 7. 弹出(1,1,A1) → child=F，回溯：压 A2 + 不选子调用
    栈(底→顶)：(5,3,A1) (1,2,A2) (1,1,A2) (1,0,Enter)
 8. 弹出(1,0,Enter) → 出口2，child=F
    栈(底→顶)：(5,3,A1) (1,2,A2) (1,1,A2)
 9. 弹出(1,1,A2) → 原样上传 child=F
    栈(底→顶)：(5,3,A1) (1,2,A2)
10. 弹出(1,2,A2) → 原样上传 child=F
    栈(底→顶)：(5,3,A1)
11. 弹出(5,3,A1) → child=F，回溯：压 A2 + 不选子调用
    栈(底→顶)：(5,3,A2) (5,2,Enter)
12. 弹出(5,2,Enter) → 压断点+子调用（选 w=3）
    栈(底→顶)：(5,3,A2) (5,2,A1) (2,1,Enter)
13. 弹出(2,1,Enter) → 压断点+子调用（选 w=2）
    栈(底→顶)：(5,3,A2) (5,2,A1) (2,1,A1) (0,0,Enter)
14. 弹出(0,0,Enter) → 出口1，child=T
    栈(底→顶)：(5,3,A2) (5,2,A1) (2,1,A1)
15. 弹出(2,1,A1) → child=T，选中物品0（w=2）
    栈(底→顶)：(5,3,A2) (5,2,A1)
16. 弹出(5,2,A1) → child=T，选中物品1（w=3）
    栈(底→顶)：(5,3,A2)
17. 弹出(5,3,A2) → 原样上传 child=T
    栈(底→顶)：（空）
结果：chosen=[0,1]，即物品 2+3=5。
要点：步1–10 整个「选 4」分支失败；步11 回溯到不选 4；步12–14 选 3、选 2 凑出 0；步15–17 沿栈逐层上传 True。每次调用压两帧（断点在下、子调用在上），LIFO 还原调用/返回次序。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数据结构与算法 · 2026 Fall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64008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 栈与队列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00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Stack &amp; Queue：加了限制的线性表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60350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 ADT 与 LIFO · 顺序栈 / 链式栈 · 后缀表达式 · 调度场算法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运行栈与递归深度实测 · 显式栈改写 · 背包问题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 ADT 与 FIFO · 假溢出 · 循环队列「牺牲一格」 · 链式队列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限制存取点的表 · 出栈序列判定与 Catalan 数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Compiled by Hongfei Yan · Updated 2026-09-17 · github.com/GMyhf/dsa-modernization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本章要回答三个问题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在线性表上只加一条限制，能换来什么？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只在一端进出是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（LIFO）；一端进、另一端出是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（FIFO）。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递归为什么会崩，崩在哪里？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运行栈、栈帧，以及一组会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推翻直觉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的实测数字。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「空栈弹出」是错误，还是正常状态？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这个判断决定了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接口怎么写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还是异常。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E3D3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一句话概括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0050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栈和队列不是新的存储结构，是</a:t>
            </a:r>
            <a:r>
              <a:rPr lang="en-US" sz="15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加了限制的线性表</a:t>
            </a: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。限制换来的是：每个操作都能做到 </a:t>
            </a:r>
            <a:r>
              <a:rPr lang="en-US" sz="150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≡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内容地图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6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栈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栈的抽象数据类型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顺序栈（教学版完整实现）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链式栈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表达式求值（后缀式）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 中缀 → 后缀：调度场算法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 栈与递归：运行栈实测、显式栈改写、背包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队列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队列的抽象数据类型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顺序队列：假溢出、循环队列、牺牲一格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 链式队列：队尾指针与边界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深入讨论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顺序栈 vs 链式栈；双栈共享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顺序队列 vs 链式队列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限制存取点的表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出栈序列判定与 Catalan 数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先跑一遍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用教学版 ArrayStack 走一遍 push / top / pop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937760" cy="3657600"/>
          </a:xfrm>
          <a:prstGeom prst="roundRect">
            <a:avLst>
              <a:gd name="adj" fmla="val 20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4791456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"teaching.hpp"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&lt;iostream&gt;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ArrayStack&lt;int&gt; stack;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stack.push(1);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stack.push(2);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stack.push(3);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top() 返回 optional：有值才解引用，空栈不会崩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(auto value = stack.top())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std::cout &lt;&lt; "栈顶是 " &lt;&lt; *value &lt;&lt; '\n';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"依次弹出:";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(auto value = stack.pop())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std::cout &lt;&lt; ' ' &lt;&lt; *value;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"\n空栈再弹? "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&lt;&lt; (stack.pop() ? "有值" : "空") &lt;&lt; '\n';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23560" y="1005840"/>
            <a:ext cx="3063240" cy="1097280"/>
          </a:xfrm>
          <a:prstGeom prst="roundRect">
            <a:avLst>
              <a:gd name="adj" fmla="val 6667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733288" y="1060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733288" y="1261872"/>
            <a:ext cx="2843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栈顶是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依次弹出: 3 2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空栈再弹? 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623560" y="2240280"/>
            <a:ext cx="30632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-std=c++17 -Wall -Wextra -Werror \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-Icode/ch03/array_stack \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code/ch03/array_stack/demo.cpp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623560" y="2926080"/>
            <a:ext cx="3063240" cy="1737360"/>
          </a:xfrm>
          <a:prstGeom prst="roundRect">
            <a:avLst>
              <a:gd name="adj" fmla="val 4211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60720" y="30175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看到了什么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33288" y="3310128"/>
            <a:ext cx="2843784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后进先出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：最后压入的 3 最先出来。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空栈上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pop()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返回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 optional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：不打印、不崩溃。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(auto v = stack.pop())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一行完成「判空 + 取值」。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先跑一遍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用教学版 ArrayQueue 走一遍 enqueue / dequeue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937760" cy="3657600"/>
          </a:xfrm>
          <a:prstGeom prst="roundRect">
            <a:avLst>
              <a:gd name="adj" fmla="val 20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4791456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"teaching.hpp"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&lt;iostream&gt;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ArrayQueue&lt;int&gt; queue(3);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(!queue.enqueue(1) || !queue.enqueue(2)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|| !queue.enqueue(3))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std::cout &lt;&lt; "入队失败\n";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1;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"逻辑容量 3 时再入队? "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&lt;&lt; (queue.enqueue(4) ? "成功" : "已满") &lt;&lt; '\n';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"依次出队:";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(auto value = queue.dequeue())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std::cout &lt;&lt; ' ' &lt;&lt; *value;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'\n';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23560" y="100584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733288" y="1060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733288" y="1261872"/>
            <a:ext cx="2843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逻辑容量 3 时再入队? 已满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依次出队: 1 2 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23560" y="2103120"/>
            <a:ext cx="3063240" cy="2560320"/>
          </a:xfrm>
          <a:prstGeom prst="roundRect">
            <a:avLst>
              <a:gd name="adj" fmla="val 2857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760720" y="21945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看到了什么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733288" y="2487168"/>
            <a:ext cx="2843784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先进先出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：1 最先入队，也最先出队。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循环队列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牺牲一个槽位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区分空与满：逻辑容量 3 实际申请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个槽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顺序队列容量固定：队满时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返回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，而不是自动扩容。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 Stack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只在一端进出 · 后进先出 LIFO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顺序栈 · 链式栈 · 表达式求值 · 栈与递归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抽象数据类型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栈：限定仅在一端插入和删除的线性表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475488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（stack）：插入和删除都只在</a:t>
            </a:r>
            <a:r>
              <a:rPr lang="en-US" sz="14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一端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进行。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这一端称为</a:t>
            </a:r>
            <a:r>
              <a:rPr lang="en-US" sz="14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栈顶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（top），另一端称为</a:t>
            </a:r>
            <a:r>
              <a:rPr lang="en-US" sz="14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栈底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（bottom）。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元素按</a:t>
            </a:r>
            <a:r>
              <a:rPr lang="en-US" sz="14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后进先出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（LIFO, last in first out）的次序访问。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进和出都在栈顶，</a:t>
            </a:r>
            <a:r>
              <a:rPr lang="en-US" sz="14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栈底不动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4754880" cy="1554480"/>
          </a:xfrm>
          <a:prstGeom prst="roundRect">
            <a:avLst>
              <a:gd name="adj" fmla="val 4706"/>
            </a:avLst>
          </a:prstGeom>
          <a:solidFill>
            <a:srgbClr val="FFF6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31546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生活里的栈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447288"/>
            <a:ext cx="4535424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一摞盘子：只能从最上面放、从最上面拿。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浏览器「后退」、编辑器 undo 序列。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函数调用：最后调用的函数最先返回。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1051560"/>
            <a:ext cx="3200400" cy="3566160"/>
          </a:xfrm>
          <a:prstGeom prst="roundRect">
            <a:avLst>
              <a:gd name="adj" fmla="val 2286"/>
            </a:avLst>
          </a:prstGeom>
          <a:solidFill>
            <a:srgbClr val="F1F4F2"/>
          </a:solidFill>
          <a:ln/>
        </p:spPr>
      </p:sp>
      <p:pic>
        <p:nvPicPr>
          <p:cNvPr id="12" name="Image 0" descr="fig-3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293146"/>
            <a:ext cx="2834640" cy="2717229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486400" y="4206240"/>
            <a:ext cx="3200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栈的示意图：进和出都在栈顶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抽象数据类型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ADT 描述的是「一组运算」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模板本身就承担了这层抽象：</a:t>
            </a:r>
            <a:r>
              <a:rPr lang="en-US" sz="12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ArrayStack&lt;T&gt;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提供哪些运算由接口决定，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不需要继承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某个 </a:t>
            </a:r>
            <a:r>
              <a:rPr lang="en-US" sz="12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Stack&lt;T&gt;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。这一节要定下来的是这张表：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51206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01752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时间代价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push(x)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 x 压到栈顶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摊还 O(1)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pop()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弹出栈顶并把它带回来；</a:t>
                      </a: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空栈返回「没有」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top()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只看栈顶，不弹出；</a:t>
                      </a: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空栈返回「没有」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empty()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栈里还有没有元素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size()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栈里有几个元素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clear()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清空（教学版只归零长度；工程版逐个析构，O(n)）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852160" y="1554480"/>
            <a:ext cx="2834640" cy="1920240"/>
          </a:xfrm>
          <a:prstGeom prst="roundRect">
            <a:avLst>
              <a:gd name="adj" fmla="val 3810"/>
            </a:avLst>
          </a:prstGeom>
          <a:solidFill>
            <a:srgbClr val="FFF6E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89320" y="1645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「没有」在 C++17 里怎么说？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961888" y="1938528"/>
            <a:ext cx="261518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std::optional&lt;T&gt;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：把「有没有值」搬进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取值前必须先判断：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(auto v = s.pop())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有值：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*v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取出；没值：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std::nullopt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52160" y="361188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CFE0D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8932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接口口径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989320" y="39959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空栈是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可预期的状态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，不是错误 → 返回空盒子；参数非法、容量溢出才是错误 → 抛异常。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顺序栈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数组的哪一端当栈顶？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顺序栈：用一块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连续区域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存储元素。第一个要做的设计决定——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977640" cy="3246120"/>
          </a:xfrm>
          <a:prstGeom prst="roundRect">
            <a:avLst>
              <a:gd name="adj" fmla="val 2254"/>
            </a:avLst>
          </a:prstGeom>
          <a:solidFill>
            <a:srgbClr val="FDF0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第 0 个位置当栈顶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240280"/>
            <a:ext cx="457200" cy="384048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240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6243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280160" y="2240280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80160" y="2240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6243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737360" y="2240280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737360" y="2240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26243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194560" y="2240280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194560" y="2240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194560" y="26243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651760" y="2240280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651760" y="2240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651760" y="26243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108960" y="2240280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108960" y="26243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18562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push 到这里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51560" y="2057400"/>
            <a:ext cx="0" cy="164592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325880" y="2880360"/>
            <a:ext cx="219456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1280160" y="2926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所有元素都要后移一位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429000"/>
            <a:ext cx="3657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 </a:t>
            </a:r>
            <a:r>
              <a:rPr lang="en-US" sz="12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2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都要把所有元素后移或前移一位 → 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709160" y="1371600"/>
            <a:ext cx="3977640" cy="3246120"/>
          </a:xfrm>
          <a:prstGeom prst="roundRect">
            <a:avLst>
              <a:gd name="adj" fmla="val 2254"/>
            </a:avLst>
          </a:prstGeom>
          <a:solidFill>
            <a:srgbClr val="EAF4E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8920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最后一个元素的位置当栈顶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074920" y="2240280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074920" y="2240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074920" y="26243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532120" y="2240280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532120" y="2240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532120" y="26243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89320" y="2240280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989320" y="2240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989320" y="26243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46520" y="2240280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46520" y="2240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446520" y="26243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903720" y="2240280"/>
            <a:ext cx="457200" cy="384048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903720" y="2240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6903720" y="26243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360920" y="2240280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360920" y="26243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6629400" y="18562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= size-1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086600" y="2057400"/>
            <a:ext cx="0" cy="164592"/>
          </a:xfrm>
          <a:prstGeom prst="line">
            <a:avLst/>
          </a:prstGeom>
          <a:noFill/>
          <a:ln w="1905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53" name="Text 51"/>
          <p:cNvSpPr txBox="1"/>
          <p:nvPr/>
        </p:nvSpPr>
        <p:spPr>
          <a:xfrm>
            <a:off x="4892040" y="3429000"/>
            <a:ext cx="3657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新元素加在表尾、出栈也删表尾，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其他元素一个都不动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O(1)</a:t>
            </a:r>
            <a:endParaRPr lang="en-US" sz="1250" dirty="0"/>
          </a:p>
        </p:txBody>
      </p:sp>
      <p:sp>
        <p:nvSpPr>
          <p:cNvPr id="54" name="Text 52"/>
          <p:cNvSpPr txBox="1"/>
          <p:nvPr/>
        </p:nvSpPr>
        <p:spPr>
          <a:xfrm>
            <a:off x="489204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顺序栈一律选后者——「选对了就没有代价」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顺序栈 · 教学版 teaching.hpp（上）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成员、构造与三法则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66928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52297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 &lt;typename T&gt;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ArrayStack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容量不够时会自动翻倍，初值给多少都不影响正确性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explicit ArrayStack(size_type initial_capacity = 8)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data_(new T[initial_capacity]),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capacity_(initial_capacity), size_(0) {}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~ArrayStack() { delete[] data_; }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new[] 来的就 delete[] 回去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拷贝构造：必须自己写，否则两个栈共享同一块内存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ArrayStack(const ArrayStack&amp; other)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data_(new T[other.capacity_]),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capacity_(other.capacity_), size_(other.size_)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(size_type i = 0; i &lt; size_; ++i) data_[i] = other.data_[i];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拷贝赋值：先备好新数组，再释放旧的，最后接管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ArrayStack&amp; operator=(const ArrayStack&amp; other)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(this == &amp;other) return *this;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自赋值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T* fresh = new T[other.capacity_];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(size_type i = 0; i &lt; other.size_; ++i) fresh[i] = other.data_[i];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delete[] data_;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data_ = fresh; capacity_ = other.capacity_; size_ = other.size_;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*this;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355080" y="96012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10241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三个数据成员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1298448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T* data_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指向底层数组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size_type capacity_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数组能放多少个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size_type size_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现有几个 = 下一个空位下标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55080" y="265176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27432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为什么要自己写拷贝？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035808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编译器生成的拷贝会把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这根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指针照抄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 → 两个栈指向同一块内存，各析构一次 →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double free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。原书 arrStack 正是漏了这个。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顺序栈 · 教学版 teaching.hpp（下）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push / pop / top 与翻倍扩容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66928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52297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入栈。满了就翻倍，所以不会有「栈满溢出」这回事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push(const T&amp; value)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(size_ == capacity_) grow();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data_[size_] = value;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++size_;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出栈并带回元素。空栈返回空 optional，不是错误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std::optional&lt;T&gt; pop()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(empty()) return std::nullopt;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--size_;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data_[size_];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std::optional&lt;T&gt; top() const {       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只看不弹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(empty()) return std::nullopt;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data_[size_ - 1];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empty() const { return size_ == 0;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clear() { size_ = 0; }          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数组留着接着用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grow()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size_type next = (capacity_ == 0) ? 1 : capacity_ * 2;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T* fresh = new T[next];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(size_type i = 0; i &lt; size_; ++i) fresh[i] = data_[i];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delete[] data_;  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先搬完再释放旧的，顺序反了就读到已释放内存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data_ = fresh;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capacity_ = next;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960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grow() 的四步顺序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1353312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1353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129844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15270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new T[2·cap]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355080" y="1920240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5508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186537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搬运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20939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逐个复制旧元素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55080" y="2487168"/>
            <a:ext cx="329184" cy="3291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55080" y="2487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243230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266090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delete[] 旧数组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55080" y="3054096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55080" y="3054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766560" y="29992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接管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766560" y="32278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data_ = fresh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55080" y="361188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6E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92240" y="37033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顺序写反会怎样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399592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先释放再搬 = 读已经还回去的内存，ASan 当场报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heap-use-after-free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顺序栈 · 关键要点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 1–2：空状态用 optional；资源类要守三法则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77640" cy="3611880"/>
          </a:xfrm>
          <a:prstGeom prst="roundRect">
            <a:avLst>
              <a:gd name="adj" fmla="val 2025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143000"/>
            <a:ext cx="384048" cy="38404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170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空栈 pop / top 返回空 optional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645920"/>
            <a:ext cx="365760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std::optional&lt;T&gt;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把「有没有值」搬进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，取值前必须先判断。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空栈不是错误，是可预期的状态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返回空盒子，不抛异常。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真正的错误（参数非法、容量溢出）才抛异常。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3611880" cy="1097280"/>
          </a:xfrm>
          <a:prstGeom prst="roundRect">
            <a:avLst>
              <a:gd name="adj" fmla="val 6667"/>
            </a:avLst>
          </a:prstGeom>
          <a:solidFill>
            <a:srgbClr val="F1F4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3232" y="3429000"/>
            <a:ext cx="3465576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(auto v = stack.pop())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use(*v);       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有值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/* 空栈：正常分支 */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3977640" cy="3611880"/>
          </a:xfrm>
          <a:prstGeom prst="roundRect">
            <a:avLst>
              <a:gd name="adj" fmla="val 2025"/>
            </a:avLst>
          </a:prstGeom>
          <a:solidFill>
            <a:srgbClr val="F1F4F2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1143000"/>
            <a:ext cx="384048" cy="38404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9204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1170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三法则（Rule of Three）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1645920"/>
            <a:ext cx="365760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自己写了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析构 / 拷贝构造 / 拷贝赋值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中的任意一个，通常三个都得写。你写析构是因为在管资源；在管资源，编译器「逐成员照抄」的拷贝就一定是错的。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983480" y="297180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983480" y="297180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 A.data_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83480" y="384048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983480" y="384048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 B.data_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86600" y="3401568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86600" y="34015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70648" y="3401568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70648" y="34015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854696" y="3401568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54696" y="34015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3136392"/>
            <a:ext cx="868680" cy="41148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V="1">
            <a:off x="6217920" y="3593592"/>
            <a:ext cx="868680" cy="41148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6400800" y="40690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浅拷贝：析构两次 → double free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顺序栈 · 关键要点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 3：翻倍扩容让 push 的摊还代价保持 O(1)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grow()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每次把容量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乘 2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，而不是加 1。差别不是常数——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977640" cy="2011680"/>
          </a:xfrm>
          <a:prstGeom prst="roundRect">
            <a:avLst>
              <a:gd name="adj" fmla="val 3636"/>
            </a:avLst>
          </a:prstGeom>
          <a:solidFill>
            <a:srgbClr val="FDF0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 +1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+ 2 + ⋯ + n = O(n²)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3317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499,500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push 1000 个元素的总搬运次数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1417320"/>
            <a:ext cx="3977640" cy="2011680"/>
          </a:xfrm>
          <a:prstGeom prst="roundRect">
            <a:avLst>
              <a:gd name="adj" fmla="val 3636"/>
            </a:avLst>
          </a:prstGeom>
          <a:solidFill>
            <a:srgbClr val="EAF4E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9204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 ×2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+ 2 + 4 + ⋯ + n &lt; 2n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23317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1,023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push 1000 个元素的总搬运次数（容量从 1 起翻倍）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6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37033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摊还分析一句话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399592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翻倍时总搬运 &lt; 2n，平摊到每次 push 就是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常数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。每个元素在均摊意义下只被搬运常数次——偶尔一次 O(n) 的 grow 被之前大量 O(1) 的 push「预付」了。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顺序栈 · 关键要点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 4–5：new T[n] 的限制；容器里一个 cout 都没有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77640" cy="3611880"/>
          </a:xfrm>
          <a:prstGeom prst="roundRect">
            <a:avLst>
              <a:gd name="adj" fmla="val 2025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143000"/>
            <a:ext cx="384048" cy="38404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170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new T[n] 会默认构造整块槽位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645920"/>
            <a:ext cx="36576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T[n]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把 n 个槽位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全部默认构造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出来。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 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必须能默认构造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——只有带参构造函数的类放不进这个栈。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工程版（modern.hpp）用未初始化内存 + 定位构造解决，并补齐移动语义、强异常保证。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1F4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3232" y="3566160"/>
            <a:ext cx="3465576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Point { Point(int, int); };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ArrayStack&lt;Point&gt; s;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编译错误：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没有 Point()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3977640" cy="3611880"/>
          </a:xfrm>
          <a:prstGeom prst="roundRect">
            <a:avLst>
              <a:gd name="adj" fmla="val 2025"/>
            </a:avLst>
          </a:prstGeom>
          <a:solidFill>
            <a:srgbClr val="F1F4F2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1143000"/>
            <a:ext cx="384048" cy="38404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9204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1170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数据结构负责数据结构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报错交给调用方。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92040" y="2103120"/>
            <a:ext cx="36118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D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0" y="21031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可预期的空状态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12280" y="2249424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12280" y="224942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 optional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2880360"/>
            <a:ext cx="36118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DD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0" y="2880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调用方的错误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12280" y="3026664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12280" y="30266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抛异常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92040" y="3657600"/>
            <a:ext cx="36118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DD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29200" y="36576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容器内部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12280" y="3803904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812280" y="380390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 I/O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链式栈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链式栈：栈顶就是链表的第一个结点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4848"/>
            </a:avLst>
          </a:prstGeom>
          <a:solidFill>
            <a:srgbClr val="F1F4F2"/>
          </a:solidFill>
          <a:ln/>
        </p:spPr>
      </p:sp>
      <p:pic>
        <p:nvPicPr>
          <p:cNvPr id="8" name="Image 0" descr="fig-3-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22" y="1097280"/>
            <a:ext cx="6821557" cy="13258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697480"/>
            <a:ext cx="512064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结点分散在堆上，压栈只是接一个新结点——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不需要连续空间，也没有「栈满」这回事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在链头插入、</a:t>
            </a:r>
            <a:r>
              <a:rPr lang="en-US" sz="12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删链头，两者都是 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O(1)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反过来把栈顶放在链尾？每次都得从头走到尾，退化成 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O(n)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代价：每个元素多一根指针（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结构性开销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，64 位机上 8 字节）。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806440" y="2697480"/>
            <a:ext cx="2880360" cy="1920240"/>
          </a:xfrm>
          <a:prstGeom prst="roundRect">
            <a:avLst>
              <a:gd name="adj" fmla="val 3810"/>
            </a:avLst>
          </a:prstGeom>
          <a:solidFill>
            <a:srgbClr val="FFF6E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4360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刻意保持接口一致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943600" y="3081528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LinkedStack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的接口形状与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ArrayStack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完全一样——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 ADT，换一种存储结构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，两者才好拿来对比。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构造函数没有参数：链式栈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不需要预设容量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链式栈 · 教学版 teaching.hpp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push / pop / clear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12064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497433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LinkedStack() : top_(nullptr), size_(0) {}   </a:t>
            </a: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不需要预设容量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~LinkedStack() { clear(); }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造新结点，让它指向原栈顶，再让栈顶指向它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push(const T&amp; value) {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Node* fresh = new Node;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fresh-&gt;value = value;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fresh-&gt;next = top_;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top_ = fresh;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++size_;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摘下栈顶结点，取走值，再释放它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std::optional&lt;T&gt; pop() {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(empty()) return std::nullopt;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Node* dying = top_;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 value = dying-&gt;value;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top_ = dying-&gt;next;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delete dying;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--size_;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value;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empty() const { return top_ == nullptr; }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逐个释放结点。用循环，不要用递归！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clear() {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(top_ != nullptr) {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Node* dying = top_; top_ = top_-&gt;next; delete dying;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size_ = 0;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20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push(x) 三步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06440" y="187452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06440" y="187452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top_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12280" y="1417320"/>
            <a:ext cx="502920" cy="365760"/>
          </a:xfrm>
          <a:prstGeom prst="rect">
            <a:avLst/>
          </a:prstGeom>
          <a:solidFill>
            <a:srgbClr val="CDEBD9"/>
          </a:solidFill>
          <a:ln w="15240">
            <a:solidFill>
              <a:srgbClr val="2E9E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12280" y="14173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12280" y="2286000"/>
            <a:ext cx="457200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1228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69480" y="2468880"/>
            <a:ext cx="18288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52360" y="2286000"/>
            <a:ext cx="457200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5236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09560" y="2468880"/>
            <a:ext cx="18288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92440" y="2286000"/>
            <a:ext cx="457200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9244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059168" y="1783080"/>
            <a:ext cx="0" cy="502920"/>
          </a:xfrm>
          <a:prstGeom prst="line">
            <a:avLst/>
          </a:prstGeom>
          <a:noFill/>
          <a:ln w="1905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7132320" y="1874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next = top_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 flipV="1">
            <a:off x="6446520" y="1600200"/>
            <a:ext cx="365760" cy="365760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5806440" y="2743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top_ = fresh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806440" y="3017520"/>
            <a:ext cx="2880360" cy="1645920"/>
          </a:xfrm>
          <a:prstGeom prst="roundRect">
            <a:avLst>
              <a:gd name="adj" fmla="val 4444"/>
            </a:avLst>
          </a:prstGeom>
          <a:solidFill>
            <a:srgbClr val="FFF6E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943600" y="31089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clear() 必须用循环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0" y="3401568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链式结构最自然的写法是递归释放，但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深链会耗尽运行栈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。教学版测试压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 万个结点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再整体析构；换成递归释放，AddressSanitizer 当场报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stack-overflow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链式栈 · 教学版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三法则同样适用：copy_from 保持「顶 → 底」次序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12064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497433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LinkedStack(const LinkedStack&amp; other) : top_(nullptr), size_(0)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copy_from(other);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LinkedStack&amp; operator=(const LinkedStack&amp; other)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(this == &amp;other) return *this;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clear();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copy_from(other);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*this;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从原栈的顶开始走，每次把新结点接到上一个新结点后面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copy_from(const LinkedStack&amp; other)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Node** tail = &amp;top_; 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指向「下一个新结点该挂在哪」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(Node* source = other.top_; source != nullptr;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source = source-&gt;next)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Node* fresh = new Node;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fresh-&gt;value = source-&gt;value;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fresh-&gt;next = nullptr;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*tail = fresh;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tail = &amp;fresh-&gt;next;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++size_;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806440" y="960120"/>
            <a:ext cx="2880360" cy="2331720"/>
          </a:xfrm>
          <a:prstGeom prst="roundRect">
            <a:avLst>
              <a:gd name="adj" fmla="val 3137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0" y="1051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Node** tail 技巧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16168" y="1344168"/>
            <a:ext cx="2660904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指向的是「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指针变量本身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」：一开始是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top_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，之后是上一个结点的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于是「挂第一个结点」和「挂后续结点」写法完全相同，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不用特判空链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如果逐个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，得到的栈次序会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颠倒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06440" y="3429000"/>
            <a:ext cx="2880360" cy="1234440"/>
          </a:xfrm>
          <a:prstGeom prst="roundRect">
            <a:avLst>
              <a:gd name="adj" fmla="val 5926"/>
            </a:avLst>
          </a:prstGeom>
          <a:solidFill>
            <a:srgbClr val="FDF0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0" y="3520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原书缺陷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381304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lnkStack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有析构函数却没有拷贝构造和拷贝赋值——与顺序栈是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同一个错误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：两个栈共享结点，二次释放。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链式栈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对着顺序栈看：三处差别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" y="1353312"/>
            <a:ext cx="457200" cy="45720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1612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 capacity，也没有 grow()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150876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链式栈不需要连续空间，压多少个都不用扩容。顺序栈那一节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大半篇幅在讲扩容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，这里整段消失了。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2542032"/>
            <a:ext cx="457200" cy="457200"/>
          </a:xfrm>
          <a:prstGeom prst="ellipse">
            <a:avLst/>
          </a:prstGeom>
          <a:solidFill>
            <a:srgbClr val="A06A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3500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代价在别处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26974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每个元素多带一根 </a:t>
            </a:r>
            <a:r>
              <a:rPr lang="en-US" sz="12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指针（64 位机 8 字节）；结点分散在堆上，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缓存局部性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不如连续数组。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" y="3730752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53872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clear() 用循环，不用递归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388620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递归释放是最自然的写法，但深链会耗尽运行栈。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 万结点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的测试专门为这条兜底。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表达式求值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栈的应用 &amp; 表达式的形式化定义（BNF）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只要满足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后进先出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，都可以用栈：网页访问历史、编辑器 undo、函数调用地址与参数保存、二叉树深度优先周游……表达式求值是编译器最基本的问题之一。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5394960" cy="420624"/>
          </a:xfrm>
          <a:prstGeom prst="roundRect">
            <a:avLst>
              <a:gd name="adj" fmla="val 17391"/>
            </a:avLst>
          </a:prstGeom>
          <a:solidFill>
            <a:srgbClr val="E3EEE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153619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&lt;表达式&gt;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572768" y="153619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&lt;项&gt; + &lt;项&gt; | &lt;项&gt; - &lt;项&gt; | &lt;项&gt;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" y="2011680"/>
            <a:ext cx="5065776" cy="420624"/>
          </a:xfrm>
          <a:prstGeom prst="roundRect">
            <a:avLst>
              <a:gd name="adj" fmla="val 17391"/>
            </a:avLst>
          </a:prstGeom>
          <a:solidFill>
            <a:srgbClr val="CFE0D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01168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&lt;项&gt;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2011680"/>
            <a:ext cx="3877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&lt;因子&gt; * &lt;因子&gt; | &lt;因子&gt; / &lt;因子&gt; | &lt;因子&gt;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86384" y="2487168"/>
            <a:ext cx="4736592" cy="420624"/>
          </a:xfrm>
          <a:prstGeom prst="roundRect">
            <a:avLst>
              <a:gd name="adj" fmla="val 17391"/>
            </a:avLst>
          </a:prstGeom>
          <a:solidFill>
            <a:srgbClr val="E3EEE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6112" y="248716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&lt;因子&gt;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901952" y="2487168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&lt;常数&gt; | ( &lt;表达式&gt; 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50976" y="2962656"/>
            <a:ext cx="4407408" cy="420624"/>
          </a:xfrm>
          <a:prstGeom prst="roundRect">
            <a:avLst>
              <a:gd name="adj" fmla="val 17391"/>
            </a:avLst>
          </a:prstGeom>
          <a:solidFill>
            <a:srgbClr val="CFE0D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60704" y="296265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&lt;常数&gt;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066544" y="2962656"/>
            <a:ext cx="3218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&lt;数字&gt; | &lt;数字&gt; &lt;常数&gt;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115568" y="3438144"/>
            <a:ext cx="4078224" cy="420624"/>
          </a:xfrm>
          <a:prstGeom prst="roundRect">
            <a:avLst>
              <a:gd name="adj" fmla="val 17391"/>
            </a:avLst>
          </a:prstGeom>
          <a:solidFill>
            <a:srgbClr val="E3EEE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225296" y="343814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&lt;数字&gt;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231136" y="3438144"/>
            <a:ext cx="2889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| 1 | 2 | … | 9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80760" y="155448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1F4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217920" y="1627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三个符号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172200" y="1965960"/>
            <a:ext cx="24688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::=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读作「定义为」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读作「或者」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&gt;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一个语法成分（分类标签）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0632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层级越深，绑定越紧：括号 &gt; 乘除 &gt; 加减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959352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6E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94360" y="405079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核心思想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94360" y="43434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把算式拆成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表达式(加减) → 项(乘除) → 因子(括号和数字)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三个层级，机器在语法上自然实现「先算括号，再算乘除，最后算加减」。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表达式求值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实战拆解：计算机如何看懂 (1 + 2) * 3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24712"/>
            <a:ext cx="365760" cy="365760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124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0120" y="1051560"/>
            <a:ext cx="1737360" cy="512064"/>
          </a:xfrm>
          <a:prstGeom prst="roundRect">
            <a:avLst>
              <a:gd name="adj" fmla="val 14286"/>
            </a:avLst>
          </a:prstGeom>
          <a:solidFill>
            <a:srgbClr val="1E3D3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105156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+ 2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105156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1、2 是 &lt;常数&gt; → &lt;因子&gt; → &lt;项&gt;；&lt;项&gt; + &lt;项&gt; 组成 &lt;表达式&gt;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728216"/>
            <a:ext cx="365760" cy="365760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1728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0120" y="1655064"/>
            <a:ext cx="1737360" cy="512064"/>
          </a:xfrm>
          <a:prstGeom prst="roundRect">
            <a:avLst>
              <a:gd name="adj" fmla="val 14286"/>
            </a:avLst>
          </a:prstGeom>
          <a:solidFill>
            <a:srgbClr val="1E3D3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1655064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(1 + 2)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834640" y="165506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 ( &lt;表达式&gt; ) → 变成一个 &lt;因子&gt;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331720"/>
            <a:ext cx="365760" cy="365760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60120" y="2258568"/>
            <a:ext cx="1737360" cy="512064"/>
          </a:xfrm>
          <a:prstGeom prst="roundRect">
            <a:avLst>
              <a:gd name="adj" fmla="val 14286"/>
            </a:avLst>
          </a:prstGeom>
          <a:solidFill>
            <a:srgbClr val="1E3D3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0120" y="225856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834640" y="225856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&lt;常数&gt;，也是一个 &lt;因子&gt;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935224"/>
            <a:ext cx="365760" cy="365760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2935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60120" y="2862072"/>
            <a:ext cx="1737360" cy="512064"/>
          </a:xfrm>
          <a:prstGeom prst="roundRect">
            <a:avLst>
              <a:gd name="adj" fmla="val 14286"/>
            </a:avLst>
          </a:prstGeom>
          <a:solidFill>
            <a:srgbClr val="1E3D3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60120" y="286207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(1 + 2) * 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2834640" y="2862072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&lt;因子&gt; * &lt;因子&gt; → 一个 &lt;项&gt;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538728"/>
            <a:ext cx="365760" cy="365760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57200" y="3538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0120" y="3465576"/>
            <a:ext cx="1737360" cy="512064"/>
          </a:xfrm>
          <a:prstGeom prst="roundRect">
            <a:avLst>
              <a:gd name="adj" fmla="val 14286"/>
            </a:avLst>
          </a:prstGeom>
          <a:solidFill>
            <a:srgbClr val="1E3D3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0120" y="346557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2834640" y="3465576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 &lt;项&gt; 本身就是合法的 &lt;表达式&gt; ✓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35040" y="105156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F1F4F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172200" y="1115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语法树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949440" y="1463040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CFE0D8"/>
          </a:solidFill>
          <a:ln w="10160">
            <a:solidFill>
              <a:srgbClr val="3E7C6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949440" y="1463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表达式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949440" y="1965960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CFE0D8"/>
          </a:solidFill>
          <a:ln w="10160">
            <a:solidFill>
              <a:srgbClr val="3E7C6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949440" y="19659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63640" y="2514600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CFE0D8"/>
          </a:solidFill>
          <a:ln w="10160">
            <a:solidFill>
              <a:srgbClr val="3E7C6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263640" y="25146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因子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086600" y="2514600"/>
            <a:ext cx="548640" cy="292608"/>
          </a:xfrm>
          <a:prstGeom prst="roundRect">
            <a:avLst>
              <a:gd name="adj" fmla="val 18750"/>
            </a:avLst>
          </a:prstGeom>
          <a:solidFill>
            <a:srgbClr val="FFF6E0"/>
          </a:solidFill>
          <a:ln w="10160">
            <a:solidFill>
              <a:srgbClr val="3E7C6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086600" y="25146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726680" y="2514600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CFE0D8"/>
          </a:solidFill>
          <a:ln w="10160">
            <a:solidFill>
              <a:srgbClr val="3E7C6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726680" y="25146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因子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144768" y="3063240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CFE0D8"/>
          </a:solidFill>
          <a:ln w="10160">
            <a:solidFill>
              <a:srgbClr val="3E7C6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144768" y="306324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 表达式 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726680" y="3063240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FFF6E0"/>
          </a:solidFill>
          <a:ln w="10160">
            <a:solidFill>
              <a:srgbClr val="3E7C6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726680" y="30632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263640" y="3611880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FFF6E0"/>
          </a:solidFill>
          <a:ln w="10160">
            <a:solidFill>
              <a:srgbClr val="3E7C6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263640" y="36118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+ 2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360920" y="1755648"/>
            <a:ext cx="0" cy="210312"/>
          </a:xfrm>
          <a:prstGeom prst="line">
            <a:avLst/>
          </a:prstGeom>
          <a:noFill/>
          <a:ln w="12700">
            <a:solidFill>
              <a:srgbClr val="3E7C6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H="1">
            <a:off x="6675120" y="2258568"/>
            <a:ext cx="685800" cy="256032"/>
          </a:xfrm>
          <a:prstGeom prst="line">
            <a:avLst/>
          </a:prstGeom>
          <a:noFill/>
          <a:ln w="12700">
            <a:solidFill>
              <a:srgbClr val="3E7C6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360920" y="2258568"/>
            <a:ext cx="0" cy="256032"/>
          </a:xfrm>
          <a:prstGeom prst="line">
            <a:avLst/>
          </a:prstGeom>
          <a:noFill/>
          <a:ln w="12700">
            <a:solidFill>
              <a:srgbClr val="3E7C6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60920" y="2258568"/>
            <a:ext cx="777240" cy="256032"/>
          </a:xfrm>
          <a:prstGeom prst="line">
            <a:avLst/>
          </a:prstGeom>
          <a:noFill/>
          <a:ln w="12700">
            <a:solidFill>
              <a:srgbClr val="3E7C6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75120" y="2807208"/>
            <a:ext cx="0" cy="256032"/>
          </a:xfrm>
          <a:prstGeom prst="line">
            <a:avLst/>
          </a:prstGeom>
          <a:noFill/>
          <a:ln w="12700">
            <a:solidFill>
              <a:srgbClr val="3E7C6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138160" y="2807208"/>
            <a:ext cx="0" cy="256032"/>
          </a:xfrm>
          <a:prstGeom prst="line">
            <a:avLst/>
          </a:prstGeom>
          <a:noFill/>
          <a:ln w="12700">
            <a:solidFill>
              <a:srgbClr val="3E7C6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675120" y="3355848"/>
            <a:ext cx="0" cy="256032"/>
          </a:xfrm>
          <a:prstGeom prst="line">
            <a:avLst/>
          </a:prstGeom>
          <a:noFill/>
          <a:ln w="12700">
            <a:solidFill>
              <a:srgbClr val="3E7C68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17220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后面用栈求值，走的就是这套拆解逻辑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表达式求值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后缀（逆波兰）表达式：不要括号，不要优先级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中缀 </a:t>
            </a:r>
            <a:r>
              <a:rPr lang="en-US" sz="15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+ (34 × 45) / (5 + 6 + 7)</a:t>
            </a: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⟶  后缀 </a:t>
            </a:r>
            <a:r>
              <a:rPr lang="en-US" sz="15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34 45 * 5 6 + 7 + / +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1F4F2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69164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16916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遇操作数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46120" y="15544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169164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6916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遇操作符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弹出两个，算完再压回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35040" y="15544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1F4F2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169164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17920" y="16916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读到末尾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栈里剩下的唯一元素就是结果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297180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FFF6E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3063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为什么后缀式不需要括号？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355848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运算符出现的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就已经决定了运算次序：每个运算符作用于它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之前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最近的两个「值」。优先级和括号的信息，在转换成后缀式时就被编码进顺序里了。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06440" y="2971800"/>
            <a:ext cx="2880360" cy="1645920"/>
          </a:xfrm>
          <a:prstGeom prst="roundRect">
            <a:avLst>
              <a:gd name="adj" fmla="val 4444"/>
            </a:avLst>
          </a:prstGeom>
          <a:solidFill>
            <a:srgbClr val="1E3D3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89320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989320" y="34290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中缀式给人看，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后缀式给栈算。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表达式求值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逐步求值：23 34 45 * 5 6 + 7 + / +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96112"/>
          <a:ext cx="576072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240280"/>
                <a:gridCol w="1417320"/>
                <a:gridCol w="173736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待处理的后缀表达式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栈（底 → 顶）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进行的运算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23 34 45 * 5 6 + 7 + / +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 45 * 5 6 + 7 + / +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 * 5 6 + 7 + / +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23 34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 5 6 + 7 + / +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23 34 45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 6 + 7 + / +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23 1530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 × 45 = 1530 入栈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 + 7 + / +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23 1530 5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+ 7 + / +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23 1530 5 6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 + / +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23 1530 11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+ 6 = 11 入栈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 / +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23 1530 11 7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 +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23 1530 18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 + 7 = 18 入栈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23 85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1530 / 18 = 85 入栈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 + 85 = 108 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46520" y="932688"/>
            <a:ext cx="2240280" cy="3703320"/>
          </a:xfrm>
          <a:prstGeom prst="roundRect">
            <a:avLst>
              <a:gd name="adj" fmla="val 3265"/>
            </a:avLst>
          </a:prstGeom>
          <a:solidFill>
            <a:srgbClr val="FDF0E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583680" y="10241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第 11 步是考点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1316736"/>
            <a:ext cx="19659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先弹出的 18 是右操作数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，后弹出的 1530 才是左操作数。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减法和除法都不可交换，弹出次序写反：18 / 1530 ≈ 0.0118，结果就错。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表达式求值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evaluate_postfix：弹出次序写进代码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2194560"/>
          </a:xfrm>
          <a:prstGeom prst="roundRect">
            <a:avLst>
              <a:gd name="adj" fmla="val 333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8083296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[[nodiscard]] inline double evaluate_postfix(std::string_view expression)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ArrayStack&lt;double&gt; operands;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auto pop_two = [&amp;operands](double&amp; left, double&amp; right)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(operands.size() &lt; 2)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std::invalid_argument("后缀表达式：操作数不足");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right = *operands.pop();          </a:t>
            </a:r>
            <a:r>
              <a:rPr lang="en-US" sz="10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先弹出的是右操作数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left = *operands.pop();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逐个记号：是数就压栈，是操作符就 pop_two 算完再 push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出错时怎么办？——调用方的错误，抛异常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767328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37673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std::invalid_argument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376732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表达式不合法：操作数不足、无法识别的记号、最后栈里不止一个值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224528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42245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std::domain_error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422452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除零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OJ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表达式求值 · 示例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OJ 24588：后序表达式求值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12064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497433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evaluate_postfix(expression):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stack = []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tokens = expression.split()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token in tokens: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token in '+-*/':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弹出栈顶的两个元素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right_operand = stack.pop()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left_operand = stack.pop()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token == '+':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stack.append(left_operand + right_operand)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elif token == '-':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stack.append(left_operand - right_operand)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elif token == '*':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stack.append(left_operand * right_operand)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elif token == '/':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stack.append(left_operand / right_operand)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stack.append(float(token))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操作数转浮点后入栈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stack[0]                  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栈顶元素就是结果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int(input())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_ in range(n):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print(f"{evaluate_postfix(input()):.2f}")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5806440" y="960120"/>
            <a:ext cx="2880360" cy="1371600"/>
          </a:xfrm>
          <a:prstGeom prst="roundRect">
            <a:avLst>
              <a:gd name="adj" fmla="val 5333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0" y="1051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题意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134416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cs101.openjudge.cn/practice/24588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操作数是整数或小数，运算符 + - * /。「a b c」的值是 (a) c (b)。每行输出保留 2 位小数。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06440" y="2450592"/>
            <a:ext cx="2880360" cy="1143000"/>
          </a:xfrm>
          <a:prstGeom prst="roundRect">
            <a:avLst>
              <a:gd name="adj" fmla="val 6400"/>
            </a:avLst>
          </a:prstGeom>
          <a:solidFill>
            <a:srgbClr val="F1F4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0" y="24963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样例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27432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3.4 +          → 8.40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3.4 + 6 /      → 1.40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3.4 + 6 * 3 +  → 53.40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06440" y="3712464"/>
            <a:ext cx="2880360" cy="950976"/>
          </a:xfrm>
          <a:prstGeom prst="roundRect">
            <a:avLst>
              <a:gd name="adj" fmla="val 7692"/>
            </a:avLst>
          </a:prstGeom>
          <a:solidFill>
            <a:srgbClr val="CFE0D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0" y="380390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4096512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split()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切分记号；先弹 right 后弹 left。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中缀转后缀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调度场算法（Shunting Yard, Dijkstra 1960s）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20624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pic>
        <p:nvPicPr>
          <p:cNvPr id="8" name="Image 0" descr="shun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7046"/>
            <a:ext cx="4023360" cy="304946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892040" y="960120"/>
            <a:ext cx="3794760" cy="3703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上面的求值器有个前提：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表达式已经是后缀式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。可人写出来的是中缀式——中间隔着一步转换。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这一步是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栈最典型的应用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：括号和优先级造成的「先算什么」，全靠一把栈记住。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编译器把算术式变成机器指令，走的就是同一条路。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形象理解：数字直接开进「输出轨道」，运算符先停进「调度场」（运算符栈），等到优先级允许时再开出去。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中缀转后缀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五条规则：从左到右扫描中缀式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694944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遇到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做什么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操作数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直接输出到后缀序列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(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反复弹出并输出，直到遇到 </a:t>
                      </a:r>
                      <a:r>
                        <a:rPr lang="en-US" sz="12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</a:t>
                      </a: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；</a:t>
                      </a:r>
                      <a:r>
                        <a:rPr lang="en-US" sz="12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</a:t>
                      </a: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弹掉但</a:t>
                      </a: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不输出</a:t>
                      </a: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。没遇到 </a:t>
                      </a:r>
                      <a:r>
                        <a:rPr lang="en-US" sz="12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</a:t>
                      </a: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→ 括号不匹配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运算符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当「栈非空 且 栈顶不是 </a:t>
                      </a:r>
                      <a:r>
                        <a:rPr lang="en-US" sz="12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</a:t>
                      </a: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且 </a:t>
                      </a: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栈顶优先级不低于当前</a:t>
                      </a: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」时反复弹出并输出；然后把当前运算符入栈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 扫描结束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栈里剩下的依次弹出输出；若弹出 </a:t>
                      </a:r>
                      <a:r>
                        <a:rPr lang="en-US" sz="12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</a:t>
                      </a: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→ 括号不匹配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CFE0D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40233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优先级约定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43159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为 2，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为 1。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在栈里起「隔板」作用：第④条的循环碰到它就停。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中缀转后缀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逐步转换：23 + (34 * 45) / (5 + 6 + 7)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96112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743200"/>
                <a:gridCol w="1737360"/>
                <a:gridCol w="3017520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记号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规则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运算符栈（底 → 顶）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输出序列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23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23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栈空，入栈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23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入栈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 (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23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 (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23 34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栈顶是 (，入栈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 ( *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23 34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 ( *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23 34 45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)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弹 * 输出，丢 (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23 34 45 *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+ 优先级低，入栈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 /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23 34 45 *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入栈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 / (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23 34 45 *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 / (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 * 5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栈顶是 (，入栈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 / ( +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 * 5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 / ( +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 * 5 6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栈顶 + </a:t>
                      </a:r>
                      <a:r>
                        <a:rPr lang="en-US" sz="8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不低于</a:t>
                      </a: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+，弹出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 / ( +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 * 5 6 +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 / ( +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 5 6 + 7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)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弹 + 输出，丢 (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 /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 5 6 + 7 +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结束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 依次弹出 /、+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23 34 45 * 5 6 + 7 + / +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中缀转后缀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「不低于」三个字是承重的：左结合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</a:t>
            </a:r>
            <a:r>
              <a:rPr lang="en-US" sz="15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1 - 2 - 3</a:t>
            </a:r>
            <a:r>
              <a:rPr lang="en-US" sz="15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，正确答案是左结合的 </a:t>
            </a:r>
            <a:r>
              <a:rPr lang="en-US" sz="15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(1 − 2) − 3 = −4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3977640" cy="2377440"/>
          </a:xfrm>
          <a:prstGeom prst="roundRect">
            <a:avLst>
              <a:gd name="adj" fmla="val 3077"/>
            </a:avLst>
          </a:prstGeom>
          <a:solidFill>
            <a:srgbClr val="EAF4E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栈顶优先级「不低于」当前 → 弹出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011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2 - 3 -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651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(1 − 2) − 3 = −4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同优先级时先把前一个 − 弹出去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463040"/>
            <a:ext cx="3977640" cy="2377440"/>
          </a:xfrm>
          <a:prstGeom prst="roundRect">
            <a:avLst>
              <a:gd name="adj" fmla="val 3077"/>
            </a:avLst>
          </a:prstGeom>
          <a:solidFill>
            <a:srgbClr val="FDF0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9204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写成「高于」才弹出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011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2 3 - -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2651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1 − (2 − 3) = 2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同优先级不弹，变成右结合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F1F4F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30352" y="4069080"/>
            <a:ext cx="524865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(*top == '(' || precedence(*top) &lt; precedence(c))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   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栈顶优先级严格更低才停；相等也要弹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4023360"/>
            <a:ext cx="26517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测试里有一条专门算这个数：把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写成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它立刻变红。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中缀转后缀 · modern.hpp（上）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infix_to_postfix：准备工作与规则 ② ③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5760720" cy="3794760"/>
          </a:xfrm>
          <a:prstGeom prst="roundRect">
            <a:avLst>
              <a:gd name="adj" fmla="val 1928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60120"/>
            <a:ext cx="5614416" cy="3703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[[nodiscard]] inline std::string infix_to_postfix(std::string_view expression)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auto precedence = [](char op) -&gt; int { 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+ - 同级，* / 更高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(op == '*' || op == '/') ? 2 : 1;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std::string output;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ArrayStack&lt;char&gt; operators;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auto emit = [&amp;output](std::string_view token)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(!output.empty()) output.push_back(' ');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记号之间一个空格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output.append(token);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i = 0;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expect_operand = true;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用来把 "-3" 的负号和二元减号区分开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(i &lt; expression.size())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char c = expression[i];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(c == ' ' || c == '\t' || c == '\n') { ++i; continue;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(c == '(') {                               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(2) 入栈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operators.push(c);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expect_operand = true; ++i; continue;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(c == ')') {                               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(3) 弹到左括号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bool matched = false;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while (operators.peek())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const char op = *operators.pop();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(op == '(') { matched = true; break;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emit(std::string_view(&amp;op, 1));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(!matched) throw std::invalid_argument("右括号没有配对的左括号");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expect_operand = false; ++i; continue;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6400800" y="932688"/>
            <a:ext cx="2286000" cy="2331720"/>
          </a:xfrm>
          <a:prstGeom prst="roundRect">
            <a:avLst>
              <a:gd name="adj" fmla="val 3200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0241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三个小工具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10528" y="1316736"/>
            <a:ext cx="2066544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precedence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：只有两级，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不参与比较，单独判断。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：往输出里追加一个记号，自动补空格。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expect_operand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：刚读完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或运算符时为真——此时的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负号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3383280"/>
            <a:ext cx="2286000" cy="1298448"/>
          </a:xfrm>
          <a:prstGeom prst="roundRect">
            <a:avLst>
              <a:gd name="adj" fmla="val 5634"/>
            </a:avLst>
          </a:prstGeom>
          <a:solidFill>
            <a:srgbClr val="FDF0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3474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 ③ 的出错口径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767328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弹空了还没遇到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括号不匹配 → 抛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std::invalid_argument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中缀转后缀 · modern.hpp（下）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infix_to_postfix：规则 ④ ① ⑤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5760720" cy="3794760"/>
          </a:xfrm>
          <a:prstGeom prst="roundRect">
            <a:avLst>
              <a:gd name="adj" fmla="val 1928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60120"/>
            <a:ext cx="5614416" cy="3703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bool is_sign = (c == '-' || c == '+') &amp;&amp; expect_operand;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(!is_sign &amp;&amp; (c == '+' || c == '-' || c == '*' || c == '/')) {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(4)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while (const char* top = operators.peek())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(*top == '(' || precedence(*top) &lt; precedence(c))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break;                 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栈顶严格更低才停：「不低于」就弹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const char op = *operators.pop();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emit(std::string_view(&amp;op, 1));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operators.push(c);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expect_operand = true; ++i; continue;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(1) 操作数。用和 evaluate_postfix 同一套解析，两者才好对拍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std::size_t consumed = 0;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(void)std::stod(std::string(expression.substr(i)), &amp;consumed);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catch (const std::exception&amp;)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std::invalid_argument("无法识别的记号");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emit(expression.substr(i, consumed));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expect_operand = false;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 += consumed;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(const char* top = operators.peek()) {                    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(5)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(*top == '(') throw std::invalid_argument("左括号没有配对的右括号");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char op = *operators.pop();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emit(std::string_view(&amp;op, 1));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(output.empty()) throw std::invalid_argument("空表达式");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output;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6400800" y="932688"/>
            <a:ext cx="2286000" cy="1234440"/>
          </a:xfrm>
          <a:prstGeom prst="roundRect">
            <a:avLst>
              <a:gd name="adj" fmla="val 5926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0241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 ④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1316736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peek()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返回指针：栈空时为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nullptr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自然停下；看栈顶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不拷贝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2286000"/>
            <a:ext cx="2286000" cy="1234440"/>
          </a:xfrm>
          <a:prstGeom prst="roundRect">
            <a:avLst>
              <a:gd name="adj" fmla="val 5926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 ①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67004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std::stod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顺带告诉我们读了几个字符（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consumed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），整数、小数、负数一并处理。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3639312"/>
            <a:ext cx="2286000" cy="1042416"/>
          </a:xfrm>
          <a:prstGeom prst="roundRect">
            <a:avLst>
              <a:gd name="adj" fmla="val 7018"/>
            </a:avLst>
          </a:prstGeom>
          <a:solidFill>
            <a:srgbClr val="FDF0E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37960" y="3730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 ⑤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4023360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栈里剩下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左括号多了，同样抛异常。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中缀转后缀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把两步接起来：这正是转换算法存在的理由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8083296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[[nodiscard]] inline double evaluate_infix(std::string_view expression)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evaluate_postfix(infix_to_postfix(expression));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20299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中缀式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235915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+ (34*45) / (5+6+7)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938528" y="2468880"/>
            <a:ext cx="201168" cy="0"/>
          </a:xfrm>
          <a:prstGeom prst="line">
            <a:avLst/>
          </a:prstGeom>
          <a:noFill/>
          <a:ln w="2540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157984" y="196596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203704" y="20299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infix_to_postfix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2203704" y="235915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运算符栈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39312" y="2468880"/>
            <a:ext cx="201168" cy="0"/>
          </a:xfrm>
          <a:prstGeom prst="line">
            <a:avLst/>
          </a:prstGeom>
          <a:noFill/>
          <a:ln w="2540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858768" y="196596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F1F4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904488" y="20299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后缀式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904488" y="235915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34 45 * 5 6 + 7 + / +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40096" y="2468880"/>
            <a:ext cx="201168" cy="0"/>
          </a:xfrm>
          <a:prstGeom prst="line">
            <a:avLst/>
          </a:prstGeom>
          <a:noFill/>
          <a:ln w="2540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559552" y="196596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1E3D3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05272" y="20299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evaluate_postfix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605272" y="235915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操作数栈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040880" y="2468880"/>
            <a:ext cx="201168" cy="0"/>
          </a:xfrm>
          <a:prstGeom prst="line">
            <a:avLst/>
          </a:prstGeom>
          <a:noFill/>
          <a:ln w="2540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260336" y="196596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F1F4F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06056" y="20299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306056" y="235915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108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20040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94360" y="32918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设计细节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3584448"/>
            <a:ext cx="8010144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expect_operand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标志：期待操作数时遇到的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负号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，否则是二元减号。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操作数用和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evaluate_postfix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同一套解析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std::stod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），两者才好对拍。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peek()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返回指针，看栈顶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不拷贝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；与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pop()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口径互补。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与求值器一样：出错抛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std::invalid_argument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不打印任何东西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OJ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中缀转后缀 · 练习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OJ 24591：中序表达式转后序表达式（number buffer 技巧）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896112"/>
            <a:ext cx="5394960" cy="3813048"/>
          </a:xfrm>
          <a:prstGeom prst="roundRect">
            <a:avLst>
              <a:gd name="adj" fmla="val 1918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41832"/>
            <a:ext cx="5248656" cy="3721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infix_to_postfix(expression):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precedence = {'+':1, '-':1, '*':2, '/':2}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stack = []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postfix = []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number = ''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char in expression: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char.isnumeric() or char == '.':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number += char                    </a:t>
            </a:r>
            <a:r>
              <a:rPr lang="en-US" sz="7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数字字符先攒在缓冲里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number:                        </a:t>
            </a:r>
            <a:r>
              <a:rPr lang="en-US" sz="7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遇到非数字：把攒好的数输出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num = float(number)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postfix.append(int(num) if num.is_integer() else num)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number = ''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char in '+-*/':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while stack and stack[-1] in '+-*/' and \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precedence[char] &lt;= precedence[stack[-1]]: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postfix.append(stack.pop())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stack.append(char)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elif char == '(':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stack.append(char)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elif char == ')':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while stack and stack[-1] != '(':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postfix.append(stack.pop())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stack.pop()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number:                                </a:t>
            </a:r>
            <a:r>
              <a:rPr lang="en-US" sz="7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别忘了最后一个数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num = float(number)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postfix.append(int(num) if num.is_integer() else num)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stack: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postfix.append(stack.pop())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' '.join(str(x) for x in postfix)</a:t>
            </a:r>
            <a:endParaRPr lang="en-US" sz="760" dirty="0"/>
          </a:p>
        </p:txBody>
      </p:sp>
      <p:sp>
        <p:nvSpPr>
          <p:cNvPr id="9" name="Shape 7"/>
          <p:cNvSpPr/>
          <p:nvPr/>
        </p:nvSpPr>
        <p:spPr>
          <a:xfrm>
            <a:off x="6035040" y="932688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72200" y="9875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样例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21615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7+8.3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7 8.3 +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3+4.5*(7+2)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3 4.5 7 2 + * +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(3)*((3+4)*(2+3.5)/(4+5))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3 3 4 + 2 3.5 + * 4 5 + / *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6035040" y="265176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7220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注意点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144768" y="3035808"/>
            <a:ext cx="2432304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输入里数和运算符之间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没有空格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，要自己切分记号。</a:t>
            </a:r>
            <a:endParaRPr lang="en-US" sz="10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：同优先级也弹出（左结合）。</a:t>
            </a:r>
            <a:endParaRPr lang="en-US" sz="10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之后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stack.pop()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丢掉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38404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CFE0D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72200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另一种切分：re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42245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re.split(r'([\(\)\+\-\*\/])', s)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分组让分隔符也留在结果里，再滤掉空串。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栈与递归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递归为什么非要有栈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420624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被调函数的局部变量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不能静态地占一块固定单元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——每调用一次就得有一份，返回时随即释放。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「执行到调用时才分配」叫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动态分配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，需要内存里有一块足够大的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运行栈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栈上一格一格压着的叫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栈帧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（stack frame / 活动记录），至少包含：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返回地址、参数、局部变量、保存的寄存器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调用一次压一格，返回一次弹一格——所以又叫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调用栈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（call stack）。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1874520" cy="3611880"/>
          </a:xfrm>
          <a:prstGeom prst="roundRect">
            <a:avLst>
              <a:gd name="adj" fmla="val 3902"/>
            </a:avLst>
          </a:prstGeom>
          <a:solidFill>
            <a:srgbClr val="F1F4F2"/>
          </a:solidFill>
          <a:ln/>
        </p:spPr>
      </p:sp>
      <p:pic>
        <p:nvPicPr>
          <p:cNvPr id="9" name="Image 0" descr="fig-3-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597211"/>
            <a:ext cx="1691640" cy="1834779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892040" y="39319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运行时存储器：栈区放 LIFO 的函数调用；堆区放 new 出来的对象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812280" y="1005840"/>
            <a:ext cx="1874520" cy="3611880"/>
          </a:xfrm>
          <a:prstGeom prst="roundRect">
            <a:avLst>
              <a:gd name="adj" fmla="val 3902"/>
            </a:avLst>
          </a:prstGeom>
          <a:solidFill>
            <a:srgbClr val="F1F4F2"/>
          </a:solidFill>
          <a:ln/>
        </p:spPr>
      </p:sp>
      <p:pic>
        <p:nvPicPr>
          <p:cNvPr id="12" name="Image 1" descr="fig-3-7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578387"/>
            <a:ext cx="1691640" cy="187242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0" y="39319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活动记录的内容：变量地址都是相对栈顶的相对地址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栈与递归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factorial(4)：递归深度 = 运行栈里的栈帧个数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9496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pic>
        <p:nvPicPr>
          <p:cNvPr id="8" name="Image 0" descr="fig-3-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441" y="1051560"/>
            <a:ext cx="5188479" cy="35204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035040" y="960120"/>
            <a:ext cx="2651760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同一个函数可以在栈上同时有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很多活动记录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，每个代表一次不同的调用。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同一个局部变量在不同层次被分到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不同的存储空间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(a) 逐层调用依次压栈；(b) 到达出口后按压栈的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反序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逐层弹出，把结果一层层交回去。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35040" y="352044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1E3D3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172200" y="3584448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每深一层就多一格活动记录。深度一旦超过栈区大小，程序不是「变慢」，而是</a:t>
            </a: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直接崩</a:t>
            </a: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栈与递归 · 实测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运行栈有多大：三个档位，三种结果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同一份递归源码（每层做一次加法后返回），Linux · gcc 13.3 · </a:t>
            </a:r>
            <a:r>
              <a:rPr lang="en-US" sz="12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ulimit -s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默认 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MB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，逐档加深度：</a:t>
            </a:r>
            <a:endParaRPr lang="en-US" sz="12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3035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1143000"/>
                <a:gridCol w="11430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构建档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 万层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 万层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 万层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-O0（不优化）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段错误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段错误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-O1 + ASan/UBSan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stack-overflow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stack-overflow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-O2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 ?!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6B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989320" y="141732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1E3D3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172200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改成显式栈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172200" y="18288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 万层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2606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三个档位全部通过。数据压进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ArrayStack</a:t>
            </a:r>
            <a:r>
              <a:rPr lang="en-US" sz="11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，也就是放到</a:t>
            </a:r>
            <a:r>
              <a:rPr lang="en-US" sz="1100" b="1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堆上</a:t>
            </a:r>
            <a:r>
              <a:rPr lang="en-US" sz="11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6118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6E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94360" y="37033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读这张表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3995928"/>
            <a:ext cx="8010144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万层三档都过；50 万层 -O0 和 -O1 崩——栈帧大小 × 深度 超过了 8 MB。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-O2 在 100 万层居然通过——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不是因为它栈更大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。下一页揭晓。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栈与递归 · 实测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-O2 为什么不崩：编译器把递归消掉了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8083296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-O0: recursive_sum 函数体内调用自己的次数 = 2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-O2: recursive_sum 函数体内调用自己的次数 = 0     // 已经变成一个循环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78308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查汇编可以确认：-O2 做了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尾调用优化 / 递归转循环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，运行栈深度恒为 1。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3977640" cy="2377440"/>
          </a:xfrm>
          <a:prstGeom prst="roundRect">
            <a:avLst>
              <a:gd name="adj" fmla="val 3077"/>
            </a:avLst>
          </a:prstGeom>
          <a:solidFill>
            <a:srgbClr val="FDF0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教训</a:t>
            </a: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</a:t>
            </a: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「用 -O2 就安全」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788920"/>
            <a:ext cx="365760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尾调用优化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不是标准保证的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：换个编译器、换个写法就没了。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评测机用什么优化档、什么编译器版本——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这两件事你都控制不了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09160" y="2286000"/>
            <a:ext cx="3977640" cy="2377440"/>
          </a:xfrm>
          <a:prstGeom prst="roundRect">
            <a:avLst>
              <a:gd name="adj" fmla="val 3077"/>
            </a:avLst>
          </a:prstGeom>
          <a:solidFill>
            <a:srgbClr val="EAF4E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9204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唯一与版本、评测机都无关的做法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788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改写成显式栈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4892040" y="347472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92040" y="3474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34747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吃运行栈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 8 MB 上限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4005072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92040" y="40050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显式栈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0" y="40050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吃堆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40050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只受内存限制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栈与递归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阶乘的三个版本：递归 / 迭代 / 显式栈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【算法3.6】递归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234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运行栈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03120" y="91440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1F4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176272" y="960120"/>
            <a:ext cx="4059936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factorial_type factorial_recursive(long long n) {</a:t>
            </a:r>
            <a:endParaRPr lang="en-US" sz="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 &lt; 0) throw std::invalid_argument(...);</a:t>
            </a:r>
            <a:endParaRPr lang="en-US" sz="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 &gt; kMaxFactorialInput)   </a:t>
            </a:r>
            <a:r>
              <a:rPr lang="en-US" sz="7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20! 是上限</a:t>
            </a:r>
            <a:endParaRPr lang="en-US" sz="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std::overflow_error(...);</a:t>
            </a:r>
            <a:endParaRPr lang="en-US" sz="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 &lt;= 1) return 1;          </a:t>
            </a:r>
            <a:r>
              <a:rPr lang="en-US" sz="7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递归出口</a:t>
            </a:r>
            <a:endParaRPr lang="en-US" sz="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 * factorial_recursive(n - 1);</a:t>
            </a:r>
            <a:endParaRPr lang="en-US" sz="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【算法3.8】迭代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不用栈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103120" y="201168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1F4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176272" y="2057400"/>
            <a:ext cx="4059936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factorial_type factorial_iterative(long long n) {</a:t>
            </a:r>
            <a:endParaRPr lang="en-US" sz="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7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同样的两道检查</a:t>
            </a:r>
            <a:endParaRPr lang="en-US" sz="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factorial_type m = 1;</a:t>
            </a:r>
            <a:endParaRPr lang="en-US" sz="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(long long i = 2; i &lt;= n; ++i) {</a:t>
            </a:r>
            <a:endParaRPr lang="en-US" sz="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 *= i;</a:t>
            </a:r>
            <a:endParaRPr lang="en-US" sz="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m;</a:t>
            </a:r>
            <a:endParaRPr lang="en-US" sz="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【算法3.9】显式栈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429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03120" y="3108960"/>
            <a:ext cx="4206240" cy="1554480"/>
          </a:xfrm>
          <a:prstGeom prst="roundRect">
            <a:avLst>
              <a:gd name="adj" fmla="val 4706"/>
            </a:avLst>
          </a:prstGeom>
          <a:solidFill>
            <a:srgbClr val="F1F4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176272" y="3154680"/>
            <a:ext cx="4059936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factorial_type factorial_with_explicit_stack(long long n) {</a:t>
            </a:r>
            <a:endParaRPr lang="en-US" sz="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7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同样的两道检查</a:t>
            </a:r>
            <a:endParaRPr lang="en-US" sz="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ArrayStack&lt;factorial_type&gt; pending;</a:t>
            </a:r>
            <a:endParaRPr lang="en-US" sz="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(long long i = n; i &gt; 1; --i)</a:t>
            </a:r>
            <a:endParaRPr lang="en-US" sz="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pending.push(i);           </a:t>
            </a:r>
            <a:r>
              <a:rPr lang="en-US" sz="7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按递归规则压栈</a:t>
            </a:r>
            <a:endParaRPr lang="en-US" sz="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factorial_type m = 1;          </a:t>
            </a:r>
            <a:r>
              <a:rPr lang="en-US" sz="7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递归出口的返回值</a:t>
            </a:r>
            <a:endParaRPr lang="en-US" sz="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(auto top = pending.pop())</a:t>
            </a:r>
            <a:endParaRPr lang="en-US" sz="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 *= *top;                 </a:t>
            </a:r>
            <a:r>
              <a:rPr lang="en-US" sz="7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出栈即「递归返回」</a:t>
            </a:r>
            <a:endParaRPr lang="en-US" sz="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m;</a:t>
            </a:r>
            <a:endParaRPr lang="en-US" sz="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492240" y="914400"/>
            <a:ext cx="2194560" cy="1920240"/>
          </a:xfrm>
          <a:prstGeom prst="roundRect">
            <a:avLst>
              <a:gd name="adj" fmla="val 3810"/>
            </a:avLst>
          </a:prstGeom>
          <a:solidFill>
            <a:srgbClr val="FFF6E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29400" y="1005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差别不在快慢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1298448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显式栈版其实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最慢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。它存在的意义是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演示编译系统处理递归的机制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：遇到递归规则就压栈，遇到递归出口就出栈返回。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92240" y="2926080"/>
            <a:ext cx="2194560" cy="1737360"/>
          </a:xfrm>
          <a:prstGeom prst="roundRect">
            <a:avLst>
              <a:gd name="adj" fmla="val 4211"/>
            </a:avLst>
          </a:prstGeom>
          <a:solidFill>
            <a:srgbClr val="CFE0D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2940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差别在数据放在哪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29400" y="3310128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递归版：返回地址与局部变量在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运行栈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上，受进程栈上限约束。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显式栈版：待处理数据在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上，只受内存约束。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8404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两道检查是原书没有的：负数是定义域错误，溢出是真错误。原书 </a:t>
            </a:r>
            <a:r>
              <a:rPr lang="en-US" sz="8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(n &lt;= 0) return 1;</a:t>
            </a: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把负数静默当 0。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栈与递归 · 背包问题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两条递归规则的例子：子集和判定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能否从若干物品中选出一部分，使重量之和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恰好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等于背包承重 s？  </a:t>
            </a:r>
            <a:r>
              <a:rPr lang="en-US" sz="12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knap(s, n)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：只考虑前 n 件物品。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72184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47218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 1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== 0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有解（什么都不再选）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039112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203911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 2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19842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&lt; 0 或 n == 0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19842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无解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60604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260604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 1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255117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选第 n-1 件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2834640" y="25511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knap(s − w[n−1], n−1)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172968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" y="317296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 2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31181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不选第 n-1 件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2834640" y="311810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knap(s, n−1)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70332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6E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3794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对比阶乘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40873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阶乘只有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递归规则，改写成循环几乎是显然的。背包有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：规则 1 失败后要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再试规则 2——这就需要记住「回来之后该走哪一步」。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141732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F1F4F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828032" y="1463040"/>
            <a:ext cx="3785616" cy="3154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knapsack_recursive(capacity: int,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weights: list[int]) -&gt; list[int] | None: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"""算法3.10：两条递归规则，返回选中物品的下标。"""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_validate(capacity, weights)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chosen: list[int] = []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solve(remaining: int, count: int) -&gt; bool: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remaining == 0: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True                  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出口 1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remaining &lt; 0 or count == 0: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False                 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出口 2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solve(remaining - weights[count - 1], count - 1):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chosen.append(count - 1)     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规则 1：选它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True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solve(remaining, count - 1)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规则 2：不选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chosen if solve(capacity, len(weights)) else None</a:t>
            </a:r>
            <a:endParaRPr lang="en-US" sz="79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栈与递归 · 背包问题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机械改写：把「返回地址」写成栈帧里的 stage 字段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原书的显式栈每帧保存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四个域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；返回地址是关键——它记的是「这一层算完之后该回到哪一步继续」，正是编译器替你做的那件事。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640080" cy="45720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600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参数：剩余承重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640080" cy="45720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057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参数：可选物品数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640080" cy="457200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514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返回地址 → stage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640080" cy="45720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2971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971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结果单元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474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一个栈帧</a:t>
            </a:r>
            <a:endParaRPr lang="en-US" sz="9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08960" y="1600200"/>
          <a:ext cx="55778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23444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原书 goto 标签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本书 stage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label0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Enter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递归调用入口：判出口，否则按规则 1 展开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label1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AfterRule1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规则 1（选第 n-1 件）返回后的处理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label2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AfterRule2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规则 2（不选第 n-1 件）返回后的处理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3108960" y="3566160"/>
            <a:ext cx="5577840" cy="1097280"/>
          </a:xfrm>
          <a:prstGeom prst="roundRect">
            <a:avLst>
              <a:gd name="adj" fmla="val 6667"/>
            </a:avLst>
          </a:prstGeom>
          <a:solidFill>
            <a:srgbClr val="FFF6E0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3246120" y="36576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为什么不用 goto？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3246120" y="395020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goto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跳进跳出会让编译器无法保证局部对象的构造与析构配对——在有 RAII 的 C++ 里不能这么写。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字段与标签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语义完全对应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74904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CFE0D8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94360" y="3840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提到栈外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94360" y="41330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child_result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充当 CPU 的「返回值寄存器」（如 RAX）。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栈与递归 · 背包问题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【算法3.11】显式栈驱动（Python 版）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6035040" cy="3749040"/>
          </a:xfrm>
          <a:prstGeom prst="roundRect">
            <a:avLst>
              <a:gd name="adj" fmla="val 195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5888736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knapsack_with_explicit_stack(capacity, weights):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_validate(capacity, weights)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enter, after_rule1, after_rule2 = range(3)   </a:t>
            </a: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模拟「返回地址」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stack = [(capacity, len(weights), enter)]    </a:t>
            </a: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帧 = (remaining, count, stage)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chosen = []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child_result = False                         </a:t>
            </a: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模拟「返回值寄存器」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stack: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remaining, count, stage = stack.pop()    </a:t>
            </a: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恢复该层全部局部变量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stage == enter: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remaining == 0: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child_result = True              </a:t>
            </a: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出口 1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elif remaining &lt; 0 or count == 0: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child_result = False             </a:t>
            </a: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出口 2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else: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stack.append((remaining, count, after_rule1))   </a:t>
            </a: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保存断点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stack.append((remaining - weights[count - 1], count - 1, enter))  </a:t>
            </a: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子调用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stage == after_rule1: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child_result: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chosen.append(count - 1)         </a:t>
            </a: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规则 1 成功：选中它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else:                                </a:t>
            </a: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失败：回溯，改用规则 2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stack.append((remaining, count, after_rule2))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stack.append((remaining, count - 1, enter))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after_rule2：结果已在 child_result 里，原样上传，无需代码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chosen if child_result else None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6675120" y="932688"/>
            <a:ext cx="2011680" cy="2514600"/>
          </a:xfrm>
          <a:prstGeom prst="roundRect">
            <a:avLst>
              <a:gd name="adj" fmla="val 3636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12280" y="1024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每次「调用」压两帧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784848" y="1316736"/>
            <a:ext cx="1792224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先压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断点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：自己带着下一步的 stage；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再压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子调用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：stage = enter。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子调用先出栈执行；结束后弹出的正是断点——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LIFO 恰好还原了调用/返回的次序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75120" y="3566160"/>
            <a:ext cx="2011680" cy="1115568"/>
          </a:xfrm>
          <a:prstGeom prst="roundRect">
            <a:avLst>
              <a:gd name="adj" fmla="val 6557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12280" y="3657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版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395020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class Stage { Enter, AfterRule1, AfterRule2 };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Frame { int s; size_t n; Stage stage; };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栈与递归 · 背包问题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【算法3.12】优化：让每层要记的东西更少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栈帧：4 个域  →  2 个域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914400" cy="5029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463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463040" y="1463040"/>
            <a:ext cx="914400" cy="502920"/>
          </a:xfrm>
          <a:prstGeom prst="rect">
            <a:avLst/>
          </a:prstGeom>
          <a:solidFill>
            <a:srgbClr val="F4F4F4"/>
          </a:solidFill>
          <a:ln w="12700">
            <a:solidFill>
              <a:srgbClr val="BBBBBB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1463040" y="1463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600200" y="1714500"/>
            <a:ext cx="64008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1463040"/>
            <a:ext cx="914400" cy="5029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68880" y="1463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74720" y="1463040"/>
            <a:ext cx="914400" cy="502920"/>
          </a:xfrm>
          <a:prstGeom prst="rect">
            <a:avLst/>
          </a:prstGeom>
          <a:solidFill>
            <a:srgbClr val="F4F4F4"/>
          </a:solidFill>
          <a:ln w="12700">
            <a:solidFill>
              <a:srgbClr val="BBBBBB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3474720" y="1463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11880" y="1714500"/>
            <a:ext cx="64008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19456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F1F4F2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304288"/>
            <a:ext cx="347472" cy="347472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2286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结果单元 k 提到栈外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606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一旦某层为 true 就逐层上传且不再变化 → 一个函数级变量即可。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42900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F1F4F2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3538728"/>
            <a:ext cx="347472" cy="347472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3538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520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 n 由栈深推出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8404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每递归一层 n 减 1、栈深加 1，所以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= n₀ − 栈深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（栈深 = 压在这一帧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下面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的帧数）。只需维护一个 depth 计数器。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96012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1F4F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736592" y="1005840"/>
            <a:ext cx="3877056" cy="2423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 = [(capacity, enter)]  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帧只剩两个域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 = len(weights)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depth = 1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stack: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remaining, stage = stack.pop()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depth -= 1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= size - depth     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 由栈深推出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stage == enter: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...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stack.append((remaining, after_rule1))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stack.append((remaining - weights[count-1],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enter))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depth += 2           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压了两帧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stage == after_rule1: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...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36118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1E3D3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846320" y="365760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这才是真正的「优化」：不是跑得更快，而是想清楚</a:t>
            </a: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每一层到底需要记住什么</a:t>
            </a: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——这正是编译器替你想过的问题。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 Queue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一端进、另一端出 · 先进先出 FIFO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顺序队列 · 假溢出 · 循环队列 · 链式队列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队列 · 抽象数据类型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队列：一端插入，另一端删除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0" y="1234440"/>
            <a:ext cx="566928" cy="45720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28800" y="123444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a₁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95728" y="1234440"/>
            <a:ext cx="566928" cy="45720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95728" y="123444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62656" y="1234440"/>
            <a:ext cx="566928" cy="45720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62656" y="123444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a₃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29584" y="1234440"/>
            <a:ext cx="566928" cy="45720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29584" y="123444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096512" y="1234440"/>
            <a:ext cx="566928" cy="45720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96512" y="123444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a₅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1289304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20040" y="128930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出队 dequeue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627632" y="1463040"/>
            <a:ext cx="182880" cy="0"/>
          </a:xfrm>
          <a:prstGeom prst="line">
            <a:avLst/>
          </a:prstGeom>
          <a:noFill/>
          <a:ln w="25400">
            <a:solidFill>
              <a:srgbClr val="A06A00"/>
            </a:solidFill>
            <a:prstDash val="solid"/>
            <a:headEnd type="triangle"/>
          </a:ln>
        </p:spPr>
      </p:sp>
      <p:sp>
        <p:nvSpPr>
          <p:cNvPr id="20" name="Shape 18"/>
          <p:cNvSpPr/>
          <p:nvPr/>
        </p:nvSpPr>
        <p:spPr>
          <a:xfrm>
            <a:off x="4681728" y="1463040"/>
            <a:ext cx="182880" cy="0"/>
          </a:xfrm>
          <a:prstGeom prst="line">
            <a:avLst/>
          </a:prstGeom>
          <a:noFill/>
          <a:ln w="25400">
            <a:solidFill>
              <a:srgbClr val="3E7C68"/>
            </a:solidFill>
            <a:prstDash val="solid"/>
            <a:headEnd type="triangle"/>
          </a:ln>
        </p:spPr>
      </p:sp>
      <p:sp>
        <p:nvSpPr>
          <p:cNvPr id="21" name="Shape 19"/>
          <p:cNvSpPr/>
          <p:nvPr/>
        </p:nvSpPr>
        <p:spPr>
          <a:xfrm>
            <a:off x="4892040" y="1289304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92040" y="128930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入队 enqueue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828800" y="1737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队头 front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3566160" y="1737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队尾 rear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2148840"/>
            <a:ext cx="566928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只允许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的一端叫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队头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（front），删除叫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出队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只允许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的一端叫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队尾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（rear），插入叫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入队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按到达顺序释放元素 → 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先进先出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（FIFO）。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售票窗口前排队买票，就是日常版的队列。</a:t>
            </a:r>
            <a:endParaRPr lang="en-US" sz="125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005840"/>
          <a:ext cx="23774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clear()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变为空队列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enqueue(item)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插入队尾，成功返回真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dequeue()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返回并删除队头（optional）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front()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返回队头不删除（optional）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empty()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队列已空则返回真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06A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full()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仅顺序实现才有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7" name="Text 24"/>
          <p:cNvSpPr txBox="1"/>
          <p:nvPr/>
        </p:nvSpPr>
        <p:spPr>
          <a:xfrm>
            <a:off x="6309360" y="3840480"/>
            <a:ext cx="23774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根据应用需要</a:t>
            </a: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适当增删运算</a:t>
            </a:r>
            <a:r>
              <a:rPr lang="en-US" sz="1050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：链式队列不需要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full()</a:t>
            </a:r>
            <a:r>
              <a:rPr lang="en-US" sz="1050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队列 · 顺序队列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为什么两头都不能固定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两头都要动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：入队动队尾，出队动队头。沿用顺序表的实现方法会怎样？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FDF0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队尾固定在位置 0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出队 O(1)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3317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入队要把所有元素后移一位 O(n)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FDF0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10712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队尾固定在位置 n−1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410712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入队 O(1)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10712" y="23317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出队要移动剩余 n−1 个元素 O(n)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141732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EAF4E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99632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两头都别固定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199632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入队 O(1)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199632" y="23317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出队 O(1)：front、rear 都往后走，元素一个都不搬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5844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新问题：队列整体向数组尾部「漂移」——假溢出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297680"/>
            <a:ext cx="475488" cy="384048"/>
          </a:xfrm>
          <a:prstGeom prst="rect">
            <a:avLst/>
          </a:prstGeom>
          <a:solidFill>
            <a:srgbClr val="F4F4F4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" y="4297680"/>
            <a:ext cx="475488" cy="384048"/>
          </a:xfrm>
          <a:prstGeom prst="rect">
            <a:avLst/>
          </a:prstGeom>
          <a:solidFill>
            <a:srgbClr val="F4F4F4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99616" y="4297680"/>
            <a:ext cx="475488" cy="384048"/>
          </a:xfrm>
          <a:prstGeom prst="rect">
            <a:avLst/>
          </a:prstGeom>
          <a:solidFill>
            <a:srgbClr val="F4F4F4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75104" y="4297680"/>
            <a:ext cx="475488" cy="384048"/>
          </a:xfrm>
          <a:prstGeom prst="rect">
            <a:avLst/>
          </a:prstGeom>
          <a:solidFill>
            <a:srgbClr val="F4F4F4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50592" y="4297680"/>
            <a:ext cx="475488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450592" y="429768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926080" y="4297680"/>
            <a:ext cx="475488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926080" y="429768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401568" y="4297680"/>
            <a:ext cx="475488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401568" y="429768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2231136" y="39136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688336" y="4114800"/>
            <a:ext cx="0" cy="164592"/>
          </a:xfrm>
          <a:prstGeom prst="line">
            <a:avLst/>
          </a:prstGeom>
          <a:noFill/>
          <a:ln w="19050">
            <a:solidFill>
              <a:srgbClr val="A06A00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3931920" y="4297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rear 到末尾 →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120640" y="3977640"/>
            <a:ext cx="35661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数组前端还空着一大片，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rear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却已到末尾，入队报满。解决：把数组在逻辑上看成一个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队列 · 顺序队列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循环队列：下标 0 是下标 mSize−1 的直接后继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240280"/>
          </a:xfrm>
          <a:prstGeom prst="roundRect">
            <a:avLst>
              <a:gd name="adj" fmla="val 3265"/>
            </a:avLst>
          </a:prstGeom>
          <a:solidFill>
            <a:srgbClr val="F1F4F2"/>
          </a:solidFill>
          <a:ln/>
        </p:spPr>
      </p:sp>
      <p:pic>
        <p:nvPicPr>
          <p:cNvPr id="8" name="Image 0" descr="fig-3-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14862"/>
            <a:ext cx="7863840" cy="19307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(a) 初始队列里有 12、17、8、20 四个元素；(b) 两次出队、三次入队之后。入队增加 rear，出队增加 front，两者都在环上顺时针走。</a:t>
            </a:r>
            <a:r>
              <a:rPr lang="en-US" sz="105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</a:t>
            </a: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：本图沿用原书约定，rear 指向最后一个元素；后面的代码（教学版）里 rear_ 指向下一个可写入的空位，二者差一格。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3794760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1E3D3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3858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 x 的后继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4114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 + 1) % mSize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709160" y="3794760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FFF6E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846320" y="38862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取模不能漏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4178808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rear_ = (rear_ + 1) % slots_;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走到末尾就绕回 0。少了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，下标越界写出数组。</a:t>
            </a:r>
            <a:endParaRPr lang="en-US" sz="10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队列 · 顺序队列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绕回之后的麻烦：front == rear 既可能空、也可能满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抽屉原理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：m 个位置的数组若允许装满，队列有「空、1 个、…、m 个」共 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m+1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种状态；固定 front 后 rear 只有 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种取值——必有两种状态撞在一起。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2651760" cy="2514600"/>
          </a:xfrm>
          <a:prstGeom prst="roundRect">
            <a:avLst>
              <a:gd name="adj" fmla="val 2909"/>
            </a:avLst>
          </a:prstGeom>
          <a:solidFill>
            <a:srgbClr val="F1F4F2"/>
          </a:solidFill>
          <a:ln/>
        </p:spPr>
      </p:sp>
      <p:sp>
        <p:nvSpPr>
          <p:cNvPr id="9" name="Shape 7"/>
          <p:cNvSpPr/>
          <p:nvPr/>
        </p:nvSpPr>
        <p:spPr>
          <a:xfrm>
            <a:off x="1554480" y="2066544"/>
            <a:ext cx="457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54480" y="206654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20482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212848" y="2724912"/>
            <a:ext cx="457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12848" y="272491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670048" y="27066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554480" y="3383280"/>
            <a:ext cx="457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554480" y="33832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33649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896112" y="2724912"/>
            <a:ext cx="457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6112" y="272491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353312" y="27066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空：front == rear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840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front=0  rear=0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1554480"/>
            <a:ext cx="2651760" cy="2514600"/>
          </a:xfrm>
          <a:prstGeom prst="roundRect">
            <a:avLst>
              <a:gd name="adj" fmla="val 2909"/>
            </a:avLst>
          </a:prstGeom>
          <a:solidFill>
            <a:srgbClr val="F1F4F2"/>
          </a:solidFill>
          <a:ln/>
        </p:spPr>
      </p:sp>
      <p:sp>
        <p:nvSpPr>
          <p:cNvPr id="24" name="Shape 22"/>
          <p:cNvSpPr/>
          <p:nvPr/>
        </p:nvSpPr>
        <p:spPr>
          <a:xfrm>
            <a:off x="4343400" y="2066544"/>
            <a:ext cx="457200" cy="402336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343400" y="206654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800600" y="20482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001768" y="2724912"/>
            <a:ext cx="457200" cy="402336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01768" y="272491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458968" y="27066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343400" y="3383280"/>
            <a:ext cx="457200" cy="402336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343400" y="33832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33649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685032" y="2724912"/>
            <a:ext cx="457200" cy="402336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685032" y="272491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142232" y="27066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00" dirty="0"/>
          </a:p>
        </p:txBody>
      </p:sp>
      <p:sp>
        <p:nvSpPr>
          <p:cNvPr id="36" name="Text 34"/>
          <p:cNvSpPr txBox="1"/>
          <p:nvPr/>
        </p:nvSpPr>
        <p:spPr>
          <a:xfrm>
            <a:off x="338328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满：(rear+1)%4 == front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3383280" y="3840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front=0  rear=3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35040" y="1554480"/>
            <a:ext cx="2651760" cy="2514600"/>
          </a:xfrm>
          <a:prstGeom prst="roundRect">
            <a:avLst>
              <a:gd name="adj" fmla="val 2909"/>
            </a:avLst>
          </a:prstGeom>
          <a:solidFill>
            <a:srgbClr val="F1F4F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108192" y="1600200"/>
            <a:ext cx="2505456" cy="2423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empty() const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front_ == rear_;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rear 再走一格就撞上 front：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那一格就是被牺牲掉的槽位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full() const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(rear_ + 1) % slots_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== front_;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416052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6E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94360" y="42519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牺牲一个槽位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594360" y="4544568"/>
            <a:ext cx="7955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 n 个就开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= n+1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格（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slots_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），个数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(rear−front+m)%m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。所以「容量 3 时第 4 个入不进去」。</a:t>
            </a:r>
            <a:endParaRPr lang="en-US" sz="10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队列 · 顺序队列 · 教学版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enqueue / dequeue / size，以及一次绕回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4206240" cy="3749040"/>
          </a:xfrm>
          <a:prstGeom prst="roundRect">
            <a:avLst>
              <a:gd name="adj" fmla="val 195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4059936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explicit ArrayQueue(size_type capacity)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slots_(capacity + 1), data_(new T[capacity + 1]),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front_(0), rear_(0) {}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enqueue(const T&amp; value)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(full()) return false;      </a:t>
            </a:r>
            <a:r>
              <a:rPr lang="en-US" sz="84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容量固定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data_[rear_] = value;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rear_ = (rear_ + 1) % slots_;  </a:t>
            </a:r>
            <a:r>
              <a:rPr lang="en-US" sz="84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取模绕回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true;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std::optional&lt;T&gt; dequeue()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(empty()) return std::nullopt;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value = data_[front_];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front_ = (front_ + 1) % slots_;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value;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size_type size() const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(rear_ &gt;= front_) ? (rear_ - front_)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: (slots_ - front_ + rear_);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front_: 队头元素的下标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rear_ : 下一个入队元素要写的下标</a:t>
            </a:r>
            <a:endParaRPr lang="en-US" sz="84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932688"/>
          <a:ext cx="38404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960120"/>
                <a:gridCol w="457200"/>
                <a:gridCol w="457200"/>
                <a:gridCol w="7315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操作（容量 3, slots 4）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data[0..3]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front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rear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enqueue(1)</a:t>
                      </a:r>
                      <a:endParaRPr lang="en-US" sz="8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_ _ _</a:t>
                      </a:r>
                      <a:endParaRPr lang="en-US" sz="8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true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enqueue(2)</a:t>
                      </a:r>
                      <a:endParaRPr lang="en-US" sz="8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2 _ _</a:t>
                      </a:r>
                      <a:endParaRPr lang="en-US" sz="8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true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enqueue(3)</a:t>
                      </a:r>
                      <a:endParaRPr lang="en-US" sz="8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2 3 _</a:t>
                      </a:r>
                      <a:endParaRPr lang="en-US" sz="8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true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enqueue(4)</a:t>
                      </a:r>
                      <a:endParaRPr lang="en-US" sz="8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2 3 _</a:t>
                      </a:r>
                      <a:endParaRPr lang="en-US" sz="8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已满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dequeue()</a:t>
                      </a:r>
                      <a:endParaRPr lang="en-US" sz="8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_ 2 3 _</a:t>
                      </a:r>
                      <a:endParaRPr lang="en-US" sz="8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enqueue(4)</a:t>
                      </a:r>
                      <a:endParaRPr lang="en-US" sz="8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_ 2 3 4</a:t>
                      </a:r>
                      <a:endParaRPr lang="en-US" sz="8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↺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true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full()?</a:t>
                      </a:r>
                      <a:endParaRPr lang="en-US" sz="8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(0+1)%4 == 1</a:t>
                      </a:r>
                      <a:endParaRPr lang="en-US" sz="8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满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dequeue() ×3</a:t>
                      </a:r>
                      <a:endParaRPr lang="en-US" sz="8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_ _ _ _</a:t>
                      </a:r>
                      <a:endParaRPr lang="en-US" sz="8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↺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2 3 4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846320" y="4023360"/>
            <a:ext cx="38404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rear 从 3 绕回 0；此时 front=1、rear=0，size = 4 − 1 + 0 = 3。</a:t>
            </a:r>
            <a:endParaRPr lang="en-US" sz="10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队列 · 链式队列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链式队列：front 指队首，rear 指队尾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88720" y="1463040"/>
            <a:ext cx="502920" cy="41148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91640" y="1463040"/>
            <a:ext cx="274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88720" y="14630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0" y="1668780"/>
            <a:ext cx="502920" cy="0"/>
          </a:xfrm>
          <a:prstGeom prst="line">
            <a:avLst/>
          </a:prstGeom>
          <a:noFill/>
          <a:ln w="1651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331720" y="1463040"/>
            <a:ext cx="502920" cy="41148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4640" y="1463040"/>
            <a:ext cx="274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31720" y="14630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971800" y="1668780"/>
            <a:ext cx="502920" cy="0"/>
          </a:xfrm>
          <a:prstGeom prst="line">
            <a:avLst/>
          </a:prstGeom>
          <a:noFill/>
          <a:ln w="1651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474720" y="1463040"/>
            <a:ext cx="502920" cy="41148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77640" y="1463040"/>
            <a:ext cx="274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74720" y="14630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a₃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0" y="1668780"/>
            <a:ext cx="502920" cy="0"/>
          </a:xfrm>
          <a:prstGeom prst="line">
            <a:avLst/>
          </a:prstGeom>
          <a:noFill/>
          <a:ln w="1651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617720" y="1463040"/>
            <a:ext cx="502920" cy="41148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0" y="1463040"/>
            <a:ext cx="274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17720" y="14630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a₄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14630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∧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05840" y="91440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05840" y="9144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417320" y="1207008"/>
            <a:ext cx="0" cy="256032"/>
          </a:xfrm>
          <a:prstGeom prst="line">
            <a:avLst/>
          </a:prstGeom>
          <a:noFill/>
          <a:ln w="19050">
            <a:solidFill>
              <a:srgbClr val="A06A0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526280" y="91440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26280" y="9144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1207008"/>
            <a:ext cx="0" cy="256032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457200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出队：删最前面的结点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3840480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入队：接到尾部、改 rear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2377440"/>
            <a:ext cx="566928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本质是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链表的简化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：链接方向从队首指向队尾。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结点分散在堆上，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没有「队满」这回事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——「根据应用增删运算」的具体例子。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队尾指针是必需的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：没有它，每次入队都得从队头走到尾，O(n)；有了它，入队出队都是 O(1)。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09360" y="914400"/>
            <a:ext cx="2377440" cy="3749040"/>
          </a:xfrm>
          <a:prstGeom prst="roundRect">
            <a:avLst>
              <a:gd name="adj" fmla="val 3077"/>
            </a:avLst>
          </a:prstGeom>
          <a:solidFill>
            <a:srgbClr val="FFF6E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46520" y="1005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不设表头虚结点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419088" y="1298448"/>
            <a:ext cx="2157984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为减少访问队首的代价，这种实现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没有专用表头虚结点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。代价是两个边界要单独处理：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插入到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空队列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：front、rear 都指向新结点；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出队后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队列变空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：rear 也要置空。</a:t>
            </a:r>
            <a:endParaRPr lang="en-US" sz="10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队列 · 链式队列 · 教学版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最容易漏的一行：出队摘空时 rear 必须置空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4846320" cy="3749040"/>
          </a:xfrm>
          <a:prstGeom prst="roundRect">
            <a:avLst>
              <a:gd name="adj" fmla="val 195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4700016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入队：新结点接到队尾。原来是空队列的话，它同时也是队头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enqueue(const T&amp; value)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Node* fresh = new Node;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fresh-&gt;value = value;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fresh-&gt;next = nullptr;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(rear_ == nullptr)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front_ = rear_ = fresh;          </a:t>
            </a:r>
            <a:r>
              <a:rPr lang="en-US" sz="84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边界 ①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rear_-&gt;next = fresh;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rear_ = fresh;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++size_;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出队：摘下队头结点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std::optional&lt;T&gt; dequeue()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(empty()) return std::nullopt;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Node* dying = front_;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value = dying-&gt;value;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front_ = dying-&gt;next;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(front_ == nullptr)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rear_ = nullptr;                 </a:t>
            </a:r>
            <a:r>
              <a:rPr lang="en-US" sz="84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边界 ②：否则 rear 成野指针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delete dying;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--size_;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value;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5486400" y="932688"/>
            <a:ext cx="3200400" cy="2423160"/>
          </a:xfrm>
          <a:prstGeom prst="roundRect">
            <a:avLst>
              <a:gd name="adj" fmla="val 3019"/>
            </a:avLst>
          </a:prstGeom>
          <a:solidFill>
            <a:srgbClr val="FDF0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23560" y="1005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漏掉边界 ② 会发生什么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23560" y="137160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23560" y="13716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 = null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223760" y="137160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223760" y="1371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543800" y="1645920"/>
            <a:ext cx="0" cy="27432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269480" y="1920240"/>
            <a:ext cx="548640" cy="384048"/>
          </a:xfrm>
          <a:prstGeom prst="rect">
            <a:avLst/>
          </a:prstGeom>
          <a:solidFill>
            <a:srgbClr val="EEEEEE"/>
          </a:solidFill>
          <a:ln w="12700">
            <a:solidFill>
              <a:srgbClr val="C0392B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7269480" y="19202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已释放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5623560" y="24231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下一次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看到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rear_ != nullptr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，执行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rear_-&gt;next = fresh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写进已释放的内存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（use-after-free）。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0" y="347472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23560" y="3566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clear() 同样用循环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385876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逐个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结点，最后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rear_ = nullptr; size_ = 0;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——长队列的递归析构会把运行栈撑爆。</a:t>
            </a:r>
            <a:endParaRPr lang="en-US" sz="10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栈与队列的深入讨论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两种存储的取舍 · 双栈共享 · 限制存取点的表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出栈序列判定与 Catalan 数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深入讨论 · 应用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栈和队列都用在哪里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77640" cy="3611880"/>
          </a:xfrm>
          <a:prstGeom prst="roundRect">
            <a:avLst>
              <a:gd name="adj" fmla="val 2025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143000"/>
            <a:ext cx="1645920" cy="411480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143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  LIFO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737360"/>
            <a:ext cx="365760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函数调用与递归实现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深度优先周游（DFS）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表达式转换与求值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快速排序的非递归版本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伸展树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网页历史、undo 序列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3977640" cy="3611880"/>
          </a:xfrm>
          <a:prstGeom prst="roundRect">
            <a:avLst>
              <a:gd name="adj" fmla="val 2025"/>
            </a:avLst>
          </a:prstGeom>
          <a:solidFill>
            <a:srgbClr val="F1F4F2"/>
          </a:solidFill>
          <a:ln/>
        </p:spPr>
      </p:sp>
      <p:sp>
        <p:nvSpPr>
          <p:cNvPr id="12" name="Shape 10"/>
          <p:cNvSpPr/>
          <p:nvPr/>
        </p:nvSpPr>
        <p:spPr>
          <a:xfrm>
            <a:off x="4892040" y="1143000"/>
            <a:ext cx="1645920" cy="411480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92040" y="1143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  FIFO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737360"/>
            <a:ext cx="365760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 / 数据缓冲器：硬件设备间通信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操作系统资源管理：内存、打印机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广度优先搜索（BFS）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的主要中间数据结构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按优先级组织 → 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优先队列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只要满足「先来先服务」即可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深入讨论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顺序栈 vs 链式栈：时间难分伯仲，空间各有代价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9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顺序栈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链式栈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push / pop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O(1)（push 摊还）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需说明固定长度；栈不满时</a:t>
                      </a: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浪费</a:t>
                      </a: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一些空间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长度按需增减；每个元素一个指针域——</a:t>
                      </a: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结构性开销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栈满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需扩容（翻倍）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没有这回事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访问内部元素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按与栈顶的相对位置</a:t>
                      </a: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快速定位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沿指针链</a:t>
                      </a: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遍历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缓存局部性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连续数组，好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结点分散在堆上，差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E3D3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正因为「访问内部元素」这一条，</a:t>
            </a: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顺序栈在实际中更常用一些</a:t>
            </a: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5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深入讨论 · 多栈管理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一个数组存两个栈：从两端迎面延伸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1737360"/>
          </a:xfrm>
          <a:prstGeom prst="roundRect">
            <a:avLst>
              <a:gd name="adj" fmla="val 4211"/>
            </a:avLst>
          </a:prstGeom>
          <a:solidFill>
            <a:srgbClr val="F1F4F2"/>
          </a:solidFill>
          <a:ln/>
        </p:spPr>
      </p:sp>
      <p:pic>
        <p:nvPicPr>
          <p:cNvPr id="8" name="Image 0" descr="fig-3-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38949"/>
            <a:ext cx="7498080" cy="14711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926080"/>
            <a:ext cx="493776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编译系统等系统软件往往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同时管理多个栈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利用顺序栈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单向延伸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的特性：数组两端分别是两个栈的栈底，向中间生长。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栈满条件：</a:t>
            </a:r>
            <a:r>
              <a:rPr lang="en-US" sz="12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top1 + 1 == top2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——中间余量用完才算满。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577840" y="2926080"/>
            <a:ext cx="3108960" cy="1737360"/>
          </a:xfrm>
          <a:prstGeom prst="roundRect">
            <a:avLst>
              <a:gd name="adj" fmla="val 4211"/>
            </a:avLst>
          </a:prstGeom>
          <a:solidFill>
            <a:srgbClr val="FFF6E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715000" y="3017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什么时候划算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715000" y="3310128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两个栈的空间需求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恰好相反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（一个涨、另一个缩）时很省空间；两个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同时涨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，中间那点余量很快就没了。</a:t>
            </a:r>
            <a:endParaRPr lang="en-US" sz="11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深入讨论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顺序队列 vs 链式队列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</a:t>
            </a:r>
            <a:endParaRPr lang="en-US" sz="9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74904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顺序队列（循环）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链式队列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enqueue / dequeue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存储空间固定；无法应对</a:t>
                      </a: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规模变化大且最大规模不可预测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轻松应对规模变化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访问内部元素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简单，适合需要访问队列内部元素的应用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需遍历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空间代价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牺牲一格 + 未用空间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每结点一个指针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一个数组放两个？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不能</a:t>
                      </a: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——除非总有数据项从一个队列转入另一个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6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40233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工程提示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43159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如果能预测「浪涌」的统计特性，就可以大致估算出缓冲队列的长度，用顺序队列。时间效率上两者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没有优劣之分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深入讨论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限制存取点的表：栈和队列的变种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77640" cy="1645920"/>
          </a:xfrm>
          <a:prstGeom prst="roundRect">
            <a:avLst>
              <a:gd name="adj" fmla="val 4444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双端队列 deque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1732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插入和删除都限制在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两端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。栈和队列都是它的特例。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737360" y="2029968"/>
            <a:ext cx="347472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84832" y="2029968"/>
            <a:ext cx="347472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32304" y="2029968"/>
            <a:ext cx="347472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79776" y="2029968"/>
            <a:ext cx="347472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80160" y="2103120"/>
            <a:ext cx="411480" cy="0"/>
          </a:xfrm>
          <a:prstGeom prst="line">
            <a:avLst/>
          </a:prstGeom>
          <a:noFill/>
          <a:ln w="2286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1005840" y="19933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280160" y="2286000"/>
            <a:ext cx="411480" cy="0"/>
          </a:xfrm>
          <a:prstGeom prst="line">
            <a:avLst/>
          </a:prstGeom>
          <a:noFill/>
          <a:ln w="22860">
            <a:solidFill>
              <a:srgbClr val="A06A00"/>
            </a:solidFill>
            <a:prstDash val="solid"/>
            <a:headEnd type="triangle"/>
          </a:ln>
        </p:spPr>
      </p:sp>
      <p:sp>
        <p:nvSpPr>
          <p:cNvPr id="17" name="Text 15"/>
          <p:cNvSpPr txBox="1"/>
          <p:nvPr/>
        </p:nvSpPr>
        <p:spPr>
          <a:xfrm>
            <a:off x="1005840" y="21945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72968" y="2103120"/>
            <a:ext cx="411480" cy="0"/>
          </a:xfrm>
          <a:prstGeom prst="line">
            <a:avLst/>
          </a:prstGeom>
          <a:noFill/>
          <a:ln w="22860">
            <a:solidFill>
              <a:srgbClr val="3E7C68"/>
            </a:solidFill>
            <a:prstDash val="solid"/>
            <a:headEnd type="triangle"/>
          </a:ln>
        </p:spPr>
      </p:sp>
      <p:sp>
        <p:nvSpPr>
          <p:cNvPr id="19" name="Text 17"/>
          <p:cNvSpPr txBox="1"/>
          <p:nvPr/>
        </p:nvSpPr>
        <p:spPr>
          <a:xfrm>
            <a:off x="3611880" y="19933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172968" y="2286000"/>
            <a:ext cx="411480" cy="0"/>
          </a:xfrm>
          <a:prstGeom prst="line">
            <a:avLst/>
          </a:prstGeom>
          <a:noFill/>
          <a:ln w="22860">
            <a:solidFill>
              <a:srgbClr val="A06A00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3611880" y="21945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09160" y="1005840"/>
            <a:ext cx="3977640" cy="1645920"/>
          </a:xfrm>
          <a:prstGeom prst="roundRect">
            <a:avLst>
              <a:gd name="adj" fmla="val 4444"/>
            </a:avLst>
          </a:prstGeom>
          <a:solidFill>
            <a:srgbClr val="F1F4F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9204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双栈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141732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两个底部相连的栈：从 end1 插入的只能从 end1 删除。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89320" y="2029968"/>
            <a:ext cx="347472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36792" y="2029968"/>
            <a:ext cx="347472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84264" y="2029968"/>
            <a:ext cx="347472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31736" y="2029968"/>
            <a:ext cx="347472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32120" y="2103120"/>
            <a:ext cx="411480" cy="0"/>
          </a:xfrm>
          <a:prstGeom prst="line">
            <a:avLst/>
          </a:prstGeom>
          <a:noFill/>
          <a:ln w="2286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5257800" y="19933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532120" y="2286000"/>
            <a:ext cx="411480" cy="0"/>
          </a:xfrm>
          <a:prstGeom prst="line">
            <a:avLst/>
          </a:prstGeom>
          <a:noFill/>
          <a:ln w="22860">
            <a:solidFill>
              <a:srgbClr val="A06A00"/>
            </a:solidFill>
            <a:prstDash val="solid"/>
            <a:headEnd type="triangle"/>
          </a:ln>
        </p:spPr>
      </p:sp>
      <p:sp>
        <p:nvSpPr>
          <p:cNvPr id="32" name="Text 30"/>
          <p:cNvSpPr txBox="1"/>
          <p:nvPr/>
        </p:nvSpPr>
        <p:spPr>
          <a:xfrm>
            <a:off x="5257800" y="21945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424928" y="2103120"/>
            <a:ext cx="411480" cy="0"/>
          </a:xfrm>
          <a:prstGeom prst="line">
            <a:avLst/>
          </a:prstGeom>
          <a:noFill/>
          <a:ln w="22860">
            <a:solidFill>
              <a:srgbClr val="3E7C68"/>
            </a:solidFill>
            <a:prstDash val="solid"/>
            <a:headEnd type="triangle"/>
          </a:ln>
        </p:spPr>
      </p:sp>
      <p:sp>
        <p:nvSpPr>
          <p:cNvPr id="34" name="Text 32"/>
          <p:cNvSpPr txBox="1"/>
          <p:nvPr/>
        </p:nvSpPr>
        <p:spPr>
          <a:xfrm>
            <a:off x="7863840" y="19933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424928" y="2286000"/>
            <a:ext cx="411480" cy="0"/>
          </a:xfrm>
          <a:prstGeom prst="line">
            <a:avLst/>
          </a:prstGeom>
          <a:noFill/>
          <a:ln w="22860">
            <a:solidFill>
              <a:srgbClr val="A06A00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7863840" y="21945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684264" y="1965960"/>
            <a:ext cx="0" cy="475488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2788920"/>
            <a:ext cx="3977640" cy="1645920"/>
          </a:xfrm>
          <a:prstGeom prst="roundRect">
            <a:avLst>
              <a:gd name="adj" fmla="val 4444"/>
            </a:avLst>
          </a:prstGeom>
          <a:solidFill>
            <a:srgbClr val="F1F4F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4008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超队列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32004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只在一端，插入可在两端（删除受限）。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737360" y="3813048"/>
            <a:ext cx="347472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84832" y="3813048"/>
            <a:ext cx="347472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432304" y="3813048"/>
            <a:ext cx="347472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79776" y="3813048"/>
            <a:ext cx="347472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280160" y="3886200"/>
            <a:ext cx="411480" cy="0"/>
          </a:xfrm>
          <a:prstGeom prst="line">
            <a:avLst/>
          </a:prstGeom>
          <a:noFill/>
          <a:ln w="2286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1005840" y="377647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280160" y="4069080"/>
            <a:ext cx="411480" cy="0"/>
          </a:xfrm>
          <a:prstGeom prst="line">
            <a:avLst/>
          </a:prstGeom>
          <a:noFill/>
          <a:ln w="22860">
            <a:solidFill>
              <a:srgbClr val="A06A00"/>
            </a:solidFill>
            <a:prstDash val="solid"/>
            <a:headEnd type="triangle"/>
          </a:ln>
        </p:spPr>
      </p:sp>
      <p:sp>
        <p:nvSpPr>
          <p:cNvPr id="48" name="Text 46"/>
          <p:cNvSpPr txBox="1"/>
          <p:nvPr/>
        </p:nvSpPr>
        <p:spPr>
          <a:xfrm>
            <a:off x="1005840" y="39776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172968" y="3886200"/>
            <a:ext cx="411480" cy="0"/>
          </a:xfrm>
          <a:prstGeom prst="line">
            <a:avLst/>
          </a:prstGeom>
          <a:noFill/>
          <a:ln w="22860">
            <a:solidFill>
              <a:srgbClr val="3E7C68"/>
            </a:solidFill>
            <a:prstDash val="solid"/>
            <a:headEnd type="triangle"/>
          </a:ln>
        </p:spPr>
      </p:sp>
      <p:sp>
        <p:nvSpPr>
          <p:cNvPr id="50" name="Text 48"/>
          <p:cNvSpPr txBox="1"/>
          <p:nvPr/>
        </p:nvSpPr>
        <p:spPr>
          <a:xfrm>
            <a:off x="3611880" y="377647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709160" y="2788920"/>
            <a:ext cx="3977640" cy="1645920"/>
          </a:xfrm>
          <a:prstGeom prst="roundRect">
            <a:avLst>
              <a:gd name="adj" fmla="val 4444"/>
            </a:avLst>
          </a:prstGeom>
          <a:solidFill>
            <a:srgbClr val="F1F4F2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489204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超栈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4892040" y="32004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只在一端，删除可在两端（插入受限）。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989320" y="3813048"/>
            <a:ext cx="347472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36792" y="3813048"/>
            <a:ext cx="347472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684264" y="3813048"/>
            <a:ext cx="347472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031736" y="3813048"/>
            <a:ext cx="347472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532120" y="3886200"/>
            <a:ext cx="411480" cy="0"/>
          </a:xfrm>
          <a:prstGeom prst="line">
            <a:avLst/>
          </a:prstGeom>
          <a:noFill/>
          <a:ln w="2286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59" name="Text 57"/>
          <p:cNvSpPr txBox="1"/>
          <p:nvPr/>
        </p:nvSpPr>
        <p:spPr>
          <a:xfrm>
            <a:off x="5257800" y="377647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532120" y="4069080"/>
            <a:ext cx="411480" cy="0"/>
          </a:xfrm>
          <a:prstGeom prst="line">
            <a:avLst/>
          </a:prstGeom>
          <a:noFill/>
          <a:ln w="22860">
            <a:solidFill>
              <a:srgbClr val="A06A00"/>
            </a:solidFill>
            <a:prstDash val="solid"/>
            <a:headEnd type="triangle"/>
          </a:ln>
        </p:spPr>
      </p:sp>
      <p:sp>
        <p:nvSpPr>
          <p:cNvPr id="61" name="Text 59"/>
          <p:cNvSpPr txBox="1"/>
          <p:nvPr/>
        </p:nvSpPr>
        <p:spPr>
          <a:xfrm>
            <a:off x="5257800" y="39776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424928" y="4069080"/>
            <a:ext cx="411480" cy="0"/>
          </a:xfrm>
          <a:prstGeom prst="line">
            <a:avLst/>
          </a:prstGeom>
          <a:noFill/>
          <a:ln w="22860">
            <a:solidFill>
              <a:srgbClr val="A06A00"/>
            </a:solidFill>
            <a:prstDash val="solid"/>
            <a:tailEnd type="triangle"/>
          </a:ln>
        </p:spPr>
      </p:sp>
      <p:sp>
        <p:nvSpPr>
          <p:cNvPr id="63" name="Text 61"/>
          <p:cNvSpPr txBox="1"/>
          <p:nvPr/>
        </p:nvSpPr>
        <p:spPr>
          <a:xfrm>
            <a:off x="7863840" y="39776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</a:t>
            </a:r>
            <a:endParaRPr lang="en-US" sz="850" dirty="0"/>
          </a:p>
        </p:txBody>
      </p:sp>
      <p:sp>
        <p:nvSpPr>
          <p:cNvPr id="64" name="Text 62"/>
          <p:cNvSpPr txBox="1"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标准库有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std::deque</a:t>
            </a: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std::stack</a:t>
            </a: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std::queue</a:t>
            </a: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默认都由它实现——但那是</a:t>
            </a:r>
            <a:r>
              <a:rPr lang="en-US" sz="95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使用者的视角</a:t>
            </a: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。本章手写，是因为「存储怎么落、边界怎么守」本身就是教学内容。</a:t>
            </a:r>
            <a:endParaRPr lang="en-US" sz="9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深入讨论 · 出栈序列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车辆 1…n 依次进栈，给定出栈次序，能不能得到？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回答它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不需要搜索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。拿栈模拟一遍，每一步都没有选择余地——看下一辆要开出的车：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411480" cy="41148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371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正在栈顶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1371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现在就开出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。再压进一辆，它就被盖住了。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212848"/>
            <a:ext cx="411480" cy="411480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2212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103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还没进栈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108960" y="21031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只能把后面的车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一辆辆压进去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，直到它到达栈顶。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944368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2944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2834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已在栈里、却不在栈顶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3108960" y="28346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它上面压着别的车，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这个次序不可能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611880"/>
            <a:ext cx="5303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种不必单独判断：车全部进过栈了还等不到它，就是它。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1371600"/>
            <a:ext cx="2743200" cy="3291840"/>
          </a:xfrm>
          <a:prstGeom prst="roundRect">
            <a:avLst>
              <a:gd name="adj" fmla="val 2667"/>
            </a:avLst>
          </a:prstGeom>
          <a:solidFill>
            <a:srgbClr val="F1F4F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126480" y="14447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例：3, 1, 2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3063240"/>
            <a:ext cx="64008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63640" y="30632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63640" y="2651760"/>
            <a:ext cx="64008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63640" y="26517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63640" y="2240280"/>
            <a:ext cx="640080" cy="384048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63640" y="224028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949440" y="2258568"/>
            <a:ext cx="365760" cy="0"/>
          </a:xfrm>
          <a:prstGeom prst="line">
            <a:avLst/>
          </a:prstGeom>
          <a:noFill/>
          <a:ln w="1905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7360920" y="2148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开出 ✓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360920" y="26243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栈顶变成 2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3063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被压住 ✗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126480" y="35661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要先开出 → 1、2 必须都已进栈，且 2 压在 1 上面；3 开走后栈顶是 2，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出不来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02336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CFE0D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94360" y="4114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对照：2, 1, 3 可行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94360" y="440740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Push Push Pop Pop Push Pop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深入讨论 · 出栈序列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stack_operations_for：O(n) 判定 &amp; Catalan 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4754880" cy="2926080"/>
          </a:xfrm>
          <a:prstGeom prst="roundRect">
            <a:avLst>
              <a:gd name="adj" fmla="val 25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4608576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class StackOp { Push, Pop };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[[nodiscard]] inline std::optional&lt;std::vector&lt;StackOp&gt;&gt;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stack_operations_for(const std::vector&lt;int&gt;&amp; pop_order)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int n = static_cast&lt;int&gt;(pop_order.size());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ArrayStack&lt;int&gt; stack;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std::vector&lt;StackOp&gt; ops;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next_car = 1;                    </a:t>
            </a:r>
            <a:r>
              <a:rPr lang="en-US" sz="84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下一辆等着进栈的车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wanted : pop_order)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(stack.empty() || *stack.peek() != wanted)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(next_car &gt; n)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return std::nullopt;     </a:t>
            </a:r>
            <a:r>
              <a:rPr lang="en-US" sz="84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车都进过栈了：它被压在下面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stack.push(next_car);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++next_car;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ops.push_back(StackOp::Push);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(void)stack.pop();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ops.push_back(StackOp::Pop);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ops;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4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931920"/>
            <a:ext cx="47548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「次序不可能」是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可预期结果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，返回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nullopt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而不是抛异常——与空栈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pop()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口径一致。</a:t>
            </a:r>
            <a:endParaRPr lang="en-US" sz="10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每辆车至多进栈、出栈各一次 →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。重复、缺号、越界的编号同样返回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nullopt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394960" y="932688"/>
          <a:ext cx="329184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5394960" y="3794760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1E3D3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532120" y="3840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Catalan 数  Cₙ = (2n)! / ((n+1)! · n!)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5532120" y="4160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测试对 n = 1…7 穷举全部 5913 个排列逐个核对。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2103120"/>
            <a:ext cx="3108960" cy="310896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34440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097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限制换 O(1)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0972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栈和队列都是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限制了存取点的线性表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，限制换来的是每个操作 O(1)。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56232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1993392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185623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两种存储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185623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顺序实现省空间、能随机访问内部元素；链式实现不会满，但有指针开销。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15184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2752344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61518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循环队列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261518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用取模把数组看成环，解决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假溢出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牺牲一格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区分空与满。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511296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37413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 = 运行栈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2880360" y="337413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深度受 </a:t>
            </a:r>
            <a:r>
              <a:rPr lang="en-US" sz="1200" b="1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ulimit -s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限制；可靠的深递归写法只有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显式栈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。-O2 把递归消成循环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不能依赖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33088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4270248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1330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接口口径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2880360" y="413308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可预期的空状态返回 </a:t>
            </a:r>
            <a:r>
              <a:rPr lang="en-US" sz="1200" b="1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；调用方的错误抛异常；容器内部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 I/O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DSA 第三章 栈与队列</dc:title>
  <dc:subject>PptxGenJS Presentation</dc:subject>
  <dc:creator>Hongfei Yan</dc:creator>
  <cp:lastModifiedBy>Hongfei Yan</cp:lastModifiedBy>
  <cp:revision>1</cp:revision>
  <dcterms:created xsi:type="dcterms:W3CDTF">2026-10-11T08:42:52Z</dcterms:created>
  <dcterms:modified xsi:type="dcterms:W3CDTF">2026-10-11T08:42:52Z</dcterms:modified>
</cp:coreProperties>
</file>