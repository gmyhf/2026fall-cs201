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索引（12 题） · 第十二章 高级数据结构（上）（7 题） · 第十二章 高级数据结构（下）（7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12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二级索引下的文件容量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字节，磁盘号 4 字节；每条记录 = 4 字节关键码 + 64 字节数据，已排序顺序存放。线性索引项为（块内最小关键码, 磁盘号）。线性索引也存在磁盘上，再用一个 4096 字节的二级索引（每项指向一个线性索引块）。文件最多可存多少条记录？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30K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每块记录数：⌊4096 / 68⌋ = 60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 4 + 4 = 8 字节，每块 4096 / 8 = 512 项</a:t>
            </a:r>
            <a:endParaRPr lang="en-US" sz="1700" dirty="0"/>
          </a:p>
        </p:txBody>
      </p:sp>
      <p:sp>
        <p:nvSpPr>
          <p:cNvPr id="24" name="ANS_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 512 项 → 512 个线性索引块 → 512 ×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个数据块</a:t>
            </a:r>
            <a:endParaRPr lang="en-US" sz="1700" dirty="0"/>
          </a:p>
        </p:txBody>
      </p:sp>
      <p:sp>
        <p:nvSpPr>
          <p:cNvPr id="26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15 ×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2MB 时的容量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条件同上题（4096 字节磁盘块，记录 68 字节，索引项 8 字节）。如果线性索引的大小是 2MB，磁盘文件中最多可以存储多少条记录？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250K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25K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2MB / 8 字节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个索引项，每项对应一个数据块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 60 条记录：2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按属性建的索引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288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职工文件有 5 个记录（职工号为关键码）：A 39 男 程序员，B 50 女 分析员，C 10 男 程序员，D 75 女 终端操作员，E 27 男 分析员。下表所示的结构是什么类型的索引？</a:t>
            </a:r>
            <a:endParaRPr lang="en-US" sz="184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70164"/>
          <a:ext cx="630936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  <a:gridCol w="1577340"/>
                <a:gridCol w="1577340"/>
              </a:tblGrid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性别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职业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女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终端操作员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840" dirty="0"/>
          </a:p>
        </p:txBody>
      </p:sp>
      <p:sp>
        <p:nvSpPr>
          <p:cNvPr id="10" name="Shape 7"/>
          <p:cNvSpPr/>
          <p:nvPr/>
        </p:nvSpPr>
        <p:spPr>
          <a:xfrm>
            <a:off x="377190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7190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多分树静态索引</a:t>
            </a:r>
            <a:endParaRPr lang="en-US" sz="1840" dirty="0"/>
          </a:p>
        </p:txBody>
      </p:sp>
      <p:sp>
        <p:nvSpPr>
          <p:cNvPr id="12" name="Shape 9"/>
          <p:cNvSpPr/>
          <p:nvPr/>
        </p:nvSpPr>
        <p:spPr>
          <a:xfrm>
            <a:off x="54864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840" dirty="0"/>
          </a:p>
        </p:txBody>
      </p:sp>
      <p:sp>
        <p:nvSpPr>
          <p:cNvPr id="14" name="Shape 11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7190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840" dirty="0"/>
          </a:p>
        </p:txBody>
      </p:sp>
      <p:sp>
        <p:nvSpPr>
          <p:cNvPr id="16" name="ANS_22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12077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2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2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2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0" name="ANS_2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2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2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以属性值（性别、职业）为键，挂上具有该属性的全部记录的主键。</a:t>
            </a:r>
            <a:endParaRPr lang="en-US" sz="1700" dirty="0"/>
          </a:p>
        </p:txBody>
      </p:sp>
      <p:sp>
        <p:nvSpPr>
          <p:cNvPr id="23" name="ANS_2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由属性找记录，与「由记录找属性」方向相反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红黑树删除的代价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红黑树是一种扩充的二叉搜索树。对结点个数为 n 的红黑树，最坏情况下删除结点的时间复杂度是：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ANS_31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3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7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红黑树高度 ≤ 2 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 + 1)（只数内部结点；原书连空叶算，写作 2 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 + 1) + 1）。</a:t>
            </a:r>
            <a:endParaRPr lang="en-US" sz="1700" dirty="0"/>
          </a:p>
        </p:txBody>
      </p:sp>
      <p:sp>
        <p:nvSpPr>
          <p:cNvPr id="26" name="ANS_38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9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= 查找 O(log n) + 沿路径向上的重新着色，旋转至多 3 次 → O(log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按关键码排序的索引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同一职工文件（职工号为关键码），下表所示的结构是什么类型的索引？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地址 职工号 性别 职业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   39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 50    女   分析员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   10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   75    女   终端操作员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27    男   分析员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67072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磁盘地址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ANS_4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1" name="ANS_4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2" name="ANS_4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4400" dirty="0"/>
          </a:p>
        </p:txBody>
      </p:sp>
      <p:sp>
        <p:nvSpPr>
          <p:cNvPr id="13" name="ANS_4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4" name="ANS_4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4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（关键码, 地址）按关键码有序排成一张表 → 线性索引。</a:t>
            </a:r>
            <a:endParaRPr lang="en-US" sz="1700" dirty="0"/>
          </a:p>
        </p:txBody>
      </p:sp>
      <p:sp>
        <p:nvSpPr>
          <p:cNvPr id="16" name="ANS_4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47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每条记录都有一个索引项，是稠密索引；查找时对索引做二分。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静态索引何时优于 B+ 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在什么情况下多分树静态索引比 B+ 树的实现更有效率？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系统数据库不稳定，并且系统没有时间进行文件再组织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590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590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插入和删除操作比较少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48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48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75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系统允许较频繁的文件再组织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系统数据较稳定，并且需要支持高效的并行查找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插入删除操作较多</a:t>
            </a:r>
            <a:endParaRPr lang="en-US" sz="2000" dirty="0"/>
          </a:p>
        </p:txBody>
      </p:sp>
      <p:sp>
        <p:nvSpPr>
          <p:cNvPr id="22" name="ANS_48"/>
          <p:cNvSpPr/>
          <p:nvPr/>
        </p:nvSpPr>
        <p:spPr>
          <a:xfrm>
            <a:off x="457200" y="3480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49"/>
          <p:cNvSpPr/>
          <p:nvPr/>
        </p:nvSpPr>
        <p:spPr>
          <a:xfrm>
            <a:off x="457200" y="413918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50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endParaRPr lang="en-US" sz="4400" dirty="0"/>
          </a:p>
        </p:txBody>
      </p:sp>
      <p:sp>
        <p:nvSpPr>
          <p:cNvPr id="28" name="ANS_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静态索引建好后结构不变：插入、删除多了就会有溢出链，性能下降。</a:t>
            </a:r>
            <a:endParaRPr lang="en-US" sz="1700" dirty="0"/>
          </a:p>
        </p:txBody>
      </p:sp>
      <p:sp>
        <p:nvSpPr>
          <p:cNvPr id="31" name="ANS_5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5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所以适合数据稳定、少更新，或者允许定期再组织的场合；结构固定也便于并行查找。</a:t>
            </a:r>
            <a:endParaRPr lang="en-US" sz="1700" dirty="0"/>
          </a:p>
        </p:txBody>
      </p:sp>
      <p:sp>
        <p:nvSpPr>
          <p:cNvPr id="33" name="ANS_5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6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A、E 是 B+ 树（动态索引）的优势场景。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5）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B 树删除方式：若结点既有左兄弟又有右兄弟，合并前两个兄弟都要检查。从一棵高度为 5 的 B 树中删除元素时，最大磁盘访问次数是多少？（路径上的结点读入内存后不必重复读）</a:t>
            </a:r>
            <a:endParaRPr lang="en-US" sz="2000" dirty="0"/>
          </a:p>
        </p:txBody>
      </p:sp>
      <p:sp>
        <p:nvSpPr>
          <p:cNvPr id="7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4400" dirty="0"/>
          </a:p>
        </p:txBody>
      </p:sp>
      <p:sp>
        <p:nvSpPr>
          <p:cNvPr id="10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最坏情况：从叶子一路合并到根。</a:t>
            </a:r>
            <a:endParaRPr lang="en-US" sz="1700" dirty="0"/>
          </a:p>
        </p:txBody>
      </p:sp>
      <p:sp>
        <p:nvSpPr>
          <p:cNvPr id="13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读路径：h 次</a:t>
            </a:r>
            <a:endParaRPr lang="en-US" sz="1700" dirty="0"/>
          </a:p>
        </p:txBody>
      </p:sp>
      <p:sp>
        <p:nvSpPr>
          <p:cNvPr id="15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0"/>
          <p:cNvSpPr txBox="1"/>
          <p:nvPr/>
        </p:nvSpPr>
        <p:spPr>
          <a:xfrm>
            <a:off x="7818120" y="361127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非根的每一层：读左右两个兄弟 2 次 + 写回合并结点 1 次，共 3(h−1) 次</a:t>
            </a:r>
            <a:endParaRPr lang="en-US" sz="1700" dirty="0"/>
          </a:p>
        </p:txBody>
      </p:sp>
      <p:sp>
        <p:nvSpPr>
          <p:cNvPr id="17" name="ANS_71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2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最后写根：1 次</a:t>
            </a:r>
            <a:endParaRPr lang="en-US" sz="1700" dirty="0"/>
          </a:p>
        </p:txBody>
      </p:sp>
      <p:sp>
        <p:nvSpPr>
          <p:cNvPr id="19" name="ANS_73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74"/>
          <p:cNvSpPr txBox="1"/>
          <p:nvPr/>
        </p:nvSpPr>
        <p:spPr>
          <a:xfrm>
            <a:off x="7818120" y="514075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h + 3(h−1) + 1 = 4h − 2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4）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条件同上题，从一棵高度为 4 的 B 树中删除元素时，最大磁盘访问次数是多少？</a:t>
            </a:r>
            <a:endParaRPr lang="en-US" sz="2000" dirty="0"/>
          </a:p>
        </p:txBody>
      </p:sp>
      <p:sp>
        <p:nvSpPr>
          <p:cNvPr id="7" name="ANS_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套用 4h − 2：4 × 4 − 2 = 14（读路径 4 + 兄弟与合并 3 × 3 + 写根 1）。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树插入的访外次数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 m = 3 的 B 树如图，a…g 是结点名，h 为可动态分配的新结点。插入关键码 55，完成插入需要多少次访外（读盘 + 写盘）？</a:t>
            </a:r>
            <a:endParaRPr lang="en-US" sz="2000" dirty="0"/>
          </a:p>
        </p:txBody>
      </p:sp>
      <p:pic>
        <p:nvPicPr>
          <p:cNvPr id="7" name="Image 0" descr="B 树插入的访外次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659" y="2962656"/>
            <a:ext cx="5009322" cy="2194560"/>
          </a:xfrm>
          <a:prstGeom prst="rect">
            <a:avLst/>
          </a:prstGeom>
        </p:spPr>
      </p:pic>
      <p:sp>
        <p:nvSpPr>
          <p:cNvPr id="8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读：a → c → g，共 3 次</a:t>
            </a:r>
            <a:endParaRPr lang="en-US" sz="1700" dirty="0"/>
          </a:p>
        </p:txBody>
      </p:sp>
      <p:sp>
        <p:nvSpPr>
          <p:cNvPr id="14" name="ANS_8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8"/>
          <p:cNvSpPr txBox="1"/>
          <p:nvPr/>
        </p:nvSpPr>
        <p:spPr>
          <a:xfrm>
            <a:off x="7818120" y="3131515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(45, 50) 插入 55 后有 3 个关键码，超出 m − 1 = 2，分裂：g = (45)，h = (55)，50 上升到 c</a:t>
            </a:r>
            <a:endParaRPr lang="en-US" sz="1700" dirty="0"/>
          </a:p>
        </p:txBody>
      </p:sp>
      <p:sp>
        <p:nvSpPr>
          <p:cNvPr id="16" name="ANS_8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90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变成 (40, 50)，不再分裂</a:t>
            </a:r>
            <a:endParaRPr lang="en-US" sz="1700" dirty="0"/>
          </a:p>
        </p:txBody>
      </p:sp>
      <p:sp>
        <p:nvSpPr>
          <p:cNvPr id="18" name="ANS_9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9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写：g、h、c，共 3 次；合计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树容量（4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树内部结点最多 100 个子女，叶结点最多存 15 条记录（记录全在叶结点）。4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40000,15000000</a:t>
            </a:r>
            <a:endParaRPr lang="en-US" sz="26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内部结点子女数 50…100（根至少 2），叶结点记录数 8…15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15000000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× 50 = 5000 个叶结点 × 8 = 40000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树容量（2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条件同上题，2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16,1500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根下面直接是叶结点。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最小：根 2 个子女 × 8 = 16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最大：根 100 个子女 × 15 = 1500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树容量（3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条件同上题，3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1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1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1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800,150000</a:t>
            </a:r>
            <a:endParaRPr lang="en-US" sz="3600" dirty="0"/>
          </a:p>
        </p:txBody>
      </p:sp>
      <p:sp>
        <p:nvSpPr>
          <p:cNvPr id="10" name="ANS_11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1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1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= 100 个叶结点 × 8 = 800</a:t>
            </a:r>
            <a:endParaRPr lang="en-US" sz="1700" dirty="0"/>
          </a:p>
        </p:txBody>
      </p:sp>
      <p:sp>
        <p:nvSpPr>
          <p:cNvPr id="13" name="ANS_11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2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下列关于十字链表的表述正确的有：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292035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2035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32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6200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十字链表的结点只需要记录非零元素的值，不需要记录它们在矩阵中的位置。</a:t>
            </a:r>
            <a:endParaRPr lang="en-US" sz="1560" dirty="0"/>
          </a:p>
        </p:txBody>
      </p:sp>
      <p:sp>
        <p:nvSpPr>
          <p:cNvPr id="10" name="Shape 8"/>
          <p:cNvSpPr/>
          <p:nvPr/>
        </p:nvSpPr>
        <p:spPr>
          <a:xfrm>
            <a:off x="548640" y="3006364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06364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32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7633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一个全由非零元素组成的矩阵，若使用十字链表表示，也将获得效率的提升。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3628339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28339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32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90666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十字链表的每个结点只有一个指向后继元素的指针。</a:t>
            </a:r>
            <a:endParaRPr lang="en-US" sz="1560" dirty="0"/>
          </a:p>
        </p:txBody>
      </p:sp>
      <p:sp>
        <p:nvSpPr>
          <p:cNvPr id="16" name="Shape 14"/>
          <p:cNvSpPr/>
          <p:nvPr/>
        </p:nvSpPr>
        <p:spPr>
          <a:xfrm>
            <a:off x="548640" y="4381073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81073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32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20286"/>
            <a:ext cx="5760720" cy="875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用十字链表做矩阵乘法（A 为 p×m，B 为 m×n，A 每行、B 每列的非零元素最多 ta、tb 个），时间复杂度是 O((ta + tb)·p·n)。</a:t>
            </a:r>
            <a:endParaRPr lang="en-US" sz="1560" dirty="0"/>
          </a:p>
        </p:txBody>
      </p:sp>
      <p:sp>
        <p:nvSpPr>
          <p:cNvPr id="19" name="Shape 17"/>
          <p:cNvSpPr/>
          <p:nvPr/>
        </p:nvSpPr>
        <p:spPr>
          <a:xfrm>
            <a:off x="548640" y="5133807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33807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32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96134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十字链表的结点记录了非零元素的值及它们在矩阵中的位置。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548640" y="5663428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663428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32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625755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十字链表可以应用于稀疏矩阵的表示。</a:t>
            </a:r>
            <a:endParaRPr lang="en-US" sz="1560" dirty="0"/>
          </a:p>
        </p:txBody>
      </p:sp>
      <p:sp>
        <p:nvSpPr>
          <p:cNvPr id="25" name="ANS_121"/>
          <p:cNvSpPr/>
          <p:nvPr/>
        </p:nvSpPr>
        <p:spPr>
          <a:xfrm>
            <a:off x="457200" y="4083710"/>
            <a:ext cx="6492240" cy="949147"/>
          </a:xfrm>
          <a:prstGeom prst="roundRect">
            <a:avLst>
              <a:gd name="adj" fmla="val 963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2"/>
          <p:cNvSpPr/>
          <p:nvPr/>
        </p:nvSpPr>
        <p:spPr>
          <a:xfrm>
            <a:off x="457200" y="5059558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23"/>
          <p:cNvSpPr/>
          <p:nvPr/>
        </p:nvSpPr>
        <p:spPr>
          <a:xfrm>
            <a:off x="457200" y="5589179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2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2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2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2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结点五个域：row、col、value、right（同行下一个）、down（同列下一个）→ A、C ✗，E ✓</a:t>
            </a:r>
            <a:endParaRPr lang="en-US" sz="1700" dirty="0"/>
          </a:p>
        </p:txBody>
      </p:sp>
      <p:sp>
        <p:nvSpPr>
          <p:cNvPr id="34" name="ANS_13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1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稠密矩阵用十字链表：多存下标和指针，访问也更慢 → B ✗</a:t>
            </a:r>
            <a:endParaRPr lang="en-US" sz="1700" dirty="0"/>
          </a:p>
        </p:txBody>
      </p:sp>
      <p:sp>
        <p:nvSpPr>
          <p:cNvPr id="36" name="ANS_132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33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C[i][j] 由 A 第 i 行与 B 第 j 列两条链归并求内积，O(ta + tb)；共 p·n 个元素。</a:t>
            </a:r>
            <a:endParaRPr lang="en-US" sz="1700" dirty="0"/>
          </a:p>
        </p:txBody>
      </p:sp>
      <p:sp>
        <p:nvSpPr>
          <p:cNvPr id="38" name="ANS_134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35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十字链表正是稀疏矩阵的链式存储。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哪些可重入表是循环表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以下可重入表中哪些是循环表？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(L2: (L1, a)))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29112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12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D(A:(c), B:(e), C:(a, L:(b, A, d)))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5227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5227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4678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(L: (a, L))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24159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15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944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(L1:(a, b), (L1, c, L2:(d)), (L2, e, L3:(f, g)), L3)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(a, b, L2(x, y)), L2, L3: (s, t, L4:(q, L5:(w, L3, v), r)))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78656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7865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(x1, (y1, (a1, a2), y3), x3, (z1, z2))</a:t>
            </a:r>
            <a:endParaRPr lang="en-US" sz="1840" dirty="0"/>
          </a:p>
        </p:txBody>
      </p:sp>
      <p:sp>
        <p:nvSpPr>
          <p:cNvPr id="25" name="ANS_136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37"/>
          <p:cNvSpPr/>
          <p:nvPr/>
        </p:nvSpPr>
        <p:spPr>
          <a:xfrm>
            <a:off x="457200" y="343131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8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1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4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循环表：某个子表直接或间接包含它自己。</a:t>
            </a:r>
            <a:endParaRPr lang="en-US" sz="1700" dirty="0"/>
          </a:p>
        </p:txBody>
      </p:sp>
      <p:sp>
        <p:nvSpPr>
          <p:cNvPr id="34" name="ANS_14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4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L1 ⊃ L2 ⊃ L1；C ✓ L ⊃ L</a:t>
            </a:r>
            <a:endParaRPr lang="en-US" sz="1700" dirty="0"/>
          </a:p>
        </p:txBody>
      </p:sp>
      <p:sp>
        <p:nvSpPr>
          <p:cNvPr id="36" name="ANS_14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8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L3 ⊃ L4 ⊃ L5 ⊃ L3</a:t>
            </a:r>
            <a:endParaRPr lang="en-US" sz="1700" dirty="0"/>
          </a:p>
        </p:txBody>
      </p:sp>
      <p:sp>
        <p:nvSpPr>
          <p:cNvPr id="38" name="ANS_14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50"/>
          <p:cNvSpPr txBox="1"/>
          <p:nvPr/>
        </p:nvSpPr>
        <p:spPr>
          <a:xfrm>
            <a:off x="7818120" y="466100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 只是共享子表（A、L1、L2、L3 被多处引用），没有回路 ✗；F 是纯表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广义表家族的包含关系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图、线性表、可重入表、纯表的关系是（由小到大包含，用空格分隔）：</a:t>
            </a:r>
            <a:endParaRPr lang="en-US" sz="2000" dirty="0"/>
          </a:p>
        </p:txBody>
      </p:sp>
      <p:sp>
        <p:nvSpPr>
          <p:cNvPr id="7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53"/>
          <p:cNvSpPr txBox="1"/>
          <p:nvPr/>
        </p:nvSpPr>
        <p:spPr>
          <a:xfrm>
            <a:off x="7589520" y="1097280"/>
            <a:ext cx="3749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 纯表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 图</a:t>
            </a:r>
            <a:endParaRPr lang="en-US" sz="3600" dirty="0"/>
          </a:p>
        </p:txBody>
      </p:sp>
      <p:sp>
        <p:nvSpPr>
          <p:cNvPr id="10" name="ANS_154"/>
          <p:cNvSpPr txBox="1"/>
          <p:nvPr/>
        </p:nvSpPr>
        <p:spPr>
          <a:xfrm>
            <a:off x="7589520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55"/>
          <p:cNvSpPr/>
          <p:nvPr/>
        </p:nvSpPr>
        <p:spPr>
          <a:xfrm>
            <a:off x="7616952" y="31417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56"/>
          <p:cNvSpPr txBox="1"/>
          <p:nvPr/>
        </p:nvSpPr>
        <p:spPr>
          <a:xfrm>
            <a:off x="7818120" y="304495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线性表：元素都是原子的纯表。</a:t>
            </a:r>
            <a:endParaRPr lang="en-US" sz="1700" dirty="0"/>
          </a:p>
        </p:txBody>
      </p:sp>
      <p:sp>
        <p:nvSpPr>
          <p:cNvPr id="13" name="ANS_157"/>
          <p:cNvSpPr/>
          <p:nvPr/>
        </p:nvSpPr>
        <p:spPr>
          <a:xfrm>
            <a:off x="7616952" y="362148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8"/>
          <p:cNvSpPr txBox="1"/>
          <p:nvPr/>
        </p:nvSpPr>
        <p:spPr>
          <a:xfrm>
            <a:off x="7818120" y="352470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纯表：不共享子表、无回路，是一棵树。</a:t>
            </a:r>
            <a:endParaRPr lang="en-US" sz="1700" dirty="0"/>
          </a:p>
        </p:txBody>
      </p:sp>
      <p:sp>
        <p:nvSpPr>
          <p:cNvPr id="15" name="ANS_159"/>
          <p:cNvSpPr/>
          <p:nvPr/>
        </p:nvSpPr>
        <p:spPr>
          <a:xfrm>
            <a:off x="7616952" y="438622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60"/>
          <p:cNvSpPr txBox="1"/>
          <p:nvPr/>
        </p:nvSpPr>
        <p:spPr>
          <a:xfrm>
            <a:off x="7818120" y="428945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可重入表：允许共享子表；再允许回路就是循环表。</a:t>
            </a:r>
            <a:endParaRPr lang="en-US" sz="1700" dirty="0"/>
          </a:p>
        </p:txBody>
      </p:sp>
      <p:sp>
        <p:nvSpPr>
          <p:cNvPr id="17" name="ANS_161"/>
          <p:cNvSpPr/>
          <p:nvPr/>
        </p:nvSpPr>
        <p:spPr>
          <a:xfrm>
            <a:off x="7616952" y="515096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2"/>
          <p:cNvSpPr txBox="1"/>
          <p:nvPr/>
        </p:nvSpPr>
        <p:spPr>
          <a:xfrm>
            <a:off x="7818120" y="505419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它们都可看作有向图的特例。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稀疏因子（3×6）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3×6 的矩阵中有 9 个非零元素，则稀疏因子为：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44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非零元素个数 / 元素总数 = t / (m × n)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18 = 0.5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5×6 的矩阵中有 6 个非零元素，则稀疏因子为：</a:t>
            </a:r>
            <a:endParaRPr lang="en-US" sz="2000" dirty="0"/>
          </a:p>
        </p:txBody>
      </p:sp>
      <p:sp>
        <p:nvSpPr>
          <p:cNvPr id="7" name="ANS_1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</a:t>
            </a:r>
            <a:endParaRPr lang="en-US" sz="4400" dirty="0"/>
          </a:p>
        </p:txBody>
      </p:sp>
      <p:sp>
        <p:nvSpPr>
          <p:cNvPr id="10" name="ANS_1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30 = 0.2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稀疏因子（5×5）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5×5 的矩阵中有 2 个非零元素，则稀疏因子为：</a:t>
            </a:r>
            <a:endParaRPr lang="en-US" sz="2000" dirty="0"/>
          </a:p>
        </p:txBody>
      </p:sp>
      <p:sp>
        <p:nvSpPr>
          <p:cNvPr id="7" name="ANS_17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</a:t>
            </a:r>
            <a:endParaRPr lang="en-US" sz="4400" dirty="0"/>
          </a:p>
        </p:txBody>
      </p:sp>
      <p:sp>
        <p:nvSpPr>
          <p:cNvPr id="10" name="ANS_18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2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25 = 0.08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三种适配策略的失败次数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有序的空闲块：1500, 1000, 500, 2000, 1200, 500；请求序列：500, 600, 1000, 400, 500, 1000, 2000。在最先适配、最佳适配、最差适配策略下，分配失败的次数分别是多少？（空格分隔）</a:t>
            </a:r>
            <a:endParaRPr lang="en-US" sz="2000" dirty="0"/>
          </a:p>
        </p:txBody>
      </p:sp>
      <p:sp>
        <p:nvSpPr>
          <p:cNvPr id="7" name="ANS_18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8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8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1 0 2</a:t>
            </a:r>
            <a:endParaRPr lang="en-US" sz="4400" dirty="0"/>
          </a:p>
        </p:txBody>
      </p:sp>
      <p:sp>
        <p:nvSpPr>
          <p:cNvPr id="10" name="ANS_18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8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最先适配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：依次切 1500、1000、1000、400、500、2000 → 剩 [1000, 1200, 500]，请求 2000 失败 → 1</a:t>
            </a:r>
            <a:endParaRPr lang="en-US" sz="1700" dirty="0"/>
          </a:p>
        </p:txBody>
      </p:sp>
      <p:sp>
        <p:nvSpPr>
          <p:cNvPr id="13" name="ANS_189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0"/>
          <p:cNvSpPr txBox="1"/>
          <p:nvPr/>
        </p:nvSpPr>
        <p:spPr>
          <a:xfrm>
            <a:off x="7818120" y="3986479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：选能满足的最小块：500、1000、1200、400、500、1500、2000 → 全部成功 → 0</a:t>
            </a:r>
            <a:endParaRPr lang="en-US" sz="1700" dirty="0"/>
          </a:p>
        </p:txBody>
      </p:sp>
      <p:sp>
        <p:nvSpPr>
          <p:cNvPr id="15" name="ANS_191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2"/>
          <p:cNvSpPr txBox="1"/>
          <p:nvPr/>
        </p:nvSpPr>
        <p:spPr>
          <a:xfrm>
            <a:off x="7818120" y="503621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：总切最大块，大块被逐步切碎；到请求 1000 时最大只剩 900，1000 与 2000 都失败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树：插入与删除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操作序列 &lt;插入 2，插入 5，插入 6，插入 4，插入 1，插入 3，删除 6&gt; 形成哪棵 Splay 树？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88387"/>
            <a:ext cx="6309360" cy="2098243"/>
          </a:xfrm>
          <a:prstGeom prst="roundRect">
            <a:avLst>
              <a:gd name="adj" fmla="val 34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488387"/>
            <a:ext cx="6035040" cy="209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(B)        (C)        (D)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3          4          2          4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    / \        / \    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1   4      3   5      1   4      2   5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\    /              / \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2   5  1              3   5  1   3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2</a:t>
            </a:r>
            <a:endParaRPr lang="en-US" sz="1360" dirty="0"/>
          </a:p>
        </p:txBody>
      </p:sp>
      <p:sp>
        <p:nvSpPr>
          <p:cNvPr id="9" name="Shape 7"/>
          <p:cNvSpPr/>
          <p:nvPr/>
        </p:nvSpPr>
        <p:spPr>
          <a:xfrm>
            <a:off x="54864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左深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77190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平衡</a:t>
            </a:r>
            <a:endParaRPr lang="en-US" sz="1700" dirty="0"/>
          </a:p>
        </p:txBody>
      </p:sp>
      <p:sp>
        <p:nvSpPr>
          <p:cNvPr id="17" name="ANS_193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307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1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9" name="ANS_1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0" name="ANS_1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1" name="ANS_1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2" name="ANS_1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每次插入后把新结点 splay 到根。</a:t>
            </a:r>
            <a:endParaRPr lang="en-US" sz="1700" dirty="0"/>
          </a:p>
        </p:txBody>
      </p:sp>
      <p:sp>
        <p:nvSpPr>
          <p:cNvPr id="24" name="ANS_2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0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插完 3 后：3(1(−, 2), 4(−, 6(5, −)))</a:t>
            </a:r>
            <a:endParaRPr lang="en-US" sz="1700" dirty="0"/>
          </a:p>
        </p:txBody>
      </p:sp>
      <p:sp>
        <p:nvSpPr>
          <p:cNvPr id="26" name="ANS_202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03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6：先把 6 splay 到根（zig-zig），得 6(4(3(1(−, 2), −), 5), −)</a:t>
            </a:r>
            <a:endParaRPr lang="en-US" sz="1700" dirty="0"/>
          </a:p>
        </p:txBody>
      </p:sp>
      <p:sp>
        <p:nvSpPr>
          <p:cNvPr id="28" name="ANS_204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05"/>
          <p:cNvSpPr txBox="1"/>
          <p:nvPr/>
        </p:nvSpPr>
        <p:spPr>
          <a:xfrm>
            <a:off x="7818120" y="523097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去掉根 6：右子树为空，左子树直接成为新树 → 4(3(1(−, 2), −), 5)，即 B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树：另一组操作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另一组操作序列（见原题）形成的 Splay 树是：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162007"/>
            <a:ext cx="6309360" cy="2366467"/>
          </a:xfrm>
          <a:prstGeom prst="roundRect">
            <a:avLst>
              <a:gd name="adj" fmla="val 309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162007"/>
            <a:ext cx="6035040" cy="2366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 (B)         (C)         (D)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10        10            10        9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/             /  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9         7             8         7   10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/ \           / \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6         6   8         7   9     6   8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          \       /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7             9     6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8</a:t>
            </a:r>
            <a:endParaRPr lang="en-US" sz="1248" dirty="0"/>
          </a:p>
        </p:txBody>
      </p:sp>
      <p:sp>
        <p:nvSpPr>
          <p:cNvPr id="9" name="Shape 7"/>
          <p:cNvSpPr/>
          <p:nvPr/>
        </p:nvSpPr>
        <p:spPr>
          <a:xfrm>
            <a:off x="54864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单链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377190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7 分叉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8 分叉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377190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9</a:t>
            </a:r>
            <a:endParaRPr lang="en-US" sz="1560" dirty="0"/>
          </a:p>
        </p:txBody>
      </p:sp>
      <p:sp>
        <p:nvSpPr>
          <p:cNvPr id="17" name="ANS_206"/>
          <p:cNvSpPr/>
          <p:nvPr/>
        </p:nvSpPr>
        <p:spPr>
          <a:xfrm>
            <a:off x="548640" y="4728180"/>
            <a:ext cx="3086100" cy="641909"/>
          </a:xfrm>
          <a:prstGeom prst="roundRect">
            <a:avLst>
              <a:gd name="adj" fmla="val 14245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20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9" name="ANS_20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0" name="ANS_20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1" name="ANS_21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2" name="ANS_21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方法同上题：每次插入、查找后把该结点 splay 到根；删除时先 splay 到根，再合并左右子树。</a:t>
            </a:r>
            <a:endParaRPr lang="en-US" sz="1700" dirty="0"/>
          </a:p>
        </p:txBody>
      </p:sp>
      <p:sp>
        <p:nvSpPr>
          <p:cNvPr id="24" name="ANS_21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14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按原题操作序列逐步模拟即得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按哪个插入顺序可以得到这棵 AVL 树？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44791"/>
            <a:ext cx="6309360" cy="1508150"/>
          </a:xfrm>
          <a:prstGeom prst="roundRect">
            <a:avLst>
              <a:gd name="adj" fmla="val 485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4791"/>
            <a:ext cx="6035040" cy="150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4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3   6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1   5   15</a:t>
            </a:r>
            <a:endParaRPr lang="en-US" sz="1472" dirty="0"/>
          </a:p>
        </p:txBody>
      </p:sp>
      <p:sp>
        <p:nvSpPr>
          <p:cNvPr id="9" name="Shape 7"/>
          <p:cNvSpPr/>
          <p:nvPr/>
        </p:nvSpPr>
        <p:spPr>
          <a:xfrm>
            <a:off x="548640" y="40433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433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884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6, 15, 3, 5, 4, 1</a:t>
            </a:r>
            <a:endParaRPr lang="en-US" sz="1840" dirty="0"/>
          </a:p>
        </p:txBody>
      </p:sp>
      <p:sp>
        <p:nvSpPr>
          <p:cNvPr id="12" name="Shape 10"/>
          <p:cNvSpPr/>
          <p:nvPr/>
        </p:nvSpPr>
        <p:spPr>
          <a:xfrm>
            <a:off x="548640" y="46549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4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000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15, 3, 5, 6, 4, 1</a:t>
            </a:r>
            <a:endParaRPr lang="en-US" sz="1840" dirty="0"/>
          </a:p>
        </p:txBody>
      </p:sp>
      <p:sp>
        <p:nvSpPr>
          <p:cNvPr id="15" name="Shape 13"/>
          <p:cNvSpPr/>
          <p:nvPr/>
        </p:nvSpPr>
        <p:spPr>
          <a:xfrm>
            <a:off x="548640" y="5266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66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115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6, 15, 5, 3, 1, 4</a:t>
            </a:r>
            <a:endParaRPr lang="en-US" sz="1840" dirty="0"/>
          </a:p>
        </p:txBody>
      </p:sp>
      <p:sp>
        <p:nvSpPr>
          <p:cNvPr id="18" name="Shape 16"/>
          <p:cNvSpPr/>
          <p:nvPr/>
        </p:nvSpPr>
        <p:spPr>
          <a:xfrm>
            <a:off x="548640" y="587800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8780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2314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6, 15, 3, 5, 1, 4</a:t>
            </a:r>
            <a:endParaRPr lang="en-US" sz="1840" dirty="0"/>
          </a:p>
        </p:txBody>
      </p:sp>
      <p:sp>
        <p:nvSpPr>
          <p:cNvPr id="21" name="ANS_215"/>
          <p:cNvSpPr/>
          <p:nvPr/>
        </p:nvSpPr>
        <p:spPr>
          <a:xfrm>
            <a:off x="457200" y="39519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5" name="ANS_2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21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A：6、15、3、5 不失衡；插 4 时 6 的左子树为 3(−, 5(4, −))，LR 型双旋 → 4(3, 6(5, 15))；再插 1 ✓</a:t>
            </a:r>
            <a:endParaRPr lang="en-US" sz="1700" dirty="0"/>
          </a:p>
        </p:txBody>
      </p:sp>
      <p:sp>
        <p:nvSpPr>
          <p:cNvPr id="28" name="ANS_222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23"/>
          <p:cNvSpPr txBox="1"/>
          <p:nvPr/>
        </p:nvSpPr>
        <p:spPr>
          <a:xfrm>
            <a:off x="7818120" y="3986479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B：得 5(3(1, 4), 15(6, −)) ✗</a:t>
            </a:r>
            <a:endParaRPr lang="en-US" sz="1700" dirty="0"/>
          </a:p>
        </p:txBody>
      </p:sp>
      <p:sp>
        <p:nvSpPr>
          <p:cNvPr id="30" name="ANS_224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25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C、D：都得 5(3(1, 4), 6(−, 15))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哪个插入顺序可以得到给定的 AVL 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1615440"/>
          </a:xfrm>
          <a:prstGeom prst="roundRect">
            <a:avLst>
              <a:gd name="adj" fmla="val 45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161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3   14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2   6    15</a:t>
            </a:r>
            <a:endParaRPr lang="en-US" sz="1600" dirty="0"/>
          </a:p>
        </p:txBody>
      </p:sp>
      <p:sp>
        <p:nvSpPr>
          <p:cNvPr id="9" name="ANS_22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3, 14, 15, 9, 2, 6</a:t>
            </a:r>
            <a:endParaRPr lang="en-US" sz="2600" dirty="0"/>
          </a:p>
        </p:txBody>
      </p:sp>
      <p:sp>
        <p:nvSpPr>
          <p:cNvPr id="12" name="ANS_22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3、14、15：3 右子树过高（RR 型），左旋 → 14(3, 15)</a:t>
            </a:r>
            <a:endParaRPr lang="en-US" sz="1700" dirty="0"/>
          </a:p>
        </p:txBody>
      </p:sp>
      <p:sp>
        <p:nvSpPr>
          <p:cNvPr id="15" name="ANS_23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3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9：成为 3 的右孩子；插 2：3 的左孩子</a:t>
            </a:r>
            <a:endParaRPr lang="en-US" sz="1700" dirty="0"/>
          </a:p>
        </p:txBody>
      </p:sp>
      <p:sp>
        <p:nvSpPr>
          <p:cNvPr id="17" name="ANS_23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3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6：14 的左子树 3(2, 9(6, −)) 比右子树高 2，LR 型双旋 → 9(3(2, 6), 14(−, 15))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树与后缀树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Trie 树和后缀树的说法中正确的有：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810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8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通用后缀树可以用来查找两个字符串的公共子串。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树存储的单词词典，检索一次的代价与单词的长度相关。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7212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树存储的单词词典，检索一次的代价与词典中单词的数量相关。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352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3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621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利用后缀树可以方便地查找字符串的子串。</a:t>
            </a:r>
            <a:endParaRPr lang="en-US" sz="2000" dirty="0"/>
          </a:p>
        </p:txBody>
      </p:sp>
      <p:sp>
        <p:nvSpPr>
          <p:cNvPr id="19" name="ANS_236"/>
          <p:cNvSpPr/>
          <p:nvPr/>
        </p:nvSpPr>
        <p:spPr>
          <a:xfrm>
            <a:off x="457200" y="2255520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37"/>
          <p:cNvSpPr/>
          <p:nvPr/>
        </p:nvSpPr>
        <p:spPr>
          <a:xfrm>
            <a:off x="457200" y="3145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238"/>
          <p:cNvSpPr/>
          <p:nvPr/>
        </p:nvSpPr>
        <p:spPr>
          <a:xfrm>
            <a:off x="457200" y="49255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A、B、D</a:t>
            </a:r>
            <a:endParaRPr lang="en-US" sz="4400" dirty="0"/>
          </a:p>
        </p:txBody>
      </p:sp>
      <p:sp>
        <p:nvSpPr>
          <p:cNvPr id="25" name="ANS_2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4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检索沿单词逐字符往下走，代价 O(单词长度)，与词典规模无关 → B ✓，C ✗</a:t>
            </a:r>
            <a:endParaRPr lang="en-US" sz="1700" dirty="0"/>
          </a:p>
        </p:txBody>
      </p:sp>
      <p:sp>
        <p:nvSpPr>
          <p:cNvPr id="28" name="ANS_24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4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 = 某个后缀的前缀，从后缀树根往下匹配即可 → D ✓</a:t>
            </a:r>
            <a:endParaRPr lang="en-US" sz="1700" dirty="0"/>
          </a:p>
        </p:txBody>
      </p:sp>
      <p:sp>
        <p:nvSpPr>
          <p:cNvPr id="30" name="ANS_24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48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把两个串的后缀放进同一棵通用后缀树，两串共有的分支结点就是公共子串 → A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LCP 数组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"ladygaga" 的 LCP 数组是？（7 个数字，用空格分隔）</a:t>
            </a:r>
            <a:endParaRPr lang="en-US" sz="2000" dirty="0"/>
          </a:p>
        </p:txBody>
      </p:sp>
      <p:sp>
        <p:nvSpPr>
          <p:cNvPr id="7" name="ANS_2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1  1  0  0  2  0  0</a:t>
            </a:r>
            <a:endParaRPr lang="en-US" sz="2600" dirty="0"/>
          </a:p>
        </p:txBody>
      </p:sp>
      <p:sp>
        <p:nvSpPr>
          <p:cNvPr id="10" name="ANS_2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5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后缀按字典序：a, adygaga, aga, dygaga, ga, gaga, ladygaga, ygaga</a:t>
            </a:r>
            <a:endParaRPr lang="en-US" sz="1700" dirty="0"/>
          </a:p>
        </p:txBody>
      </p:sp>
      <p:sp>
        <p:nvSpPr>
          <p:cNvPr id="13" name="ANS_25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6"/>
          <p:cNvSpPr txBox="1"/>
          <p:nvPr/>
        </p:nvSpPr>
        <p:spPr>
          <a:xfrm>
            <a:off x="7818120" y="3701491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相邻两两求最长公共前缀：a|adygaga = 1，adygaga|aga = 1，aga|dygaga = 0，dygaga|ga = 0，ga|gaga = 2，gaga|ladygaga = 0，ladygaga|ygaga =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"analysis" 建立后缀树后，一共有 ____ 个结点。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不加结束符：后缀 analysis…is 共 7 片叶子，"a" 处 1 个分支结点，加根共 9 个。</a:t>
            </a:r>
            <a:endParaRPr lang="en-US" sz="1700" dirty="0"/>
          </a:p>
        </p:txBody>
      </p:sp>
      <p:sp>
        <p:nvSpPr>
          <p:cNvPr id="13" name="ANS_26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64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 "s" 是 "sis" 的前缀，为它显式建一个结点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（题库答案）。</a:t>
            </a:r>
            <a:endParaRPr lang="en-US" sz="1700" dirty="0"/>
          </a:p>
        </p:txBody>
      </p:sp>
      <p:sp>
        <p:nvSpPr>
          <p:cNvPr id="15" name="ANS_265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66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若按标准做法加结束符 $：9 片叶子 + 分支结点 "a"、"s" + 根 = 12。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CH11-12</dc:title>
  <dc:subject>PptxGenJS Presentation</dc:subject>
  <dc:creator>Hongfei Yan</dc:creator>
  <cp:lastModifiedBy>Hongfei Yan</cp:lastModifiedBy>
  <cp:revision>1</cp:revision>
  <dcterms:created xsi:type="dcterms:W3CDTF">2026-10-08T08:02:47Z</dcterms:created>
  <dcterms:modified xsi:type="dcterms:W3CDTF">2026-10-08T08:02:47Z</dcterms:modified>
</cp:coreProperties>
</file>