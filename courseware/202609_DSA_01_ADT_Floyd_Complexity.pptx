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</p:sldIdLst>
  <p:notesMasterIdLst>
    <p:notesMasterId r:id="rId6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notesMaster" Target="notesMasters/notesMaster1.xml"/><Relationship Id="rId69" Type="http://schemas.openxmlformats.org/officeDocument/2006/relationships/presProps" Target="presProps.xml"/><Relationship Id="rId70" Type="http://schemas.openxmlformats.org/officeDocument/2006/relationships/viewProps" Target="viewProps.xml"/><Relationship Id="rId71" Type="http://schemas.openxmlformats.org/officeDocument/2006/relationships/theme" Target="theme/theme1.xml"/><Relationship Id="rId7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96012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数据结构与算法 · 2026 Fall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325880"/>
            <a:ext cx="640080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  ADT 与复杂度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03120"/>
            <a:ext cx="64008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Week 1：抽象与建模 · Floyd / Dijkstra · 算法分析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97480"/>
            <a:ext cx="603504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问题抽象与建模 · 相邻矩阵 · Floyd 最短路 · 最小化最大距离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逻辑结构 (K, r) 与线性 / 树形 / 图三分 · 顺序 / 链接 / 索引 / 散列四种存储映射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抽象数据类型 (D, R, P) 与信息隐蔽 · 算法的四条性质 · 六种算法设计方法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渐进分析与大 O / Ω / Θ · 最佳、最差与平均情况 · 时空折衷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补充：Fraction 类（ADT 落成 Python 类） · 插入排序逐行代价 · Python 容器操作实测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343400"/>
            <a:ext cx="64008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Compiled by Hongfei Yan · Updated 2026-10-28 · github.com/GMyhf/2026fall-cs201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本章导引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三条主线：抽象、实现、评价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1F4F2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207008"/>
            <a:ext cx="420624" cy="420624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207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75564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现实问题怎么变成可计算的模型？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4231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五个经纪人传消息 → 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有向带权图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相邻矩阵 → Floyd。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建模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是第一步。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46120" y="105156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1F4F2"/>
          </a:solidFill>
          <a:ln/>
        </p:spPr>
      </p:sp>
      <p:sp>
        <p:nvSpPr>
          <p:cNvPr id="13" name="Shape 11"/>
          <p:cNvSpPr/>
          <p:nvPr/>
        </p:nvSpPr>
        <p:spPr>
          <a:xfrm>
            <a:off x="3429000" y="1207008"/>
            <a:ext cx="420624" cy="420624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429000" y="1207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175564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同一套逻辑关系，怎么在机器里落下来？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3429000" y="24231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逻辑结构 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(K, r)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三分类；顺序 / 链接 / 索引 / 散列四种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存储映射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；ADT 把两层分开。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035040" y="105156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1F4F2"/>
          </a:solidFill>
          <a:ln/>
        </p:spPr>
      </p:sp>
      <p:sp>
        <p:nvSpPr>
          <p:cNvPr id="18" name="Shape 16"/>
          <p:cNvSpPr/>
          <p:nvPr/>
        </p:nvSpPr>
        <p:spPr>
          <a:xfrm>
            <a:off x="6217920" y="1207008"/>
            <a:ext cx="420624" cy="420624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217920" y="1207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175564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两个算法摆在一起，凭什么说谁更好？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24231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渐进分析：大 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Ω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Θ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，最佳 / 最差 / 平均，以及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时空折衷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361188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1E3D3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85800" y="3703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一句话概括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400507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 = </a:t>
            </a:r>
            <a:r>
              <a:rPr lang="en-US" sz="15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数据结构</a:t>
            </a: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+ </a:t>
            </a:r>
            <a:r>
              <a:rPr lang="en-US" sz="15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</a:t>
            </a: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（Wirth）。本章把这两个词分别讲清楚，并给出</a:t>
            </a:r>
            <a:r>
              <a:rPr lang="en-US" sz="15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评价</a:t>
            </a: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它们的尺子。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≡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本章导引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内容地图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FF6E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 数据结构与算法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737360"/>
            <a:ext cx="237744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 数据结构：三件事分开看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1.1.1 逻辑结构 (K, R)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1.1.2 存储结构：四种映射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1.1.3 抽象数据类型 (D, R, P)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 算法：概念、四条性质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1.2.2 六种算法设计方法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46120" y="105156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1F4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2900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 问题求解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1737360"/>
            <a:ext cx="237744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 问题描述：股市的传言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 抽象成有向带权图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相邻矩阵 + Floyd + 最小化最大距离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RumorNetwork 实现导读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 练习 OJ05443 兔子与樱花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Floyd / Dijkstra，C++ 与 Python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35040" y="105156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1F4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21792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 算法分析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737360"/>
            <a:ext cx="237744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 渐进分析：大 O / Ω / Θ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常见量级与增长趋势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渐进分析三个实例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 最佳、最差、平均情况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 时间和空间的折衷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3.4 数据结构的选择与评价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数据结构与算法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DSA = Data Structures and Algorithms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逻辑结构 · 存储结构 · 运算 · 抽象数据类型 · 算法设计方法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数据结构与算法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DSA：两个独立又紧密关联的领域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4114800" cy="2194560"/>
          </a:xfrm>
          <a:prstGeom prst="roundRect">
            <a:avLst>
              <a:gd name="adj" fmla="val 3333"/>
            </a:avLst>
          </a:prstGeom>
          <a:solidFill>
            <a:srgbClr val="F1F4F2"/>
          </a:solidFill>
          <a:ln/>
        </p:spPr>
      </p:sp>
      <p:pic>
        <p:nvPicPr>
          <p:cNvPr id="8" name="Image 0" descr="dsa-roadma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74420"/>
            <a:ext cx="3931920" cy="19659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3291840"/>
            <a:ext cx="4114800" cy="1371600"/>
          </a:xfrm>
          <a:prstGeom prst="roundRect">
            <a:avLst>
              <a:gd name="adj" fmla="val 5333"/>
            </a:avLst>
          </a:prstGeom>
          <a:solidFill>
            <a:srgbClr val="FFF6E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94360" y="3383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What is Data Structure?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3675888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一种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特定的存储和组织数据的方式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，为了在设备里高效地管理和利用数据。核心理念是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最小化时间和空间复杂度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：占用尽可能少的内存、用尽可能短的时间完成数据操作。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54880" y="960120"/>
            <a:ext cx="3931920" cy="1234440"/>
          </a:xfrm>
          <a:prstGeom prst="roundRect">
            <a:avLst>
              <a:gd name="adj" fmla="val 5926"/>
            </a:avLst>
          </a:prstGeom>
          <a:solidFill>
            <a:srgbClr val="CFE0D8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89204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What is Algorithm?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4892040" y="1344168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为解决特定类型的问题、或执行某种特定计算而设计的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一系列明确定义的步骤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——一组按部就班的操作。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4754880" y="2377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怎么开始学 DSA？四个阶段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754880" y="2770632"/>
            <a:ext cx="329184" cy="329184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754880" y="27706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5193792" y="2724912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时间和空间复杂度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：评估效率的关键概念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754880" y="3246120"/>
            <a:ext cx="329184" cy="329184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4754880" y="3246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5193792" y="3200400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学习各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数据结构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的基础：特点与使用场景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754880" y="3721608"/>
            <a:ext cx="329184" cy="329184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4754880" y="3721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5193792" y="367588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的基础知识：工作原理及应用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754880" y="4197096"/>
            <a:ext cx="329184" cy="329184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4754880" y="41970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5193792" y="4151376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练习题目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：通过实践巩固，提高解决问题的能力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数据结构与算法 · 重要提示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算法是前序《计算概论》(ADS) 的核心内容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FFF6E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1792" y="10332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ADS 课程涵盖四类关键算法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1389888"/>
            <a:ext cx="1691640" cy="347472"/>
          </a:xfrm>
          <a:prstGeom prst="roundRect">
            <a:avLst>
              <a:gd name="adj" fmla="val 50000"/>
            </a:avLst>
          </a:prstGeom>
          <a:solidFill>
            <a:srgbClr val="3E7C6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138988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贪心 Greedy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468880" y="1389888"/>
            <a:ext cx="1691640" cy="347472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468880" y="138988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递归 / 回溯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1828800"/>
            <a:ext cx="1691640" cy="347472"/>
          </a:xfrm>
          <a:prstGeom prst="roundRect">
            <a:avLst>
              <a:gd name="adj" fmla="val 50000"/>
            </a:avLst>
          </a:prstGeom>
          <a:solidFill>
            <a:srgbClr val="A06A0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182880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动态规划 DP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468880" y="1828800"/>
            <a:ext cx="1691640" cy="347472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468880" y="182880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 Searching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21792" y="239572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如果你在递归类题目上练习不足，建议针对性地多做相关题目。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2834640"/>
            <a:ext cx="3931920" cy="868680"/>
          </a:xfrm>
          <a:prstGeom prst="roundRect">
            <a:avLst>
              <a:gd name="adj" fmla="val 8421"/>
            </a:avLst>
          </a:prstGeom>
          <a:solidFill>
            <a:srgbClr val="FFF6E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94360" y="2926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学习建议 1 · 递归（Recursion）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94360" y="321868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算法设计中的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核心基础技能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，建议优先掌握。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参考：递归、回溯、并查集（2025fall-cs101 week08–09）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794760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CFE0D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94360" y="3886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学习建议 2 · 队列与广度优先搜索（BFS）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94360" y="41788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队列在 BFS 中有广泛应用。参考：搜索专题（2025fall-cs101 week12）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63440" y="960120"/>
            <a:ext cx="4023360" cy="2148840"/>
          </a:xfrm>
          <a:prstGeom prst="roundRect">
            <a:avLst>
              <a:gd name="adj" fmla="val 3404"/>
            </a:avLst>
          </a:prstGeom>
          <a:solidFill>
            <a:srgbClr val="F1F4F2"/>
          </a:solidFill>
          <a:ln/>
        </p:spPr>
      </p:sp>
      <p:pic>
        <p:nvPicPr>
          <p:cNvPr id="25" name="Image 0" descr="dsa-mindma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083652"/>
            <a:ext cx="3840480" cy="1901776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4663440" y="32004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学习建议 3 · 其他常用算法技巧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709160" y="3438144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3E7C68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4709160" y="343814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双指针（链表「快慢指针」重点）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6720840" y="3438144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6720840" y="343814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单调栈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4709160" y="3781044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3E7C68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4709160" y="378104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二分查找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6720840" y="3781044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6720840" y="378104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并查集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4709160" y="4123944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3E7C68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4709160" y="412394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滑动窗口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6720840" y="4123944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6720840" y="412394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懒删除 Lazy Deletion</a:t>
            </a:r>
            <a:endParaRPr lang="en-US" sz="950" dirty="0"/>
          </a:p>
        </p:txBody>
      </p:sp>
      <p:sp>
        <p:nvSpPr>
          <p:cNvPr id="39" name="Text 36"/>
          <p:cNvSpPr txBox="1"/>
          <p:nvPr/>
        </p:nvSpPr>
        <p:spPr>
          <a:xfrm>
            <a:off x="4663440" y="448056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多数技巧 1～2 道典型题即可理解原理，熟练仍需持续练习。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数据结构与算法 · 数据结构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数据结构：三件事要分开看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数据结构描述的是：按一定逻辑关系组织起来的数据，它们在计算机里怎么存放，以及定义在其上的运算。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1F4F2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1572768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15727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逻辑结构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0574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有哪些结点、结点之间是什么关系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265176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不谈占几个字节。1.1 节经纪人之间的传播路径就是一个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有向图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46120" y="141732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1F4F2"/>
          </a:solidFill>
          <a:ln/>
        </p:spPr>
      </p:sp>
      <p:sp>
        <p:nvSpPr>
          <p:cNvPr id="14" name="Shape 12"/>
          <p:cNvSpPr/>
          <p:nvPr/>
        </p:nvSpPr>
        <p:spPr>
          <a:xfrm>
            <a:off x="3429000" y="1572768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3E7C6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429000" y="15727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存储结构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429000" y="20574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同一套逻辑关系，在存储器里怎么落下来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429000" y="265176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顺序、链接、索引、散列四种基本映射方法。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35040" y="141732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1F4F2"/>
          </a:solidFill>
          <a:ln/>
        </p:spPr>
      </p:sp>
      <p:sp>
        <p:nvSpPr>
          <p:cNvPr id="19" name="Shape 17"/>
          <p:cNvSpPr/>
          <p:nvPr/>
        </p:nvSpPr>
        <p:spPr>
          <a:xfrm>
            <a:off x="6217920" y="1572768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A06A0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217920" y="15727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运算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20574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定义在这套数据上的操作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217920" y="265176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选存储方法时必须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同时考虑运算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：要不要随机访问？会不会频繁插入？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84048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FF6E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94360" y="393192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为什么要分开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94360" y="4224528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三层混在一起谈，讨论就会跑偏：「数组还是链表」是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问题，「先进先出」是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 + 运算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问题。分开之后，同一个逻辑结构可以换存储实现，同一种存储可以支撑不同运算——这正是后面各章的展开方式。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1.1.1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数据结构与算法 · 数据的逻辑结构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逻辑结构：二元组 B = (K, R)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05840"/>
            <a:ext cx="484632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是数据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结点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（node）组成的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有穷集合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，每个结点代表一个数据或一组有明确结构的数据。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是定义在 K 上的一组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二元关系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。本书 R 一般只含一个关系 r，此时记作 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(K, r)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 ⟨k, k′⟩ ∈ r，则 k 是 k′ 的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前驱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，k′ 是 k 的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后继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没有前驱的结点叫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开始结点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，没有后继的结点叫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终止结点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3017520"/>
            <a:ext cx="4846320" cy="1600200"/>
          </a:xfrm>
          <a:prstGeom prst="roundRect">
            <a:avLst>
              <a:gd name="adj" fmla="val 4571"/>
            </a:avLst>
          </a:prstGeom>
          <a:solidFill>
            <a:srgbClr val="FFF6E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3108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结点的类型：通常当作黑盒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3401568"/>
            <a:ext cx="457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结点类型既可以是基本类型（整数、实数、布尔、字符、指针），也可以是复合类型（数组、结构、对象），而复合类型又能参与定义更复杂的结点类型。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数据结构课关心结点之间的关系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，所以通常把结点当作黑盒。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532120" y="1005840"/>
            <a:ext cx="3154680" cy="3611880"/>
          </a:xfrm>
          <a:prstGeom prst="roundRect">
            <a:avLst>
              <a:gd name="adj" fmla="val 2319"/>
            </a:avLst>
          </a:prstGeom>
          <a:solidFill>
            <a:srgbClr val="F1F4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669280" y="10789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例：教学计划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669280" y="137160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每门必修课是一个结点，全部必修课组成 K；「必须先修」是 K 上的一个关系。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806440" y="2057400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806440" y="20574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程序设计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0" y="2057400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3E7C6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0" y="20574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数据结构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059168" y="2240280"/>
            <a:ext cx="237744" cy="0"/>
          </a:xfrm>
          <a:prstGeom prst="line">
            <a:avLst/>
          </a:prstGeom>
          <a:noFill/>
          <a:ln w="25400">
            <a:solidFill>
              <a:srgbClr val="A06A00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5669280" y="251460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⟨程序设计, 数据结构⟩ ∈ r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669280" y="278892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表示必须先上程序设计。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669280" y="3154680"/>
            <a:ext cx="2880360" cy="329184"/>
          </a:xfrm>
          <a:prstGeom prst="roundRect">
            <a:avLst>
              <a:gd name="adj" fmla="val 50000"/>
            </a:avLst>
          </a:prstGeom>
          <a:solidFill>
            <a:srgbClr val="CFE0D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669280" y="3154680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开始结点 = 没有先修约束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0" y="36118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没有先修约束的课可以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并行开设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5669280" y="40233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「结点 + 关系」就是全部——这一层不出现任何字节数、地址、指针。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1.1.1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数据结构与算法 · 数据的逻辑结构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结构的分类：以关系 r 的性质为准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286000"/>
                <a:gridCol w="1280160"/>
                <a:gridCol w="32918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结构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前驱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后继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本书在哪几章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线性结构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至多 1 个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至多 1 个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线性表、栈、队列、串（第 2–4 章）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树形结构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根无前驱，其余恰好 1 个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不限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二叉树、树、B 树（第 5、6、11 章）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图结构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不限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不限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最短路、最小生成树（第 7 章）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25146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1F4F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94360" y="25786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77240" y="3154680"/>
            <a:ext cx="237744" cy="237744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1" name="Shape 8"/>
          <p:cNvSpPr/>
          <p:nvPr/>
        </p:nvSpPr>
        <p:spPr>
          <a:xfrm>
            <a:off x="1280160" y="3154680"/>
            <a:ext cx="237744" cy="237744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2" name="Shape 9"/>
          <p:cNvSpPr/>
          <p:nvPr/>
        </p:nvSpPr>
        <p:spPr>
          <a:xfrm>
            <a:off x="1783080" y="3154680"/>
            <a:ext cx="237744" cy="237744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3" name="Shape 10"/>
          <p:cNvSpPr/>
          <p:nvPr/>
        </p:nvSpPr>
        <p:spPr>
          <a:xfrm>
            <a:off x="2286000" y="3154680"/>
            <a:ext cx="237744" cy="237744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4" name="Shape 11"/>
          <p:cNvSpPr/>
          <p:nvPr/>
        </p:nvSpPr>
        <p:spPr>
          <a:xfrm>
            <a:off x="1014984" y="3273552"/>
            <a:ext cx="265176" cy="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517904" y="3273552"/>
            <a:ext cx="265176" cy="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020824" y="3273552"/>
            <a:ext cx="265176" cy="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94360" y="3520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唯一开始结点、唯一终止结点，其余都是「一前一后」的内部结点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246120" y="25146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1F4F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3383280" y="25786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树形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434840" y="2871216"/>
            <a:ext cx="237744" cy="237744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1" name="Shape 18"/>
          <p:cNvSpPr/>
          <p:nvPr/>
        </p:nvSpPr>
        <p:spPr>
          <a:xfrm>
            <a:off x="3931920" y="3346704"/>
            <a:ext cx="237744" cy="237744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22" name="Shape 19"/>
          <p:cNvSpPr/>
          <p:nvPr/>
        </p:nvSpPr>
        <p:spPr>
          <a:xfrm>
            <a:off x="4937760" y="3346704"/>
            <a:ext cx="237744" cy="237744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23" name="Shape 20"/>
          <p:cNvSpPr/>
          <p:nvPr/>
        </p:nvSpPr>
        <p:spPr>
          <a:xfrm>
            <a:off x="3611880" y="3346704"/>
            <a:ext cx="237744" cy="237744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24" name="Shape 21"/>
          <p:cNvSpPr/>
          <p:nvPr/>
        </p:nvSpPr>
        <p:spPr>
          <a:xfrm flipH="1">
            <a:off x="4050792" y="3108960"/>
            <a:ext cx="502920" cy="237744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553712" y="3108960"/>
            <a:ext cx="502920" cy="237744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 flipH="1">
            <a:off x="3730752" y="3108960"/>
            <a:ext cx="822960" cy="237744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3383280" y="36758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有且仅有一个结点（树根）没有前驱；根到任一结点有唯一路径。UNIX / DOS 文件系统就是树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6035040" y="251460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1F4F2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6172200" y="25786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492240" y="2971800"/>
            <a:ext cx="237744" cy="237744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31" name="Shape 28"/>
          <p:cNvSpPr/>
          <p:nvPr/>
        </p:nvSpPr>
        <p:spPr>
          <a:xfrm>
            <a:off x="7498080" y="2971800"/>
            <a:ext cx="237744" cy="237744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32" name="Shape 29"/>
          <p:cNvSpPr/>
          <p:nvPr/>
        </p:nvSpPr>
        <p:spPr>
          <a:xfrm>
            <a:off x="6492240" y="3520440"/>
            <a:ext cx="237744" cy="237744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33" name="Shape 30"/>
          <p:cNvSpPr/>
          <p:nvPr/>
        </p:nvSpPr>
        <p:spPr>
          <a:xfrm>
            <a:off x="7498080" y="3520440"/>
            <a:ext cx="237744" cy="237744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34" name="Shape 31"/>
          <p:cNvSpPr/>
          <p:nvPr/>
        </p:nvSpPr>
        <p:spPr>
          <a:xfrm>
            <a:off x="6729984" y="3090672"/>
            <a:ext cx="768096" cy="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611112" y="3209544"/>
            <a:ext cx="0" cy="310896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729984" y="3639312"/>
            <a:ext cx="768096" cy="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616952" y="3209544"/>
            <a:ext cx="0" cy="310896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729984" y="3209544"/>
            <a:ext cx="768096" cy="310896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863840" y="320040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前驱后继都不限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457200" y="4005072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1E3D34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640080" y="4005072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树 vs 图</a:t>
            </a: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的分界：每个结点是否</a:t>
            </a:r>
            <a:r>
              <a:rPr lang="en-US" sz="11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仅从属于一个直接前驱</a:t>
            </a: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　　</a:t>
            </a:r>
            <a:r>
              <a:rPr lang="en-US" sz="11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 vs 树</a:t>
            </a: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的分界：每个结点是否</a:t>
            </a:r>
            <a:r>
              <a:rPr lang="en-US" sz="11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仅有一个直接后继</a:t>
            </a: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数据结构与算法 · 数据的存储结构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存储结构：从 (K, r) 到物理空间的映射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05840"/>
            <a:ext cx="4754880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主存按字节编址，相邻单元地址连续，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可以按地址随机访问，访问不同地址的时间基本相同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每个结点 k ∈ K → 一块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唯一的连续存储区域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每个关系元组 ⟨kᵢ, kⱼ⟩ ∈ r → 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存储单元地址之间的关系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（顺序关系，或指针的地址指向关系）。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同一种逻辑结构可以采用不同的映射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：线性结构既能顺序存储成顺序表，也能链接存储成链表。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394960" y="1005840"/>
            <a:ext cx="3291840" cy="2103120"/>
          </a:xfrm>
          <a:prstGeom prst="roundRect">
            <a:avLst>
              <a:gd name="adj" fmla="val 3478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532120" y="10972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逻辑结构 (K, r)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577840" y="1417320"/>
            <a:ext cx="274320" cy="274320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1" name="Shape 9"/>
          <p:cNvSpPr/>
          <p:nvPr/>
        </p:nvSpPr>
        <p:spPr>
          <a:xfrm>
            <a:off x="6035040" y="1417320"/>
            <a:ext cx="274320" cy="274320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2" name="Shape 10"/>
          <p:cNvSpPr/>
          <p:nvPr/>
        </p:nvSpPr>
        <p:spPr>
          <a:xfrm>
            <a:off x="6492240" y="1417320"/>
            <a:ext cx="274320" cy="274320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3" name="Shape 11"/>
          <p:cNvSpPr/>
          <p:nvPr/>
        </p:nvSpPr>
        <p:spPr>
          <a:xfrm>
            <a:off x="5852160" y="1554480"/>
            <a:ext cx="182880" cy="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309360" y="1554480"/>
            <a:ext cx="182880" cy="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7269480" y="13898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映射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92240" y="1965960"/>
            <a:ext cx="1280160" cy="0"/>
          </a:xfrm>
          <a:prstGeom prst="line">
            <a:avLst/>
          </a:prstGeom>
          <a:noFill/>
          <a:ln w="25400">
            <a:solidFill>
              <a:srgbClr val="A06A00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5532120" y="21488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物理存储空间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577840" y="2423160"/>
            <a:ext cx="402336" cy="34747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80176" y="2423160"/>
            <a:ext cx="402336" cy="34747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82512" y="2423160"/>
            <a:ext cx="402336" cy="34747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84848" y="2423160"/>
            <a:ext cx="402336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87184" y="2423160"/>
            <a:ext cx="402336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680960" y="2450592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地址连续 → 可随机访问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3246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常用的四种基本存储方法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3584448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F1F4F2"/>
          </a:solidFill>
          <a:ln/>
        </p:spPr>
      </p:sp>
      <p:sp>
        <p:nvSpPr>
          <p:cNvPr id="26" name="Shape 24"/>
          <p:cNvSpPr/>
          <p:nvPr/>
        </p:nvSpPr>
        <p:spPr>
          <a:xfrm>
            <a:off x="566928" y="3685032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66928" y="368503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顺序方法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566928" y="40690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地址相邻，用自然顺序表达关系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560320" y="3584448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F1F4F2"/>
          </a:solidFill>
          <a:ln/>
        </p:spPr>
      </p:sp>
      <p:sp>
        <p:nvSpPr>
          <p:cNvPr id="30" name="Shape 28"/>
          <p:cNvSpPr/>
          <p:nvPr/>
        </p:nvSpPr>
        <p:spPr>
          <a:xfrm>
            <a:off x="2670048" y="3685032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3E7C68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2670048" y="368503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链接方法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2670048" y="40690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结点里附指针域存后继地址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663440" y="3584448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F1F4F2"/>
          </a:solidFill>
          <a:ln/>
        </p:spPr>
      </p:sp>
      <p:sp>
        <p:nvSpPr>
          <p:cNvPr id="34" name="Shape 32"/>
          <p:cNvSpPr/>
          <p:nvPr/>
        </p:nvSpPr>
        <p:spPr>
          <a:xfrm>
            <a:off x="4773168" y="3685032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A06A00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4773168" y="368503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索引方法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4773168" y="40690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索引函数 Y : Z → D，另建索引表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766560" y="3584448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F1F4F2"/>
          </a:solidFill>
          <a:ln/>
        </p:spPr>
      </p:sp>
      <p:sp>
        <p:nvSpPr>
          <p:cNvPr id="38" name="Shape 36"/>
          <p:cNvSpPr/>
          <p:nvPr/>
        </p:nvSpPr>
        <p:spPr>
          <a:xfrm>
            <a:off x="6876288" y="3685032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876288" y="368503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散列方法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6876288" y="40690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用散列函数把关键码算成地址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数据结构与算法 · 存储方法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顺序方法：紧凑存储，按下标访问 O(1)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05840"/>
            <a:ext cx="4937760" cy="1508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把一组结点存放在一片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地址相邻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的存储单元中，结点间的逻辑关系用存储单元的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自然顺序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表达。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按下标访问因此是 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O(1)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；程序设计语言里的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数组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就是它的实例。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顺序存储结构通常也称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紧凑存储结构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：存储空间除数据本身外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没有附加信息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4937760" cy="914400"/>
          </a:xfrm>
          <a:prstGeom prst="roundRect">
            <a:avLst>
              <a:gd name="adj" fmla="val 8000"/>
            </a:avLst>
          </a:prstGeom>
          <a:solidFill>
            <a:srgbClr val="1E3D3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697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存储密度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9718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数据本身占用的空间 ÷ 整个结构（含附加信息）占用的空间。密度太小，空间效率就低。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3611880"/>
            <a:ext cx="4937760" cy="1005840"/>
          </a:xfrm>
          <a:prstGeom prst="roundRect">
            <a:avLst>
              <a:gd name="adj" fmla="val 7273"/>
            </a:avLst>
          </a:prstGeom>
          <a:solidFill>
            <a:srgbClr val="FFF6E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94360" y="37033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非线性结构也能顺序存储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399592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前提是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同时存一些附加信息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来表示逻辑关系。完全二叉树按层编号后，孩子下标可以直接算出来——不必存指针。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1005840"/>
            <a:ext cx="3108960" cy="3611880"/>
          </a:xfrm>
          <a:prstGeom prst="roundRect">
            <a:avLst>
              <a:gd name="adj" fmla="val 2353"/>
            </a:avLst>
          </a:prstGeom>
          <a:solidFill>
            <a:srgbClr val="F1F4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715000" y="10789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完全二叉树按层编号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949440" y="1417320"/>
            <a:ext cx="384048" cy="384048"/>
          </a:xfrm>
          <a:prstGeom prst="ellipse">
            <a:avLst/>
          </a:prstGeom>
          <a:solidFill>
            <a:srgbClr val="F2B134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4944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55080" y="2011680"/>
            <a:ext cx="384048" cy="384048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5508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543800" y="2011680"/>
            <a:ext cx="384048" cy="384048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4380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89320" y="2606040"/>
            <a:ext cx="384048" cy="384048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989320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720840" y="2606040"/>
            <a:ext cx="384048" cy="384048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720840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 flipH="1">
            <a:off x="6547104" y="1801368"/>
            <a:ext cx="594360" cy="210312"/>
          </a:xfrm>
          <a:prstGeom prst="line">
            <a:avLst/>
          </a:prstGeom>
          <a:noFill/>
          <a:ln w="12700">
            <a:solidFill>
              <a:srgbClr val="3E7C6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41464" y="1801368"/>
            <a:ext cx="594360" cy="210312"/>
          </a:xfrm>
          <a:prstGeom prst="line">
            <a:avLst/>
          </a:prstGeom>
          <a:noFill/>
          <a:ln w="12700">
            <a:solidFill>
              <a:srgbClr val="3E7C6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H="1">
            <a:off x="6181344" y="2395728"/>
            <a:ext cx="365760" cy="210312"/>
          </a:xfrm>
          <a:prstGeom prst="line">
            <a:avLst/>
          </a:prstGeom>
          <a:noFill/>
          <a:ln w="12700">
            <a:solidFill>
              <a:srgbClr val="3E7C6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47104" y="2395728"/>
            <a:ext cx="365760" cy="210312"/>
          </a:xfrm>
          <a:prstGeom prst="line">
            <a:avLst/>
          </a:prstGeom>
          <a:noFill/>
          <a:ln w="12700">
            <a:solidFill>
              <a:srgbClr val="3E7C6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715000" y="31089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左孩子 = 2i+1   右孩子 = 2i+2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806440" y="3474720"/>
            <a:ext cx="429768" cy="36576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806440" y="3474720"/>
            <a:ext cx="429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806440" y="3840480"/>
            <a:ext cx="429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236208" y="3474720"/>
            <a:ext cx="429768" cy="36576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236208" y="3474720"/>
            <a:ext cx="429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6236208" y="3840480"/>
            <a:ext cx="429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665976" y="3474720"/>
            <a:ext cx="429768" cy="36576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665976" y="3474720"/>
            <a:ext cx="429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6665976" y="3840480"/>
            <a:ext cx="429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7095744" y="3474720"/>
            <a:ext cx="429768" cy="36576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095744" y="3474720"/>
            <a:ext cx="429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7095744" y="3840480"/>
            <a:ext cx="429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7525512" y="3474720"/>
            <a:ext cx="429768" cy="36576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525512" y="3474720"/>
            <a:ext cx="429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7525512" y="3840480"/>
            <a:ext cx="429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7955280" y="3474720"/>
            <a:ext cx="42976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955280" y="3840480"/>
            <a:ext cx="429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800" dirty="0"/>
          </a:p>
        </p:txBody>
      </p:sp>
      <p:sp>
        <p:nvSpPr>
          <p:cNvPr id="48" name="Text 46"/>
          <p:cNvSpPr txBox="1"/>
          <p:nvPr/>
        </p:nvSpPr>
        <p:spPr>
          <a:xfrm>
            <a:off x="5715000" y="4114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结点直接按编号放进数组，指针一个都不用存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数据结构与算法 · 存储方法 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链接方法：每个结点附一个指针域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51560" y="1051560"/>
            <a:ext cx="640080" cy="45720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91640" y="1051560"/>
            <a:ext cx="411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10515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a₁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103120" y="1280160"/>
            <a:ext cx="548640" cy="0"/>
          </a:xfrm>
          <a:prstGeom prst="line">
            <a:avLst/>
          </a:prstGeom>
          <a:noFill/>
          <a:ln w="1905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651760" y="1051560"/>
            <a:ext cx="640080" cy="45720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1051560"/>
            <a:ext cx="411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651760" y="10515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703320" y="1280160"/>
            <a:ext cx="548640" cy="0"/>
          </a:xfrm>
          <a:prstGeom prst="line">
            <a:avLst/>
          </a:prstGeom>
          <a:noFill/>
          <a:ln w="1905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251960" y="1051560"/>
            <a:ext cx="640080" cy="45720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92040" y="1051560"/>
            <a:ext cx="411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251960" y="10515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a₃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105156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∧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15544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数据域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691640" y="155448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指针域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394960" y="1115568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394960" y="111556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结点 = 数据域 + 指针域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1874520"/>
            <a:ext cx="493776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每个结点里附一个（或多个）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指针域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，专门存放后继的地址。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经常增删、长度事先不知道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的结构：不需要一整片连续空间。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代价：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不知道指针时只能从链头一个一个比下去，按位置访问不再是 O(1)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57200" y="3474720"/>
            <a:ext cx="4937760" cy="1188720"/>
          </a:xfrm>
          <a:prstGeom prst="roundRect">
            <a:avLst>
              <a:gd name="adj" fmla="val 6154"/>
            </a:avLst>
          </a:prstGeom>
          <a:solidFill>
            <a:srgbClr val="FFF6E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94360" y="35661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顺序 vs 链接：一句话对比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3858768"/>
            <a:ext cx="4718304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顺序：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紧凑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，无附加信息，随机访问 O(1)，但长度要先说清。</a:t>
            </a:r>
            <a:endParaRPr lang="en-US" sz="10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链接：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有附加指针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（结构性开销），随机访问退化成 O(n)，但增删灵活、不会「满」。</a:t>
            </a:r>
            <a:endParaRPr lang="en-US" sz="10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 章会把这两种实现写出来逐条对比。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577840" y="1874520"/>
            <a:ext cx="3108960" cy="2788920"/>
          </a:xfrm>
          <a:prstGeom prst="roundRect">
            <a:avLst>
              <a:gd name="adj" fmla="val 2623"/>
            </a:avLst>
          </a:prstGeom>
          <a:solidFill>
            <a:srgbClr val="F1F4F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715000" y="19476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按位置访问的代价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15000" y="2286000"/>
          <a:ext cx="283464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868680"/>
                <a:gridCol w="9144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运算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顺序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链接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取第 i 个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E9E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O(1)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O(n)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已知位置插入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O(n)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E9E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O(1)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长度可变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要扩容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天然支持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附加空间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每结点 1 指针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30" name="Text 27"/>
          <p:cNvSpPr txBox="1"/>
          <p:nvPr/>
        </p:nvSpPr>
        <p:spPr>
          <a:xfrm>
            <a:off x="5715000" y="42976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「按位置访问」与「按内容检索」是两回事，第 2 章分别给出实现与代价。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数据结构与算法 · 存储方法 3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索引方法：索引函数 Y : Z → D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32688"/>
            <a:ext cx="82296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顺序存储的一种推广：造一个从整数域 Z 到存储地址域 D 的索引函数，形成一张存了一组指针的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索引表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。索引表的存储空间是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附加在结点存储空间之外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的。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4447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存储区的数据 —— 物理无序，而且每块长度不等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1600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D3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17373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 73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057400" y="1737360"/>
            <a:ext cx="1051560" cy="457200"/>
          </a:xfrm>
          <a:prstGeom prst="rect">
            <a:avLst/>
          </a:prstGeom>
          <a:solidFill>
            <a:srgbClr val="F9D5D0"/>
          </a:solidFill>
          <a:ln w="12700">
            <a:solidFill>
              <a:srgbClr val="1E3D3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057400" y="173736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[2] 52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08960" y="1737360"/>
            <a:ext cx="13258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D3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108960" y="17373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[3] 42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34840" y="1737360"/>
            <a:ext cx="1737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D3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434840" y="17373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[4] 98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72200" y="1737360"/>
            <a:ext cx="914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D3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72200" y="17373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[5] 37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2240280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五块长度各不相同 →「第 k 块在哪」没法用「起始地址 + k × 块长」算出来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26060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线性索引 —— 附加在数据之外的一张小表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2907792"/>
            <a:ext cx="1005840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1E3D3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7200" y="290779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37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" y="3291840"/>
            <a:ext cx="1005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1E3D3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7200" y="32918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[5]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463040" y="2907792"/>
            <a:ext cx="1005840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1E3D3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463040" y="290779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1463040" y="3291840"/>
            <a:ext cx="1005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1E3D3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463040" y="32918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[3]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468880" y="2907792"/>
            <a:ext cx="1005840" cy="384048"/>
          </a:xfrm>
          <a:prstGeom prst="rect">
            <a:avLst/>
          </a:prstGeom>
          <a:solidFill>
            <a:srgbClr val="F2B134"/>
          </a:solidFill>
          <a:ln w="12700">
            <a:solidFill>
              <a:srgbClr val="1E3D3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468880" y="290779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52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2468880" y="3291840"/>
            <a:ext cx="1005840" cy="384048"/>
          </a:xfrm>
          <a:prstGeom prst="rect">
            <a:avLst/>
          </a:prstGeom>
          <a:solidFill>
            <a:srgbClr val="FFF6E0"/>
          </a:solidFill>
          <a:ln w="12700">
            <a:solidFill>
              <a:srgbClr val="1E3D34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468880" y="32918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[2]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474720" y="2907792"/>
            <a:ext cx="1005840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1E3D34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474720" y="290779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73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3474720" y="3291840"/>
            <a:ext cx="1005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1E3D34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474720" y="32918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480560" y="2907792"/>
            <a:ext cx="1005840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1E3D34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480560" y="290779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98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4480560" y="3291840"/>
            <a:ext cx="1005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1E3D34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480560" y="32918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[4]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5623560" y="290779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关键码：升序 → 逻辑有序，可以二分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5623560" y="32918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指向第几块：乱序 → 物理一块都没搬过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384048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1E3D34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640080" y="39136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这两行的错位就是索引的全部意义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640080" y="4178808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要找关键码 52：先在索引里二分定位到第 3 列，读出 [2]，再直接去存储区取第 2 块——只读一块，没扫其余四块。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数据结构与算法 · 存储方法 3–4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索引的代价，以及散列方法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3977640" cy="1645920"/>
          </a:xfrm>
          <a:prstGeom prst="roundRect">
            <a:avLst>
              <a:gd name="adj" fmla="val 4444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0332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索引：主要作用是提高检索效率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371600"/>
            <a:ext cx="365760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数据量很大时检索会涉及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大量磁盘读写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；先用索引确定存储地址再读写，可以大幅降低读写的数据量。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索引函数一般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数组那样的简单线性函数——结点长度不等时它就不可能是线性的。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697480"/>
            <a:ext cx="3977640" cy="1005840"/>
          </a:xfrm>
          <a:prstGeom prst="roundRect">
            <a:avLst>
              <a:gd name="adj" fmla="val 7273"/>
            </a:avLst>
          </a:prstGeom>
          <a:solidFill>
            <a:srgbClr val="FFF6E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4360" y="27889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代价：索引表本身的空间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3081528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这正是 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 节的时空折衷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：多花一张表的空间，换来检索时间从「逐块扫描」降到「二分 + 一次读」。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960120"/>
            <a:ext cx="3977640" cy="1645920"/>
          </a:xfrm>
          <a:prstGeom prst="roundRect">
            <a:avLst>
              <a:gd name="adj" fmla="val 4444"/>
            </a:avLst>
          </a:prstGeom>
          <a:solidFill>
            <a:srgbClr val="F1F4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892040" y="10332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 散列方法：不查表，直接算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1371600"/>
            <a:ext cx="365760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索引法的延伸：用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散列函数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把关键码的值直接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成存储地址。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散列函数应尽可能把地址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均匀分布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在散列表的地址空间上，同时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计算要简单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以便提速。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冲突怎么处理、装载因子多高会退化——第 10 章展开。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2697480"/>
            <a:ext cx="3977640" cy="1005840"/>
          </a:xfrm>
          <a:prstGeom prst="roundRect">
            <a:avLst>
              <a:gd name="adj" fmla="val 7273"/>
            </a:avLst>
          </a:prstGeom>
          <a:solidFill>
            <a:srgbClr val="1E3D34"/>
          </a:solidFill>
          <a:ln/>
        </p:spPr>
      </p:sp>
      <p:sp>
        <p:nvSpPr>
          <p:cNvPr id="17" name="Shape 15"/>
          <p:cNvSpPr/>
          <p:nvPr/>
        </p:nvSpPr>
        <p:spPr>
          <a:xfrm>
            <a:off x="4892040" y="2971800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892040" y="29718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关键码 52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263640" y="2990088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h(52)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72200" y="3154680"/>
            <a:ext cx="868680" cy="0"/>
          </a:xfrm>
          <a:prstGeom prst="line">
            <a:avLst/>
          </a:prstGeom>
          <a:noFill/>
          <a:ln w="25400">
            <a:solidFill>
              <a:srgbClr val="F2B134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132320" y="2971800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CFE0D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132320" y="29718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地址 3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892040" y="3383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一次计算，不比较、不查表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79476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CFE0D8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94360" y="38862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实际应用往往是几种方法的组合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94360" y="417880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例如树形结构的「子结点表」表示法就是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顺序 + 链接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。选存储方法时还要综合考虑定义在其上的运算：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要不要随机访问、会不会频繁插入、数据在内存还是外存。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1.1.3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数据结构与算法 · 抽象数据类型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ADT：抽象意味着同一个概念可以有多种具体实现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05840"/>
            <a:ext cx="484632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一旦抽象模型建立，同类问题便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无需反复从零造轮子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ADT 是一个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「由数据及其相关操作构成的抽象模型」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：把数据与操作捆绑在一起；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使用方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仅能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通过公开操作访问数据，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不能也不必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窥探其内部表示。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面对某种结构时，先跳出「它是数组还是链表」，转而聚焦：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它对外提供哪些操作？这些操作满足怎样的约束与契约？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最简单的 ADT：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整数及其加、减、乘、除运算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703320"/>
            <a:ext cx="4846320" cy="960120"/>
          </a:xfrm>
          <a:prstGeom prst="roundRect">
            <a:avLst>
              <a:gd name="adj" fmla="val 7619"/>
            </a:avLst>
          </a:prstGeom>
          <a:solidFill>
            <a:srgbClr val="FFF6E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3794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ADT 思想是逐步形成的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408736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世纪 60 年代后期，为了把算法细节与底层数据结构隔离，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Simula 67 引入了「类」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；随后演进出「模块」：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模块接口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导出外部可见的运算规范，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模块体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封装私有数据与实现。唯有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接口与实现分离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，用户才能真正定义独立的类型，达成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数据抽象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信息隐藏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532120" y="1005840"/>
            <a:ext cx="3154680" cy="3657600"/>
          </a:xfrm>
          <a:prstGeom prst="roundRect">
            <a:avLst>
              <a:gd name="adj" fmla="val 2319"/>
            </a:avLst>
          </a:prstGeom>
          <a:solidFill>
            <a:srgbClr val="F1F4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669280" y="10789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形式化表示：三元组 (D, R, P)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0" y="1371600"/>
            <a:ext cx="2880360" cy="1691640"/>
          </a:xfrm>
          <a:prstGeom prst="roundRect">
            <a:avLst>
              <a:gd name="adj" fmla="val 4324"/>
            </a:avLst>
          </a:prstGeom>
          <a:solidFill>
            <a:srgbClr val="F1F4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742432" y="1417320"/>
            <a:ext cx="2734056" cy="1600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ADT 抽象数据类型名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数据对象 D：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数据元素是什么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数据关系 R：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元素之间的逻辑关系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基本操作 P：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对外提供哪些运算规范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715000" y="3200400"/>
            <a:ext cx="2788920" cy="365760"/>
          </a:xfrm>
          <a:prstGeom prst="roundRect">
            <a:avLst>
              <a:gd name="adj" fmla="val 50000"/>
            </a:avLst>
          </a:prstGeom>
          <a:solidFill>
            <a:srgbClr val="3E7C6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715000" y="320040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 与 R = 数据抽象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715000" y="3593592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刻画数据模型的骨干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715000" y="3886200"/>
            <a:ext cx="2788920" cy="365760"/>
          </a:xfrm>
          <a:prstGeom prst="roundRect">
            <a:avLst>
              <a:gd name="adj" fmla="val 50000"/>
            </a:avLst>
          </a:prstGeom>
          <a:solidFill>
            <a:srgbClr val="A06A0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715000" y="388620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 = 行为（操作）抽象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715000" y="4279392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规定该模型能执行的行为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1.1.3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数据结构与算法 · 抽象数据类型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概念层 vs 实现层：切勿混淆两者的层次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3977640" cy="2194560"/>
          </a:xfrm>
          <a:prstGeom prst="roundRect">
            <a:avLst>
              <a:gd name="adj" fmla="val 3333"/>
            </a:avLst>
          </a:prstGeom>
          <a:solidFill>
            <a:srgbClr val="FFF6E0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14300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A06A0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1430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概念层（ADT）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6459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解决此问题需要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什么数据关系与运算契约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103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C++ 里用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公有接口声明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来刻画契约。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2468880"/>
            <a:ext cx="3611880" cy="640080"/>
          </a:xfrm>
          <a:prstGeom prst="roundRect">
            <a:avLst>
              <a:gd name="adj" fmla="val 11429"/>
            </a:avLst>
          </a:prstGeom>
          <a:solidFill>
            <a:srgbClr val="F1F4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13232" y="2514600"/>
            <a:ext cx="3465576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Stack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push(const T&amp;);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std::optional&lt;T&gt; pop();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09160" y="1005840"/>
            <a:ext cx="3977640" cy="2194560"/>
          </a:xfrm>
          <a:prstGeom prst="roundRect">
            <a:avLst>
              <a:gd name="adj" fmla="val 3333"/>
            </a:avLst>
          </a:prstGeom>
          <a:solidFill>
            <a:srgbClr val="EAF4EF"/>
          </a:solidFill>
          <a:ln/>
        </p:spPr>
      </p:sp>
      <p:sp>
        <p:nvSpPr>
          <p:cNvPr id="15" name="Shape 13"/>
          <p:cNvSpPr/>
          <p:nvPr/>
        </p:nvSpPr>
        <p:spPr>
          <a:xfrm>
            <a:off x="4892040" y="114300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3E7C6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892040" y="11430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实现层（类与存储结构）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16459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这些数据在内存中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如何布局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，算法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如何具体编码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2103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C++ 里用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私有成员与函数体实现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来落地。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892040" y="2468880"/>
            <a:ext cx="3611880" cy="640080"/>
          </a:xfrm>
          <a:prstGeom prst="roundRect">
            <a:avLst>
              <a:gd name="adj" fmla="val 11429"/>
            </a:avLst>
          </a:prstGeom>
          <a:solidFill>
            <a:srgbClr val="F1F4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965192" y="2514600"/>
            <a:ext cx="3465576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T* data_;       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顺序：连续数组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或 Node* top_;  // 链接：结点串联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333756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1E3D3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0080" y="34015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ADT 最精炼的定义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365760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一种数据的逻辑结构，连同定义在该逻辑结构上的一组抽象操作。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224528"/>
            <a:ext cx="82296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 ADT 可以有多个实现层的版本（顺序 / 链接）；换实现不应该影响调用方——这正是第 2–4 章反复出现的结构。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数据结构与算法 · 算法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算法：从《周髀算经》到图灵机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9601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公元前 300 多年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960120"/>
            <a:ext cx="3703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算法的研究可追溯至此；中文名称出自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《周髀算经》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728216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" y="1728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1636776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世纪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2560320" y="1636776"/>
            <a:ext cx="3703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英文 algorithm 源于波斯数学家 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al-Khwarizmi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，他首先在数学上提出算法概念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404872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" y="2404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231343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1842—1843 年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2560320" y="2313432"/>
            <a:ext cx="3703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 Byron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为巴贝奇分析机编写计算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伯努利数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的程序（原书作「求解伯努利方程」）——被认为是世界第一位程序员；因分析机未完成，该算法始终没能在机器上执行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081528"/>
            <a:ext cx="384048" cy="384048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57200" y="3081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960120" y="299008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世纪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2560320" y="2990088"/>
            <a:ext cx="3703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图灵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提出图灵论题与图灵机抽象模型，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解决了算法定义的难题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，使大多数算法都能转成程序交给计算机执行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758184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57200" y="3758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960120" y="3666744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世纪 70 年代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2560320" y="3666744"/>
            <a:ext cx="3703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D. E. Knuth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：计算机科学就是研究算法的学问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46520" y="960120"/>
            <a:ext cx="2240280" cy="1600200"/>
          </a:xfrm>
          <a:prstGeom prst="roundRect">
            <a:avLst>
              <a:gd name="adj" fmla="val 4571"/>
            </a:avLst>
          </a:prstGeom>
          <a:solidFill>
            <a:srgbClr val="FFF6E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583680" y="10515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算法的分类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556248" y="1344168"/>
            <a:ext cx="2020824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应用范围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：数值算法 / 非数值算法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工作方式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：串行算法 / 并行算法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本书后面各章几乎都是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非数值的、串行的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算法。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46520" y="2743200"/>
            <a:ext cx="2240280" cy="1280160"/>
          </a:xfrm>
          <a:prstGeom prst="roundRect">
            <a:avLst>
              <a:gd name="adj" fmla="val 5714"/>
            </a:avLst>
          </a:prstGeom>
          <a:solidFill>
            <a:srgbClr val="CFE0D8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583680" y="28346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算法与程序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583680" y="3127248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算法是对特定问题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求解过程的描述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，是指令的有限序列；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程序是算法的一种实现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，计算机按照程序逐步执行算法。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6446520" y="41605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典型例子：求最大公因子的辗转相除法、求解联立线性方程组的主元素消除法。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1.2.1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数据结构与算法 · 算法的概念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算法的四条性质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3977640" cy="1234440"/>
          </a:xfrm>
          <a:prstGeom prst="roundRect">
            <a:avLst>
              <a:gd name="adj" fmla="val 5926"/>
            </a:avLst>
          </a:prstGeom>
          <a:solidFill>
            <a:srgbClr val="F1F4F2"/>
          </a:solidFill>
          <a:ln/>
        </p:spPr>
      </p:sp>
      <p:sp>
        <p:nvSpPr>
          <p:cNvPr id="8" name="Shape 6"/>
          <p:cNvSpPr/>
          <p:nvPr/>
        </p:nvSpPr>
        <p:spPr>
          <a:xfrm>
            <a:off x="621792" y="1143000"/>
            <a:ext cx="402336" cy="402336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21792" y="1143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11430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通用性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21792" y="1554480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任意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符合输入数据类型的输入，都能求解并保证结果正确——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不是只对一组样例成立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1005840"/>
            <a:ext cx="3977640" cy="1234440"/>
          </a:xfrm>
          <a:prstGeom prst="roundRect">
            <a:avLst>
              <a:gd name="adj" fmla="val 5926"/>
            </a:avLst>
          </a:prstGeom>
          <a:solidFill>
            <a:srgbClr val="F1F4F2"/>
          </a:solidFill>
          <a:ln/>
        </p:spPr>
      </p:sp>
      <p:sp>
        <p:nvSpPr>
          <p:cNvPr id="13" name="Shape 11"/>
          <p:cNvSpPr/>
          <p:nvPr/>
        </p:nvSpPr>
        <p:spPr>
          <a:xfrm>
            <a:off x="4873752" y="1143000"/>
            <a:ext cx="402336" cy="402336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873752" y="1143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394960" y="11430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有效性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873752" y="1554480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有限条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指令组成，每条都能被人或机器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确切执行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，且执行结果具有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确定的数据类型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、是可预期的。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377440"/>
            <a:ext cx="3977640" cy="1234440"/>
          </a:xfrm>
          <a:prstGeom prst="roundRect">
            <a:avLst>
              <a:gd name="adj" fmla="val 5926"/>
            </a:avLst>
          </a:prstGeom>
          <a:solidFill>
            <a:srgbClr val="F1F4F2"/>
          </a:solidFill>
          <a:ln/>
        </p:spPr>
      </p:sp>
      <p:sp>
        <p:nvSpPr>
          <p:cNvPr id="18" name="Shape 16"/>
          <p:cNvSpPr/>
          <p:nvPr/>
        </p:nvSpPr>
        <p:spPr>
          <a:xfrm>
            <a:off x="621792" y="2514600"/>
            <a:ext cx="402336" cy="402336"/>
          </a:xfrm>
          <a:prstGeom prst="ellipse">
            <a:avLst/>
          </a:prstGeom>
          <a:solidFill>
            <a:srgbClr val="A06A0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21792" y="2514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" y="25146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确定性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" y="2926080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每执行一步之后，关于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下一步怎么执行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都有明确指示：条件判断、分支、顺序执行，或指示算法结束。不能「被锁住」或含模糊指令。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9160" y="2377440"/>
            <a:ext cx="3977640" cy="1234440"/>
          </a:xfrm>
          <a:prstGeom prst="roundRect">
            <a:avLst>
              <a:gd name="adj" fmla="val 5926"/>
            </a:avLst>
          </a:prstGeom>
          <a:solidFill>
            <a:srgbClr val="F1F4F2"/>
          </a:solidFill>
          <a:ln/>
        </p:spPr>
      </p:sp>
      <p:sp>
        <p:nvSpPr>
          <p:cNvPr id="23" name="Shape 21"/>
          <p:cNvSpPr/>
          <p:nvPr/>
        </p:nvSpPr>
        <p:spPr>
          <a:xfrm>
            <a:off x="4873752" y="2514600"/>
            <a:ext cx="402336" cy="40233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873752" y="2514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394960" y="25146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有穷性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4873752" y="2926080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执行必须在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有限步内结束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，不能含死循环。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79476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DF0E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40080" y="38587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一个容易混淆的地方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4114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算法由有限条指令组成这一事实本身，并不能保证算法执行的有穷性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——循环条件写错，有限条指令也可以转个没完。设计算法时应该关注</a:t>
            </a: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结束条件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数据结构与算法 · 算法设计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六种常用的算法设计方法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9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32688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663440"/>
                <a:gridCol w="1737360"/>
              </a:tblGrid>
              <a:tr h="448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方法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要点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在哪儿用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穷举法</a:t>
                      </a: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enumeration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把问题空间里的求解对象一一列举、逐一分析处理并验证。要求对象有限、有列举规则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E7C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switch</a:t>
                      </a: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就是一种穷举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回溯法</a:t>
                      </a: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backtrack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按某种顺序逐一枚举并检验候选解。当前候选解不可能是解时</a:t>
                      </a: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回溯</a:t>
                      </a: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到上一步；还不够规模但其余条件都满足时</a:t>
                      </a: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向前试探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深度优先搜索、背包问题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分治法</a:t>
                      </a: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divide and conquer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把大问题分割成规模较小的子问题，各个击破，再合并出整个问题的解。</a:t>
                      </a: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自顶向下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快速排序、归并排序、二分检索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递归法</a:t>
                      </a: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recursion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分治产生的子问题往往是原问题的较小模式，反复分治自然导致递归。</a:t>
                      </a: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分治与递归如同一对孪生兄弟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同上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贪心法</a:t>
                      </a: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greedy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从初始状态出发，依据某种</a:t>
                      </a: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贪心标准</a:t>
                      </a: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做若干次贪心选择。只考虑局部最优，寄望于拼出全局最优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Prim、Kruskal、Dijkstra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动态规划</a:t>
                      </a: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DP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也把问题分解成子问题，但</a:t>
                      </a: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子问题不相互独立</a:t>
                      </a: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。用一张表记录已解子问题的答案，避免大量重复计算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Floyd、最佳二叉搜索树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可以选择和组合这些基本方法：算法的组合 · 经典算法的变形与推广 · 研究困难问题的特殊情况 · 探索新的算法。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数据结构与算法 · 算法设计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三条值得记住的要点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F1F4F2"/>
          </a:solidFill>
          <a:ln/>
        </p:spPr>
      </p:sp>
      <p:sp>
        <p:nvSpPr>
          <p:cNvPr id="8" name="Shape 6"/>
          <p:cNvSpPr/>
          <p:nvPr/>
        </p:nvSpPr>
        <p:spPr>
          <a:xfrm>
            <a:off x="658368" y="1353312"/>
            <a:ext cx="457200" cy="45720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" y="1353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116128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全局穷举费时，局部穷举常常很有效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150876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对整个问题空间做全局穷举往往效率难以满足要求；但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在问题的局部采用穷举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常常很有效。C/C++ 的 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就是一种穷举。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24028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F1F4F2"/>
          </a:solidFill>
          <a:ln/>
        </p:spPr>
      </p:sp>
      <p:sp>
        <p:nvSpPr>
          <p:cNvPr id="13" name="Shape 11"/>
          <p:cNvSpPr/>
          <p:nvPr/>
        </p:nvSpPr>
        <p:spPr>
          <a:xfrm>
            <a:off x="658368" y="2542032"/>
            <a:ext cx="457200" cy="457200"/>
          </a:xfrm>
          <a:prstGeom prst="ellipse">
            <a:avLst/>
          </a:prstGeom>
          <a:solidFill>
            <a:srgbClr val="A06A0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8368" y="2542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235000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贪心法的核心问题：选对度量标准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269748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贪心只做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局部最优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的选择，寄望于由局部最优构建全局最优。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选择一个真能产生问题最优解的最优度量标准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，是使用贪心法的核心问题。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342900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F1F4F2"/>
          </a:solidFill>
          <a:ln/>
        </p:spPr>
      </p:sp>
      <p:sp>
        <p:nvSpPr>
          <p:cNvPr id="18" name="Shape 16"/>
          <p:cNvSpPr/>
          <p:nvPr/>
        </p:nvSpPr>
        <p:spPr>
          <a:xfrm>
            <a:off x="658368" y="3730752"/>
            <a:ext cx="457200" cy="457200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58368" y="3730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353872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动态规划 vs 分治：子问题是否独立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388620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 DP 的问题，分解出的子问题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往往不相互独立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。若仍用分治，同一个子问题会被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重复计算很多次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；把已解子问题的答案填进一张表，就能避免重复计算。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最小生成树的 Prim 与 Kruskal、最短路的 Dijkstra 都是贪心；Floyd 是比较典型的动态规划；最佳二叉搜索树也是动态规划。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2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问题求解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从现实问题到可运行的程序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股市的传言 · 相邻矩阵 · Floyd 最短路 · 最小化最大距离 · OJ05443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问题求解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 = 数据结构 + 算法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1F4F2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143000"/>
            <a:ext cx="1325880" cy="347472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14300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554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指令的组合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46120" y="100584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1F4F2"/>
          </a:solidFill>
          <a:ln/>
        </p:spPr>
      </p:sp>
      <p:sp>
        <p:nvSpPr>
          <p:cNvPr id="12" name="Shape 10"/>
          <p:cNvSpPr/>
          <p:nvPr/>
        </p:nvSpPr>
        <p:spPr>
          <a:xfrm>
            <a:off x="3429000" y="1143000"/>
            <a:ext cx="1325880" cy="347472"/>
          </a:xfrm>
          <a:prstGeom prst="roundRect">
            <a:avLst>
              <a:gd name="adj" fmla="val 50000"/>
            </a:avLst>
          </a:prstGeom>
          <a:solidFill>
            <a:srgbClr val="3E7C6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429000" y="114300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1554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求解过程的逻辑抽象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35040" y="100584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1F4F2"/>
          </a:solidFill>
          <a:ln/>
        </p:spPr>
      </p:sp>
      <p:sp>
        <p:nvSpPr>
          <p:cNvPr id="16" name="Shape 14"/>
          <p:cNvSpPr/>
          <p:nvPr/>
        </p:nvSpPr>
        <p:spPr>
          <a:xfrm>
            <a:off x="6217920" y="1143000"/>
            <a:ext cx="1325880" cy="347472"/>
          </a:xfrm>
          <a:prstGeom prst="roundRect">
            <a:avLst>
              <a:gd name="adj" fmla="val 50000"/>
            </a:avLst>
          </a:prstGeom>
          <a:solidFill>
            <a:srgbClr val="A06A0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17920" y="114300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数据结构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1554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数据及其关系在计算机里的反映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2286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求解路径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2651760"/>
            <a:ext cx="1463040" cy="960120"/>
          </a:xfrm>
          <a:prstGeom prst="roundRect">
            <a:avLst>
              <a:gd name="adj" fmla="val 7619"/>
            </a:avLst>
          </a:prstGeom>
          <a:solidFill>
            <a:srgbClr val="F1F4F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02920" y="27249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现实问题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02920" y="30632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股市的传言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938528" y="3127248"/>
            <a:ext cx="201168" cy="0"/>
          </a:xfrm>
          <a:prstGeom prst="line">
            <a:avLst/>
          </a:prstGeom>
          <a:noFill/>
          <a:ln w="2540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2157984" y="2651760"/>
            <a:ext cx="1463040" cy="960120"/>
          </a:xfrm>
          <a:prstGeom prst="roundRect">
            <a:avLst>
              <a:gd name="adj" fmla="val 7619"/>
            </a:avLst>
          </a:prstGeom>
          <a:solidFill>
            <a:srgbClr val="1E3D3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2203704" y="27249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抽象成模型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2203704" y="30632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有向带权图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39312" y="3127248"/>
            <a:ext cx="201168" cy="0"/>
          </a:xfrm>
          <a:prstGeom prst="line">
            <a:avLst/>
          </a:prstGeom>
          <a:noFill/>
          <a:ln w="2540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3858768" y="2651760"/>
            <a:ext cx="1463040" cy="960120"/>
          </a:xfrm>
          <a:prstGeom prst="roundRect">
            <a:avLst>
              <a:gd name="adj" fmla="val 7619"/>
            </a:avLst>
          </a:prstGeom>
          <a:solidFill>
            <a:srgbClr val="F1F4F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3904488" y="27249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选逻辑 + 存储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3904488" y="30632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相邻矩阵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340096" y="3127248"/>
            <a:ext cx="201168" cy="0"/>
          </a:xfrm>
          <a:prstGeom prst="line">
            <a:avLst/>
          </a:prstGeom>
          <a:noFill/>
          <a:ln w="2540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559552" y="2651760"/>
            <a:ext cx="1463040" cy="960120"/>
          </a:xfrm>
          <a:prstGeom prst="roundRect">
            <a:avLst>
              <a:gd name="adj" fmla="val 7619"/>
            </a:avLst>
          </a:prstGeom>
          <a:solidFill>
            <a:srgbClr val="1E3D34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5605272" y="27249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设计算法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5605272" y="30632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Floyd + 取最大值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040880" y="3127248"/>
            <a:ext cx="201168" cy="0"/>
          </a:xfrm>
          <a:prstGeom prst="line">
            <a:avLst/>
          </a:prstGeom>
          <a:noFill/>
          <a:ln w="2540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7260336" y="2651760"/>
            <a:ext cx="1463040" cy="960120"/>
          </a:xfrm>
          <a:prstGeom prst="roundRect">
            <a:avLst>
              <a:gd name="adj" fmla="val 7619"/>
            </a:avLst>
          </a:prstGeom>
          <a:solidFill>
            <a:srgbClr val="F1F4F2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7306056" y="27249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可运行程序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7306056" y="30632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demo.cpp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" y="379476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6E0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594360" y="38862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Wirth 的那句话说的就是这件事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594360" y="417880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本章第 2 节把这条路径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完整走一遍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：从题面到相邻矩阵，到 Floyd 三重循环，再到一个 30 行的 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。第 3 节回头评价这条路径选得好不好。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问题求解 · 问题描述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股市的传言：从哪个人开始散布，全员知道得最快？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3840480" cy="2788920"/>
          </a:xfrm>
          <a:prstGeom prst="roundRect">
            <a:avLst>
              <a:gd name="adj" fmla="val 2623"/>
            </a:avLst>
          </a:prstGeom>
          <a:solidFill>
            <a:srgbClr val="F1F4F2"/>
          </a:solidFill>
          <a:ln/>
        </p:spPr>
      </p:sp>
      <p:pic>
        <p:nvPicPr>
          <p:cNvPr id="8" name="Image 0" descr="fig-1-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981" y="1051560"/>
            <a:ext cx="2768918" cy="260604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7200" y="3840480"/>
            <a:ext cx="38404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顶点 Bᵢ 是第 i 个经纪人，有向边 ⟨Bᵢ, Bⱼ⟩ 表示 i 能把消息直接传给 j，边上的数是所需时间。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4480560" y="960120"/>
            <a:ext cx="4206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若干股票经纪人之间互相传消息。谁能直接传给谁、传一次要花多久，都是已知的。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480560" y="1463040"/>
            <a:ext cx="4206240" cy="685800"/>
          </a:xfrm>
          <a:prstGeom prst="roundRect">
            <a:avLst>
              <a:gd name="adj" fmla="val 10667"/>
            </a:avLst>
          </a:prstGeom>
          <a:solidFill>
            <a:srgbClr val="1E3D34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17720" y="146304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问：从哪一个人开始散布消息，能让所有人最快都知道？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480560" y="2286000"/>
            <a:ext cx="4206240" cy="777240"/>
          </a:xfrm>
          <a:prstGeom prst="roundRect">
            <a:avLst>
              <a:gd name="adj" fmla="val 9412"/>
            </a:avLst>
          </a:prstGeom>
          <a:solidFill>
            <a:srgbClr val="FDF0E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617720" y="2377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题面不是「出边最多的人」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4617720" y="267004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要的是让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最后一个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收到消息的人也尽可能早收到。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480560" y="3200400"/>
            <a:ext cx="4206240" cy="1051560"/>
          </a:xfrm>
          <a:prstGeom prst="roundRect">
            <a:avLst>
              <a:gd name="adj" fmla="val 6957"/>
            </a:avLst>
          </a:prstGeom>
          <a:solidFill>
            <a:srgbClr val="FFF6E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617720" y="32918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方向和权都重要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4617720" y="3584448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同一对人，两个方向的时间不一样：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B₁ → B₅ 是 3，而 B₅ → B₁ 是 5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。所以这是一张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有向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带权图。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4480560" y="4370832"/>
            <a:ext cx="42062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实例：五个经纪人 B₁…B₅，10 条有向边。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问题求解 · 问题描述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条有向边：谁能传给谁，各要多久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9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48463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393192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起点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出边（终点 / 耗时）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B1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→B2 (8)　→B4 (4)　→B5 (3)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B2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→B5 (8)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B3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→B1 (6)　→B2 (7)　→B4 (10)　→B5 (2)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B4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（没有出边）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B5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→B1 (5)　→B2 (5)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960120"/>
          <a:ext cx="310896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1051560"/>
                <a:gridCol w="100584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起点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终点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B1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B4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B1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B2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B1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B5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B2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B5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B3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B1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B3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B2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B3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B4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B3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B5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B5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B1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B5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B2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457200" y="3291840"/>
            <a:ext cx="4846320" cy="1325880"/>
          </a:xfrm>
          <a:prstGeom prst="roundRect">
            <a:avLst>
              <a:gd name="adj" fmla="val 5517"/>
            </a:avLst>
          </a:prstGeom>
          <a:solidFill>
            <a:srgbClr val="FFF6E0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594360" y="3383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B3 指出四条边，是唯一能到达其余所有人的起点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594360" y="3675888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但「能到达」还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不等于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「最快」——这一步只是把候选缩小，真正的答案要等 Floyd 算完再比。B4 没有出边，消息到它这里就停住了。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问题求解 · 问题分析和抽象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抽象：有向带权图上的最短路径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05840"/>
            <a:ext cx="493776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五个人 → 五个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顶点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；一条 Bᵢ → Bⱼ 边表示消息能直接传过去，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边权是传播时间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没有边就记 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∞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，表示消息永远传不到那里。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于是问题变成：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在有向带权图里找一个顶点，从它出发能以最短时间把消息送到其余所有顶点。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4937760" cy="1417320"/>
          </a:xfrm>
          <a:prstGeom prst="roundRect">
            <a:avLst>
              <a:gd name="adj" fmla="val 5161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542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两点之间可以绕道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8529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B₅ 到 B₄ 没有直接边，要经 B₁ 中转：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3200400"/>
            <a:ext cx="548640" cy="347472"/>
          </a:xfrm>
          <a:prstGeom prst="roundRect">
            <a:avLst>
              <a:gd name="adj" fmla="val 50000"/>
            </a:avLst>
          </a:prstGeom>
          <a:solidFill>
            <a:srgbClr val="3E7C6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320040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B₅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325880" y="3374136"/>
            <a:ext cx="457200" cy="0"/>
          </a:xfrm>
          <a:prstGeom prst="line">
            <a:avLst/>
          </a:prstGeom>
          <a:noFill/>
          <a:ln w="2286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1371600" y="30175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828800" y="3200400"/>
            <a:ext cx="548640" cy="347472"/>
          </a:xfrm>
          <a:prstGeom prst="roundRect">
            <a:avLst>
              <a:gd name="adj" fmla="val 50000"/>
            </a:avLst>
          </a:prstGeom>
          <a:solidFill>
            <a:srgbClr val="3E7C6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828800" y="320040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423160" y="3374136"/>
            <a:ext cx="457200" cy="0"/>
          </a:xfrm>
          <a:prstGeom prst="line">
            <a:avLst/>
          </a:prstGeom>
          <a:noFill/>
          <a:ln w="2286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2468880" y="30175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926080" y="3200400"/>
            <a:ext cx="548640" cy="347472"/>
          </a:xfrm>
          <a:prstGeom prst="roundRect">
            <a:avLst>
              <a:gd name="adj" fmla="val 50000"/>
            </a:avLst>
          </a:prstGeom>
          <a:solidFill>
            <a:srgbClr val="3E7C6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2926080" y="320040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B₄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3703320" y="32004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路径长度 = 5 + 4 = 9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5844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顶点序列 B₅B₁B₄ 就是一条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，路径长度是各边权之和；两点之间最短的那条路径叫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最短路径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577840" y="1005840"/>
            <a:ext cx="3108960" cy="2880360"/>
          </a:xfrm>
          <a:prstGeom prst="roundRect">
            <a:avLst>
              <a:gd name="adj" fmla="val 2540"/>
            </a:avLst>
          </a:prstGeom>
          <a:solidFill>
            <a:srgbClr val="FFF6E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715000" y="10972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为什么用相邻矩阵存图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687568" y="1389888"/>
            <a:ext cx="2889504" cy="2423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要算的是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任意两点之间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的最短路径（不是单源），所以用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相邻矩阵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：第 i 行第 j 列是边 ⟨Bᵢ, Bⱼ⟩ 的权，没有边记 ∞。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顶点只有 5 个，矩阵 5 × 5 一目了然；Floyd 正好吃这种输入。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3.4 节会讨论：如果顶点很多、边很少，就该换成邻接表 + Dijkstra。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「最短」在这道题里的含义是「传播时间最少」——建模时先把现实量对应到边权，后面的算法才有意义。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问题求解 · 问题分析和抽象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相邻矩阵：这就是算法的输入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</a:t>
            </a:r>
            <a:endParaRPr lang="en-US" sz="9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50292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841248"/>
                <a:gridCol w="841248"/>
                <a:gridCol w="841248"/>
                <a:gridCol w="841248"/>
                <a:gridCol w="841248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B4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B5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0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∞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∞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0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∞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∞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0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B4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∞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∞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∞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0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∞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B5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∞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∞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0D8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669280" y="960120"/>
            <a:ext cx="3017520" cy="2011680"/>
          </a:xfrm>
          <a:prstGeom prst="roundRect">
            <a:avLst>
              <a:gd name="adj" fmla="val 3636"/>
            </a:avLst>
          </a:prstGeom>
          <a:solidFill>
            <a:srgbClr val="FFF6E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806440" y="1051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读这张矩阵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779008" y="1344168"/>
            <a:ext cx="2798064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对角线是 0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：一个人到自己不需要传播时间。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∞ 表示没有直接边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——不是「距离很大」，而是「没有这条路」。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4 行全是 ∞（除对角线）：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B4 没有出边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，消息传到它就停。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列全是 ∞（除对角线）：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没人能传给 B3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，所以除 B3 自己，谁都覆盖不了全员。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4015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工作可以拆成三步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3730752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F1F4F2"/>
          </a:solidFill>
          <a:ln/>
        </p:spPr>
      </p:sp>
      <p:sp>
        <p:nvSpPr>
          <p:cNvPr id="13" name="Shape 10"/>
          <p:cNvSpPr/>
          <p:nvPr/>
        </p:nvSpPr>
        <p:spPr>
          <a:xfrm>
            <a:off x="566928" y="3822192"/>
            <a:ext cx="329184" cy="329184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66928" y="3822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960120" y="37856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Floyd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566928" y="407822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算出任意两人间的最短传播时间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246120" y="3730752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F1F4F2"/>
          </a:solidFill>
          <a:ln/>
        </p:spPr>
      </p:sp>
      <p:sp>
        <p:nvSpPr>
          <p:cNvPr id="18" name="Shape 15"/>
          <p:cNvSpPr/>
          <p:nvPr/>
        </p:nvSpPr>
        <p:spPr>
          <a:xfrm>
            <a:off x="3355848" y="3822192"/>
            <a:ext cx="329184" cy="329184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3355848" y="3822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3749040" y="37856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取每行最大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3355848" y="407822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对每个候选起点，找出「到每个人的最短时间」中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最慢的一项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035040" y="3730752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FFF6E0"/>
          </a:solidFill>
          <a:ln/>
        </p:spPr>
      </p:sp>
      <p:sp>
        <p:nvSpPr>
          <p:cNvPr id="23" name="Shape 20"/>
          <p:cNvSpPr/>
          <p:nvPr/>
        </p:nvSpPr>
        <p:spPr>
          <a:xfrm>
            <a:off x="6144768" y="3822192"/>
            <a:ext cx="329184" cy="329184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144768" y="3822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6537960" y="37856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取最小</a:t>
            </a:r>
            <a:endParaRPr lang="en-US" sz="1150" dirty="0"/>
          </a:p>
        </p:txBody>
      </p:sp>
      <p:sp>
        <p:nvSpPr>
          <p:cNvPr id="26" name="Text 23"/>
          <p:cNvSpPr txBox="1"/>
          <p:nvPr/>
        </p:nvSpPr>
        <p:spPr>
          <a:xfrm>
            <a:off x="6144768" y="407822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从这些最大值中选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的一个；某行仍有 ∞ 时该起点不合格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问题求解 · 问题分析和抽象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为什么要取「最慢的一项」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49377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假设从 B3 开始，Floyd 算出的最短传播时间是：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914400" cy="777240"/>
          </a:xfrm>
          <a:prstGeom prst="roundRect">
            <a:avLst>
              <a:gd name="adj" fmla="val 9412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" y="1371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 B1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157276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444752" y="1325880"/>
            <a:ext cx="914400" cy="777240"/>
          </a:xfrm>
          <a:prstGeom prst="roundRect">
            <a:avLst>
              <a:gd name="adj" fmla="val 9412"/>
            </a:avLst>
          </a:prstGeom>
          <a:solidFill>
            <a:srgbClr val="F1F4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444752" y="1371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 B2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1444752" y="157276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32304" y="1325880"/>
            <a:ext cx="914400" cy="777240"/>
          </a:xfrm>
          <a:prstGeom prst="roundRect">
            <a:avLst>
              <a:gd name="adj" fmla="val 9412"/>
            </a:avLst>
          </a:prstGeom>
          <a:solidFill>
            <a:srgbClr val="F1F4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432304" y="1371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到自身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2432304" y="157276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3419856" y="1325880"/>
            <a:ext cx="914400" cy="777240"/>
          </a:xfrm>
          <a:prstGeom prst="roundRect">
            <a:avLst>
              <a:gd name="adj" fmla="val 9412"/>
            </a:avLst>
          </a:prstGeom>
          <a:solidFill>
            <a:srgbClr val="F2B13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419856" y="1371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 B4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3419856" y="157276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4407408" y="1325880"/>
            <a:ext cx="914400" cy="777240"/>
          </a:xfrm>
          <a:prstGeom prst="roundRect">
            <a:avLst>
              <a:gd name="adj" fmla="val 9412"/>
            </a:avLst>
          </a:prstGeom>
          <a:solidFill>
            <a:srgbClr val="F1F4F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407408" y="1371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 B5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4407408" y="157276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2240280"/>
            <a:ext cx="493776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消息要「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传遍所有人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」，就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必须等最慢的 B4 收到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所以 B3 的完成时间是这五个数里的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最大值 10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不是它们的和（25），也不是最小值（0）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这个量有个名字：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离心率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（eccentricity）——某起点到全部顶点的最短距离中的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最大值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703320"/>
            <a:ext cx="4937760" cy="914400"/>
          </a:xfrm>
          <a:prstGeom prst="roundRect">
            <a:avLst>
              <a:gd name="adj" fmla="val 8000"/>
            </a:avLst>
          </a:prstGeom>
          <a:solidFill>
            <a:srgbClr val="1E3D3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0080" y="37764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目标：最小化最大距离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4069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不是选离某一个人最近的起点，而是选让</a:t>
            </a: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最后一个</a:t>
            </a: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收到消息的人也尽可能早收到消息的起点。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669280" y="960120"/>
            <a:ext cx="3017520" cy="2011680"/>
          </a:xfrm>
          <a:prstGeom prst="roundRect">
            <a:avLst>
              <a:gd name="adj" fmla="val 3636"/>
            </a:avLst>
          </a:prstGeom>
          <a:solidFill>
            <a:srgbClr val="FFF6E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806440" y="1051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三种「聚合」方式，选错就答错题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779008" y="1344168"/>
            <a:ext cx="2798064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「总传播工作量最小」，是另一个问题（近似 MST）。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「最快让某一个人知道」，选边权最小的那条边就行。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「让所有人都知道的时刻」，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本题要的就是这个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669280" y="3154680"/>
            <a:ext cx="3017520" cy="1097280"/>
          </a:xfrm>
          <a:prstGeom prst="roundRect">
            <a:avLst>
              <a:gd name="adj" fmla="val 6667"/>
            </a:avLst>
          </a:prstGeom>
          <a:solidFill>
            <a:srgbClr val="FDF0E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806440" y="3246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∞ 怎么处理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5806440" y="353872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某行只要还有一个 ∞，该行的最大值就是 ∞：至少有一人永远收不到消息，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这个起点不合格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问题求解 · 问题分析和抽象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把每个人都当一次起点：答案是 B3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</a:t>
            </a:r>
            <a:endParaRPr lang="en-US" sz="9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822960"/>
                <a:gridCol w="822960"/>
                <a:gridCol w="822960"/>
                <a:gridCol w="822960"/>
                <a:gridCol w="822960"/>
                <a:gridCol w="1920240"/>
                <a:gridCol w="15087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起点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到 B1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到 B2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到 B3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到 B4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到 B5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最慢的最短时间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是否可选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∞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∞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否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B2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∞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17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∞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否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B3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是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B4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∞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∞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∞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∞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∞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否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B5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∞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∞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否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3383280"/>
            <a:ext cx="8229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Floyd 算完之后的结果矩阵。∞ 表示至少有一人永远收不到消息，所以那一行没有可用的完成时间。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57200" y="3703320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FFF6E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94360" y="37947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两个绕道出来的数，核对一遍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66928" y="4087368"/>
            <a:ext cx="4901184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B2 → B4 = 17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：B2→B5 (8) + B5→B1 (5) + B1→B4 (4) = 17，没有直接边。</a:t>
            </a:r>
            <a:endParaRPr lang="en-US" sz="10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B5 → B4 = 9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：B5→B1 (5) + B1→B4 (4) = 9。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760720" y="370332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1E3D34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943600" y="37856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5943600" y="404164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B3，完成时间 10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问题求解 · 数据结构和算法设计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把「怎么展示」与「怎么算」分开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1F4F2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051560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05156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modern.hpp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只有数据和计算，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不含任何输入输出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91840" y="96012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1F4F2"/>
          </a:solidFill>
          <a:ln/>
        </p:spPr>
      </p:sp>
      <p:sp>
        <p:nvSpPr>
          <p:cNvPr id="12" name="Shape 10"/>
          <p:cNvSpPr/>
          <p:nvPr/>
        </p:nvSpPr>
        <p:spPr>
          <a:xfrm>
            <a:off x="3474720" y="1051560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3E7C6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474720" y="105156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demo.cpp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只负责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组装输入、打印结果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26480" y="960120"/>
            <a:ext cx="2560320" cy="868680"/>
          </a:xfrm>
          <a:prstGeom prst="roundRect">
            <a:avLst>
              <a:gd name="adj" fmla="val 8421"/>
            </a:avLst>
          </a:prstGeom>
          <a:solidFill>
            <a:srgbClr val="CFE0D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63640" y="1051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三个公开操作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134416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构造函数建立距离矩阵；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add_route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填入直接边；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best_source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计算答案（内部复制一份矩阵，多次调用不改变原网络）。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1874520"/>
            <a:ext cx="5486400" cy="2788920"/>
          </a:xfrm>
          <a:prstGeom prst="roundRect">
            <a:avLst>
              <a:gd name="adj" fmla="val 2623"/>
            </a:avLst>
          </a:prstGeom>
          <a:solidFill>
            <a:srgbClr val="F1F4F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30352" y="1920240"/>
            <a:ext cx="5340096" cy="2697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"modern.hpp"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&lt;iostream&gt;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 {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79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B1 ... B5 对应下标 0 ... 4。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dsa::adt::RumorNetwork network(5);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network.add_route(0, 3, 4);   </a:t>
            </a:r>
            <a:r>
              <a:rPr lang="en-US" sz="79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B1 -&gt; B4，耗时 4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network.add_route(0, 4, 3);   </a:t>
            </a:r>
            <a:r>
              <a:rPr lang="en-US" sz="79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B1 -&gt; B5，耗时 3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network.add_route(0, 1, 8);   </a:t>
            </a:r>
            <a:r>
              <a:rPr lang="en-US" sz="79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B1 -&gt; B2，耗时 8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network.add_route(1, 4, 8);   </a:t>
            </a:r>
            <a:r>
              <a:rPr lang="en-US" sz="79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B2 -&gt; B5，耗时 8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network.add_route(2, 0, 6);   </a:t>
            </a:r>
            <a:r>
              <a:rPr lang="en-US" sz="79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B3 -&gt; B1，耗时 6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network.add_route(2, 1, 7);   </a:t>
            </a:r>
            <a:r>
              <a:rPr lang="en-US" sz="79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B3 -&gt; B2，耗时 7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network.add_route(2, 3, 10);  </a:t>
            </a:r>
            <a:r>
              <a:rPr lang="en-US" sz="79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B3 -&gt; B4，耗时 10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network.add_route(2, 4, 2);   </a:t>
            </a:r>
            <a:r>
              <a:rPr lang="en-US" sz="79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B3 -&gt; B5，耗时 2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network.add_route(4, 0, 5);   </a:t>
            </a:r>
            <a:r>
              <a:rPr lang="en-US" sz="79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B5 -&gt; B1，耗时 5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network.add_route(4, 1, 5);   </a:t>
            </a:r>
            <a:r>
              <a:rPr lang="en-US" sz="79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B5 -&gt; B2，耗时 5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auto source = network.best_source();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(source) {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std::cout &lt;&lt; "最佳传播起点是 B" &lt;&lt; *source + 1 &lt;&lt; '\n';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else {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std::cout &lt;&lt; "不存在能到达全部经纪人的起点\n";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90" dirty="0"/>
          </a:p>
        </p:txBody>
      </p:sp>
      <p:sp>
        <p:nvSpPr>
          <p:cNvPr id="20" name="Shape 18"/>
          <p:cNvSpPr/>
          <p:nvPr/>
        </p:nvSpPr>
        <p:spPr>
          <a:xfrm>
            <a:off x="6126480" y="1920240"/>
            <a:ext cx="2560320" cy="777240"/>
          </a:xfrm>
          <a:prstGeom prst="roundRect">
            <a:avLst>
              <a:gd name="adj" fmla="val 9412"/>
            </a:avLst>
          </a:prstGeom>
          <a:solidFill>
            <a:srgbClr val="1B2B2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236208" y="19751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6236208" y="2176272"/>
            <a:ext cx="234086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最佳传播起点是 B3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26480" y="2880360"/>
            <a:ext cx="2560320" cy="1783080"/>
          </a:xfrm>
          <a:prstGeom prst="roundRect">
            <a:avLst>
              <a:gd name="adj" fmla="val 4103"/>
            </a:avLst>
          </a:prstGeom>
          <a:solidFill>
            <a:srgbClr val="FFF6E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263640" y="2971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改一改再跑一次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236208" y="3264408"/>
            <a:ext cx="2340864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只删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add_route(2, 1, 7);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B3 仍可经 B5 到 B2（2+5=7），答案不变；要同时删掉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(2, 3, 10)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与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(0, 3, 4)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，谁都到不了 B4，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best_source()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才返回空值。</a:t>
            </a:r>
            <a:endParaRPr lang="en-US" sz="9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B3 -&gt; B4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从 10 改成 1 → 答案仍是 B3，只是最慢传播时间从 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缩短到 7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问题求解 · 用起来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编译与运行：命令逐项解释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8083296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c++ -std=c++17 -Wall -Wextra -Werror -Icode/ch01/adt \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code/ch01/adt/demo.cpp -o /tmp/rumor-demo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/tmp/rumor-demo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828800"/>
            <a:ext cx="8229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第一行是「编译」，第二行是「运行刚刚编译出的程序」。</a:t>
            </a:r>
            <a:endParaRPr lang="en-US" sz="115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21408"/>
          <a:ext cx="82296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6126480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片段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含义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E7C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c++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C++ 编译器命令。macOS 上通常指 Clang，Linux 上也可能指 GCC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E7C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-std=c++17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 C++17 语言规则编译；本书的 </a:t>
                      </a:r>
                      <a:r>
                        <a:rPr lang="en-US" sz="1000" b="1" dirty="0">
                          <a:solidFill>
                            <a:srgbClr val="3E7C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std::optional</a:t>
                      </a: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需要它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E7C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-Wall -Wextra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打开常见与额外的编译器警告（未使用变量、可疑转换等）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E7C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-Werror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把警告</a:t>
                      </a: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当作错误</a:t>
                      </a: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；学习时可及早发现问题，初学调试可暂时去掉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E7C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-Icode/ch01/adt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加一个头文件搜索目录，</a:t>
                      </a:r>
                      <a:r>
                        <a:rPr lang="en-US" sz="1000" b="1" dirty="0">
                          <a:solidFill>
                            <a:srgbClr val="3E7C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#include "modern.hpp"</a:t>
                      </a: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才找得到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E7C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-o /tmp/rumor-demo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指定输出的可执行文件名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457200" y="4315968"/>
            <a:ext cx="8229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改一改再跑一次</a:t>
            </a:r>
            <a:r>
              <a:rPr lang="en-US" sz="1000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是理解这段代码最快的方式——把边删掉、把权改小，看输出怎么变。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导读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问题求解 · 实现导读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头文件、命名空间与 #pragma once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3977640" cy="868680"/>
          </a:xfrm>
          <a:prstGeom prst="roundRect">
            <a:avLst>
              <a:gd name="adj" fmla="val 8421"/>
            </a:avLst>
          </a:prstGeom>
          <a:solidFill>
            <a:srgbClr val="FFF6E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94360" y="105156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#pragma once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344168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告诉编译器：同一个头文件即使被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间接包含多次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，也只处理一次，避免类定义重复。</a:t>
            </a:r>
            <a:endParaRPr lang="en-US" sz="11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11680"/>
          <a:ext cx="397764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274320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头文件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本程序用它做什么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E7C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&lt;cstddef&gt;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提供 </a:t>
                      </a:r>
                      <a:r>
                        <a:rPr lang="en-US" sz="900" b="1" dirty="0">
                          <a:solidFill>
                            <a:srgbClr val="3E7C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std::size_t</a:t>
                      </a: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，表示非负的大小或下标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E7C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&lt;cstdint&gt;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提供 </a:t>
                      </a:r>
                      <a:r>
                        <a:rPr lang="en-US" sz="900" b="1" dirty="0">
                          <a:solidFill>
                            <a:srgbClr val="3E7C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std::int64_t</a:t>
                      </a: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，即 </a:t>
                      </a:r>
                      <a:r>
                        <a:rPr lang="en-US" sz="900" b="1" dirty="0">
                          <a:solidFill>
                            <a:srgbClr val="3E7C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distance_type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E7C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&lt;limits&gt;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提供 </a:t>
                      </a:r>
                      <a:r>
                        <a:rPr lang="en-US" sz="900" b="1" dirty="0">
                          <a:solidFill>
                            <a:srgbClr val="3E7C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std::numeric_limits&lt;int&gt;::max()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E7C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&lt;optional&gt;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提供 </a:t>
                      </a:r>
                      <a:r>
                        <a:rPr lang="en-US" sz="900" b="1" dirty="0">
                          <a:solidFill>
                            <a:srgbClr val="3E7C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std::optional</a:t>
                      </a: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，表达「可能没有答案」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E7C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&lt;stdexcept&gt;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提供 </a:t>
                      </a:r>
                      <a:r>
                        <a:rPr lang="en-US" sz="900" b="1" dirty="0">
                          <a:solidFill>
                            <a:srgbClr val="3E7C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std::invalid_argument</a:t>
                      </a: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，报告非法参数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E7C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&lt;vector&gt;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提供动态数组，这里用它保存二维距离矩阵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4709160" y="960120"/>
            <a:ext cx="3977640" cy="1188720"/>
          </a:xfrm>
          <a:prstGeom prst="roundRect">
            <a:avLst>
              <a:gd name="adj" fmla="val 6154"/>
            </a:avLst>
          </a:prstGeom>
          <a:solidFill>
            <a:srgbClr val="CFE0D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846320" y="105156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命名空间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846320" y="1344168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namespace dsa::adt { ... }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把名字放入 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dsa::adt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。完整类名因此是 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dsa::adt::RumorNetwork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，可避免项目中另一个人也定义 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RumorNetwork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时发生重名。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709160" y="2286000"/>
            <a:ext cx="3977640" cy="1188720"/>
          </a:xfrm>
          <a:prstGeom prst="roundRect">
            <a:avLst>
              <a:gd name="adj" fmla="val 6154"/>
            </a:avLst>
          </a:prstGeom>
          <a:solidFill>
            <a:srgbClr val="FFF6E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846320" y="237744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类的两半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4846320" y="2670048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public: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以下是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调用者可以使用的接口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private: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以下是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实现细节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，调用者不能直接改写。这正是 1.1.3 节「概念层 vs 实现层」在代码里的样子。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709160" y="3611880"/>
            <a:ext cx="39776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代码块中的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&gt;&gt;&gt; adt</a:t>
            </a: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与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&lt;&lt;&lt; adt</a:t>
            </a: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只是同步标记，不参与 C++ 逻辑。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4069080"/>
            <a:ext cx="822960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私有数据成员：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std::vector&lt;std::vector&lt;int&gt;&gt; distance_;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—— 外层 vector 是行，内层是一行中的列，合起来是二维矩阵。末尾下划线是约定，表示私有成员。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坑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问题求解 · 实现导读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两个「无穷」：infinity 与 unreachable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8083296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constexpr int infinity = std::numeric_limits&lt;int&gt;::max() / 4;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最短时间是若干段之和，可能超过 int；用 64 位，「到不了」另用 unreachable。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distance_type = std::int64_t;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constexpr distance_type unreachable = std::numeric_limits&lt;distance_type&gt;::max();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3977640" cy="1371600"/>
          </a:xfrm>
          <a:prstGeom prst="roundRect">
            <a:avLst>
              <a:gd name="adj" fmla="val 5333"/>
            </a:avLst>
          </a:prstGeom>
          <a:solidFill>
            <a:srgbClr val="F1F4F2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2267712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226771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infinity（int）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265176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只用来表示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两人之间没有直接路线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，并规定每条路线的时间都必须小于它。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表示属于类本身而非每个对象；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constexpr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表示编译期常量。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09160" y="2148840"/>
            <a:ext cx="3977640" cy="1371600"/>
          </a:xfrm>
          <a:prstGeom prst="roundRect">
            <a:avLst>
              <a:gd name="adj" fmla="val 5333"/>
            </a:avLst>
          </a:prstGeom>
          <a:solidFill>
            <a:srgbClr val="F1F4F2"/>
          </a:solidFill>
          <a:ln/>
        </p:spPr>
      </p:sp>
      <p:sp>
        <p:nvSpPr>
          <p:cNvPr id="14" name="Shape 12"/>
          <p:cNvSpPr/>
          <p:nvPr/>
        </p:nvSpPr>
        <p:spPr>
          <a:xfrm>
            <a:off x="4892040" y="2267712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3E7C6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892040" y="226771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unreachable（int64）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892040" y="265176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求最短路时用的「到不了」。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最短时间是若干段之和，可能超过 int 的范围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，所以另开 64 位的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distance_type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65760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DF0E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37307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为什么不能共用一个常量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40233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如果借用 </a:t>
            </a:r>
            <a:r>
              <a:rPr lang="en-US" sz="11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infinity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当「到不了」，那么一条</a:t>
            </a:r>
            <a:r>
              <a:rPr lang="en-US" sz="11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总长恰好等于 infinity 的合法路径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会被误读成「到不了」。同理 </a:t>
            </a:r>
            <a:r>
              <a:rPr lang="en-US" sz="11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add_route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要求 </a:t>
            </a:r>
            <a:r>
              <a:rPr lang="en-US" sz="11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 &lt; infinity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：否则 Floyd 会把这条路线当成「没有路线」，</a:t>
            </a:r>
            <a:r>
              <a:rPr lang="en-US" sz="11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结果静默出错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导读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问题求解 · 实现导读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构造函数与 add_route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577840" cy="2606040"/>
          </a:xfrm>
          <a:prstGeom prst="roundRect">
            <a:avLst>
              <a:gd name="adj" fmla="val 2807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431536" cy="2514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explicit RumorNetwork(std::size_t people)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: distance_(people, std::vector&lt;int&gt;(people, infinity))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(std::size_t person = 0; person &lt; people; ++person)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distance_[person][person] = 0;   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到自己不需要时间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add_route(std::size_t from, std::size_t to, int cost)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cost 不小于 infinity 时，Floyd 会把这条路线当成「没有路线」，结果静默出错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(from &gt;= distance_.size() || to &gt;= distance_.size()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|| cost &lt; 0 || cost &gt;= infinity)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throw std::invalid_argument("route");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(cost &lt; distance_[from][to]) {     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重复添加只保留较小的时间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distance_[from][to] = cost;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217920" y="96012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55080" y="1051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成员初始化列表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1344168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冒号后的部分先创建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distance_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，再进入花括号。它构造一个 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行 × 5 列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、初值全为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infinity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的整数矩阵；随后循环把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对角线改为 0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2423160"/>
            <a:ext cx="2468880" cy="1143000"/>
          </a:xfrm>
          <a:prstGeom prst="roundRect">
            <a:avLst>
              <a:gd name="adj" fmla="val 6400"/>
            </a:avLst>
          </a:prstGeom>
          <a:solidFill>
            <a:srgbClr val="CFE0D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55080" y="2514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矩阵的含义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2807208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行、第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列总是表示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from 到 to 的当前已知最短时间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70332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F1F4F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3767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两段 if 各管一件事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4041648"/>
            <a:ext cx="795528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第一段：检查编号是否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越界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、时间是否为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或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过大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；不满足题目定义时抛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std::invalid_argument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，调用者可用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try/catch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处理。</a:t>
            </a:r>
            <a:endParaRPr lang="en-US" sz="10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第二段：只在新边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更短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时更新矩阵——所以即使重复添加同一方向的边，也保留较小的时间（处理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重边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）。</a:t>
            </a:r>
            <a:endParaRPr lang="en-US" sz="10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问题求解 · Floyd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三层循环的含义：按中转站逐步扩大可用路径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4937760" cy="960120"/>
          </a:xfrm>
          <a:prstGeom prst="roundRect">
            <a:avLst>
              <a:gd name="adj" fmla="val 7619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4791456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each via:       允许路径经过 via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each from:    固定起点 from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each to:    固定终点 to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比较 原来的 from-&gt;to 与 from-&gt;via-&gt;to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057400"/>
            <a:ext cx="493776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不是「随便循环三次」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：最外层的 via 是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中转站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，每轮结束后，「只允许经过前 via 个点」的最短路都已算对。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 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shortest[from][via] != unreachable &amp;&amp; shortest[via][to] != unreachable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先确认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两段都可达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 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-&gt; via -&gt; to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的总时间更小，就更新 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shortest[from][to]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3611880"/>
            <a:ext cx="4937760" cy="1051560"/>
          </a:xfrm>
          <a:prstGeom prst="roundRect">
            <a:avLst>
              <a:gd name="adj" fmla="val 6957"/>
            </a:avLst>
          </a:prstGeom>
          <a:solidFill>
            <a:srgbClr val="FFF6E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36758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例：B2 到 B4 没有直接边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4069080"/>
            <a:ext cx="548640" cy="347472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406908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216152" y="4242816"/>
            <a:ext cx="256032" cy="0"/>
          </a:xfrm>
          <a:prstGeom prst="line">
            <a:avLst/>
          </a:prstGeom>
          <a:noFill/>
          <a:ln w="22860">
            <a:solidFill>
              <a:srgbClr val="A06A00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1170432" y="385876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508760" y="4069080"/>
            <a:ext cx="548640" cy="347472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508760" y="406908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B5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084832" y="4242816"/>
            <a:ext cx="256032" cy="0"/>
          </a:xfrm>
          <a:prstGeom prst="line">
            <a:avLst/>
          </a:prstGeom>
          <a:noFill/>
          <a:ln w="22860">
            <a:solidFill>
              <a:srgbClr val="A06A00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2039112" y="385876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377440" y="4069080"/>
            <a:ext cx="548640" cy="347472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377440" y="406908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B1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953512" y="4242816"/>
            <a:ext cx="256032" cy="0"/>
          </a:xfrm>
          <a:prstGeom prst="line">
            <a:avLst/>
          </a:prstGeom>
          <a:noFill/>
          <a:ln w="22860">
            <a:solidFill>
              <a:srgbClr val="A06A00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2907792" y="385876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46120" y="4069080"/>
            <a:ext cx="548640" cy="347472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246120" y="406908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B4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3931920" y="406908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+ 5 + 4 = 17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577840" y="960120"/>
            <a:ext cx="3108960" cy="3703320"/>
          </a:xfrm>
          <a:prstGeom prst="roundRect">
            <a:avLst>
              <a:gd name="adj" fmla="val 2353"/>
            </a:avLst>
          </a:prstGeom>
          <a:solidFill>
            <a:srgbClr val="F1F4F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650992" y="1005840"/>
            <a:ext cx="2962656" cy="3611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std::size_t n = distance_.size();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std::vector&lt;std::vector&lt;distance_type&gt;&gt;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sh(n, std::vector&lt;distance_type&gt;(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n, unreachable));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抄入直接路线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(std::size_t i = 0; i &lt; n; ++i) {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(std::size_t j = 0; j &lt; n; ++j) {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(distance_[i][j] != infinity) {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sh[i][j] = distance_[i][j];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按中转站 k 逐步放开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(std::size_t k = 0; k &lt; n; ++k) {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(std::size_t i = 0; i &lt; n; ++i) {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(std::size_t j = 0; j &lt; n; ++j) {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if (sh[i][k] != unreachable &amp;&amp;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sh[k][j] != unreachable &amp;&amp;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sh[i][j] &gt; sh[i][k] + sh[k][j]) {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sh[i][j] = sh[i][k] + sh[k][j];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20" dirty="0"/>
          </a:p>
        </p:txBody>
      </p:sp>
      <p:sp>
        <p:nvSpPr>
          <p:cNvPr id="29" name="Text 27"/>
          <p:cNvSpPr txBox="1"/>
          <p:nvPr/>
        </p:nvSpPr>
        <p:spPr>
          <a:xfrm>
            <a:off x="5577840" y="46817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（为放进这一栏，把 shortest / from / to / via 缩写成 sh / i / j / k，逻辑与书稿一致。）</a:t>
            </a:r>
            <a:endParaRPr lang="en-US" sz="7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问题求解 · Floyd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从最短路矩阵里挑答案：离心率最小的那一行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577840" cy="2331720"/>
          </a:xfrm>
          <a:prstGeom prst="roundRect">
            <a:avLst>
              <a:gd name="adj" fmla="val 3137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431536" cy="2240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std::optional&lt;std::size_t&gt; result;              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空值 = 还没找到合格起点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distance_type smallest_eccentricity = unreachable;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目前见过的最小完成时间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(std::size_t from = 0; from &lt; people; ++from)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distance_type largest_distance = 0;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(distance_type distance : shortest[from])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若新值更大就采用新值，否则保留旧值 —— 取这一行的最大值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largest_distance = distance &gt; largest_distance ? distance : largest_distance;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(largest_distance &lt; smallest_eccentricity)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smallest_eccentricity = largest_distance;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result = from;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result;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217920" y="96012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55080" y="1051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eccentricity（离心率）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134416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某起点到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全部顶点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的最短距离中的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最大值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。外层循环每次处理一行（一个候选起点），内层循环扫描该行取最大值。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228600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CFE0D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55080" y="23774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∞ 自动被排除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2670048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任何一行含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unreachable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时，该行最大值也是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unreachable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不会优于有限答案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；若所有行都含它，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保持为空，函数返回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std::nullopt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429000"/>
            <a:ext cx="5577840" cy="1234440"/>
          </a:xfrm>
          <a:prstGeom prst="roundRect">
            <a:avLst>
              <a:gd name="adj" fmla="val 5926"/>
            </a:avLst>
          </a:prstGeom>
          <a:solidFill>
            <a:srgbClr val="F1F4F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34930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[[nodiscard]] 与 std::optional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767328"/>
            <a:ext cx="530352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std::optional&lt;std::size_t&gt;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「可能没有答案」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进了类型里——「不存在合格起点」是可预期的结果，不是错误。</a:t>
            </a:r>
            <a:endParaRPr lang="en-US" sz="10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[[nodiscard]]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提醒编译器：调用者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不应无意丢弃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这个可能为空的重要返回值。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17920" y="3794760"/>
            <a:ext cx="2468880" cy="868680"/>
          </a:xfrm>
          <a:prstGeom prst="roundRect">
            <a:avLst>
              <a:gd name="adj" fmla="val 8421"/>
            </a:avLst>
          </a:prstGeom>
          <a:solidFill>
            <a:srgbClr val="FFF6E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55080" y="3886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多次调用不改变原网络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355080" y="417880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best_source()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内部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复制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一份矩阵到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shortest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distance_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始终只存直接边。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评价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问题求解 · 复杂度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这套方案的代价与适用场景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3977640" cy="1371600"/>
          </a:xfrm>
          <a:prstGeom prst="roundRect">
            <a:avLst>
              <a:gd name="adj" fmla="val 5333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097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时间复杂度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3716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O(V³)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2651760" y="16002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三重循环，每层 V 次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1005840"/>
            <a:ext cx="3977640" cy="1371600"/>
          </a:xfrm>
          <a:prstGeom prst="roundRect">
            <a:avLst>
              <a:gd name="adj" fmla="val 5333"/>
            </a:avLst>
          </a:prstGeom>
          <a:solidFill>
            <a:srgbClr val="F1F4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892040" y="1097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空间复杂度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13716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O(V²)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6903720" y="16002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 V × V 矩阵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514600"/>
            <a:ext cx="3977640" cy="2148840"/>
          </a:xfrm>
          <a:prstGeom prst="roundRect">
            <a:avLst>
              <a:gd name="adj" fmla="val 3404"/>
            </a:avLst>
          </a:prstGeom>
          <a:solidFill>
            <a:srgbClr val="EAF4E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2606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适合这道题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017520"/>
            <a:ext cx="3657600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顶点数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很少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（V = 5），5³ = 125 次比较，可以忽略。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比较所有起点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，需要的正是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任意两点之间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的最短路——Floyd 一次算完。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实现简单：三重循环 + 一次取最大，没有优先队列、没有邻接表。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2514600"/>
            <a:ext cx="3977640" cy="2148840"/>
          </a:xfrm>
          <a:prstGeom prst="roundRect">
            <a:avLst>
              <a:gd name="adj" fmla="val 3404"/>
            </a:avLst>
          </a:prstGeom>
          <a:solidFill>
            <a:srgbClr val="FDF0E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892040" y="2606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什么时候不该用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892040" y="3017520"/>
            <a:ext cx="3657600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大图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：V = 10⁴ 时 V³ = 10¹² 次操作，不可接受。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顶点很多、边很少，而且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只问单源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最短路 → 换成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邻接表 + Dijkstra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大图通常应根据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图的稀疏度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查询需求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选择最短路算法——3.4 节再回到这个取舍。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OJ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问题求解 · 练习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M05443 兔子与樱花：输出最短路的具体走法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4114800" cy="2194560"/>
          </a:xfrm>
          <a:prstGeom prst="roundRect">
            <a:avLst>
              <a:gd name="adj" fmla="val 3333"/>
            </a:avLst>
          </a:prstGeom>
          <a:solidFill>
            <a:srgbClr val="FFF6E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94360" y="1051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题意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344168"/>
            <a:ext cx="3895344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cs101.openjudge.cn/practice/05443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第一部分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：P 行地点名（P &lt; 30，名字长度 ≤ 20）。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第二部分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：Q 行「地点 地点 距离」的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无向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道路（Q &lt; 50）。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第三部分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：R 行查询「起点 终点」（R &lt; 20）。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输出每条查询的最短走法，两点之间用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-&gt;(距离)-&gt;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相隔。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3931920" cy="2514600"/>
          </a:xfrm>
          <a:prstGeom prst="roundRect">
            <a:avLst>
              <a:gd name="adj" fmla="val 2909"/>
            </a:avLst>
          </a:prstGeom>
          <a:solidFill>
            <a:srgbClr val="F1F4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28032" y="1005840"/>
            <a:ext cx="3785616" cy="2423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Ginza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Sensouji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Shinjukugyoen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Uenokouen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Yoyogikouen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Meijishinguu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Ginza Sensouji 80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Shinjukugyoen Sensouji 40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Ginza Uenokouen 35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Uenokouen Shinjukugyoen 85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Sensouji Meijishinguu 60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Meijishinguu Yoyogikouen 35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Uenokouen Yoyogikouen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Meijishinguu Meijishinguu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4754880" y="3611880"/>
            <a:ext cx="3931920" cy="1051560"/>
          </a:xfrm>
          <a:prstGeom prst="roundRect">
            <a:avLst>
              <a:gd name="adj" fmla="val 6957"/>
            </a:avLst>
          </a:prstGeom>
          <a:solidFill>
            <a:srgbClr val="1B2B2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64608" y="366674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4864608" y="3867912"/>
            <a:ext cx="371246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Uenokouen-&gt;(35)-&gt;Ginza-&gt;(80)-&gt;Sensouji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-&gt;(60)-&gt;Meijishinguu-&gt;(35)-&gt;Yoyogikouen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Meijishinguu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3291840"/>
            <a:ext cx="4114800" cy="1371600"/>
          </a:xfrm>
          <a:prstGeom prst="roundRect">
            <a:avLst>
              <a:gd name="adj" fmla="val 5333"/>
            </a:avLst>
          </a:prstGeom>
          <a:solidFill>
            <a:srgbClr val="FFF6E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94360" y="3383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这条答案为什么最短（核对一遍）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3675888"/>
            <a:ext cx="3895344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走 Ginza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：35 + 80 + 60 + 35 = 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210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✓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绕 Shinjukugyoen：85 + 40 + 60 + 35 = 220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起点 = 终点时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只输出地名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，不输出任何箭头。</a:t>
            </a:r>
            <a:endParaRPr lang="en-US" sz="10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问题求解 · 练习 · Floyd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求最短路只是一半：还要把路径打印出来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38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493776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dist[i][j]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：当前已知的最短距离；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direct_weight[i][j]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直连边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的权（打印时要用）。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nxt[i][j]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：从 i 走向 j 的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是哪个点。初始化 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nxt[u][v] = v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（有直连边）、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nxt[i][i] = i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松弛成功时 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nxt[i][j] = nxt[i][k]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i 到 j 的第一步，改成从 i 到 k 的第一步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重构时从起点出发 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 = nxt[curr][end]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，一步步走到终点，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正向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得到整条路径。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3017520"/>
            <a:ext cx="4937760" cy="1645920"/>
          </a:xfrm>
          <a:prstGeom prst="roundRect">
            <a:avLst>
              <a:gd name="adj" fmla="val 4444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30352" y="3063240"/>
            <a:ext cx="4791456" cy="1554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Floyd-Warshall 核心三层循环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k = 0; k &lt; P; ++k)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(int i = 0; i &lt; P; ++i)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j = 0; j &lt; P; ++j)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if (dist[i][k] != INF &amp;&amp; dist[k][j] != INF)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(dist[i][k] + dist[k][j] &lt; dist[i][j]) {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dist[i][j] = dist[i][k] + dist[k][j];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r>
              <a:rPr lang="en-US" sz="88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从 i 到 j 的下一步，改为走从 i 到 k 的下一步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nxt[i][j] = nxt[i][k];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5577840" y="960120"/>
            <a:ext cx="3108960" cy="1417320"/>
          </a:xfrm>
          <a:prstGeom prst="roundRect">
            <a:avLst>
              <a:gd name="adj" fmla="val 5161"/>
            </a:avLst>
          </a:prstGeom>
          <a:solidFill>
            <a:srgbClr val="FFF6E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715000" y="10515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为什么记「下一步」而不是「前一步」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715000" y="1344168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nxt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可以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从起点正向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重构，输出顺序与打印顺序一致；记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则要从终点回溯再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reverse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（Dijkstra 版就是这么做的）。两种都对，区别只在重构方向。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577840" y="2514600"/>
            <a:ext cx="3108960" cy="1691640"/>
          </a:xfrm>
          <a:prstGeom prst="roundRect">
            <a:avLst>
              <a:gd name="adj" fmla="val 4324"/>
            </a:avLst>
          </a:prstGeom>
          <a:solidFill>
            <a:srgbClr val="FFF6E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715000" y="26060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本题的两个细节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687568" y="2898648"/>
            <a:ext cx="2889504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无向图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：读入一条边要同时写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[u][v]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与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[v][u]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重边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：只有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&lt; dist[u][v]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时才更新，保留最小权。</a:t>
            </a:r>
            <a:endParaRPr lang="en-US" sz="10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打印用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direct_weight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，不是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——每一段都是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直连边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的长度。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577840" y="4297680"/>
            <a:ext cx="31089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 &lt; 30，所以 O(P³) 只有两万多次操作，Floyd 足够。</a:t>
            </a:r>
            <a:endParaRPr lang="en-US" sz="9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问题求解 · 练习 · Floyd C++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读入、初始化与路径输出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32688"/>
            <a:ext cx="5394960" cy="2788920"/>
          </a:xfrm>
          <a:prstGeom prst="roundRect">
            <a:avLst>
              <a:gd name="adj" fmla="val 2623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978408"/>
            <a:ext cx="5248656" cy="2697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int INF = 1e9;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P; cin &gt;&gt; P;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unordered_map&lt;string, int&gt; name2id;      </a:t>
            </a:r>
            <a:r>
              <a:rPr lang="en-US" sz="79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地名 -&gt; 下标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vector&lt;string&gt; id2name(P);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0; i &lt; P; ++i) { cin &gt;&gt; id2name[i]; name2id[id2name[i]] = i; }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vector&lt;vector&lt;int&gt;&gt; dist(P, vector&lt;int&gt;(P, INF));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vector&lt;vector&lt;int&gt;&gt; direct_weight(P, vector&lt;int&gt;(P, INF));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vector&lt;vector&lt;int&gt;&gt; nxt(P, vector&lt;int&gt;(P, -1));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0; i &lt; P; ++i) { dist[i][i] = 0; nxt[i][i] = i; }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Q; cin &gt;&gt; Q;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0; i &lt; Q; ++i) {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u_name, v_name; int w;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cin &gt;&gt; u_name &gt;&gt; v_name &gt;&gt; w;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u = name2id[u_name], v = name2id[v_name];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(w &lt; dist[u][v]) {                </a:t>
            </a:r>
            <a:r>
              <a:rPr lang="en-US" sz="79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重边只留最小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dist[u][v] = dist[v][u] = w;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direct_weight[u][v] = direct_weight[v][u] = w;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nxt[u][v] = v;                   </a:t>
            </a:r>
            <a:r>
              <a:rPr lang="en-US" sz="79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从 u 到 v 的下一步走 v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nxt[v][u] = u;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90" dirty="0"/>
          </a:p>
        </p:txBody>
      </p:sp>
      <p:sp>
        <p:nvSpPr>
          <p:cNvPr id="9" name="Shape 7"/>
          <p:cNvSpPr/>
          <p:nvPr/>
        </p:nvSpPr>
        <p:spPr>
          <a:xfrm>
            <a:off x="6035040" y="932688"/>
            <a:ext cx="2651760" cy="3730752"/>
          </a:xfrm>
          <a:prstGeom prst="roundRect">
            <a:avLst>
              <a:gd name="adj" fmla="val 2759"/>
            </a:avLst>
          </a:prstGeom>
          <a:solidFill>
            <a:srgbClr val="F1F4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108192" y="978408"/>
            <a:ext cx="2505456" cy="3639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R; cin &gt;&gt; R;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(R--) {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s_name, e_name;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cin &gt;&gt; s_name &gt;&gt; e_name;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start = name2id[s_name];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end = name2id[e_name];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(start == end) {   </a:t>
            </a:r>
            <a:r>
              <a:rPr lang="en-US" sz="76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起点 = 终点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cout &lt;&lt; s_name &lt;&lt; "\n";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continue;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76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利用 nxt 数组正向重构路径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vector&lt;int&gt; path;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curr = start;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path.push_back(curr);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(curr != end) {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curr = nxt[curr][end];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path.push_back(curr);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76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格式化输出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cout &lt;&lt; id2name[path[0]];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(size_t i = 0;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i + 1 &lt; path.size(); ++i) {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int u = path[i];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int v = path[i + 1];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cout &lt;&lt; "-&gt;("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&lt;&lt; direct_weight[u][v]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&lt;&lt; ")-&gt;" &lt;&lt; id2name[v];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cout &lt;&lt; "\n";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6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822192"/>
            <a:ext cx="53949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ios::sync_with_stdio(false); cin.tie(nullptr);</a:t>
            </a: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关掉与 C 标准 I/O 的同步，读入更快。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4114800"/>
            <a:ext cx="5394960" cy="566928"/>
          </a:xfrm>
          <a:prstGeom prst="roundRect">
            <a:avLst>
              <a:gd name="adj" fmla="val 12903"/>
            </a:avLst>
          </a:prstGeom>
          <a:solidFill>
            <a:srgbClr val="FFF6E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" y="42062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unordered_map 的作用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4498848"/>
            <a:ext cx="5120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题目给的是</a:t>
            </a:r>
            <a:r>
              <a:rPr lang="en-US" sz="9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地名字符串</a:t>
            </a: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，算法要的是</a:t>
            </a:r>
            <a:r>
              <a:rPr lang="en-US" sz="9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下标</a:t>
            </a: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。两张表 </a:t>
            </a:r>
            <a:r>
              <a:rPr lang="en-US" sz="9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name2id</a:t>
            </a: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</a:t>
            </a:r>
            <a:r>
              <a:rPr lang="en-US" sz="9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id2name</a:t>
            </a: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在字符串与整数之间来回翻译——这就是 1.1.2 节「索引」的日常用法。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问题求解 · 练习 · Dijkstra C++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堆优化 + prev 回溯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577840" cy="3703320"/>
          </a:xfrm>
          <a:prstGeom prst="roundRect">
            <a:avLst>
              <a:gd name="adj" fmla="val 1975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431536" cy="3611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邻接矩阵存边权（方便处理重边）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vector&lt;vector&lt;int&gt;&gt; graph(P, vector&lt;int&gt;(P, INF));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0; i &lt; P; ++i) graph[i][i] = 0;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 读入时 if (w &lt; graph[u][v]) graph[u][v] = graph[v][u] = w;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vector&lt;int&gt; dist(P, INF), prev(P, -1);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P2 = pair&lt;int,int&gt;;                    </a:t>
            </a:r>
            <a:r>
              <a:rPr lang="en-US" sz="8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(距离, 顶点)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priority_queue&lt;P2, vector&lt;P2&gt;, greater&lt;P2&gt;&gt; pq;   </a:t>
            </a:r>
            <a:r>
              <a:rPr lang="en-US" sz="8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小顶堆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dist[start] = 0;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pq.push({0, start});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(!pq.empty()) {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auto [d, u] = pq.top(); pq.pop();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(d &gt; dist[u]) continue;       </a:t>
            </a:r>
            <a:r>
              <a:rPr lang="en-US" sz="8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过期的堆顶，跳过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(u == end) break;             </a:t>
            </a:r>
            <a:r>
              <a:rPr lang="en-US" sz="8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终点已定型，可以提前结束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v = 0; v &lt; P; ++v) {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(graph[u][v] != INF &amp;&amp;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dist[u] + graph[u][v] &lt; dist[v]) {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dist[v] = dist[u] + graph[u][v];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prev[v] = u;             </a:t>
            </a:r>
            <a:r>
              <a:rPr lang="en-US" sz="8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记「前一步」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pq.push({dist[v], v});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从终点向前回溯，再 reverse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vector&lt;int&gt; path;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curr = end; curr != -1; curr = prev[curr])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path.push_back(curr);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reverse(path.begin(), path.end());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217920" y="960120"/>
            <a:ext cx="2468880" cy="1600200"/>
          </a:xfrm>
          <a:prstGeom prst="roundRect">
            <a:avLst>
              <a:gd name="adj" fmla="val 4571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55080" y="1051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两处「剪枝」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327648" y="1344168"/>
            <a:ext cx="2249424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(d &gt; dist[u]) continue;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：堆里可能留着同一个点的旧记录（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懒删除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），过期就跳过。</a:t>
            </a:r>
            <a:endParaRPr lang="en-US" sz="9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(u == end) break;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：只问单条查询时，终点出堆即可停。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7920" y="2697480"/>
            <a:ext cx="2468880" cy="1965960"/>
          </a:xfrm>
          <a:prstGeom prst="roundRect">
            <a:avLst>
              <a:gd name="adj" fmla="val 3721"/>
            </a:avLst>
          </a:prstGeom>
          <a:solidFill>
            <a:srgbClr val="FFF6E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55080" y="2788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Floyd vs Dijkstra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327648" y="3081528"/>
            <a:ext cx="2249424" cy="1508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Floyd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：一次 O(P³) 算出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全部点对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，R 条查询直接查表。</a:t>
            </a:r>
            <a:endParaRPr lang="en-US" sz="9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Dijkstra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：每条查询 O(P² 或 E log V)，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总共 R 次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9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本题 P &lt; 30、R &lt; 20，两者都轻松过；大图稀疏且查询少时 Dijkstra 更划算。</a:t>
            </a:r>
            <a:endParaRPr lang="en-US" sz="9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问题求解 · 练习 · Python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同一套思路的 Python 版本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4206240" cy="3703320"/>
          </a:xfrm>
          <a:prstGeom prst="roundRect">
            <a:avLst>
              <a:gd name="adj" fmla="val 1975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4059936" cy="3611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Floyd-Warshall：nxt 记「下一步」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 = float('inf')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 = [[INF] * p for _ in range(p)]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direct_weight = [[INF] * p for _ in range(p)]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nxt = [[None] * p for _ in range(p)]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range(p):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dist[i][i] = 0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nxt[i][i] = i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读入：无向边 + 重边取最小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w &lt; dist[u][v]: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dist[u][v] = dist[v][u] = w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direct_weight[u][v] = direct_weight[v][u] = w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nxt[u][v], nxt[v][u] = v, u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k in range(p):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 in range(p):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j in range(p):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dist[i][k] + dist[k][j] &lt; dist[i][j]: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dist[i][j] = dist[i][k] + dist[k][j]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nxt[i][j] = nxt[i][k]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重构：从起点正向走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 = [start]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 = start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curr != end: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curr = nxt[curr][end]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path.append(curr)</a:t>
            </a:r>
            <a:endParaRPr lang="en-US" sz="790" dirty="0"/>
          </a:p>
        </p:txBody>
      </p:sp>
      <p:sp>
        <p:nvSpPr>
          <p:cNvPr id="9" name="Shape 7"/>
          <p:cNvSpPr/>
          <p:nvPr/>
        </p:nvSpPr>
        <p:spPr>
          <a:xfrm>
            <a:off x="4846320" y="960120"/>
            <a:ext cx="3840480" cy="3703320"/>
          </a:xfrm>
          <a:prstGeom prst="roundRect">
            <a:avLst>
              <a:gd name="adj" fmla="val 1975"/>
            </a:avLst>
          </a:prstGeom>
          <a:solidFill>
            <a:srgbClr val="F1F4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919472" y="1005840"/>
            <a:ext cx="3694176" cy="3611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Dijkstra：heapq + 邻接字典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heapq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 = [{} for _ in range(p)]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读入：if v not in graph[u] or dist &lt; graph[u][v]: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     graph[u][v] = graph[v][u] = dist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 = [float('inf')] * p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 = [-1] * p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dist[start] = 0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pq = [(0, start)]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pq: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d, u = heapq.heappop(pq)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d &gt; dist[u]: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continue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u == end: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v, weight in graph[u].items():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dist[u] + weight &lt; dist[v]: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dist[v] = dist[u] + weight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prev[v] = u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heapq.heappush(pq, (dist[v], v))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 = []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 = end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curr != -1: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path.append(curr)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curr = prev[curr]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path.reverse()</a:t>
            </a:r>
            <a:endParaRPr lang="en-US" sz="79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版用 </a:t>
            </a:r>
            <a:r>
              <a:rPr lang="en-US" sz="9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sys.stdin.read().split()</a:t>
            </a: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一次读完再按下标取，避免逐行 </a:t>
            </a:r>
            <a:r>
              <a:rPr lang="en-US" sz="9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input()</a:t>
            </a: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的开销；</a:t>
            </a:r>
            <a:r>
              <a:rPr lang="en-US" sz="9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float('inf')</a:t>
            </a: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直接参与加法比较，省掉 C++ 里 </a:t>
            </a:r>
            <a:r>
              <a:rPr lang="en-US" sz="9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</a:t>
            </a: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的溢出判断。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3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算法分析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同一个问题有多种算法，凭什么取舍？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渐进分析 · 大 O / Ω / Θ · 最佳 / 最差 / 平均 · 时空折衷</a:t>
            </a:r>
            <a:endParaRPr lang="en-US" sz="13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算法分析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算法分析：用数学工具评价效率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43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5029200" cy="1691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同一类问题总存在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多种解决方案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，各有优缺点与适用场景。如何取舍？这就需要算法分析。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任务：对每一个具体算法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讨论其各种复杂度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，以探讨某种算法适用于哪类问题、某类问题宜采用哪种算法。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目的：从解决同一问题的不同算法中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选出比较合适的一种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，或对原有算法进行改造、加工，使其更优。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5029200" cy="1234440"/>
          </a:xfrm>
          <a:prstGeom prst="roundRect">
            <a:avLst>
              <a:gd name="adj" fmla="val 5926"/>
            </a:avLst>
          </a:prstGeom>
          <a:solidFill>
            <a:srgbClr val="FFF6E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28346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计算复杂性（computational complexity）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3127248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Juris Hartmanis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与 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Richard E. Stearns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提出，用来度量算法的难度：复杂性的高低体现在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运行该算法所需的计算机资源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的多少上。（这两个人名在原书里印作 “Juris Hartmanishe” 与 “Richars E. Stearns”，此处按学界通行拼法更正。）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4069080"/>
            <a:ext cx="5029200" cy="594360"/>
          </a:xfrm>
          <a:prstGeom prst="roundRect">
            <a:avLst>
              <a:gd name="adj" fmla="val 12308"/>
            </a:avLst>
          </a:prstGeom>
          <a:solidFill>
            <a:srgbClr val="F1F4F2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4178808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417880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时间复杂性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286000" y="417880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处理器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154680" y="4178808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3E7C6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154680" y="417880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空间复杂性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800600" y="417880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存储器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760720" y="960120"/>
            <a:ext cx="2926080" cy="1828800"/>
          </a:xfrm>
          <a:prstGeom prst="roundRect">
            <a:avLst>
              <a:gd name="adj" fmla="val 4000"/>
            </a:avLst>
          </a:prstGeom>
          <a:solidFill>
            <a:srgbClr val="1E3D3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943600" y="1051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首先要明确两个问题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943600" y="1417320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94360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14173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怎样</a:t>
            </a: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表达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一个算法的复杂性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943600" y="2011680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94360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0" y="20116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怎样</a:t>
            </a: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一个算法的复杂性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760720" y="2971800"/>
            <a:ext cx="2926080" cy="1691640"/>
          </a:xfrm>
          <a:prstGeom prst="roundRect">
            <a:avLst>
              <a:gd name="adj" fmla="val 4324"/>
            </a:avLst>
          </a:prstGeom>
          <a:solidFill>
            <a:srgbClr val="CFE0D8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897880" y="30632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复杂性分析的价值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897880" y="3355848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对任意给定的问题，设计出复杂性尽可能低的算法是重要目标；已有多种算法时，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选择复杂性最低者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也是选用算法的重要准则。</a:t>
            </a:r>
            <a:endParaRPr lang="en-US" sz="10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算法分析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为什么不能用微秒、纳秒这样的真实时间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120640" cy="822960"/>
          </a:xfrm>
          <a:prstGeom prst="roundRect">
            <a:avLst>
              <a:gd name="adj" fmla="val 8889"/>
            </a:avLst>
          </a:prstGeom>
          <a:solidFill>
            <a:srgbClr val="F1F4F2"/>
          </a:solidFill>
          <a:ln/>
        </p:spPr>
      </p:sp>
      <p:sp>
        <p:nvSpPr>
          <p:cNvPr id="8" name="Shape 6"/>
          <p:cNvSpPr/>
          <p:nvPr/>
        </p:nvSpPr>
        <p:spPr>
          <a:xfrm>
            <a:off x="621792" y="118872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21792" y="11887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换机器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10058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同一个算法放在 Cray 巨型机与 PC 上，快慢差很多；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效率较差的算法跑在 Cray 上，也可能比效率极好的算法跑在 PC 上更快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1892808"/>
            <a:ext cx="5120640" cy="822960"/>
          </a:xfrm>
          <a:prstGeom prst="roundRect">
            <a:avLst>
              <a:gd name="adj" fmla="val 8889"/>
            </a:avLst>
          </a:prstGeom>
          <a:solidFill>
            <a:srgbClr val="F1F4F2"/>
          </a:solidFill>
          <a:ln/>
        </p:spPr>
      </p:sp>
      <p:sp>
        <p:nvSpPr>
          <p:cNvPr id="12" name="Shape 10"/>
          <p:cNvSpPr/>
          <p:nvPr/>
        </p:nvSpPr>
        <p:spPr>
          <a:xfrm>
            <a:off x="621792" y="2121408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A06A0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1792" y="212140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换语言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828800" y="1938528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同样的算法，编译型语言往往比解释型快很多——原书举的例子：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语言写的程序比 LISP 写的快将近 20 倍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825496"/>
            <a:ext cx="5120640" cy="822960"/>
          </a:xfrm>
          <a:prstGeom prst="roundRect">
            <a:avLst>
              <a:gd name="adj" fmla="val 8889"/>
            </a:avLst>
          </a:prstGeom>
          <a:solidFill>
            <a:srgbClr val="F1F4F2"/>
          </a:solidFill>
          <a:ln/>
        </p:spPr>
      </p:sp>
      <p:sp>
        <p:nvSpPr>
          <p:cNvPr id="16" name="Shape 14"/>
          <p:cNvSpPr/>
          <p:nvPr/>
        </p:nvSpPr>
        <p:spPr>
          <a:xfrm>
            <a:off x="621792" y="3054096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3E7C6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1792" y="305409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换的是什么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828800" y="2871216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这些都与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算法本身的优劣无关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。所以算法分析要问的不是「几毫秒」，而是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算法与输入规模之间的关系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3794760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1E3D3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3858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度量方式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41148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用一定</a:t>
            </a: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规模（size）</a:t>
            </a: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的数据作为输入时，程序运行所需的</a:t>
            </a: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基本操作（basic operation）</a:t>
            </a: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数来描述时间效率。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852160" y="960120"/>
            <a:ext cx="2834640" cy="1691640"/>
          </a:xfrm>
          <a:prstGeom prst="roundRect">
            <a:avLst>
              <a:gd name="adj" fmla="val 4324"/>
            </a:avLst>
          </a:prstGeom>
          <a:solidFill>
            <a:srgbClr val="FFF6E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989320" y="1051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规模翻倍会怎样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961888" y="1344168"/>
            <a:ext cx="2615184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cn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：规模 ×5 → 时间 ×5。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对数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t₁ = log₂ n₁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：规模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加倍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只让时间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 1 个单位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，因为 log₂(2n₁) = log₂ n₁ + 1。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852160" y="2788920"/>
            <a:ext cx="2834640" cy="1874520"/>
          </a:xfrm>
          <a:prstGeom prst="roundRect">
            <a:avLst>
              <a:gd name="adj" fmla="val 3902"/>
            </a:avLst>
          </a:prstGeom>
          <a:solidFill>
            <a:srgbClr val="CFE0D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989320" y="28803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「规模」与「基本操作」视算法而定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989320" y="3172968"/>
            <a:ext cx="2560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一般指输入量的数目（排序问题里就是待排序元素个数）；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基本操作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所需时间应与被操作的具体数值无关（两个整数相加的时间与取值无关）。</a:t>
            </a:r>
            <a:endParaRPr lang="en-US" sz="10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算法分析 · 渐进分析方法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渐进分析：只看大数据下的主导项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45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32688"/>
            <a:ext cx="82296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f(n) = n² + 100n + log₁₀ n + 1000</a:t>
            </a:r>
            <a:endParaRPr lang="en-US" sz="20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188720"/>
                <a:gridCol w="1371600"/>
                <a:gridCol w="1097280"/>
                <a:gridCol w="1005840"/>
                <a:gridCol w="274320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n²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100n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log₁₀ n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谁在主导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常数项贡献最大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A06A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A06A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2 项与常数项贡献相同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A06A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A06A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前两项贡献相同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&gt; 100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主导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越来越微不足道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二次项说话 → O(n²)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3429000"/>
            <a:ext cx="4206240" cy="1234440"/>
          </a:xfrm>
          <a:prstGeom prst="roundRect">
            <a:avLst>
              <a:gd name="adj" fmla="val 5926"/>
            </a:avLst>
          </a:prstGeom>
          <a:solidFill>
            <a:srgbClr val="FFF6E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94360" y="3520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渐进分析是什么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3813048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计算规模与时间关系的函数时，只考虑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大的数据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，把那些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不能显著改变函数量级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的部分忽略掉；结果是原函数的一个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近似值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，在数据规模很大时足够接近原值。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937760" y="3429000"/>
            <a:ext cx="3749040" cy="1234440"/>
          </a:xfrm>
          <a:prstGeom prst="roundRect">
            <a:avLst>
              <a:gd name="adj" fmla="val 5926"/>
            </a:avLst>
          </a:prstGeom>
          <a:solidFill>
            <a:srgbClr val="FDF0EE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074920" y="3520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并非任何情况下都能忽略常数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074920" y="3813048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当问题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规模很小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时，各项系数和常数项会起到举足轻重的作用。所以：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用于上万个数的排序算法，也许并不适用于仅对 10 个数排序。</a:t>
            </a:r>
            <a:endParaRPr lang="en-US" sz="11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算法分析 · 渐进分析方法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 O 表示法：增长率的上限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46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32688"/>
            <a:ext cx="8229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 Paul Bachmann 于 1894 年引入。设 f 和 g 为从自然数到非负实数集的两个函数。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1E3D3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3898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 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66420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如果存在正数 c 和 N，使得对任意的 n ≥ N，都有 f(n) ≤ c·g(n)，则称 f(n) 在集合 O(g(n)) 中，或简称 f(n) 是 O(g(n)) 的。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331720"/>
            <a:ext cx="493776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g(n) 是 f(n) 取值的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上限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（upper bound）；也可以说 f 的增长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最终至多趋同于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g 的增长。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若某算法在 O(g(n)) 中，只是表明该算法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最多会差到何种程度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一个函数的上限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可能不止一个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：在 O(n) 中的函数也一定在 O(n²)、O(n³) 中。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 O 报所有上限中最小的那个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——这是使用约定，不是定义的要求：说 O(n²) 的函数「是 O(n³)」不算错，只是不够紧。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577840" y="2331720"/>
            <a:ext cx="3108960" cy="2331720"/>
          </a:xfrm>
          <a:prstGeom prst="roundRect">
            <a:avLst>
              <a:gd name="adj" fmla="val 3137"/>
            </a:avLst>
          </a:prstGeom>
          <a:solidFill>
            <a:srgbClr val="F1F4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715000" y="23957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c·g(n) 压在 f(n) 上面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0" y="2743200"/>
            <a:ext cx="0" cy="1645920"/>
          </a:xfrm>
          <a:prstGeom prst="line">
            <a:avLst/>
          </a:prstGeom>
          <a:noFill/>
          <a:ln w="12700">
            <a:solidFill>
              <a:srgbClr val="6B7B7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4389120"/>
            <a:ext cx="2423160" cy="0"/>
          </a:xfrm>
          <a:prstGeom prst="line">
            <a:avLst/>
          </a:prstGeom>
          <a:noFill/>
          <a:ln w="12700">
            <a:solidFill>
              <a:srgbClr val="6B7B7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6035040" y="2926080"/>
            <a:ext cx="2148840" cy="146304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6035040" y="3611880"/>
            <a:ext cx="2148840" cy="777240"/>
          </a:xfrm>
          <a:prstGeom prst="line">
            <a:avLst/>
          </a:prstGeom>
          <a:noFill/>
          <a:ln w="25400">
            <a:solidFill>
              <a:srgbClr val="3E7C6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52360" y="26974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c·g(n)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7818120" y="39136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f(n)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629400" y="3063240"/>
            <a:ext cx="0" cy="1325880"/>
          </a:xfrm>
          <a:prstGeom prst="line">
            <a:avLst/>
          </a:prstGeom>
          <a:noFill/>
          <a:ln w="12700">
            <a:solidFill>
              <a:srgbClr val="A06A00"/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6528816" y="285292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5715000" y="442569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≥ N 之后 f(n) ≤ c·g(n) 一直成立</a:t>
            </a:r>
            <a:endParaRPr lang="en-US" sz="8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算法分析 · 渐进分析方法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 O 的六条有益特性（a 为不依赖 n 的常数）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3977640" cy="841248"/>
          </a:xfrm>
          <a:prstGeom prst="roundRect">
            <a:avLst>
              <a:gd name="adj" fmla="val 8696"/>
            </a:avLst>
          </a:prstGeom>
          <a:solidFill>
            <a:srgbClr val="F1F4F2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106424"/>
            <a:ext cx="347472" cy="347472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11064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24128" y="10607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传递性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1024128" y="1316736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 是 O(g)，g 是 O(h) ⟹ 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 是 O(h)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09160" y="1005840"/>
            <a:ext cx="3977640" cy="841248"/>
          </a:xfrm>
          <a:prstGeom prst="roundRect">
            <a:avLst>
              <a:gd name="adj" fmla="val 8696"/>
            </a:avLst>
          </a:prstGeom>
          <a:solidFill>
            <a:srgbClr val="F1F4F2"/>
          </a:solidFill>
          <a:ln/>
        </p:spPr>
      </p:sp>
      <p:sp>
        <p:nvSpPr>
          <p:cNvPr id="13" name="Shape 11"/>
          <p:cNvSpPr/>
          <p:nvPr/>
        </p:nvSpPr>
        <p:spPr>
          <a:xfrm>
            <a:off x="4846320" y="1106424"/>
            <a:ext cx="347472" cy="347472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846320" y="11064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276088" y="10607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加法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276088" y="1316736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 是 O(h)，g 是 O(h) ⟹ 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 + g 是 O(h)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1975104"/>
            <a:ext cx="3977640" cy="841248"/>
          </a:xfrm>
          <a:prstGeom prst="roundRect">
            <a:avLst>
              <a:gd name="adj" fmla="val 8696"/>
            </a:avLst>
          </a:prstGeom>
          <a:solidFill>
            <a:srgbClr val="F1F4F2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" y="2075688"/>
            <a:ext cx="347472" cy="347472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94360" y="20756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024128" y="20299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多项式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1024128" y="22860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a·nᵏ 是 O(nᵏ)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—— 系数不影响量级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09160" y="1975104"/>
            <a:ext cx="3977640" cy="841248"/>
          </a:xfrm>
          <a:prstGeom prst="roundRect">
            <a:avLst>
              <a:gd name="adj" fmla="val 8696"/>
            </a:avLst>
          </a:prstGeom>
          <a:solidFill>
            <a:srgbClr val="F1F4F2"/>
          </a:solidFill>
          <a:ln/>
        </p:spPr>
      </p:sp>
      <p:sp>
        <p:nvSpPr>
          <p:cNvPr id="23" name="Shape 21"/>
          <p:cNvSpPr/>
          <p:nvPr/>
        </p:nvSpPr>
        <p:spPr>
          <a:xfrm>
            <a:off x="4846320" y="2075688"/>
            <a:ext cx="347472" cy="347472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846320" y="20756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276088" y="20299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常数倍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5276088" y="22860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f(n) = c·g(n) ⟹ 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 是 O(g)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" y="2944368"/>
            <a:ext cx="3977640" cy="841248"/>
          </a:xfrm>
          <a:prstGeom prst="roundRect">
            <a:avLst>
              <a:gd name="adj" fmla="val 8696"/>
            </a:avLst>
          </a:prstGeom>
          <a:solidFill>
            <a:srgbClr val="FFF6E0"/>
          </a:solidFill>
          <a:ln/>
        </p:spPr>
      </p:sp>
      <p:sp>
        <p:nvSpPr>
          <p:cNvPr id="28" name="Shape 26"/>
          <p:cNvSpPr/>
          <p:nvPr/>
        </p:nvSpPr>
        <p:spPr>
          <a:xfrm>
            <a:off x="594360" y="3044952"/>
            <a:ext cx="347472" cy="347472"/>
          </a:xfrm>
          <a:prstGeom prst="ellipse">
            <a:avLst/>
          </a:prstGeom>
          <a:solidFill>
            <a:srgbClr val="A06A00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94360" y="3044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1024128" y="29992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换底无关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1024128" y="325526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对任何正数 a、b（a ≠ 1，b ≠ 1；原书漏了 a ≠ 1），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logₐ n 是 O(log_b n)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：任何对数函数无论底数为何，都具有相同的增长率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09160" y="2944368"/>
            <a:ext cx="3977640" cy="841248"/>
          </a:xfrm>
          <a:prstGeom prst="roundRect">
            <a:avLst>
              <a:gd name="adj" fmla="val 8696"/>
            </a:avLst>
          </a:prstGeom>
          <a:solidFill>
            <a:srgbClr val="FFF6E0"/>
          </a:solidFill>
          <a:ln/>
        </p:spPr>
      </p:sp>
      <p:sp>
        <p:nvSpPr>
          <p:cNvPr id="33" name="Shape 31"/>
          <p:cNvSpPr/>
          <p:nvPr/>
        </p:nvSpPr>
        <p:spPr>
          <a:xfrm>
            <a:off x="4846320" y="3044952"/>
            <a:ext cx="347472" cy="347472"/>
          </a:xfrm>
          <a:prstGeom prst="ellipse">
            <a:avLst/>
          </a:prstGeom>
          <a:solidFill>
            <a:srgbClr val="A06A00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4846320" y="3044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5276088" y="29992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本书约定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5276088" y="325526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对任何正数 a ≠ 1，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logₐ n 是 O(log₂ n)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；本书把 log₂ n 简写为 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log n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57200" y="397764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6E0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594360" y="40690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这几条在实际计算里怎么用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594360" y="4361688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「加法」让我们可以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逐段统计再取最大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：一段 O(n) 加一段 O(n²) 就是 O(n²)。「多项式」「常数倍」让我们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丢掉系数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：2n² + 3n 就写 O(n²)。「换底无关」让我们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不必纠结 log 的底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算法分析 · 渐进分析方法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常见的上限 g(n)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48</a:t>
            </a:r>
            <a:endParaRPr lang="en-US" sz="900" dirty="0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103120"/>
                <a:gridCol w="493776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g(n)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名称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原书给的例子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常数函数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不依赖于数据规模 n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log n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对数函数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比线性函数 n 增长慢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线性增长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rate(n 个 a 相加) = rate(n × a) = O(n)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 log n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阶数低于二阶、高于一阶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rate(∑ᵢ₌₁^{log n} ∑ⱼ₌₁^n a) = O(n log n)，一般出现在</a:t>
                      </a: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树形结构</a:t>
                      </a: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的算法中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n²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二阶增长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rate(1 + 2 + ⋯ + n) = rate(n(n+1)/2) = O(n²)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aⁿ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指数增长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往往出现在</a:t>
                      </a: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递归定义</a:t>
                      </a: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的函数计算中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DF0E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40080" y="39593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指数增长的渐进式比任何高次多项式（n³、n⁴ …）都增长得更快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426110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具有指数增长率的算法简称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指数爆炸型算法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，应用时需要谨慎。</a:t>
            </a:r>
            <a:endParaRPr lang="en-US" sz="11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算法分析 · 渐进分析方法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差一个数量级有多大？令时间单位 1 μs，n = 1000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02412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T(n) = 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29844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ms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84708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560320" y="96012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F1F4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651760" y="102412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T(n) = n²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651760" y="129844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s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2651760" y="184708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63440" y="96012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F1F4F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754880" y="102412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T(n) = n³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754880" y="129844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1000 s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4754880" y="184708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16 分钟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766560" y="96012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F1F4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58000" y="102412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T(n) = 2ⁿ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0" y="129844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≈3.4×10²⁸⁷ 年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0" y="184708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原书作 10²⁸⁶；地球才约 10¹⁰ 年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 1.2 　把量级换算成现实世界里的速度，好让「差一个数量级」有一个能感知的尺度（节选）</a:t>
            </a:r>
            <a:endParaRPr lang="en-US" sz="110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51760"/>
          <a:ext cx="41148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554480"/>
                <a:gridCol w="173736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m/s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英制度量衡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现实世界的例子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10⁻¹¹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1.2 英寸/世纪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钟乳石的生长速度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10⁻⁹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1.2 英寸/年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指甲的生长速度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10⁻⁶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3.4 英寸/天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冰河的流动速度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10⁻³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 英寸/分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蜗牛的速度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2651760"/>
          <a:ext cx="41148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554480"/>
                <a:gridCol w="173736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m/s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英制度量衡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现实世界的例子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2.2 英里/时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人类的散步速度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10²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220 英里/时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螺旋桨飞机的速度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10⁵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3700 英里/分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流星撞击地球的速度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10⁸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62000 英里/秒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光速的三分之一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26" name="Text 22"/>
          <p:cNvSpPr txBox="1"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从钟乳石到光速，跨了 19 个数量级；而 n = 1000 时 n 与 2ⁿ 之间的差距，比这还夸张得多。（表里个别例子只取量级之意，如地球自转约 465 m/s，远不到 10⁶。）</a:t>
            </a:r>
            <a:endParaRPr lang="en-US" sz="10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算法分析 · 渐进分析方法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常用函数的增长趋势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4206240" cy="3703320"/>
          </a:xfrm>
          <a:prstGeom prst="roundRect">
            <a:avLst>
              <a:gd name="adj" fmla="val 1975"/>
            </a:avLst>
          </a:prstGeom>
          <a:solidFill>
            <a:srgbClr val="F1F4F2"/>
          </a:solidFill>
          <a:ln/>
        </p:spPr>
      </p:sp>
      <p:pic>
        <p:nvPicPr>
          <p:cNvPr id="8" name="Image 0" descr="fig-1-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67814"/>
            <a:ext cx="4023360" cy="348793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7200" y="4681728"/>
            <a:ext cx="42062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稍大，曲线之间就拉开天文数字的差距。</a:t>
            </a:r>
            <a:endParaRPr lang="en-US" sz="900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960120"/>
          <a:ext cx="37490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822960"/>
                <a:gridCol w="914400"/>
                <a:gridCol w="100584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 = 16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 = 256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直觉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常数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log n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二分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256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扫一遍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 log n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64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2048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快排 / 归并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n²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256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65536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双重循环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2ⁿ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65536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穷举子集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4937760" y="3794760"/>
            <a:ext cx="3749040" cy="868680"/>
          </a:xfrm>
          <a:prstGeom prst="roundRect">
            <a:avLst>
              <a:gd name="adj" fmla="val 8421"/>
            </a:avLst>
          </a:prstGeom>
          <a:solidFill>
            <a:srgbClr val="FFF6E0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5074920" y="3886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把这张表记住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5074920" y="417880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同一组 n 用数字排出来：n = 256 时 log n 只有 8，而 2ⁿ 已经写不下了。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算法选型的第一判断，就是估这一列数字。</a:t>
            </a:r>
            <a:endParaRPr lang="en-US" sz="10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算法分析 · 渐进分析方法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Ω 表示法与 Θ 表示法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3977640" cy="1691640"/>
          </a:xfrm>
          <a:prstGeom prst="roundRect">
            <a:avLst>
              <a:gd name="adj" fmla="val 4324"/>
            </a:avLst>
          </a:prstGeom>
          <a:solidFill>
            <a:srgbClr val="F1F4F2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051560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3E7C6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0515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 2 · Ω（欧米伽）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4630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如果存在正数 c 和 N，使得对所有的 n ≥ N，都有 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f(n) ≥ c·g(n)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，则称 f(n) 是 Ω(g(n)) 的。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011680"/>
            <a:ext cx="36576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c·g(n) 是 f(n) 取值的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下限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（lower bound）。</a:t>
            </a:r>
            <a:endParaRPr lang="en-US" sz="10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与大 O 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唯一的区别是不等式方向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；大 O 取所有上限中最小的，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Ω 取所有下限中最大的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（同为使用约定：n² 也是 Ω(n)，只是太松）。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9160" y="960120"/>
            <a:ext cx="3977640" cy="1691640"/>
          </a:xfrm>
          <a:prstGeom prst="roundRect">
            <a:avLst>
              <a:gd name="adj" fmla="val 4324"/>
            </a:avLst>
          </a:prstGeom>
          <a:solidFill>
            <a:srgbClr val="FFF6E0"/>
          </a:solidFill>
          <a:ln/>
        </p:spPr>
      </p:sp>
      <p:sp>
        <p:nvSpPr>
          <p:cNvPr id="13" name="Shape 11"/>
          <p:cNvSpPr/>
          <p:nvPr/>
        </p:nvSpPr>
        <p:spPr>
          <a:xfrm>
            <a:off x="4892040" y="1051560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A06A0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892040" y="10515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Θ（希塔）：上下限相同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14630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如果一个函数既在 O(g(n)) 中，又在 Ω(g(n)) 中，则称其为 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Θ(g(n))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：存在正常数 c₁、c₂ 与正整数 N，使得对任意 n &gt; N，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892040" y="2103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c₁·g(n) ≤ f(n) ≤ c₂·g(n)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274320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F1F4F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28163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281635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f(n) = 100 × n² + 5 × n + 500，令 g(n) = n²。取 c₁ = 100、c₂ = 105、N = 10，当 n &gt; N 时上式成立，因此 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f(n) 为 Θ(n²)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188720" y="3246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核对：n &gt; 10 时 5n + 500 &lt; 5n² ⟹ f(n) &lt; 105n²；同时 f(n) &gt; 100n² 显然成立。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2606040" cy="822960"/>
          </a:xfrm>
          <a:prstGeom prst="roundRect">
            <a:avLst>
              <a:gd name="adj" fmla="val 8889"/>
            </a:avLst>
          </a:prstGeom>
          <a:solidFill>
            <a:srgbClr val="F1F4F2"/>
          </a:solidFill>
          <a:ln/>
        </p:spPr>
      </p:sp>
      <p:sp>
        <p:nvSpPr>
          <p:cNvPr id="22" name="Shape 20"/>
          <p:cNvSpPr/>
          <p:nvPr/>
        </p:nvSpPr>
        <p:spPr>
          <a:xfrm>
            <a:off x="594360" y="3950208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94360" y="395020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O(g)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600200" y="395020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至多这么差（上限）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46120" y="3840480"/>
            <a:ext cx="2606040" cy="822960"/>
          </a:xfrm>
          <a:prstGeom prst="roundRect">
            <a:avLst>
              <a:gd name="adj" fmla="val 8889"/>
            </a:avLst>
          </a:prstGeom>
          <a:solidFill>
            <a:srgbClr val="F1F4F2"/>
          </a:solidFill>
          <a:ln/>
        </p:spPr>
      </p:sp>
      <p:sp>
        <p:nvSpPr>
          <p:cNvPr id="26" name="Shape 24"/>
          <p:cNvSpPr/>
          <p:nvPr/>
        </p:nvSpPr>
        <p:spPr>
          <a:xfrm>
            <a:off x="3383280" y="3950208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3E7C68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3383280" y="395020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Ω(g)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4389120" y="395020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至少这么差（下限）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035040" y="3840480"/>
            <a:ext cx="2606040" cy="822960"/>
          </a:xfrm>
          <a:prstGeom prst="roundRect">
            <a:avLst>
              <a:gd name="adj" fmla="val 8889"/>
            </a:avLst>
          </a:prstGeom>
          <a:solidFill>
            <a:srgbClr val="F1F4F2"/>
          </a:solidFill>
          <a:ln/>
        </p:spPr>
      </p:sp>
      <p:sp>
        <p:nvSpPr>
          <p:cNvPr id="30" name="Shape 28"/>
          <p:cNvSpPr/>
          <p:nvPr/>
        </p:nvSpPr>
        <p:spPr>
          <a:xfrm>
            <a:off x="6172200" y="3950208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A06A00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172200" y="395020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Θ(g)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7178040" y="395020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上下限一致，增长率确定</a:t>
            </a:r>
            <a:endParaRPr lang="en-US" sz="10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算法分析 · 渐进分析的实例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数赋值操作：两段代码，两个量级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52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32688"/>
            <a:ext cx="8229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大多数情况下，时间复杂度是根据算法执行过程中需要实施的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赋值、比较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等基本运算数目来衡量的。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1298448"/>
            <a:ext cx="3977640" cy="1600200"/>
          </a:xfrm>
          <a:prstGeom prst="roundRect">
            <a:avLst>
              <a:gd name="adj" fmla="val 4571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371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数组求和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1664208"/>
            <a:ext cx="3611880" cy="502920"/>
          </a:xfrm>
          <a:prstGeom prst="roundRect">
            <a:avLst>
              <a:gd name="adj" fmla="val 14545"/>
            </a:avLst>
          </a:prstGeom>
          <a:solidFill>
            <a:srgbClr val="F1F4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3232" y="1709928"/>
            <a:ext cx="3465576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 = sum = 0; i &lt; n; i++)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 += a[i];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2240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循环前 2 次赋值（i、sum）；循环 n 次、每次 2 次赋值（sum、i）。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5420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9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+ 2n  →  O(n)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709160" y="1298448"/>
            <a:ext cx="3977640" cy="1600200"/>
          </a:xfrm>
          <a:prstGeom prst="roundRect">
            <a:avLst>
              <a:gd name="adj" fmla="val 4571"/>
            </a:avLst>
          </a:prstGeom>
          <a:solidFill>
            <a:srgbClr val="F1F4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892040" y="1371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所有前缀子数组求和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92040" y="1664208"/>
            <a:ext cx="3611880" cy="914400"/>
          </a:xfrm>
          <a:prstGeom prst="roundRect">
            <a:avLst>
              <a:gd name="adj" fmla="val 8000"/>
            </a:avLst>
          </a:prstGeom>
          <a:solidFill>
            <a:srgbClr val="F1F4F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965192" y="1709928"/>
            <a:ext cx="3465576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 = 0; i &lt; n; i++)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(j = 1, sum = a[0]; j &lt;= i; j++)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sum += a[j];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cout &lt;&lt; "sum for subarray 0 through "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&lt;&lt; i &lt;&lt; " is " &lt;&lt; sum &lt;&lt; endl;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2606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外层 n 次，每次对 i、j、sum 各赋值；内层第 i 轮执行 i 次、每次 2 个赋值。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30175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1E3D3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30175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+ 3n + ∑ᵢ₌₁ⁿ⁻¹ 2i  =  1 + 3n + 2(1 + 2 + ⋯ + n−1)  =  1 + 3n + n(n−1)  =  O(n) + O(n²)  =  O(n²)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FF6E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94360" y="393192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统计的套路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4224528"/>
            <a:ext cx="8010144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分段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：循环外的常数次 + 每层循环的次数 × 每次的操作数。</a:t>
            </a:r>
            <a:endParaRPr lang="en-US" sz="10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求和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：等差求和 1 + 2 + ⋯ + (n−1) = n(n−1)/2。</a:t>
            </a:r>
            <a:endParaRPr lang="en-US" sz="10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取最大项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：O(n) + O(n²) = O(n²)（大 O 的加法性质）。</a:t>
            </a:r>
            <a:endParaRPr lang="en-US" sz="10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算法分析 · 渐进分析的实例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循环嵌套并不总是增加复杂度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53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把上例改成「只对每个子数组的前 5 个元素求和」（看代码，求的其实是 </a:t>
            </a:r>
            <a:r>
              <a:rPr lang="en-US" sz="12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a[0..i]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末尾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5 个元素之和）：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4937760" cy="777240"/>
          </a:xfrm>
          <a:prstGeom prst="roundRect">
            <a:avLst>
              <a:gd name="adj" fmla="val 9412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30352" y="1371600"/>
            <a:ext cx="4791456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 = 4; i &lt; n; i++)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(j = i - 3, sum = a[i - 4]; j &lt;= i; j++)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sum += a[j];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240280"/>
            <a:ext cx="493776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外层循环进行 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− 4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次。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对每个 i，内层循环只执行 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次，每次的操作次数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 i 的大小无关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：共 8 次赋值操作。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外加对 i 的初始化，整个代码总共 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O(1) + 8(n − 4) = O(n)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次赋值操作（连外层 3 次赋值也算上是 1 + 11(n − 4)，结论不变）。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3703320"/>
            <a:ext cx="4937760" cy="960120"/>
          </a:xfrm>
          <a:prstGeom prst="roundRect">
            <a:avLst>
              <a:gd name="adj" fmla="val 7619"/>
            </a:avLst>
          </a:prstGeom>
          <a:solidFill>
            <a:srgbClr val="1E3D3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370332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尽管存在嵌套循环，但算法的整体时间复杂度依然呈线性增长。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577840" y="1325880"/>
            <a:ext cx="3108960" cy="1737360"/>
          </a:xfrm>
          <a:prstGeom prst="roundRect">
            <a:avLst>
              <a:gd name="adj" fmla="val 4211"/>
            </a:avLst>
          </a:prstGeom>
          <a:solidFill>
            <a:srgbClr val="FFF6E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715000" y="14173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判断的关键：内层次数是否随 n 变化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687568" y="1709928"/>
            <a:ext cx="2889504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内层次数是 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 或 n 的函数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相乘，量级升高（例 ②：n × i）。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内层次数是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常数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只是乘一个常数因子，量级不变（本例：n × 4）。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所以看到双重循环不要条件反射写 O(n²)，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先问内层跑几次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577840" y="3200400"/>
            <a:ext cx="3108960" cy="1463040"/>
          </a:xfrm>
          <a:prstGeom prst="roundRect">
            <a:avLst>
              <a:gd name="adj" fmla="val 5000"/>
            </a:avLst>
          </a:prstGeom>
          <a:solidFill>
            <a:srgbClr val="CFE0D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715000" y="32918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排序算法的基本操作不是赋值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715000" y="3584448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对排序算法而言，主要时间开销体现在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比较和交换（或移动）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等操作上——具体见第 8 章各算法分析。</a:t>
            </a:r>
            <a:endParaRPr lang="en-US" sz="10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算法分析 · 最佳、最差和平均情况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同一规模、不同输入，复杂度可以不一样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54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32688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例：求一个数组的所有有序子数组中最长的一个。在 [1, 8, 1, 2, 5, 0, 11, 9] 中，最长有序子数组为 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[1, 2, 5]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，长度 3。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298448"/>
            <a:ext cx="4937760" cy="1051560"/>
          </a:xfrm>
          <a:prstGeom prst="roundRect">
            <a:avLst>
              <a:gd name="adj" fmla="val 6957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30352" y="1344168"/>
            <a:ext cx="4791456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 = 0, length = 1; i &lt; n - 1; i++) {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(j1 = j2 = k = i;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k &lt; n - 1 &amp;&amp; a[k] &lt; a[k + 1]; k++, j2++);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(length &lt; j2 - j1 - 1)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length = j2 - j1 + 1;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4937760" cy="1097280"/>
          </a:xfrm>
          <a:prstGeom prst="roundRect">
            <a:avLst>
              <a:gd name="adj" fmla="val 6667"/>
            </a:avLst>
          </a:prstGeom>
          <a:solidFill>
            <a:srgbClr val="FDF0E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24871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这段是原书印出来的样子，照抄它会算错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2761488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内层循环走完后这一段升序的长度是 </a:t>
            </a:r>
            <a:r>
              <a:rPr lang="en-US" sz="10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j2 - j1 + 1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，而判断条件写的却是 </a:t>
            </a:r>
            <a:r>
              <a:rPr lang="en-US" sz="10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 &lt; j2 - j1 - 1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sz="10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两处的常数项差了 2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。用原书自己的例子跑一遍，答案会是 </a:t>
            </a:r>
            <a:r>
              <a:rPr lang="en-US" sz="10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而不是 3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（初值 1 时只有长度 ≥ 4 的段才过得了判断，而最长段只有 3）。这里保留原样是为了让读者对照纸书，分析长度时按 </a:t>
            </a:r>
            <a:r>
              <a:rPr lang="en-US" sz="10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j2 - j1 + 1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读。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611880"/>
            <a:ext cx="685800" cy="310896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7200" y="3611880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最佳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61188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降序输入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2286000" y="361188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外层 n−1 次，每次内层只执行 1 次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361188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9E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977640"/>
            <a:ext cx="685800" cy="310896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7200" y="3977640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最差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1234440" y="397764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升序输入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2286000" y="397764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外层 n−1 次（i = 0…n−2），内层 (n−1−i) 次，合计 n(n−1)/2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355080" y="397764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O(n²)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343400"/>
            <a:ext cx="685800" cy="310896"/>
          </a:xfrm>
          <a:prstGeom prst="roundRect">
            <a:avLst>
              <a:gd name="adj" fmla="val 50000"/>
            </a:avLst>
          </a:prstGeom>
          <a:solidFill>
            <a:srgbClr val="A06A0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57200" y="4343400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1234440" y="434340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无序输入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2286000" y="434340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既不升序也不降序——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大多数情况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6355080" y="434340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平均情况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577840" y="1325880"/>
            <a:ext cx="3108960" cy="2148840"/>
          </a:xfrm>
          <a:prstGeom prst="roundRect">
            <a:avLst>
              <a:gd name="adj" fmla="val 3404"/>
            </a:avLst>
          </a:prstGeom>
          <a:solidFill>
            <a:srgbClr val="FFF6E0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715000" y="14173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为什么会依赖输入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715000" y="1709928"/>
            <a:ext cx="2834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算法实际执行的操作依赖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分支条件的走向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，而分支走向取决于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输入数据的取值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。所以渐进分析往往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无法独立于输入数据的状态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进行。</a:t>
            </a:r>
            <a:endParaRPr lang="en-US" sz="10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算法分析 · 最佳、最差和平均情况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平均情况怎么算：按概率加权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55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32688"/>
            <a:ext cx="8229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一般而言，计算平均情况应考虑算法的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所有输入情况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，确定针对每种输入所需的操作数目。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3533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每种输入概率相同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6276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把针对每种输入的操作数目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依次相加，再除以输入的总数目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280160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FFF6E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892040" y="13533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概率不同：作为权值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16276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C_avg = ∑ᵢ p(inputᵢ) · steps(inputᵢ)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331720"/>
            <a:ext cx="82296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p(inputᵢ) 为第 i 种输入的出现概率，steps(inputᵢ) 为处理该输入所需的操作或步骤数；所有概率非负且 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∑ᵢ p(inputᵢ) = 1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此处假设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可以事先得知输入的概率分布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——而这正是难点：平均情况的分析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并不总是可行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，因为需要了解实际输入在所有可能输入集合中的分布状况。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例：在规模为 n 的数组中找给定的 K（假设有且仅有一个元素等于 K）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639312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F1F4F2"/>
          </a:solidFill>
          <a:ln/>
        </p:spPr>
      </p:sp>
      <p:sp>
        <p:nvSpPr>
          <p:cNvPr id="17" name="Shape 15"/>
          <p:cNvSpPr/>
          <p:nvPr/>
        </p:nvSpPr>
        <p:spPr>
          <a:xfrm>
            <a:off x="594360" y="3730752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94360" y="373075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最佳情况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" y="40690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个元素就是 K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94360" y="43159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次比较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46120" y="3639312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F1F4F2"/>
          </a:solidFill>
          <a:ln/>
        </p:spPr>
      </p:sp>
      <p:sp>
        <p:nvSpPr>
          <p:cNvPr id="22" name="Shape 20"/>
          <p:cNvSpPr/>
          <p:nvPr/>
        </p:nvSpPr>
        <p:spPr>
          <a:xfrm>
            <a:off x="3383280" y="3730752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383280" y="373075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最差情况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3383280" y="40690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 是最后一个元素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3383280" y="43159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次比较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35040" y="3639312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F1F4F2"/>
          </a:solidFill>
          <a:ln/>
        </p:spPr>
      </p:sp>
      <p:sp>
        <p:nvSpPr>
          <p:cNvPr id="27" name="Shape 25"/>
          <p:cNvSpPr/>
          <p:nvPr/>
        </p:nvSpPr>
        <p:spPr>
          <a:xfrm>
            <a:off x="6172200" y="3730752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A06A0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172200" y="373075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平均情况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172200" y="40690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每个位置概率均为 1/n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6172200" y="43159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(1+2+⋯+n)/n = (n+1)/2</a:t>
            </a:r>
            <a:endParaRPr lang="en-US" sz="11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算法分析 · 最佳、最差和平均情况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概率不相等时，结论会明显改变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56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设出现在第 1 个位置的概率为 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1/2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，第 2 个位置为 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1/4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，其他位置概率相等，即每个为 (1 − 1/2 − 1/4)/(n − 2) = 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1/(4(n−2))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1E3D3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55448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1/2 + 2/4 + (3 + ⋯ + n)/(4(n−2))  =  1 + (n(n+1) − 6)/(8(n−2))  =  1 + (n+3)/8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514600"/>
            <a:ext cx="8229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次比较，比等概率的 (n+1)/2 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快将近 4 倍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50" dirty="0"/>
          </a:p>
        </p:txBody>
      </p:sp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80360"/>
          <a:ext cx="493776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554480"/>
                <a:gridCol w="1554480"/>
                <a:gridCol w="100584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等概率 (n+1)/2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偏置 1 + (n+3)/8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倍数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50.5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13.9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≈ 3.6×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500.5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126.4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≈ 4.0×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 txBox="1"/>
          <p:nvPr/>
        </p:nvSpPr>
        <p:spPr>
          <a:xfrm>
            <a:off x="457200" y="3931920"/>
            <a:ext cx="49377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（这两行数字按上式代入核对：n = 1000 时 1 + 1003/8 = 126.4，500.5 / 126.4 ≈ 3.96。）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577840" y="2880360"/>
            <a:ext cx="3108960" cy="1463040"/>
          </a:xfrm>
          <a:prstGeom prst="roundRect">
            <a:avLst>
              <a:gd name="adj" fmla="val 5000"/>
            </a:avLst>
          </a:prstGeom>
          <a:solidFill>
            <a:srgbClr val="FFF6E0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715000" y="29718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5715000" y="3264408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平均情况不是「输入等概率」的同义词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。分布变了，平均代价就变。所以报一个平均复杂度时，必须交代清楚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假设的是什么分布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算法分析 · 最佳、最差和平均情况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分析一种算法时，该研究哪种情况？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F1F4F2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23444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23444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最佳情况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1965960" y="1014984"/>
            <a:ext cx="6583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发生的概率太小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，并不能作为算法性能的代表；但它可以帮助设计者或使用者了解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某个算法在何种情况下适用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039112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F1F4F2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2313432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231343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最差情况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1965960" y="2093976"/>
            <a:ext cx="6583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可以让人了解一个算法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至少能做多快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，这一点在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实时系统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中尤其重要：空运处理系统里，一个绝大部分情况下能管理 n 架飞机的算法，如果不能在规定时间内管理 n 架飞机，则该算法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不可接受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118104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F1F4F2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3392424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A06A0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339242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平均情况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1965960" y="3172968"/>
            <a:ext cx="6583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是算法在输入规模为 n 时的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典型表现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；但分析往往需要复杂计算，而且需要知道输入的分布。多数算法的最坏与平均情况公式只差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常数因子或常数项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2062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1E3D3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42062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只报一个数字、不说针对哪种输入，这个数字就没有意义。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例如第 8 章的快速排序平均是 O(n log n)，取末元素作轴值（本书写法）时，输入已经有序就退化成 O(n²)。</a:t>
            </a:r>
            <a:endParaRPr lang="en-US" sz="12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算法分析 · 时间和空间的折衷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空间开销：静态结构好估，动态结构必须分析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3977640" cy="1691640"/>
          </a:xfrm>
          <a:prstGeom prst="roundRect">
            <a:avLst>
              <a:gd name="adj" fmla="val 4324"/>
            </a:avLst>
          </a:prstGeom>
          <a:solidFill>
            <a:srgbClr val="F1F4F2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051560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0515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静态存储结构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463040"/>
            <a:ext cx="365760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算法所用的存储空间在执行过程中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不发生变化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；一旦确定输入数据和问题规模，数据结构大小也就确定。</a:t>
            </a:r>
            <a:endParaRPr lang="en-US" sz="10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空间开销估算比较容易：往往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与问题规模成正比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（线性），或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不随规模增大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（常数）。</a:t>
            </a:r>
            <a:endParaRPr lang="en-US" sz="10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本书对这类算法一般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仅讨论时间代价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960120"/>
            <a:ext cx="3977640" cy="1691640"/>
          </a:xfrm>
          <a:prstGeom prst="roundRect">
            <a:avLst>
              <a:gd name="adj" fmla="val 4324"/>
            </a:avLst>
          </a:prstGeom>
          <a:solidFill>
            <a:srgbClr val="F1F4F2"/>
          </a:solidFill>
          <a:ln/>
        </p:spPr>
      </p:sp>
      <p:sp>
        <p:nvSpPr>
          <p:cNvPr id="12" name="Shape 10"/>
          <p:cNvSpPr/>
          <p:nvPr/>
        </p:nvSpPr>
        <p:spPr>
          <a:xfrm>
            <a:off x="4892040" y="1051560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3E7C6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92040" y="10515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动态存储结构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1463040"/>
            <a:ext cx="365760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存储空间是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变化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的，运行过程中有时会有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数量级的增大或缩小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对于这种情况，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空间开销的分析和估计是十分必要的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例如第 2 章顺序表的翻倍扩容、第 3 章链式结构的按需分配。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7889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1E3D3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28529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时空资源的折衷原理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12724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为了改善一个算法的时间开销，往往可以</a:t>
            </a: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增大空间开销</a:t>
            </a: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为代价；反之亦然。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611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例：从公司黄页数据表中快速查询公司电话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931920"/>
            <a:ext cx="2606040" cy="731520"/>
          </a:xfrm>
          <a:prstGeom prst="roundRect">
            <a:avLst>
              <a:gd name="adj" fmla="val 10000"/>
            </a:avLst>
          </a:prstGeom>
          <a:solidFill>
            <a:srgbClr val="F1F4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66928" y="39867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逐项比较公司名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42611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线性增长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081528" y="4297680"/>
            <a:ext cx="146304" cy="0"/>
          </a:xfrm>
          <a:prstGeom prst="line">
            <a:avLst/>
          </a:prstGeom>
          <a:noFill/>
          <a:ln w="2540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246120" y="3931920"/>
            <a:ext cx="2606040" cy="731520"/>
          </a:xfrm>
          <a:prstGeom prst="roundRect">
            <a:avLst>
              <a:gd name="adj" fmla="val 10000"/>
            </a:avLst>
          </a:prstGeom>
          <a:solidFill>
            <a:srgbClr val="F1F4F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355848" y="39867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附加散列式索引表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3355848" y="42611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线性空间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870448" y="4297680"/>
            <a:ext cx="146304" cy="0"/>
          </a:xfrm>
          <a:prstGeom prst="line">
            <a:avLst/>
          </a:prstGeom>
          <a:noFill/>
          <a:ln w="2540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035040" y="3931920"/>
            <a:ext cx="2606040" cy="731520"/>
          </a:xfrm>
          <a:prstGeom prst="roundRect">
            <a:avLst>
              <a:gd name="adj" fmla="val 10000"/>
            </a:avLst>
          </a:prstGeom>
          <a:solidFill>
            <a:srgbClr val="F1F4F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144768" y="39867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散列函数算出索引值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6144768" y="42611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E9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常数时间</a:t>
            </a:r>
            <a:endParaRPr lang="en-US" sz="11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算法分析 · 时间和空间的折衷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反过来也成立：用时间换空间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59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512064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树的顺序存储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（第 6.3 节）：把一棵树压成一串「带右链」「带度数」的序列，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省下大部分乃至全部指针域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的空间，代价是恢复结构时必须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重新扫描一遍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稀疏矩阵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（第 12 章）：只存非零元素，省空间；随机访问某个元素则要查找。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Huffman 编码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（第 5 章）：用变长编码压缩存储，代价是编解码的时间。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834640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1E3D3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907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没有免费的加速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18211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空间紧、时间松，和空间松、时间紧，</a:t>
            </a: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选的结构会不一样</a:t>
            </a: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840480"/>
            <a:ext cx="5120640" cy="822960"/>
          </a:xfrm>
          <a:prstGeom prst="roundRect">
            <a:avLst>
              <a:gd name="adj" fmla="val 8889"/>
            </a:avLst>
          </a:prstGeom>
          <a:solidFill>
            <a:srgbClr val="FFF6E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94360" y="39319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设计算法时的做法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422452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经常采用「以空间换时间」：为此就需要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对原有存储结构做出修改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，或者想出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全新的、更适合逻辑数据结构使用的存储方案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</p:txBody>
      </p:sp>
      <p:graphicFrame>
        <p:nvGraphicFramePr>
          <p:cNvPr id="6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960120"/>
          <a:ext cx="292608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868680"/>
                <a:gridCol w="8686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做法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空间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黄页 + 散列索引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线性 → 常数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 线性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线性索引表（1.1.2）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扫描 → 二分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 一张表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树的顺序存储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 重新扫描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省下大部分指针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稀疏矩阵 / Huffman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 查找 / 编解码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省下大量空间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15" name="Text 12"/>
          <p:cNvSpPr txBox="1"/>
          <p:nvPr/>
        </p:nvSpPr>
        <p:spPr>
          <a:xfrm>
            <a:off x="5760720" y="3611880"/>
            <a:ext cx="29260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同一个原理的两个方向：往哪边走，取决于</a:t>
            </a:r>
            <a:r>
              <a:rPr lang="en-US" sz="1000" b="1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哪种资源更紧张</a:t>
            </a: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算法分析 · 数据结构的选择和评价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选择数据结构的四条原则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32688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利用计算机求解一个给定问题时，一个关键任务是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确立问题模型所采用的数据结构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。一旦确定了数据结构，算法的设计便水到渠成。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F1F4F2"/>
          </a:solidFill>
          <a:ln/>
        </p:spPr>
      </p:sp>
      <p:sp>
        <p:nvSpPr>
          <p:cNvPr id="9" name="Shape 7"/>
          <p:cNvSpPr/>
          <p:nvPr/>
        </p:nvSpPr>
        <p:spPr>
          <a:xfrm>
            <a:off x="594360" y="1435608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1435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78992" y="13990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仔细分析所要解决的问题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" y="167335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特别是求解问题所涉及的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数据类型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数据间的逻辑关系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09160" y="1325880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F1F4F2"/>
          </a:solidFill>
          <a:ln/>
        </p:spPr>
      </p:sp>
      <p:sp>
        <p:nvSpPr>
          <p:cNvPr id="14" name="Shape 12"/>
          <p:cNvSpPr/>
          <p:nvPr/>
        </p:nvSpPr>
        <p:spPr>
          <a:xfrm>
            <a:off x="4846320" y="1435608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846320" y="1435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330952" y="13990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先做数据结构的初步设计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330952" y="167335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在算法设计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之前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往往先进行数据结构的初步设计。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2377440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F1F4F2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" y="2487168"/>
            <a:ext cx="384048" cy="384048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94360" y="2487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078992" y="24505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注意可扩展性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078992" y="272491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输入数据的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规模发生改变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时，数据结构是否还能适应？数据结构应该适应求解问题的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演变和扩展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09160" y="2377440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F1F4F2"/>
          </a:solidFill>
          <a:ln/>
        </p:spPr>
      </p:sp>
      <p:sp>
        <p:nvSpPr>
          <p:cNvPr id="24" name="Shape 22"/>
          <p:cNvSpPr/>
          <p:nvPr/>
        </p:nvSpPr>
        <p:spPr>
          <a:xfrm>
            <a:off x="4846320" y="2487168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846320" y="2487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330952" y="24505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比较时空开销的优劣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330952" y="272491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设计和选择也要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比较算法的时空开销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——这正是 3.1–3.3 节那套工具的用处。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3520440"/>
            <a:ext cx="8229600" cy="1143000"/>
          </a:xfrm>
          <a:prstGeom prst="roundRect">
            <a:avLst>
              <a:gd name="adj" fmla="val 6400"/>
            </a:avLst>
          </a:prstGeom>
          <a:solidFill>
            <a:srgbClr val="1E3D3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40080" y="3593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落到本章的例子上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385876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 节要的是</a:t>
            </a:r>
            <a:r>
              <a:rPr lang="en-US" sz="12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任意两点之间</a:t>
            </a:r>
            <a:r>
              <a:rPr lang="en-US" sz="1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的最短路径，并且只有</a:t>
            </a:r>
            <a:r>
              <a:rPr lang="en-US" sz="12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五个</a:t>
            </a:r>
            <a:r>
              <a:rPr lang="en-US" sz="1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经纪人，所以</a:t>
            </a:r>
            <a:r>
              <a:rPr lang="en-US" sz="12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相邻矩阵 + Floyd</a:t>
            </a:r>
            <a:r>
              <a:rPr lang="en-US" sz="1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是合适的——实现简单，三重循环在 n = 5 时可以忽略。如果</a:t>
            </a:r>
            <a:r>
              <a:rPr lang="en-US" sz="12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顶点很多、边很少</a:t>
            </a:r>
            <a:r>
              <a:rPr lang="en-US" sz="1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，而且</a:t>
            </a:r>
            <a:r>
              <a:rPr lang="en-US" sz="12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只问单源</a:t>
            </a:r>
            <a:r>
              <a:rPr lang="en-US" sz="1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最短路，就应该换成</a:t>
            </a:r>
            <a:r>
              <a:rPr lang="en-US" sz="12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邻接表 + Dijkstra</a:t>
            </a:r>
            <a:r>
              <a:rPr lang="en-US" sz="1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Python 落地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ADT → 一个 Python 类：E27653 Fraction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逐行数代价：插入排序的最好 / 最坏情况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内置 list / set / deque 的操作代价（实测）</a:t>
            </a:r>
            <a:endParaRPr lang="en-US" sz="13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 · ADT 落成类 · OJ E27653 Fraction 类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抽象数据类型 = 数据 + 运算；在 Python 里就是一个 class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486400" cy="3703320"/>
          </a:xfrm>
          <a:prstGeom prst="roundRect">
            <a:avLst>
              <a:gd name="adj" fmla="val 1975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340096" cy="3611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gcd(a, b):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b: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a, b = b, a % b                 </a:t>
            </a:r>
            <a:r>
              <a:rPr lang="en-US" sz="79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辗转相除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Fraction: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num, den):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den == 0: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raise ZeroDivisionError("denominator is 0")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den &lt; 0: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num, den = -num, -den       </a:t>
            </a:r>
            <a:r>
              <a:rPr lang="en-US" sz="79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符号放到分子上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g = gcd(abs(num), den)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self.num, self.den = num // g, den // g   </a:t>
            </a:r>
            <a:r>
              <a:rPr lang="en-US" sz="79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构造时就约成最简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__add__(self, other):           </a:t>
            </a:r>
            <a:r>
              <a:rPr lang="en-US" sz="79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a/b + c/d = (ad + bc) / bd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Fraction(self.num * other.den + other.num * self.den,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self.den * other.den)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__eq__(self, other):            </a:t>
            </a:r>
            <a:r>
              <a:rPr lang="en-US" sz="79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都是最简形式：逐项比较即可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self.num == other.num and self.den == other.den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__str__(self):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f"{self.num}/{self.den}"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a, b, c, d = map(int, input().split())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print(Fraction(a, b) + Fraction(c, d))  </a:t>
            </a:r>
            <a:r>
              <a:rPr lang="en-US" sz="79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 4 1 2 → 3/4</a:t>
            </a:r>
            <a:endParaRPr lang="en-US" sz="790" dirty="0"/>
          </a:p>
        </p:txBody>
      </p:sp>
      <p:graphicFrame>
        <p:nvGraphicFramePr>
          <p:cNvPr id="6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960120"/>
          <a:ext cx="256032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41732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ADT 的部分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在类里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数据（分子、分母）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self.num / self.den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不变量：最简、分母 &gt; 0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__init__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运算：加、判等、显示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__add__ / __eq__ / __str__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126480" y="251460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CFE0D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263640" y="2606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不变量放在构造里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263640" y="2898648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每个对象一出生就是最简形式，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__add__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和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__eq__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都不必再约分——这就是 1.1.3 节「概念层只看运算，实现层守住表示」的一个小例子。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6126480" y="406908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Fraction(1, 2) == Fraction(2, 4) → True；Fraction(−1, 6) + Fraction(1, 4) → 1/12</a:t>
            </a:r>
            <a:endParaRPr lang="en-US" sz="9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 · 逐行数代价 · 插入排序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T(n) = Σ cᵢ × 第 i 行执行次数：同一规模，输入不同，阶也不同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1325880"/>
          </a:xfrm>
          <a:prstGeom prst="roundRect">
            <a:avLst>
              <a:gd name="adj" fmla="val 5517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8083296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insertion_sort(arr):                       </a:t>
            </a:r>
            <a:r>
              <a:rPr lang="en-US" sz="9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代价  次数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 in range(1, len(arr)):               </a:t>
            </a:r>
            <a:r>
              <a:rPr lang="en-US" sz="9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c1    n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j = i                                  </a:t>
            </a:r>
            <a:r>
              <a:rPr lang="en-US" sz="9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c2    n − 1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while j &gt; 0 and arr[j - 1] &gt; arr[j]:   </a:t>
            </a:r>
            <a:r>
              <a:rPr lang="en-US" sz="95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c4    Σ tᵢ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arr[j - 1], arr[j] = arr[j], arr[j - 1]   </a:t>
            </a:r>
            <a:r>
              <a:rPr lang="en-US" sz="9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c5    Σ (tᵢ − 1)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j -= 1                             </a:t>
            </a:r>
            <a:r>
              <a:rPr lang="en-US" sz="9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c6    Σ (tᵢ − 1)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377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tᵢ = 第 i 趟 while 条件被测试的次数（i = 1 … n−1）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3977640" cy="1051560"/>
          </a:xfrm>
          <a:prstGeom prst="roundRect">
            <a:avLst>
              <a:gd name="adj" fmla="val 6957"/>
            </a:avLst>
          </a:prstGeom>
          <a:solidFill>
            <a:srgbClr val="EAF4E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4360" y="27889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E9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最好：已有序，tᵢ = 1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310896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T(n) = (c1 + c2 + c4)n − (c2 + c4) = 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 + b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，线性</a:t>
            </a:r>
            <a:endParaRPr lang="en-US" sz="10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 n = 10：Σ tᵢ = 9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09160" y="2743200"/>
            <a:ext cx="3977640" cy="1051560"/>
          </a:xfrm>
          <a:prstGeom prst="roundRect">
            <a:avLst>
              <a:gd name="adj" fmla="val 6957"/>
            </a:avLst>
          </a:prstGeom>
          <a:solidFill>
            <a:srgbClr val="FDF0E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846320" y="27889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最坏：逆序，tᵢ = i + 1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310896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 tᵢ = n(n+1)/2 − 1，T(n) = 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an² + bn + c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，二次</a:t>
            </a:r>
            <a:endParaRPr lang="en-US" sz="10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 n = 10：Σ tᵢ = 54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931920"/>
            <a:ext cx="8229600" cy="749808"/>
          </a:xfrm>
          <a:prstGeom prst="roundRect">
            <a:avLst>
              <a:gd name="adj" fmla="val 9756"/>
            </a:avLst>
          </a:prstGeom>
          <a:solidFill>
            <a:srgbClr val="FFF6E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94360" y="40233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笔试题：[15, 5, 4, 18, 12, 19, 14, 10, 8, 20] 插入排序三趟之后？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4315968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 4 个排好、其余不动：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[4, 5, 15, 18, 12, 19, 14, 10, 8, 20]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。常数 cᵢ 一旦被 a、b、c 吸收，就只剩「线性还是二次」——这正是 3.1 节渐进分析要做的简化。</a:t>
            </a:r>
            <a:endParaRPr lang="en-US" sz="95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S.3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 · Python 内置结构的代价（实测）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同样一行代码，换个容器差三四个数量级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64</a:t>
            </a:r>
            <a:endParaRPr lang="en-US" sz="900" dirty="0"/>
          </a:p>
        </p:txBody>
      </p:sp>
      <p:graphicFrame>
        <p:nvGraphicFramePr>
          <p:cNvPr id="6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188720"/>
                <a:gridCol w="192024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操作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复杂度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本机实测（每次）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原因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list.append(x) / pop()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摊还 O(1)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≈ 19 ns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动态数组，满了按比例扩容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list.insert(0, x) / pop(0)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O(n)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≈ 33 µs（n = 10⁵）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后面的元素整体挪一格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in list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O(n)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≈ 0.49 ms（n = 10⁵）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顺序检索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in set / dict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平均 O(1)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≈ 26 ns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散列（第 10 章）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deque.popleft()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O(1)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两端都能 O(1)（第 3 章）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3383280"/>
            <a:ext cx="5120640" cy="1280160"/>
          </a:xfrm>
          <a:prstGeom prst="roundRect">
            <a:avLst>
              <a:gd name="adj" fmla="val 5714"/>
            </a:avLst>
          </a:prstGeom>
          <a:solidFill>
            <a:srgbClr val="CFE0D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94360" y="34747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「摊还 O(1)」是什么意思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3767328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单次 append 碰上扩容要搬全部元素，是 O(n)；但扩容按比例放大，搬家间隔越来越长，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次 append 总共 O(n)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，平均到每次仍是 O(1)。第 2 章顺序表的翻倍扩容就是这个道理。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760720" y="3383280"/>
            <a:ext cx="2926080" cy="1280160"/>
          </a:xfrm>
          <a:prstGeom prst="roundRect">
            <a:avLst>
              <a:gd name="adj" fmla="val 5714"/>
            </a:avLst>
          </a:prstGeom>
          <a:solidFill>
            <a:srgbClr val="FFF6E0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897880" y="34747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 OJ 时的三条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870448" y="3767328"/>
            <a:ext cx="2706624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判重 / 查找用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dict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，别在 list 里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</a:t>
            </a:r>
            <a:endParaRPr lang="en-US" sz="9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队列用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deque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，别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pop(0)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</a:t>
            </a:r>
            <a:endParaRPr lang="en-US" sz="9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大输入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sys.stdin.read()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一次读完。</a:t>
            </a:r>
            <a:endParaRPr lang="en-US" sz="95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平台与资源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1F4F2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18872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188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评测与实验平台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1691640"/>
            <a:ext cx="237744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OpenJudge：cs101.openjudge.cn</a:t>
            </a:r>
            <a:endParaRPr lang="en-US" sz="1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OJ 提交看不到出错数据 → jensen.taildf6cf3.ts.net</a:t>
            </a:r>
            <a:endParaRPr lang="en-US" sz="1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云计算实验平台：clab.pku.edu.cn / xlab.pku.edu.cn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105156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1F4F2"/>
          </a:solidFill>
          <a:ln/>
        </p:spPr>
      </p:sp>
      <p:sp>
        <p:nvSpPr>
          <p:cNvPr id="12" name="Shape 10"/>
          <p:cNvSpPr/>
          <p:nvPr/>
        </p:nvSpPr>
        <p:spPr>
          <a:xfrm>
            <a:off x="3429000" y="118872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3E7C6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429000" y="1188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练习平台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383280" y="1691640"/>
            <a:ext cx="237744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力扣：leetcode.cn</a:t>
            </a:r>
            <a:endParaRPr lang="en-US" sz="1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Codeforces：codeforces.com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105156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1F4F2"/>
          </a:solidFill>
          <a:ln/>
        </p:spPr>
      </p:sp>
      <p:sp>
        <p:nvSpPr>
          <p:cNvPr id="16" name="Shape 14"/>
          <p:cNvSpPr/>
          <p:nvPr/>
        </p:nvSpPr>
        <p:spPr>
          <a:xfrm>
            <a:off x="6217920" y="118872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A06A0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17920" y="1188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语言复健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172200" y="1691640"/>
            <a:ext cx="237744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C++：《算法笔记》配套题目 —— 晴问 sunnywhy.com（点「算法笔记」）</a:t>
            </a:r>
            <a:endParaRPr lang="en-US" sz="1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3：runoob.com/python3/python3-tutorial.html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61188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FFF6E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94360" y="370332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课程仓库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" y="399592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github.com/GMyhf/2026fall-cs201 —— 讲义、课件与题目清单都在这里；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DSA_problem_list_at_2026fall.md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是本学期的题单。</a:t>
            </a:r>
            <a:endParaRPr lang="en-US" sz="115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-2103120"/>
            <a:ext cx="3108960" cy="310896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54864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本章小结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234440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0972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三件事分开看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2880360" y="109728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逻辑结构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（K, r）、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存储结构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（顺序 / 链接 / 索引 / 散列）、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运算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——混在一起谈就会跑偏。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856232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10" name="Shape 8"/>
          <p:cNvSpPr/>
          <p:nvPr/>
        </p:nvSpPr>
        <p:spPr>
          <a:xfrm>
            <a:off x="713232" y="1993392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3232" y="1993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1856232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ADT = 逻辑结构 + 抽象操作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2880360" y="1856232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(D, R, P)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接口与实现分离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才有数据抽象与信息隐蔽。概念层与实现层不能混淆。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615184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15" name="Shape 13"/>
          <p:cNvSpPr/>
          <p:nvPr/>
        </p:nvSpPr>
        <p:spPr>
          <a:xfrm>
            <a:off x="713232" y="2752344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3232" y="2752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2615184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建模决定算法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2880360" y="2615184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股市传言 → 有向带权图 → 相邻矩阵 → 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Floyd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每行取最大、再取最小（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最小化最大距离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），答案 B3。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374136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20" name="Shape 18"/>
          <p:cNvSpPr/>
          <p:nvPr/>
        </p:nvSpPr>
        <p:spPr>
          <a:xfrm>
            <a:off x="713232" y="3511296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13232" y="3511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3374136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渐进分析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2880360" y="3374136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是上限中最小的、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Ω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是下限中最大的、上下限一致则为 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Θ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；忽略常数只在规模大时成立。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133088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25" name="Shape 23"/>
          <p:cNvSpPr/>
          <p:nvPr/>
        </p:nvSpPr>
        <p:spPr>
          <a:xfrm>
            <a:off x="713232" y="4270248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3232" y="4270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234440" y="413308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报复杂度要交代输入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2880360" y="4133088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最佳 / 最差 / 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（按概率加权）；再加上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时空折衷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——没有免费的加速。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66</Slides>
  <Notes>66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6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DSA 第一章 ADT、Floyd 与复杂度</dc:title>
  <dc:subject>PptxGenJS Presentation</dc:subject>
  <dc:creator>Hongfei Yan</dc:creator>
  <cp:lastModifiedBy>Hongfei Yan</cp:lastModifiedBy>
  <cp:revision>1</cp:revision>
  <dcterms:created xsi:type="dcterms:W3CDTF">2026-10-28T11:55:21Z</dcterms:created>
  <dcterms:modified xsi:type="dcterms:W3CDTF">2026-10-28T11:55:21Z</dcterms:modified>
</cp:coreProperties>
</file>