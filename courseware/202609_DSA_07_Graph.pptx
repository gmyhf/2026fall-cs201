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 图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Graph：前驱和后继都不加限制的结构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图的定义与术语 · 图 ADT 与接口约定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相邻矩阵 / 邻接表 / 十字链表 · 实测：存储量差三百多倍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/ BFS 周游 · 判环（并查集 / parent / 三色）· 两种拓扑排序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Kosaraju · 关键路径 · Dijkstra · Floyd · Bellman-Ford · Prim · Kruskal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github.com/GMyhf/dsa-modernization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同一张图，邻接矩阵和邻接表差在哪里？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答案不变，代价全变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：存储量 V² 对 V+E；复杂度由「算法 + 存储结构」一起决定。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从一个点能走到哪里？任务按什么顺序做？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/ BFS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是树周游的推广；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拓扑排序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排出先修顺序，顺便检测有没有环。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「最短的路」和「最省的网」是一回事吗？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/ Floyd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让路径总权最小；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 / Kruskal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让连通全部顶点的总权最小。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先分清题目属于哪一种，再选算法；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换存储方式不该换答案，只该换代价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概念与 ADT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237744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定义：有向 / 无向 / 带权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度、路径、连通分量、强连通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生成树、网络、有向树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选算法之前先分清题目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图 ADT 与接口约定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存储与周游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91640"/>
            <a:ext cx="237744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7.3.1 相邻矩阵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 邻接表：实测对比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 十字链表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7.4.1 深度优先 DFS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7.4.2 广度优先 BFS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7.4.3 拓扑排序（Kahn）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 判环：无向 / 有向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7.4.5 DFS 拓扑排序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7.4.6 Kosaraju · 7.4.7 关键路径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最短路与 MST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7744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 Dijkstra（+ pre 取路径）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7.5.2 Floyd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7.5.3 负权边：Bellman-Ford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 MST 性质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7.6.1 Prim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7.6.2 Kruskal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code/ch07/graph/demo.cpp（上）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 5 个顶点的有向带权图：建图 + DFS / BFS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8463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7000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dsa::Graph graph(5);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graph.add_edge(0, 1, 2);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graph.add_edge(0, 2, 7);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graph.add_edge(1, 2, 1);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graph.add_edge(1, 3, 5);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graph.add_edge(2, 3, 1);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graph.add_edge(3, 4, 3);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"DFS(0):";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vertex : graph.dfs(0))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' ' &lt;&lt; vertex;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"\nBFS(0):";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vertex : graph.bfs(0))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' ' &lt;&lt; vertex;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32120" y="960120"/>
            <a:ext cx="315468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 flipV="1">
            <a:off x="6039051" y="1533578"/>
            <a:ext cx="494899" cy="407564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992325" y="151469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9051" y="2173658"/>
            <a:ext cx="494899" cy="407564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992325" y="23806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600200"/>
            <a:ext cx="0" cy="91440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601968" y="194767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9477" y="1529597"/>
            <a:ext cx="534247" cy="415525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975254" y="1512147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6819477" y="2169677"/>
            <a:ext cx="534247" cy="415525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975254" y="2383197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2057400"/>
            <a:ext cx="41148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685532" y="180136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187452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150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123444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251460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187452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187452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924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0→1(2) 0→2(7) 1→2(1) 1→3(5) 2→3(1) 3→4(3)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32120" y="338328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669280" y="3474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先猜一猜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641848" y="3767328"/>
            <a:ext cx="293522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出发，DFS 和 BFS 的访问次序各是什么？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到 4 最短是多少？是先走那条权 7 的直达边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0→2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吗？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code/ch07/graph/demo.cpp（下）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拓扑序与 Dijkstra：答案是 7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84632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70001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topo = graph.topological_sort();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"\n拓扑序:";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(topo)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vertex : *topo)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std::cout &lt;&lt; ' ' &lt;&lt; vertex;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 无（有环）";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distance = graph.dijkstra(0);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"\nDijkstra(0-&gt;4) = " &lt;&lt; distance[4] &lt;&lt; '\n';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-std=c++17 -Wall -Wextra -Werror -Icode/ch07/graph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code/ch07/graph/demo.cpp -o /tmp/graph-demo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32120" y="96012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4184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41848" y="121615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DFS(0): 0 1 2 3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BFS(0): 0 1 2 3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拓扑序: 0 1 2 3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Dijkstra(0-&gt;4) = 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251460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0" y="2606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41848" y="2898648"/>
            <a:ext cx="2935224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最短路是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0→1→2→3→4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，总权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2+1+1+3 = 7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——不是直达边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0→2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（权 7）再往后走（7+1+3 = 11）。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拓扑序返回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：再加一条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4→0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形成环，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topological_sort()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（空值）。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「短」是边权总和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最短路不一定是经过的边数最少的那条。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手算核对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Dijkstra(0) 在这张图上逐轮走一遍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4864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548640"/>
                <a:gridCol w="548640"/>
                <a:gridCol w="548640"/>
                <a:gridCol w="54864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选出 u（D 最小的未确定点）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D[0]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D[1]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D[2]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D[3]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D[4]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0（D=0）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1（D=2）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2（D=3）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3（D=4）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4（D=7）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 = 本轮松弛成功而变小的值；灰色 = 已确定、不会再变。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005840"/>
            <a:ext cx="2514600" cy="3611880"/>
          </a:xfrm>
          <a:prstGeom prst="roundRect">
            <a:avLst>
              <a:gd name="adj" fmla="val 2909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09360" y="1097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轮是关键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81928" y="1389888"/>
            <a:ext cx="2295144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选出 1 之后，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D[1] + W(1,2) = 2 + 1 = 3 &lt; 7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：到 2 的距离从 7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松弛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 3。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直达边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0→2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7 就此作废，路径改走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0→1→2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轮后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[0, 2, 3, 4, 7]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，与程序输出一致。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· 7.1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图的定义和基本术语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 / 无向 / 带权 · 度与路径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连通分量 · 强连通分量 · 生成树 · 网络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图的定义和基本术语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图比线性结构和树更一般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线性结构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10515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唯一前驱、唯一后继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18488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6184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16184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唯一前驱、多个后继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85416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1854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218541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前驱和后继的个数都不加限制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按第 1 章的分类：线性结构和树都可以看成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受限的图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一个典型问题：建通信网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63016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几个城市之间建通信网，使每两个城市都能直接或间接通话，且总造价尽量低。顶点 = 城市，边 = 线路，边旁的数 = 造价 → 在带权图里找一棵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连通全部顶点、边权之和最小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的树：这就是后面的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最小生成树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051560"/>
            <a:ext cx="3108960" cy="361188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pic>
        <p:nvPicPr>
          <p:cNvPr id="21" name="Image 0" descr="fig-7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266904"/>
            <a:ext cx="2743200" cy="267827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5778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  用图描述通信网络（5 个城市）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图的定义和基本术语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= ⟨V, E⟩：无向图与有向图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pic>
        <p:nvPicPr>
          <p:cNvPr id="8" name="Image 0" descr="fig-7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114" y="1024128"/>
            <a:ext cx="5355771" cy="1371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37744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7.2  (a) 无向图 G₁   (b) 有向图 G₂ —— 本章反复拿这两张图举例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88920"/>
            <a:ext cx="457200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是顶点的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有穷非空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集合；E 是边的集合，每条边是一对顶点。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无向图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：无序对 (v₁, v₂)，(v₁, v₂) 与 (v₂, v₁) 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同一条边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有向图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：有序对 ⟨v₁, v₂⟩，也叫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弧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；v₁ 是弧尾（起点），v₂ 是弧头（终点）。⟨v₁, v₂⟩ 与 ⟨v₂, v₁⟩ 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两条不同的弧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57800" y="27889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0" y="2852928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写成集合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V(G₁) = {v₀, v₁, v₂, v₃, v₄}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E(G₁) = {(v₀,v₂), (v₀,v₃), (v₁,v₃),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(v₁,v₄), (v₂,v₃), (v₂,v₄)}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V(G₂) = {v₀, v₁, v₂, v₃}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E(G₂) = {⟨v₀,v₁⟩, ⟨v₀,v₂⟩, ⟨v₂,v₃⟩, ⟨v₃,v₀⟩}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图的定义和基本术语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带权图、边数范围、稀疏与稠密、完全图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9377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边或弧上可以附带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：距离、时间或代价。每条边都带权的图叫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带权图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不考虑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多重边（同一对顶点之间多于一条边）和自环（顶点到自己的边）。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 n = 顶点数、e = 边数。边相对少的叫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，相对多的叫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任意两个顶点之间都有边的图叫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，取到边数的上限。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51560"/>
          <a:ext cx="3017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边数 e 的范围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无向图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~ n(n−1)/2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有向图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~ n(n−1)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23774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80644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为什么差一倍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27614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无向完全图每对顶点之间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；有向完全图每对之间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两条方向相反的弧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pic>
        <p:nvPicPr>
          <p:cNvPr id="13" name="Image 0" descr="fig-7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80906"/>
            <a:ext cx="5852160" cy="9135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7.3  (a) 3 个和 4 个顶点的无向完全图  (b) 顶点数相同的有向完全图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图的定义和基本术语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子图、邻接、度：入度与出度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pic>
        <p:nvPicPr>
          <p:cNvPr id="8" name="Image 0" descr="fig-7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724" y="1005840"/>
            <a:ext cx="6224551" cy="1325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304288"/>
            <a:ext cx="82296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7.4  图 7.2 的若干子图：(a) 取自无向图 G₁，(b) 取自有向图 G₂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697480"/>
            <a:ext cx="49377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子图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：V′ ⊆ V，E′ ⊆ E，且 E′ 里的边只连 V′ 里的顶点，则 G′ = ⟨V′, E′⟩ 是 G 的子图。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一条边所连的两个顶点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互为邻接点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，这条边与这两个顶点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相关联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。有向图还要分清「邻接到」和「邻接自」。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23560" y="269748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6072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度（degree）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3108960"/>
            <a:ext cx="28803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与顶点相关联的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有向图分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（指进来的弧）与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（指出去的弧）。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度为 0 的顶点是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孤立点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图的定义和基本术语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路径、回路与连通分量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 u 出发、沿边走到 v 的顶点序列；边数是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路径长度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。有向图必须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顺着弧走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回路（环）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：起点和终点相同、且至少含一条边的路径。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简单路径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：除端点外没有重复顶点的路径。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无向图中任意两点之间都有路径 →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；极大的连通子图叫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连通分量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66928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pic>
        <p:nvPicPr>
          <p:cNvPr id="9" name="Image 0" descr="fig-7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13177"/>
            <a:ext cx="5394960" cy="16316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55080" y="219456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9224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「极大」是什么意思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57860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再添任何一个顶点，子图就不连通了。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7.5：(a) 非连通的无向图 G₃；(b) G₃ 的两个连通分量。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图的定义和基本术语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有向图：强连通与弱连通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5720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强连通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：任意两点 u、v 都存在 u 到 v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 到 u 的有向路径。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弱连通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：只要求把有向边看成无向边后连通。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极大的强连通子图叫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强连通分量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57800" y="1005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pic>
        <p:nvPicPr>
          <p:cNvPr id="9" name="Image 0" descr="fig-7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4853" y="1097280"/>
            <a:ext cx="3114893" cy="1920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257800" y="3035808"/>
            <a:ext cx="3429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7.6  G₂ 的两个强连通分量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457200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2834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 7.6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3127248"/>
            <a:ext cx="435254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 {v₀, v₂, v₃}：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v₀→v₂→v₃→v₀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成环，彼此可达。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右边只含 v₁：v₁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只有入弧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，从 v₁ 回不到 v₀。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G₂ 本身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不是强连通的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——但把弧看成无向边后它是连通的，即弱连通。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57800" y="35204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0" y="3611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对照无向图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9044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连通分量 ↔ 强连通分量；度 ↔ 入度/出度；边 ↔ 弧。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图的定义和基本术语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生成树、自由树与网络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pic>
        <p:nvPicPr>
          <p:cNvPr id="8" name="Image 0" descr="fig-7-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11973"/>
            <a:ext cx="5486400" cy="140505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395728"/>
            <a:ext cx="57607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7.7  G₁ 和 G₂ 的一棵生成树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697480"/>
            <a:ext cx="57607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：包含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全部顶点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、有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 条边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、因而没有环的连通子图。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生成树上再加一条边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必成环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；边数少于 n−1 则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必不连通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不带简单回路的连通无向图叫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，同样有 n−1 条边。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带权的连通图叫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。边权之和最小的生成树就是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最小生成树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有向图里：只有一个顶点入度为 0、其余入度均为 1 的叫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；弧互不相交、顶点合起来是全图的若干棵有向树构成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生成森林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（图 7.9）。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6520" y="960120"/>
            <a:ext cx="2240280" cy="251460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pic>
        <p:nvPicPr>
          <p:cNvPr id="12" name="Image 1" descr="fig-7-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418" y="1024128"/>
            <a:ext cx="1590484" cy="21031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46520" y="3154680"/>
            <a:ext cx="2240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7.8  网络实例 G₄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46520" y="361188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583680" y="3703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别混淆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399592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最短路的「短」是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边权总和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最小，不一定是边数最少。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· 选算法之前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先分清题目：前提决定算法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32918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从一个点能走到哪些点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任意图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 或 BFS 的访问序列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课程或任务的可行顺序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有向无环图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拓扑序；</a:t>
                      </a: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有环则无解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一个源点到各点的最短路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边权非负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Dijkstra 的距离数组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任意两点最短路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顶点数较小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Floyd 的距离矩阵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连通所有点且总权最小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无向连通图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 或 Kruskal 的边集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读这张表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0416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每一行的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一栏就是算法成立的条件：负权边上 Dijkstra 不成立；有环的图没有拓扑序；非连通图没有生成树。本章实现把这些「不满足前提」的情况都做成了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可预期的返回值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拒绝建图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 · 7.2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图的抽象数据类型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先说清对外提供哪些运算，再谈怎么存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顶点没有次序 · 边游标 · 接口约定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图的抽象数据类型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图的顶点之间本来没有次序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51206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逻辑上，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任何一个顶点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都可以当「第一个」；一个顶点的若干邻接点之间也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没有先后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一旦按某种存储结构建起来，次序就被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存储结构定死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了：</a:t>
            </a:r>
            <a:endParaRPr lang="en-US" sz="1250" dirty="0"/>
          </a:p>
          <a:p>
            <a:pPr lvl="1" marL="3556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邻接矩阵里的次序是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列号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250" dirty="0"/>
          </a:p>
          <a:p>
            <a:pPr lvl="1" marL="3556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邻接表里的次序是链表的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插入次序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所以下文的「第一条边」「下一条边」都是存储结构给出的次序，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不是图本身的性质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2880360" cy="2697480"/>
          </a:xfrm>
          <a:prstGeom prst="roundRect">
            <a:avLst>
              <a:gd name="adj" fmla="val 2712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8932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1417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同一张图换个存法，DFS 的访问序列就可能不同。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序列不同不是算法不同，是边表次序不同。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本书怎么钉死这点不确定性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2245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 节把两种存储结构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逐项对拍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：同一张图、同样的建图次序，两种实现必须给出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同一个序列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· 原书【代码7.1】（修掉 OCR 断字后）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原书把运算列成一个抽象类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Graph {         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图的抽象数据类型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VerticesNum();  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返回图的顶点个数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EdgesNum();     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返回图的边数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Edge FirstEdge(int oneVertex);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返回依附于顶点 oneVertex 的第一条边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Edge NextEdge(Edge preEdge);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返回与 preEdge 有相同顶点的下一条边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setEdge(int fromVertex, int toVertex, int weight);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添加边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delEdge(int fromVertex, int toVertex);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删除边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IsEdge(Edge oneEdge);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oneEdge 是否是边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FromVertex(Edge oneEdge);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 oneEdge 的始点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ToVertex(Edge oneEdge);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 oneEdge 的终点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Weight(Edge oneEdge);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 oneEdge 的权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真正的设计决定是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：不把邻居整个交出去，而是给一对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游标运算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，上层算法写成——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0352" y="3566160"/>
            <a:ext cx="8083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(Edge e = G.FirstEdge(v); G.IsEdge(e); e = G.NextEdge(e)) { /* 处理 e */ 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EAF4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023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好处：DFS、拓扑、Dijkstra 只依赖这四个运算，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不依赖矩阵还是链表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402336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DF0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73168" y="4023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代价：换存法就要重写游标；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IsEdge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兼任「是不是边」和「游标到头」两种含义。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· 原书【代码7.2】的可复核问题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基类实现为什么不能照抄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088136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960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裸数组没有复制控制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9601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Indegree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在构造里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、只在析构里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delete[]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，没有拷贝构造和赋值运算符 → 按值传一次图就会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二次释放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76479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63677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数据成员是 public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163677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numVertex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numEdge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谁都能改坏。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4144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3134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权为 0 的边「不存在」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23134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IsEdge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oneEdge.weight &gt; 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判断边是否存在 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权为 0 的合法边被判成不存在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11810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9900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断字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2990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标识符被空格切断（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Vertex = num Vert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），不是可编译的 C++。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本书的做法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1330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不复刻这个抽象基类，直接把运算定义在两个可运行的类上：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（邻接矩阵，code/ch07/graph）和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GraphList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（邻接表，code/ch07/adjacency_list）。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图的抽象数据类型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原书运算 → 本书写法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原书运算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本书写法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Graph(int numVert)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指定顶点数建一张空图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Graph::Graph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、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GraphList::GraphList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VerticesNum()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返回顶点个数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Graph::vertices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、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GraphList::vertices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setEdge(f, t, w)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添加一条边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add_edge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（末参选有向/无向）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IsEdge(e) / Weight(e)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问某条边在不在、权多少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矩阵直接读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adjacency_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；邻接表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无边返回空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FirstEdge / NextEdge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逐条走一个顶点的出边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矩阵扫一行；邻接表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neighbors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返回边表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周游、拓扑、最短路、MST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dfs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bfs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topological_sort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dijkstra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floyd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prim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kruskal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为什么没有 delEdge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087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后面七个算法都不删边。凭空加一个没有测试覆盖的运算，只会多一处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无人验证的代码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；需要时按 D-001 的规矩补，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连测试一起补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· 贯穿全章的接口约定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「有环」「不连通」不是异常，是可预期的结果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接口怎么表达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图里有环 → 没有拓扑序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可预期结果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topological_sort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返回空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optional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图不连通 → 没有生成树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可预期结果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prim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、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kruskal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返回空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optional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两点之间没有边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可预期结果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GraphList::weight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返回空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顶点下标越界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用法错误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抛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std::out_of_range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负权边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用法错误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抛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std::invalid_argument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 ≥ infinity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用法错误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抛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std::invalid_argument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3192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已知风险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全部七个算法用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邻接矩阵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实现；DFS 仍是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写法，深图有栈溢出风险。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80760" y="960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1051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为什么大权也要拒绝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34416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在矩阵里兼任「无边」。这么大的权若被收下，后面所有算法都会把它当成没有边，而且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一声不吭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80760" y="2926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1792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原书的做法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31012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把这些情况打印到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。容器里做输出，调用者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既拿不到结果也没法测试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 · 7.3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图的存储结构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相邻矩阵 · 邻接表 · 十字链表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换存储方式不该换答案，只该换代价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7.3.1 相邻矩阵（邻接矩阵）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不带权：A[i, j] = 1 表示 (vᵢ, vⱼ) ∈ 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无向图 G₁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94360"/>
                <a:gridCol w="594360"/>
                <a:gridCol w="594360"/>
                <a:gridCol w="594360"/>
                <a:gridCol w="594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A(G₁)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70916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有向图 G₂</a:t>
            </a:r>
            <a:endParaRPr lang="en-US" sz="12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80160"/>
          <a:ext cx="3246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94360"/>
                <a:gridCol w="594360"/>
                <a:gridCol w="594360"/>
                <a:gridCol w="594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A(G₂)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3520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9436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无向图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39044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一定对称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；顶点 vᵢ 的度 = 第 i 行（或第 i 列）之和。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09160" y="3520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84632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有向图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846320" y="39044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不一定对称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；第 i 行之和是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，第 i 列之和是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。例：v₀ 出度 2、入度 1。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7.3.1 相邻矩阵 · 带权图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带权图把 1 换成权值，无边记 ∞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85800"/>
                <a:gridCol w="685800"/>
                <a:gridCol w="685800"/>
                <a:gridCol w="685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A(G₄)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51960" y="100584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pic>
        <p:nvPicPr>
          <p:cNvPr id="9" name="Image 0" descr="fig-7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059117"/>
            <a:ext cx="1371600" cy="181368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017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7.11  G₄ 及其相邻矩阵：对角线是 0（到自己的距离为 0）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35040" y="10058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DF0E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17220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为什么不用 0 表示无边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172200" y="1389888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权为 0 的边是合法的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 0 兼任「无边」会把它误判掉——这正是原书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IsEdge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bug。本书用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infinity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表示无边。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008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O(V²)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，无论实际有多少条边；查询两点是否相邻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扫描一个顶点的全部邻居要扫完整行，遍历全图通常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O(V²)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适合稠密图，以及 Floyd、Prim 这类频繁随机访问矩阵元素的算法。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7.3.1 · code/ch07/graph/modern.hpp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Graph：构造与 add_edge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Graph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邻接矩阵里的「无边」。边权必须满足 0 &lt;= weight &lt; infinity。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constexpr int infinity = std::numeric_limits&lt;int&gt;::max() / 4;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Graph(std::size_t count) : adjacency_(count, std::vector&lt;int&gt;(count, infinity))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vertex = 0; vertex &lt; count; ++vertex)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adjacency_[vertex][vertex]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std::size_t vertices() const noexcept { return adjacency_.size();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add_edge(std::size_t from, std::size_t to, int weight, bool directed = true)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check_vertex(from);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check_vertex(to);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(weight &lt; 0)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std::invalid_argument("negative edge");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(weight &gt;= infinity) {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infinity 表示「无边」，这么大的权存进去就被当成没有边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std::invalid_argument("edge weight must be below Graph::infinity");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adjacency_[from][to] = weight;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(!directed)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adjacency_[to][from] = weight;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 邻接表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每个顶点挂一张出边表，只存实际存在的边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75488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pic>
        <p:nvPicPr>
          <p:cNvPr id="8" name="Image 0" descr="fig-7-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11936"/>
            <a:ext cx="4572000" cy="1524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560320"/>
            <a:ext cx="4754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7.12  无向图 G₁ 的邻接表表示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960120"/>
            <a:ext cx="32918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顶点数组的每一项挂一条链，链上是它的邻接点。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无向图里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一条边出现两次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边表结点共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有向图的一条弧只出现一次，vᵢ 的边表长度就是它的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——所以也叫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出边表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97180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pic>
        <p:nvPicPr>
          <p:cNvPr id="12" name="Image 1" descr="fig-7-1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5367"/>
            <a:ext cx="5760720" cy="11387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42793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7.14  带权图 G₄ 的邻接表：边表结点多存一个权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46520" y="31089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5836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对应代码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349300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GraphList::Edge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就是图 7.14 边表结点的两个域。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 邻接表 · 逆邻接表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想知道入度？把弧记在弧头那一侧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pic>
        <p:nvPicPr>
          <p:cNvPr id="8" name="Image 0" descr="fig-7-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27268"/>
            <a:ext cx="7863840" cy="182252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7.13  有向图 G₂ 的 (a) 邻接表与 (b) 逆邻接表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383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邻接表（出边表）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6758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vᵢ 的边表长度 =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。想知道入度就得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扫遍整张表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09160" y="3291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3383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逆邻接表（入边表）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6758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把每条弧记在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弧头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那一侧；vᵢ 的边表长度 =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——7.4.3 节拓扑排序要的正是入度。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 邻接表 · 代价对照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代价随之全变：没有哪种表示法总是更好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邻接矩阵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邻接表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V²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 + 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遍历某点的邻居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O(V)，要扫过整行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O(deg v)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问「(u, v) 之间有没有边」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O(deg u)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 / BFS 全图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O(V²)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O(V + E)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Dijkstra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O(V²)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O((V+E) log V)（配二叉堆）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0058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1097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注意第三行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38988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邻接表在这一项上是吃亏的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：要在 u 的边表里一条条找。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这正是本节要比较的东西——稠密图或频繁问「这两点之间有没有边」时，矩阵反而合适。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换存储方式不该换答案，只该换代价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41788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code/ch07/graph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（矩阵）与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code/ch07/adjacency_list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（邻接表）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逐项对拍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：同一张图上 DFS/BFS 序列、拓扑序、Dijkstra 距离向量必须完全相同，外加 30 轮随机图对拍。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 · code/ch07/adjacency_list/modern.hpp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neighbors / weight / 两个教学计数器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某个顶点的边表。邻接表的核心能力：拿到邻居不必扫过不存在的边。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const std::vector&lt;Edge&gt;&amp; neighbors(std::size_t vertex)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check_vertex(vertex);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adjacency_[vertex];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std::optional&lt;int&gt; weight(std::size_t from, std::size_t to)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check_vertex(from);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check_vertex(to);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(const Edge&amp; edge : adjacency_[from])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++scanned_;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(edge.to == to)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edge.weight;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std::nullopt;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没有这条边是预期状态，不是错误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存储量（按「一个整数算一格」计）。对照矩阵的 $V^2$，稀疏图上差距一目了然。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std::size_t storage_cells() const noexcept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vertices() + edge_entries() * 2;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每条边存 to 和 weight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weight：O(deg u)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34416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要在 from 的边表里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——代价表第三行那个「吃亏」就在这里。没有这条边返回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2788920"/>
            <a:ext cx="2194560" cy="1874520"/>
          </a:xfrm>
          <a:prstGeom prst="roundRect">
            <a:avLst>
              <a:gd name="adj" fmla="val 3902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量出来，不是推出来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172968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scanned_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统计检查过多少条边；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storage_cells()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按 V + 2E 计存储量。后面的实测就靠这两个计数器。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 邻接表 · 周游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周游时的差别：矩阵扫整行，邻接表只走边表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77840" cy="3291840"/>
          </a:xfrm>
          <a:prstGeom prst="roundRect">
            <a:avLst>
              <a:gd name="adj" fmla="val 222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431536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std::vector&lt;std::size_t&gt; bfs(std::size_t source)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check_vertex(source);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std::vector&lt;bool&gt; seen(vertices());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std::queue&lt;std::size_t&gt; pending;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result;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pending.push(source);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seen[source] =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(!pending.empty())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from = pending.front();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pending.pop();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result.push_back(from);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(const Edge&amp; edge : adjacency_[from]) {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矩阵版这里要扫 V 格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++scanned_;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(!seen[edge.to])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seen[edge.to] =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pending.push(edge.to);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GraphList::bfs（adjacency_list/modern.hpp）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96012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024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矩阵版 Graph::bfs 的内层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132588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28232" y="1371600"/>
            <a:ext cx="209397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(std::size_t to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to &lt; vertices(); ++to)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(adjacency_[from][to]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 infinity &amp;&amp; 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63640" y="28346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其余一模一样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21868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、出队顺序都不变——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只有找邻居的方式变了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。每出队一个顶点：矩阵扫 V 格，邻接表走 deg 条边。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 · 实测 code/ch07/adjacency_list/demo.cpp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存储差三百多倍，BFS 的检查次数差约 1000 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1B2B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216152"/>
            <a:ext cx="517550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稀疏图 V=1000, E=999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邻接表存储 2998 格   ← 随 V+E 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邻接矩阵存储 1000000 格 ← V*V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BFS 走遍 1000 个顶点，只检查了 999 条边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邻接矩阵的 BFS 要扫 1000000 格（每出队一个顶点扫一整行）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从 0 出发的最短距离: 0 7 9 20 20 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最小生成树 5 条边，总权 33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4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2,998 : 1,000,000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334 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33832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4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328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检查次数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999 : 1,000,000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1000 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0760" y="960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53912" y="1005840"/>
            <a:ext cx="2459736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V=1000 的链：E = V-1，典型稀疏图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GraphList sparse(n);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(v = 0; v + 1 &lt; n; ++v)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sparse.add_edge(v, v + 1, 1);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sparse.reset_scan_steps();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order = sparse.bfs(0);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sparse.scan_steps();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999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sparse.storage_cells();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2998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后半段：6 顶点例子 dijkstra/prim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80760" y="3017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DF0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稠密图上差距消失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4015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接近 V² 时，V + E 也就是 V²，而矩阵还省掉了存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的那一半空间。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7.3.2 邻接表 · Dijkstra 最小堆版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差别最大的一处：找最近顶点交给堆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std::vector&lt;distance_type&gt; dijkstra(std::size_t source)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check_vertex(source);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std::vector&lt;distance_type&gt; distance(vertices(), unreachable);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distance[source]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Item = std::pair&lt;distance_type, std::size_t&gt;;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(当前距离, 顶点)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std::priority_queue&lt;Item, std::vector&lt;Item&gt;, std::greater&lt;Item&gt;&gt; heap;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heap.emplace(0, source);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(!heap.empty())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auto [dist, from] = heap.top();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heap.pop();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(dist &gt; distance[from])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continue;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堆里的旧条目，已经被更短的路径取代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(const Edge&amp; edge : adjacency_[from])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++scanned_;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distance_type relaxed = dist + edge.weight;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(relaxed &lt; distance[edge.to])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distance[edge.to] = relaxed;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heap.emplace(relaxed, edge.to);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distance;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O((V+E) log V)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344168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「找最近顶点」由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负责，「松弛」只走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实际存在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的边。稀疏图上这才是该用的组合。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69748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懒删除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0815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同一顶点可能多次入堆；弹出的距离比已记录的大，说明是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旧条目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，直接跳过。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406908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4069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矩阵版是 O(V²)：复杂度由「算法 + 存储」一起决定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 十字链表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一条弧，同时挂在「同尾」和「同头」两条链上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5720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邻接表只沿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出边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组织；还要频繁查「哪些边指向这个顶点」，就得另存一份逆邻接表。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十字链表把两种方向接在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同一个弧结点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上：</a:t>
            </a:r>
            <a:endParaRPr lang="en-US" sz="12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tailnextarc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串起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同一尾点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的出边；</a:t>
            </a:r>
            <a:endParaRPr lang="en-US" sz="12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headnextarc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串起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同一头点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的入边；</a:t>
            </a:r>
            <a:endParaRPr lang="en-US" sz="12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顶点同时保存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firstoutarc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firstinarc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每条弧只分配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结点，遍历出边 O(deg⁺(v))、入边 O(deg⁻(v))，空间 O(V + E)。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57800" y="10058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pic>
        <p:nvPicPr>
          <p:cNvPr id="9" name="Image 0" descr="fig-7-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49176"/>
            <a:ext cx="3154680" cy="16164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257800" y="3063240"/>
            <a:ext cx="3429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7.15  有向图的十字链表示例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57800" y="356616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0" y="3657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 / 代价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9502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同时维护入度和出度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的有向图（拓扑排序、依赖图）。代价：插删必须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同时维护两条链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；只沿出边走的程序用邻接表更简单。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 · orthogonal_graph/teaching.hpp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原书式教学实现：一个结点、两次挂接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84632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700016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ArcBox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tailvex;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弧尾 u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headvex;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弧头 v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ArcBox* tailnextarc;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下一条同尾弧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ArcBox* headnextarc;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下一条同头弧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info;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权值或其他边属性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VexNode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ArcBox* firstin = nullptr;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第一条指向本顶点的弧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ArcBox* firstout = nullptr;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第一条从本顶点出发的弧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8920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971800"/>
            <a:ext cx="4745736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add_edge(std::size_t tail, std::size_t head, int info = 1)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check_vertex(tail);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check_vertex(head);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auto* arc = new ArcBox{tail, head, vertices_[tail].firstout,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vertices_[head].firstin, info};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vertices_[tail].firstout = arc;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接进 tail 的出边链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vertices_[head].firstin = arc;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同一结点接进 head 的入边链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++arc_count_;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960120"/>
            <a:ext cx="3154680" cy="2514600"/>
          </a:xfrm>
          <a:prstGeom prst="roundRect">
            <a:avLst>
              <a:gd name="adj" fmla="val 2909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1051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41848" y="1344168"/>
            <a:ext cx="2935224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前两个域说明「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哪条弧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」，后两个域说明它在两条链中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各接向哪里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firstin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firstout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指向的可以是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ArcBox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，没有第二份边结点。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表头插入：最新插入的弧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先被遍历到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361188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0" y="3703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释放只沿出链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99592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每条弧恰好属于一个尾点；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绝不能再沿入链释放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。教学版还删除了复制构造与赋值。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 十字链表 · 把一条弧拆开看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读的是同一批弧结点，走的是两条不同的 next 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1089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回答的问题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沿它走时保持不变的顶点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tailvex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这条弧从哪里出发？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弧尾，即出边表所属顶点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headvex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这条弧指向哪里？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弧头，即入边表所属顶点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tailnextarc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同一个尾点还有哪条下一弧？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tailvex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相同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headnextarc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同一个头点还有哪条下一弧？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headvex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相同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权值、容量或其他边属性？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不参与两条链的连接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0175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例：依次插入 0→1、0→2、3→2。不管新弧接在表头还是表尾，两个查询的逻辑都如下表；差别只在读出先后：本节实现是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表头插入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，实际依次读到 2、1 和 3、0（表中是表尾插入的次序）。</a:t>
            </a:r>
            <a:endParaRPr lang="en-US" sz="105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2194560"/>
                <a:gridCol w="17373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读取字段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得到的顶点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的出边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firstoutarc[0]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每个结点的 </a:t>
                      </a:r>
                      <a:r>
                        <a:rPr lang="en-US" sz="11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headvex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tailnextarc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1、2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的入边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firstinarc[2]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每个结点的 </a:t>
                      </a:r>
                      <a:r>
                        <a:rPr lang="en-US" sz="11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tailvex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headnextarc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0、3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 · orthogonal_graph/modern.hpp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现代实现：所有权集中，双链仍显式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add_edge(std::size_t tail, std::size_t head, int info = 1)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check_vertex(tail);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check_vertex(head);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(find_arc(tail, head))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std::invalid_argument("duplicate edge");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owned = std::make_unique&lt;Arc&gt;(tail, head, info);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Arc* arc = owned.get();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arc-&gt;tailnextarc = vertices_[tail].firstout;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vertices_[tail].firstout = arc;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arc-&gt;headnextarc = vertices_[head].firstin;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vertices_[head].firstin = arc;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arcs_.push_back(std::move(owned));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9601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051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谁拥有弧结点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34416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arcs_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unique_ptr&lt;Arc&gt;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vector）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集中拥有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每个弧结点；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firstin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firstout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tailnextarc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headnextarc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仍是裸的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非拥有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链接——双链的形状没有被智能指针藏掉。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插入仍是与教学版相同的两次挂接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tailnextarc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接住旧出链表头，再改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firstout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headnextarc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接住旧入链表头，再改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firstin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；最后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移入唯一所有者表。重复边抛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invalid_argument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 · orthogonal_graph/modern.hpp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remove_edge：两条链各摘一次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778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4315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remove_edge(std::size_t tail, std::size_t head)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check_vertex(tail);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check_vertex(head);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Arc** out_link = &amp;vertices_[tail].firstout;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(*out_link &amp;&amp; (*out_link)-&gt;head != head)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out_link = &amp;(*out_link)-&gt;tailnextarc;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(!*out_link)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Arc* victim = *out_link;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*out_link = victim-&gt;tailnextarc;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Arc** in_link = &amp;vertices_[head].firstin;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(*in_link != victim)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in_link = &amp;(*in_link)-&gt;headnextarc;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*in_link = victim-&gt;headnextarc;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arcs_.erase(std::remove_if(arcs_.begin(), arcs_.end(),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[victim](const std::unique_ptr&lt;Arc&gt;&amp; owned)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return owned.get() == victim;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}),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arcs_.end());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63640" y="1060704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060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005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出链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在尾点出链找到 victim 并摘下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1627632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入链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801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在头点入链找到同一地址并摘下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219456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1396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368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arcs_ 移除唯一所有者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2788920"/>
            <a:ext cx="2423160" cy="1874520"/>
          </a:xfrm>
          <a:prstGeom prst="roundRect">
            <a:avLst>
              <a:gd name="adj" fmla="val 3902"/>
            </a:avLst>
          </a:prstGeom>
          <a:solidFill>
            <a:srgbClr val="FDF0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只摘一条会怎样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172968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「从 u 出发」可能仍正确，但统计 v 的入度或反向遍历时会读到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陈旧链接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——访问已释放结点。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 · 7.4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图的周游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每个顶点访问且只访问一次：靠 seen 数组防止绕回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· BFS · 拓扑排序（Kahn / DFS）· 判环（无向 / 有向）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Kosaraju 两次 DFS 求强连通分量 · 关键路径（AOE 网）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7.4.1 深度优先周游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DFS：树的先根次序周游的推广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进入一个顶点就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立刻标记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已访问，再沿编号从小到大的出边递归下去；某个顶点的邻接点都访问过了，就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到上一个顶点，换一条没走过的边继续。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9" name="Image 0" descr="fig-7-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52171"/>
            <a:ext cx="3566160" cy="170773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7.16  有向图 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26280" y="1673352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2628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645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v₀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1645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唯一的邻接点是 v₁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26280" y="2039112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2628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2011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v₁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边表里 v₂ 排在 v₃ 前面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26280" y="2404872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2628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23774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v₂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23774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只有已访问的 v₀ → 回退到 v₁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26280" y="2770632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2628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892040" y="2743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v₃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355080" y="2743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邻接点都访问过 → 一路回退到 v₀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26280" y="3136392"/>
            <a:ext cx="274320" cy="27432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2628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892040" y="31089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重新开始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355080" y="3108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还有未访问顶点：挑 v₄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26280" y="3502152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2628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892040" y="3474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v₄ → v₅ → v₆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355080" y="34747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v₅ 的 v₁、v₆ 的 v₃ 已访问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3D3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0080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深度优先序列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2103120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v₀  v₁  v₂  v₃  |  v₄  v₅  v₆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7.4.1 · code/ch07/graph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+ visit_depth_first：递归的先根周游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11149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std::vector&lt;std::size_t&gt; dfs(std::size_t source)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check_vertex(source);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std::vector&lt;bool&gt; seen(vertices());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result;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visit_depth_first(source, seen, result);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visit_depth_first(std::size_t from, std::vector&lt;bool&gt;&amp; seen,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std::vector&lt;std::size_t&gt;&amp; result)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seen[from] =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result.push_back(from);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to = 0; to &lt; vertices(); ++to)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(adjacency_[from][to] &lt; infinity &amp;&amp; !seen[to])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visit_depth_first(to, seen, result);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modern.hpp（visit_depth_first 是 private 辅助函数）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97880" y="96012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0" y="1051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对照算法描述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07608" y="1344168"/>
            <a:ext cx="256946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进入顶点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立刻标记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，记入序列。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 0 扫到 V−1：沿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编号从小到大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的出边递归——这就是「边表次序」。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递归返回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到上一个顶点。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97880" y="32004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3504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只走可达的顶点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5844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dfs(source)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只访问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从源点可达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的顶点。图 7.16 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dfs(0)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得 0 1 2 3；要周游全图，外层再对每个未访问顶点重起一次。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15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递归写法：深图有栈溢出风险。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7.4.1 深度优先周游 · 关键要点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代价取决于存储结构，而不是取决于算法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不连通时一次走不完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要在外层对每个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未访问顶点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再起一次 DFS。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序列由存储结构决定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存储结构一旦定下、源点一旦定下，深度优先序列就是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01752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存储结构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找邻接点的代价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 总时间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相邻矩阵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每个顶点扫一整行，共检查 n² 个元素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O(n²)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邻接表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所有边结点检查一遍，O(e)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 + e)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172200" y="29260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0936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331012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周游实质上是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搜索每个顶点的邻接点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；每个顶点至多调用一次 DFS，时间都花在找邻接点上。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7.4.2 广度优先周游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BFS：类似树的按层次次序周游，靠 FIFO 队列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39319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访问并标记 v 之后，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v 的所有邻接点；再从这些邻接点出发，依次访问它们未访问过的邻接点。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先访问的顶点的邻接点，在下一轮被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访问到。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访问到一个顶点就入队；队头出队时把它未访问的邻接点入队——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每个顶点只入队一次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96012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新入队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队列（头→尾）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（v₀ 入队）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 v₃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 v₃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—（v₀ 已访问）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重起 v₄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v₅ v₆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v₅ v₆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0" y="38404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D3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0916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广度优先序列（图 7.16）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v₀ v₁ v₂ v₃ | v₄ v₅ v₆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DFS 比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实质相同，只是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访问顺序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不同；二者的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时间复杂度也相同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7.4.2 · code/ch07/graph/modern.hpp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bfs：入队时就标记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77840" cy="3154680"/>
          </a:xfrm>
          <a:prstGeom prst="roundRect">
            <a:avLst>
              <a:gd name="adj" fmla="val 23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431536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std::vector&lt;std::size_t&gt; bfs(std::size_t source)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check_vertex(source);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std::vector&lt;bool&gt; seen(vertices());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std::queue&lt;std::size_t&gt; queue;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result;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queue.push(source);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seen[source] =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(!queue.empty())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from = queue.front();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queue.pop();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result.push_back(from);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to = 0; to &lt; vertices(); ++to)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(adjacency_[from][to] &lt; infinity &amp;&amp; !seen[to])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seen[to] =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queue.push(to);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63640" y="960120"/>
            <a:ext cx="242316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051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为什么入队时就标记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344168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如果等到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才标记，同一个顶点可能被好几个邻居各入队一次。入队即标记，保证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每个顶点只入队一次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310896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3200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内层循环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49300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to in 0..V-1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：矩阵版每出队一个顶点扫一整行，全图 O(V²)。换成邻接表只走边表，见 7.3.2。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062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7.16 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bfs(0)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得 0 1 2 3；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bfs(4)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得 4 5 6 1 3 2 0——源点不同，序列不同。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7.4.3 拓扑排序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有向无环图（DAG）与拓扑序列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3949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无环的有向图叫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有向无环图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（DAG），常用来描述一个过程或系统的进行过程。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拓扑序列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：若存在 vᵢ 到 vⱼ 的路径，则序列中 vᵢ 必在 vⱼ 之前。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拓扑排序可以解决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先决条件问题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：在满足先决条件的前提下逐个完成各项任务。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834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原书例子：课程先修关系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127248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弧 ⟨cᵢ, cⱼ⟩ 表示 cᵢ 是 cⱼ 的先修课。c₀ 高等数学、c₁ 程序设计基础无先修；c₂ 离散数学 ← c₀ c₁；c₃ 数据结构 ← c₁ c₂；c₄ 算法语言 ← c₁；c₅ 编译原理 ← c₃ c₄；c₆ 操作系统 ← c₃ c₈；c₇ 普通物理 ← c₀；c₈ 计算机原理 ← c₇。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12" name="Image 0" descr="fig-7-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235" y="1024128"/>
            <a:ext cx="2155089" cy="23774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80760" y="3611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3D3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拓扑序不唯一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3931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c₀ c₁ c₂ c₃ c₄ c₅ c₇ c₈ c₆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c₀ c₇ c₈ c₁ c₄ c₂ c₃ c₆ c₅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7.4.3 拓扑排序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方法：反复摘掉入度为 0 的顶点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78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005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从有向图中选出一个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没有前驱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（入度为 0）的顶点并输出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764792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删除该顶点和所有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以它为起点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EAF4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全部输出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8529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完成拓扑排序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017520" y="24688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5468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还有顶点没输出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28529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但找不到入度为 0 的点 →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图中有环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57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拓扑排序可以</a:t>
            </a: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顺便检查有向图是否存在环</a:t>
            </a: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23560" y="1005840"/>
            <a:ext cx="3063240" cy="3657600"/>
          </a:xfrm>
          <a:prstGeom prst="roundRect">
            <a:avLst>
              <a:gd name="adj" fmla="val 2388"/>
            </a:avLst>
          </a:prstGeom>
          <a:solidFill>
            <a:srgbClr val="FFF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60720" y="1097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实现上的两个技巧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733288" y="1389888"/>
            <a:ext cx="2843784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每个顶点加一个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入度域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；「删除以它为尾的弧」= 把所有弧头的入度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把入度为 0 的顶点放进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：每次取队头即可，不必检查整个顶点表；某个顶点入度减到 0 就入队。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若最终取出的点数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少于顶点数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，图里有环。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7.4.3 · code/ch07/graph/modern.hpp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topological_sort：入度表 + 队列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9893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430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std::optional&lt;std::vector&lt;std::size_t&gt;&gt; topological_sort() const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indegree(vertices());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from = 0; from &lt; vertices(); ++from)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to = 0; to &lt; vertices(); ++to)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(from != to &amp;&amp; adjacency_[from][to] &lt; infinity)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++indegree[to];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std::queue&lt;std::size_t&gt; queue;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vertex = 0; vertex &lt; vertices(); ++vertex)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(indegree[vertex] == 0)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queue.push(vertex);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result;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(!queue.empty())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from = queue.front();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queue.pop();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result.push_back(from);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to = 0; to &lt; vertices(); ++to)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(from != to &amp;&amp; adjacency_[from][to] &lt; infinity &amp;&amp; --indegree[to] == 0)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queue.push(to);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result.size() == vertices() ? std::optional&lt;std::vector&lt;std::size_t&gt;&gt;(result)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: std::nullopt;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583680" y="96012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!= 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3441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对角线是 0（到自己距离 0），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；不排除它，入度全多 1，一个都入不了队。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0" y="22402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--indegree[to] == 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624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先减再判：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最后一条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入弧删掉的那一刻才入队，每个顶点只入队一次。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0" y="347472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有环 → nullopt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8587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输出不足 V 个：有顶点永远等不到入度归 0。返回空，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不抛异常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7.4.3 拓扑排序 · 手算 trace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7.17 上逐步执行 topological_sort()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58521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48640"/>
                <a:gridCol w="2651760"/>
                <a:gridCol w="10058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入度减 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新入队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队列（头→尾）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入度：c₂ c₃ c₅ c₆ 为 2，c₄ c₇ c₈ 为 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c₀ c₁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c₀ c₁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c₂ 2→1，c₇ 1→0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c₁ c₇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c₂ 1→0，c₃ 2→1，c₄ 1→0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c₂ c₄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c₇ c₂ c₄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c₈ 1→0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c₂ c₄ c₈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c₃ 1→0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c₄ c₈ c₃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c₅ 2→1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c₈ c₃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c₆ 2→1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c₅ 1→0，c₆ 1→0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c₅ c₆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c₅ c₆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14800"/>
            <a:ext cx="5852160" cy="548640"/>
          </a:xfrm>
          <a:prstGeom prst="roundRect">
            <a:avLst>
              <a:gd name="adj" fmla="val 13333"/>
            </a:avLst>
          </a:prstGeom>
          <a:solidFill>
            <a:srgbClr val="1E3D3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114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输出：c₀ c₁ c₇ c₂ c₄ c₈ c₃ c₅ c₆（9 个全输出 → 无环）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92240" y="932688"/>
            <a:ext cx="2194560" cy="3730752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1024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读这张表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601968" y="1316736"/>
            <a:ext cx="1975104" cy="32735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同一步里多个顶点入度归 0，按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列号从小到大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入队（矩阵扫一行的次序）。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得到的序列和图注里的两个都不同——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拓扑序不唯一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，逐条核对每条弧都是弧尾在前即可。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若再加一条 ⟨c₆, c₀⟩，c₀ 入度为 1，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整条链都卡住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 环检测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判环：先看是无向图还是有向图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600200"/>
                <a:gridCol w="4846320"/>
                <a:gridCol w="1234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核心逻辑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逐条加边：两端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已在同一集合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→ 这条边成环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O(E·α(V))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 + parent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碰到已访问的邻居，且它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不是父结点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→ 有环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O(V+E)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Kahn（入度）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反复摘入度 0 的点，摘不完 → 剩下的点在环上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O(V+E)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 三色标记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碰到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灰色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（还在递归栈上）的点 → 回边 → 有环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O(V+E)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004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为什么要分开讲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584448"/>
            <a:ext cx="490118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无向图里每条边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存两次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（u→v 与 v→u），沿原边退回父结点不算环——所以要记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parent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有向图里「见过」≠「成环」：0→1→2 加一条 0→2，从 0 再看到 2 时 2 已访问，但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——所以要分清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320040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89788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Kahn 前面已讲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358444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7.4.3 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topological_sort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输出不足 V 个即有环：环上每个点入度至少为 1，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永远等不到入度归 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 环检测 · 无向图（一）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并查集：边的两端早已连通，再连就成环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UnionFind: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self.parent = list(range(n))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find(self, x):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self.parent[x] != x: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self.parent[x] = self.parent[self.parent[x]]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路径减半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x = self.parent[x]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union(self, a, b):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ra, rb = self.find(a), self.find(b)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ra == rb: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                </a:t>
            </a:r>
            <a:r>
              <a:rPr lang="en-US" sz="88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早已连通：再加这条边就成环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self.parent[ra] = rb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has_cycle_union_find(n, edges):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uf = UnionFind(n)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u, v in edges: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uf.union(u, v):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005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 (0,1) (1,2) (2,0)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H="1">
            <a:off x="6838743" y="1621128"/>
            <a:ext cx="404274" cy="479353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2240280"/>
            <a:ext cx="91440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7478823" y="1621128"/>
            <a:ext cx="404274" cy="479353"/>
          </a:xfrm>
          <a:prstGeom prst="line">
            <a:avLst/>
          </a:prstGeom>
          <a:noFill/>
          <a:ln w="28575">
            <a:solidFill>
              <a:srgbClr val="C0392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196328" y="131673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96328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56248" y="20756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6248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36408" y="20756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36408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前两条边把 0、1、2 并成一个集合；(2,0) 的两端 find 到同一个根 →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成环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34290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适合什么场景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81304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动态一条条加进来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的（Kruskal 判环就是它），不必先建邻接表；只适用于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无向图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 环检测 · 无向图（二）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+ parent：绕回老地方，又不是来时的路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43153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has_cycle_undirected(graph):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visited = set()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dfs(u, parent):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visited.add(u)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 in graph[u]: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v not in visited: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dfs(v, u):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告诉 v：我是你的 parent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return True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elif v != parent:           </a:t>
            </a:r>
            <a:r>
              <a:rPr lang="en-US" sz="88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见过、又不是来时那条边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True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u in graph:        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森林：每棵树都要查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u not in visited and dfs(u, -1):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print(has_cycle_undirected({0: [1, 2], 1: [0, 2], 2: [0, 1]}))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print(has_cycle_undirected({0: [1], 1: [0, 2], 2: [1], 3: []}))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41148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== parent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：沿刚走过的那条边回头看——无向边存了两次，</a:t>
            </a: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≠ parent 又见过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：从另一条路绕回来了。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visited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34416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保证每个点只完整搜一遍，总代价 O(V+E)。外层 for 处理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不连通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的图。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DF0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重边会漏判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53288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u–v 之间有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平行边也是环（长度 2），但两次都碰到 parent 被放过。有重边时改记「来时的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边编号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」而不是父顶点。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自环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133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u–u 一条边：v = u 已访问且不是 parent → 判为环，正确。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 环检测 · 有向图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三色染色：撞上灰点才是环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1208" y="100584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005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未访问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1463040"/>
            <a:ext cx="329184" cy="329184"/>
          </a:xfrm>
          <a:prstGeom prst="ellipse">
            <a:avLst/>
          </a:prstGeom>
          <a:solidFill>
            <a:srgbClr val="C9D1CD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1463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正在访问：还在递归栈上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" y="1920240"/>
            <a:ext cx="329184" cy="329184"/>
          </a:xfrm>
          <a:prstGeom prst="ellipse">
            <a:avLst/>
          </a:prstGeom>
          <a:solidFill>
            <a:srgbClr val="1E3D34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1920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访问完毕：后代全部查完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960120"/>
            <a:ext cx="2514600" cy="2057400"/>
          </a:xfrm>
          <a:prstGeom prst="roundRect">
            <a:avLst>
              <a:gd name="adj" fmla="val 3556"/>
            </a:avLst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11880" y="1005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0→1→2，再加 0→2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4126180" y="1683005"/>
            <a:ext cx="525880" cy="65735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57700" y="1683005"/>
            <a:ext cx="525880" cy="65735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87952" y="2468880"/>
            <a:ext cx="1133856" cy="0"/>
          </a:xfrm>
          <a:prstGeom prst="line">
            <a:avLst/>
          </a:prstGeom>
          <a:noFill/>
          <a:ln w="28575">
            <a:solidFill>
              <a:srgbClr val="2E9E6B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58768" y="2304288"/>
            <a:ext cx="329184" cy="329184"/>
          </a:xfrm>
          <a:prstGeom prst="ellipse">
            <a:avLst/>
          </a:prstGeom>
          <a:solidFill>
            <a:srgbClr val="C9D1CD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5876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90288" y="1389888"/>
            <a:ext cx="329184" cy="329184"/>
          </a:xfrm>
          <a:prstGeom prst="ellipse">
            <a:avLst/>
          </a:prstGeom>
          <a:solidFill>
            <a:srgbClr val="1E3D34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9028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21808" y="2304288"/>
            <a:ext cx="329184" cy="329184"/>
          </a:xfrm>
          <a:prstGeom prst="ellipse">
            <a:avLst/>
          </a:prstGeom>
          <a:solidFill>
            <a:srgbClr val="1E3D34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2180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2724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0 再看 2：</a:t>
            </a:r>
            <a:r>
              <a:rPr lang="en-US" sz="9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</a:t>
            </a:r>
            <a:r>
              <a:rPr lang="en-US" sz="950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不是环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960120"/>
            <a:ext cx="2514600" cy="2057400"/>
          </a:xfrm>
          <a:prstGeom prst="roundRect">
            <a:avLst>
              <a:gd name="adj" fmla="val 3556"/>
            </a:avLst>
          </a:prstGeom>
          <a:solidFill>
            <a:srgbClr val="FDF0E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1005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0→1→2→0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V="1">
            <a:off x="6777940" y="1683005"/>
            <a:ext cx="525880" cy="65735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09460" y="1683005"/>
            <a:ext cx="525880" cy="65735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6839712" y="2468880"/>
            <a:ext cx="1133856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10528" y="2304288"/>
            <a:ext cx="329184" cy="329184"/>
          </a:xfrm>
          <a:prstGeom prst="ellipse">
            <a:avLst/>
          </a:prstGeom>
          <a:solidFill>
            <a:srgbClr val="C9D1CD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1052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42048" y="1389888"/>
            <a:ext cx="329184" cy="329184"/>
          </a:xfrm>
          <a:prstGeom prst="ellipse">
            <a:avLst/>
          </a:prstGeom>
          <a:solidFill>
            <a:srgbClr val="C9D1CD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4204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73568" y="2304288"/>
            <a:ext cx="329184" cy="329184"/>
          </a:xfrm>
          <a:prstGeom prst="ellipse">
            <a:avLst/>
          </a:prstGeom>
          <a:solidFill>
            <a:srgbClr val="C9D1CD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7356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2724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2 上看 0：</a:t>
            </a: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</a:t>
            </a:r>
            <a:r>
              <a:rPr lang="en-US" sz="9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回边 → 有环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2514600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9436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 visited 为什么不够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289864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黑点是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别的分支已经查完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的点，从它出发回不到当前路径；只有灰点（当前路径上的祖先）才能和 u→v 合成一个环。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520440" y="315468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657600" y="3218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规则只有一条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3657600" y="34930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检查弧 u→v 时：v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递归下去；v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；v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跳过。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同一套染色顺手就能出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：按变黑的先后倒过来排（7.4.5）。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7.4.4 环检测 · 有向图 · 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has_cycle_directed：进门染灰，出门染黑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has_cycle_directed(graph):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WHITE, GRAY, BLACK = 0, 1, 2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 = {v: WHITE for v in graph}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dfs(u):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color[u] = GRAY        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进入：u 在递归栈上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 in graph[u]: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color[v] == GRAY: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回边：v 是 u 的祖先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True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color[v] == WHITE and dfs(v):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True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color[u] = BLACK       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离开：u 的后代全部查完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any(color[u] == WHITE and dfs(u) for u in graph)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print(has_cycle_directed({0: [1, 2], 1: [2], 2: []}))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print(has_cycle_directed({0: [1], 1: [2], 2: [0]}))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4160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灰色集合 = 当前递归栈。用 set 存「栈上的点」也行，但数组染色更省。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any(...) 的外层循环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344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图可能不连通：每个仍是白色的点都要起一次 DFS。any 一旦碰到 True 就停。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3317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DF0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不能照搬无向图的 parent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7157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有向图 0→1、1→0 是长度 2 的环；按「v ≠ parent 才算环」会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37033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0873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每个点染色三次、每条弧看一次：O(V+E)。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7.4.5 拓扑排序的第二种做法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拓扑排序：按结束时间递减排列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2062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对图做 DFS，记下每个顶点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结束访问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（变黑：所有后继都处理完）的先后。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把顶点按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结束时间递减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排列就是一个拓扑序列——实现上就是把「结束顺序」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倒过来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途中撞上灰点 = 有环，没有拓扑序（上一页的三色染色）。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为什么对：任取一条弧 u→v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35808"/>
            <a:ext cx="3986784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检查到它时 v 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：v 在 u 的递归里访问，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先于 u 结束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：v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早就结束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：v 是 u 的祖先，u→v 合成环——DAG 里不会发生。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总有 finish(v) &lt; finish(u)，递减排列时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在 v 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19472" y="1005840"/>
            <a:ext cx="204825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进 c0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进 c2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进 c3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进 c5  完 c5 ①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进 c6  完 c6 ②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完 c3 ③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完 c2 ④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进 c7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进 c8  完 c8 ⑤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完 c7 ⑥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 c0 ⑦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进 c1（c2 c3 已黑，跳过）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进 c4  完 c4 ⑧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 c1 ⑨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78040" y="960120"/>
            <a:ext cx="1508760" cy="269748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pic>
        <p:nvPicPr>
          <p:cNvPr id="14" name="Image 0" descr="fig-7-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321344"/>
            <a:ext cx="1417320" cy="156355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223760" y="3154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7.17，邻接点按编号从小到大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846320" y="37490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E3D3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8348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结束顺序：c₅ c₆ c₃ c₂ c₈ c₇ c₀ c₄ c₁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倒过来：c₁ c₄ c₀ c₇ c₈ c₂ c₃ c₆ c₅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7.4.5 DFS 拓扑排序 · 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dfs_topo_sort：三色标记 + 结束顺序取逆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dfs_topo_sort(graph):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= 未访问(白)，1 = 正在访问(灰)，2 = 访问完毕(黑)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{v: 0 for v in graph}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finish_order = []   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先结束的在前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dfs(u):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state[u] = 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 in graph[u]: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state[v] == 1: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撞上灰点：回边 → 有环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False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state[v] == 0 and not dfs(v):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False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state[u] = 2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finish_order.append(u)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结束时刻记下 u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u in graph:     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非连通：每个白点都要起一次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state[u] == 0 and not dfs(u):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None 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有环，没有拓扑序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finish_order[::-1]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结束时间递减 = 逆序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{0: [2, 7], 1: [2, 3, 4], 2: [3], 3: [5, 6], 4: [5],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5: [], 6: [], 7: [8], 8: [6]}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print(dfs_topo_sort(g))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3620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121615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4, 0, 7, 8, 2, 3, 6, 5]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737360"/>
          <a:ext cx="25603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Kahn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 + 入度表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递归栈 + 三色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正序逐个输出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结束后整体取逆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输出不足 V 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撞上灰点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O(V+E)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O(V+E)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126480" y="35204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DF0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364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递归深度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39044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默认递归上限约 1000；长链 DAG 要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sys.setrecursionlimit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，或改写成显式栈。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7.4.6 两次 DFS · 强连通分量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Kosaraju：两次 DFS 求强连通分量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98755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 DFS（在 G 上）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：每个顶点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结束时压栈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，栈顶是结束最晚的点——就是 7.4.5 的「结束时间递减」次序。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70078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：所有弧反向得 Gᵀ。SCC 内部仍互相可达；SCC 之间的弧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全部掉头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41401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 DFS（在 Gᵀ 上）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：按出栈次序取未访问的点作起点，每次走到的点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恰好是一个 SCC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为什么会被「困住」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5844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 DFS 中结束最晚的点，落在缩点 DAG 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源头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SCC 里；在 Gᵀ 上源头变成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，从它出发走不出自己的 SCC。剥掉它，再取下一个……总代价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O(V+E)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6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27889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EAF4EF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005840"/>
            <a:ext cx="731520" cy="16002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0952" y="1371600"/>
            <a:ext cx="448056" cy="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43600" y="1536192"/>
            <a:ext cx="0" cy="539496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5330952" y="2240280"/>
            <a:ext cx="448056" cy="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5166360" y="1536192"/>
            <a:ext cx="0" cy="539496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08192" y="1371600"/>
            <a:ext cx="950976" cy="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08192" y="2240280"/>
            <a:ext cx="950976" cy="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66360" y="2404872"/>
            <a:ext cx="0" cy="557784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59752" y="1536192"/>
            <a:ext cx="0" cy="539496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7287768" y="1536192"/>
            <a:ext cx="0" cy="539496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330952" y="3063240"/>
            <a:ext cx="448056" cy="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5330952" y="3191256"/>
            <a:ext cx="448056" cy="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6078891" y="2334018"/>
            <a:ext cx="1009577" cy="699493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001768" y="120700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01768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79008" y="120700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79008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79008" y="20756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79008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01768" y="20756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01768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59168" y="120700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059168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59168" y="20756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059168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01768" y="296265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01768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79008" y="296265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779008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72400" y="1152144"/>
            <a:ext cx="182880" cy="182880"/>
          </a:xfrm>
          <a:prstGeom prst="rect">
            <a:avLst/>
          </a:prstGeom>
          <a:solidFill>
            <a:srgbClr val="FFF6E0"/>
          </a:solidFill>
          <a:ln w="6350">
            <a:solidFill>
              <a:srgbClr val="6B7B7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28432" y="10972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{0,1,2,3}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72400" y="1536192"/>
            <a:ext cx="182880" cy="182880"/>
          </a:xfrm>
          <a:prstGeom prst="rect">
            <a:avLst/>
          </a:prstGeom>
          <a:solidFill>
            <a:srgbClr val="E8EEF6"/>
          </a:solidFill>
          <a:ln w="6350">
            <a:solidFill>
              <a:srgbClr val="6B7B7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028432" y="14813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{4,5}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72400" y="1920240"/>
            <a:ext cx="182880" cy="182880"/>
          </a:xfrm>
          <a:prstGeom prst="rect">
            <a:avLst/>
          </a:prstGeom>
          <a:solidFill>
            <a:srgbClr val="EAF4EF"/>
          </a:solidFill>
          <a:ln w="6350">
            <a:solidFill>
              <a:srgbClr val="6B7B7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028432" y="18653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{6,7}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777240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SCC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00600" y="3657600"/>
            <a:ext cx="38862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 DFS 后的栈（底→顶）：4 5 7 6 3 2 1 0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4937760" y="4069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Gᵀ 上依次弹出：0 → {0,3,2,1}；6 → {6,7}；5 → {5,4}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7.4.6 Kosaraju · 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kosaraju：G 上压栈，Gᵀ 上按栈顶分块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kosaraju(n, adj):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visited = [False] * n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 = []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dfs1(u): 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第一次 DFS：在 G 上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visited[u] = True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 in adj[u]: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not visited[v]: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dfs1(v)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stack.append(u)              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结束时压栈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visited[i]: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dfs1(i)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radj = [[] for _ in range(n)]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转置图 G^T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u in range(n):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 in adj[u]: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radj[v].append(u)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dfs2(u, comp):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第二次 DFS：在 G^T 上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visited[u] = True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comp.append(u)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 in radj[u]: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not visited[v]: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dfs2(v, comp)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visited, sccs = [False] * n, []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stack: 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按结束时间递减取起点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stack.pop()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visited[u]: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sccs.append([])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dfs2(u, sccs[-1])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sccs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08192" y="1005840"/>
            <a:ext cx="250545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 = [[1], [2, 4], [3, 5], [0, 6],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[5], [4], [7], [5, 6]]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print(kosaraju(8, adj))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B2B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44768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208483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[[0, 3, 2, 1], [6, 7], [5, 4]]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两遍都是 O(V+E)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990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 DFS + 一次转置，每个点、每条弧都只处理常数次。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3703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另一种：Tarjan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4087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DFS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 dfn / low 时间戳找 SCC 的根，不必建转置图。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7.4.7 关键路径 · AOE 网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关键路径：AOE 网上从源点到汇点的最长路径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114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AOE 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是活动、边权是耗时；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是事件（「进入它的活动都已完成」那一刻）。必须是 DAG。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总工期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源点到汇点的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路径长；这条路径叫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关键路径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，上面的活动叫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关键活动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4114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ve(v)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事件最早发生时间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拓扑序：ve(v) = max{ve(u) + w}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vl(u)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事件最迟发生时间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逆拓扑序：vl(u) = min{vl(v) − w}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e, 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活动 &lt;u,v&gt; 最早 / 最迟开始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= ve(u)，l = vl(v) − 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关键活动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没有机动时间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 − e = 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800600" y="960120"/>
            <a:ext cx="388620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10" name="Shape 7"/>
          <p:cNvSpPr/>
          <p:nvPr/>
        </p:nvSpPr>
        <p:spPr>
          <a:xfrm flipV="1">
            <a:off x="5317460" y="1428903"/>
            <a:ext cx="703639" cy="479754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5385694" y="143817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14262" y="2119245"/>
            <a:ext cx="710037" cy="51639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554164" y="2149391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25382" y="1425781"/>
            <a:ext cx="745196" cy="485997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6416891" y="168159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55080" y="1325880"/>
            <a:ext cx="960120" cy="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6633972" y="1069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 flipV="1">
            <a:off x="6322327" y="2116116"/>
            <a:ext cx="751306" cy="522647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6413263" y="214761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 flipV="1">
            <a:off x="6345695" y="2069512"/>
            <a:ext cx="1847570" cy="615857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7114577" y="240650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06640" y="2011680"/>
            <a:ext cx="77724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7594092" y="17556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641619" y="1439201"/>
            <a:ext cx="581601" cy="459159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7821908" y="1444221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983480" y="1828800"/>
            <a:ext cx="365760" cy="365760"/>
          </a:xfrm>
          <a:prstGeom prst="ellipse">
            <a:avLst/>
          </a:prstGeom>
          <a:solidFill>
            <a:srgbClr val="FDF0EE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9834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89320" y="114300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8932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989320" y="2560320"/>
            <a:ext cx="365760" cy="365760"/>
          </a:xfrm>
          <a:prstGeom prst="ellipse">
            <a:avLst/>
          </a:prstGeom>
          <a:solidFill>
            <a:srgbClr val="FDF0EE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893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040880" y="1828800"/>
            <a:ext cx="365760" cy="365760"/>
          </a:xfrm>
          <a:prstGeom prst="ellipse">
            <a:avLst/>
          </a:prstGeom>
          <a:solidFill>
            <a:srgbClr val="FDF0EE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408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315200" y="114300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183880" y="1828800"/>
            <a:ext cx="365760" cy="365760"/>
          </a:xfrm>
          <a:prstGeom prst="ellipse">
            <a:avLst/>
          </a:prstGeom>
          <a:solidFill>
            <a:srgbClr val="FDF0EE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1838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1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3246120"/>
          <a:ext cx="38862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39" name="Text 35"/>
          <p:cNvSpPr txBox="1"/>
          <p:nvPr/>
        </p:nvSpPr>
        <p:spPr>
          <a:xfrm>
            <a:off x="4800600" y="41605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红色：关键路径 0 → 2 → 3 → 5，总工期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；ve = vl 的事件都在上面。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7.4.7 关键路径 · 手算 trace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拓扑序求 ve → 逆拓扑序求 vl → 逐条活动比 e 与 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拓扑序出队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更新 ve（取 max）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ve₁ = 3，ve₂ = 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ve₃ = 3+2 = 5，ve₄ = 3+3 = 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ve₃ = max(5, 2+4) = </a:t>
                      </a: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，ve₅ = 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ve₅ = max(3, 6+1) = 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ve₅ = max(7, 6+2) = </a:t>
                      </a: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= 总工期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逆序处理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更新 vl（初值 8，取 min）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5, 3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vl₃ = 8−2 = 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vl₄ = 8−1 = 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vl₂ = min(6−4, 8−1) = </a:t>
                      </a: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vl₁ = min(6−2, 7−3) = 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vl₀ = min(4−3, 2−2) = </a:t>
                      </a: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0233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11480"/>
                <a:gridCol w="868680"/>
                <a:gridCol w="105156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活动 &lt;u,v&gt;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= ve(u)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 = vl(v)−w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 − 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&lt;0,1&gt;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&lt;0,2&gt;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&lt;1,3&gt;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&lt;1,4&gt;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&lt;2,3&gt;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&lt;2,5&gt;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&lt;3,5&gt;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&lt;4,5&gt;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663440" y="36576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4800600" y="3703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关键活动 &lt;0,2&gt; &lt;2,3&gt; &lt;3,5&gt;：2 + 4 + 2 = 8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4800600" y="40690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0→1→4→5 只要 7，各活动有 1 的机动时间；&lt;2,5&gt; 可以拖 5 而不影响工期。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7.4.7 关键路径 · 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critical_path：一次 Kahn 求 ve，倒着扫一遍求 vl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critical_path(n, edges):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edges = [(u, v, w), ...]：活动 &lt;u, v&gt; 耗时 w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adj = [[] for _ in range(n)]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indeg = [0] * n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u, v, w in edges: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adj[u].append((v, w))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indeg[v] += 1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拓扑序 + 最早发生时间 ve：取 max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deque(i for i in range(n) if indeg[i] == 0)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order, ve = [], [0] * n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q: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q.popleft()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order.append(u)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v, w in adj[u]: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ve[v] = max(ve[v], ve[u] + w)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indeg[v] -= 1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indeg[v] == 0: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q.append(v)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len(order) &lt; n: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有环：不是 AOE 网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max(ve)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逆拓扑序 + 最迟发生时间 vl：取 min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vl = [total] * n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u in reversed(order):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v, w in adj[u]: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vl[u] = min(vl[u], vl[v] - w)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关键活动：e == l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crit = [(u, v) for u, v, w in edges if ve[u] == vl[v] - w]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total, ve, vl, crit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4476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216152"/>
            <a:ext cx="24323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 = [0, 3, 2, 6, 6, 8]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 = [0, 4, 2, 6, 7, 8]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[(0, 2), (2, 3), (3, 5)]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与 min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670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 取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：事件要等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前驱活动做完；vl 取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：不能耽误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后继活动。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35661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关键路径可能不止一条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缩短某个关键活动不一定缩短工期：另一条关键路径照样要 8。练习：sy404、sy406。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 · 7.5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单源最短路：Dijkstra（贪心）· 用 pre 取出路径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每对顶点：Floyd（动态规划）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负权边：Bellman-Ford（V−1 轮松弛 · 查负环）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 单源最短路径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Dijkstra：按路径长度递增的次序产生最短路径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pic>
        <p:nvPicPr>
          <p:cNvPr id="8" name="Image 0" descr="fig-7-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35558"/>
            <a:ext cx="2468880" cy="13030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377440"/>
            <a:ext cx="2651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7.18  A→C→B 最短，不是边数最少的那条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960120"/>
            <a:ext cx="53949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给定带权图，每条边的权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非负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；给定源点 s，求 s 到所有其他顶点的最短路径——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单源最短路径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顶点分成两个集合：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（最短距离已确定）和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V−S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。初始 S = {s}。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特殊路径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 s 到 v、中间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只经过 S 中顶点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的路径；数组 D 记录当前最短特殊路径长度。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1E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每一轮做两件事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2735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从 V−S 中取出 D 值最小的顶点 u，并入 S；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松弛：若 D[u] + W[u, v] &lt; D[v]，则 D[v] = D[u] + W[u, v]。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包含全部顶点时，D[v] 就是 s 到 v 的最短路径长度。这是一个</a:t>
            </a:r>
            <a:r>
              <a:rPr lang="en-US" sz="1150" b="1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</a:t>
            </a:r>
            <a:r>
              <a:rPr lang="en-US" sz="11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算法。</a:t>
            </a: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 单源最短路径 · 手算 trace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7.19 上从 v₀ 出发逐轮走一遍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pic>
        <p:nvPicPr>
          <p:cNvPr id="8" name="Image 0" descr="fig-7-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34029"/>
            <a:ext cx="2377440" cy="2275341"/>
          </a:xfrm>
          <a:prstGeom prst="rect">
            <a:avLst/>
          </a:prstGeom>
        </p:spPr>
      </p:pic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960120"/>
          <a:ext cx="54864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841248"/>
                <a:gridCol w="841248"/>
                <a:gridCol w="841248"/>
                <a:gridCol w="841248"/>
                <a:gridCol w="841248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选出 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D[v₀]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D[v₁]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D[v₂]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D[v₃]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D[v₄]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3200400" y="34564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 = 本轮松弛成功；灰 = 已并入 S。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94360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pre（前驱）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v₁←v₀，v₂←v₃，v₃←v₀，v₄←v₂。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 v₄：v₀→v₃→v₂→v₄ = 30+20+10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17720" y="374904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754880" y="38404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轮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754880" y="41330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v₃ 并入后，v₂ 经 v₃ 的 30+20 = 50 &lt; 60，v₄ 经 v₃ 的 30+60 = 90 &lt; 100；第 4 轮 v₂ 又把 v₄ 松弛成 60。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 单源最短路径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为什么边权必须非负？代价又取决于什么？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边权必须非负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V−S 里挑出 D 最小的那个，它的距离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此后不会再变小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——因为任何绕道都要先经过一个距离不更小的顶点，而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边权非负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这条论证正是 Dijkstra 要求非负权的地方；本书实现因此在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拒绝负权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05840"/>
          <a:ext cx="39776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46304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怎么挑「最小的那个」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直接比较 D 数组（矩阵版）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O(n²)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稠密图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最小堆（原书【算法7.8】）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O((n+e) log 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稀疏图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709160" y="25146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任何一条边都可能出现在最短路径中，所以每条边至少都要检查一次。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3657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要输出路径本身：pre 域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95020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记录最短路径上 v 前面经过的那个顶点。只要 D[u] + W[u, v] &lt; D[v] 就设 v 的前一个顶点为 u，否则不改。算法终止时顺着 pre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一路回溯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就得到完整路径。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 · code/ch07/graph/modern.hpp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dijkstra：矩阵版 O(V²)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std::vector&lt;distance_type&gt; dijkstra(std::size_t source)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check_vertex(source);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std::vector&lt;distance_type&gt; distance(vertices(), unreachable);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std::vector&lt;bool&gt; used(vertices());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distance[source]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count = 0; count &lt; vertices(); ++count)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from = nearest_unvisited(distance, used);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(from == vertices() || distance[from] == unreachable)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used[from] =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to = 0; to &lt; vertices(); ++to)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(adjacency_[from][to] &lt; infinity &amp;&amp;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distance[to] &gt; distance[from] + adjacency_[from][to])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distance[to] = distance[from] + adjacency_[from][to];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distance;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nearest_unvisited(distance, used)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：扫一遍全部顶点，返回未用过且 distance 最小的那个（全用过则返回 V）。Dijkstra 传 64 位路径距离、Prim 传 int 边权，两者共用这个模板。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960120"/>
            <a:ext cx="2194560" cy="370332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对照算法描述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1344168"/>
            <a:ext cx="1975104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就是集合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nearest_unvisited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 V−S 里挑 D 最小的——扫一遍全部顶点，O(V)。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松弛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，扫一整行。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挑出的点是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unreachable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：剩下的都到不了，提前结束。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 · 把路径本身取出来（上）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dijkstra_tree：只在松弛成功时改前驱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0350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887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ShortestPathTree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source;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std::vector&lt;distance_type&gt; distance;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std::vector&lt;std::optional&lt;std::size_t&gt;&gt; predecessor;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ShortestPathTree dijkstra_tree(std::size_t source) const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check_vertex(source);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ShortestPathTree tree{source, std::vector&lt;distance_type&gt;(vertices(), unreachable),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std::vector&lt;std::optional&lt;std::size_t&gt;&gt;(vertices())};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std::vector&lt;bool&gt; used(vertices());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tree.distance[source] = 0;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count = 0; count &lt; vertices(); ++count)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from = nearest_unvisited(tree.distance, used);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(from == vertices() || tree.distance[from] == unreachable)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used[from] = true;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to = 0; to &lt; vertices(); ++to)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(adjacency_[from][to] &lt; infinity &amp;&amp;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tree.distance[to] &gt; tree.distance[from] + adjacency_[from][to])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tree.distance[to] = tree.distance[from] + adjacency_[from][to];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tree.predecessor[to] = from;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tree;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Dist 类的两个域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34416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predecessor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。源点和到不了的顶点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没有前驱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292608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只在松弛成功时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310128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不管松没松弛都去改前驱：距离数组照样正确，但顺着前驱走出来的路径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和距离对不上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，甚至走成环。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7.5.1 · 把路径本身取出来（下）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shortest_path：从汇点倒着走回源点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03504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88736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static std::optional&lt;std::vector&lt;std::size_t&gt;&gt; shortest_path(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ShortestPathTree&amp; tree, std::size_t target)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count = tree.distance.size();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(target &gt;= count || tree.source &gt;= count || tree.predecessor.size() != count)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std::out_of_range("vertex");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(tree.distance[target] == unreachable)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std::nullopt;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path{target};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vertex = target; vertex != tree.source;)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(!tree.predecessor[vertex] || path.size() &gt; count)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std::invalid_argument("broken predecessor chain");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vertex = *tree.predecessor[vertex];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path.push_back(vertex);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std::reverse(path.begin(), path.end());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path;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996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到不了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25272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 nullopt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673352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709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汇点 = 源点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9659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路径只有 {source}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2386584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前驱链断了 / 成环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67919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树已经坏了 → 抛 invalid_argument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CFE0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测试不断言具体路径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3159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等长路径有好几条时返回哪条取决于扫描次序。测试只断言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路径合法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：首尾是源点和汇点，每步都是真实的边，边权之和等于 Floyd 算出的最短距离（随机小图，边权 0～4）。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图上：pre = [—, 0, 1, 2, 3]，到 4 的路径 0 1 2 3 4。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7.5.2 每对顶点之间的最短路径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Floyd：典型的动态规划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所有顶点对之间的最短路径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：对任意有序对 ⟨vᵢ, vⱼ⟩ 求最短路径。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可以以每个顶点为源点重复 Dijkstra n 次，O(n³)；Floyd 也是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O(n³)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，但形式简单。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adj⁽⁰⁾ = 相邻矩阵出发，做 n 次迭代：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adj⁽ᵏ⁾[i, j] = 从 vᵢ 到 vⱼ、中间顶点只取自前 k 个顶点 v₀…vₖ₋₁ 的最短路径长度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k 轮新开放 vₖ₋₁）。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中间不经过 vₖ₋₁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adj⁽ᵏ⁾[i, j] = adj⁽ᵏ⁻¹⁾[i, j]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26060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中间经过 vₖ₋₁：两段拼起来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adj⁽ᵏ⁻¹⁾[i, k−1] + adj⁽ᵏ⁻¹⁾[k−1, j]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adj⁽ᵏ⁾[i, j] = min{ adj⁽ᵏ⁻¹⁾[i, j],  adj⁽ᵏ⁻¹⁾[i, k−1] + adj⁽ᵏ⁻¹⁾[k−1, j] }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7.5.2 Floyd · 手算 trace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7.20：每轮多开放一个中转点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pic>
        <p:nvPicPr>
          <p:cNvPr id="8" name="Image 0" descr="fig-7-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67808"/>
            <a:ext cx="1737360" cy="152198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边：v₀→v₂ 2，v₁→v₀ 5，v₁→v₂ 8，v₂→v₁ 3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960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adj⁽⁰⁾（相邻矩阵）</a:t>
            </a:r>
            <a:endParaRPr lang="en-US" sz="105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1234440"/>
          <a:ext cx="23774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669280" y="960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 v₀ 之后</a:t>
            </a:r>
            <a:endParaRPr lang="en-US" sz="1050" dirty="0"/>
          </a:p>
        </p:txBody>
      </p:sp>
      <p:graphicFrame>
        <p:nvGraphicFramePr>
          <p:cNvPr id="1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34440"/>
          <a:ext cx="23774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2606040" y="2560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 v₁ 之后</a:t>
            </a:r>
            <a:endParaRPr lang="en-US" sz="1050" dirty="0"/>
          </a:p>
        </p:txBody>
      </p:sp>
      <p:graphicFrame>
        <p:nvGraphicFramePr>
          <p:cNvPr id="20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2834640"/>
          <a:ext cx="23774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5669280" y="2560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 v₂ 之后（最终）</a:t>
            </a:r>
            <a:endParaRPr lang="en-US" sz="1050" dirty="0"/>
          </a:p>
        </p:txBody>
      </p:sp>
      <p:graphicFrame>
        <p:nvGraphicFramePr>
          <p:cNvPr id="27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834640"/>
          <a:ext cx="23774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1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FE0D8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59436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变了的三格：v₁→v₂ = 5+2 =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&lt; 8（经 v₀）；v₂→v₀ = 3+5 =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（经 v₁）；v₀→v₁ = 2+3 =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（经 v₂）。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7.5.2 · code/ch07/graph/modern.hpp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floyd：中转点 via 必须在最外层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172968"/>
          </a:xfrm>
          <a:prstGeom prst="roundRect">
            <a:avLst>
              <a:gd name="adj" fmla="val 230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081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std::vector&lt;std::vector&lt;distance_type&gt;&gt; floyd() const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std::vector&lt;std::vector&lt;distance_type&gt;&gt; distance(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vertices(), std::vector&lt;distance_type&gt;(vertices(), unreachable));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from = 0; from &lt; vertices(); ++from)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to = 0; to &lt; vertices(); ++to)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(adjacency_[from][to] &lt; infinity)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distance[from][to] = adjacency_[from][to];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via = 0; via &lt; vertices(); ++via)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from = 0; from &lt; vertices(); ++from)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(std::size_t to = 0; to &lt; vertices(); ++to)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(distance[from][via] != unreachable &amp;&amp; distance[via][to] != unreachable)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distance[from][to] = std::min(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distance[from][to], distance[from][via] + distance[via][to]);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distance;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4224528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224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</a:t>
            </a: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中转点 via 必须在最外层</a:t>
            </a: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 adj⁽ᵏ⁾ 还没算完就被拿去用了。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0" y="4224528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87568" y="4224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测试：五个源点的 Dijkstra 与 Floyd 逐项对拍。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7.5.3 负权边 · Bellman-Ford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有负权边时 Dijkstra 会算错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24028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05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 &lt;0,1&gt; 4，&lt;0,2&gt; 5，&lt;2,1&gt; −3，&lt;1,3&gt;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V="1">
            <a:off x="1127000" y="1583568"/>
            <a:ext cx="992121" cy="444744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481739" y="182971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24813" y="2182627"/>
            <a:ext cx="996494" cy="481066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485498" y="218167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V="1">
            <a:off x="2286000" y="1691640"/>
            <a:ext cx="0" cy="86868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304288" y="201625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508760"/>
            <a:ext cx="100584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770632" y="154533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192024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13258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031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256032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031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13258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39776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508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Dijkstra(0)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真实最短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4（最先被选进 S）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= 5 − 3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709160" y="96012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DF0E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846320" y="1051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贪心为什么失效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134416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在 D[1] = 4 时就把 v₁ 移进 S，认定「再绕道只会更长」。但绕 v₂ 走 5 + (−3) = 2 更短——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非负权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一破，「当前最近 = 永久最近」就不成立。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09160" y="265176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CFE0D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846320" y="27432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Bellman-Ford：不挑点，每轮把所有边都松弛一遍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818888" y="3035808"/>
            <a:ext cx="3758184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无负环时最短路是简单路径，至多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V−1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条边；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：dp[k][v] = 至多 k 条边到 v 的最短长，dp[k][v] = min(dp[k−1][v], dp[k−1][u] + w(u,v))；第 k 轮结束后 dist[v] ≤ dp[k][v]；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跑满 V−1 轮还能松弛 → 源点可达一个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负权回路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，最短路无定义。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7.5.3 Bellman-Ford · 手算 trace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边序 &lt;0,1&gt; &lt;0,2&gt; &lt;1,3&gt; &lt;2,1&gt;，每轮按同一次序松弛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8064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这一轮松弛成功的边（按边序）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dist[0..3]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∞  ∞  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&lt;0,1&gt;：4　&lt;0,2&gt;：5　&lt;1,3&gt;：4+2 = 6　&lt;2,1&gt;：5−3 =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0  2  5  6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&lt;1,3&gt;：2+2 =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（把第 1 轮的改进传下去）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0  2  5  4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→ 提前结束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0  2  5  4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9718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063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读这张表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355848"/>
            <a:ext cx="375818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轮 &lt;1,3&gt; 用的还是 dist[1] = 4，&lt;2,1&gt; 之后才变成 2，所以要第 2 轮。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&lt;2,1&gt; 排在 &lt;1,3&gt; 前面，1 轮就够——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轮数随边序变，上界 V−1 不变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一整轮没有任何改动，后面也不会再变，可以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提前退出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29718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DF0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再加 &lt;3,2&gt; −4：环 2→1→3→2 = −5</a:t>
            </a:r>
            <a:endParaRPr lang="en-US" sz="1100" dirty="0"/>
          </a:p>
        </p:txBody>
      </p:sp>
      <p:graphicFrame>
        <p:nvGraphicFramePr>
          <p:cNvPr id="1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364992"/>
          <a:ext cx="37033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dist[0..3]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/ 2 / 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2 2 6 → 0 −1 0 4 → 0 −3 −3 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轮检查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&lt;1,3&gt;、&lt;2,1&gt; 仍可松弛 → </a:t>
                      </a: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有负环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7.5.3 Bellman-Ford · 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bellman_ford：V−1 轮松弛 + 第 V 轮查负环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1114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bellman_ford(n, edges, source):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edges = [(u, v, w), ...]，w 可以是负数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 = float('inf')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[INF] * 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dist[source] = 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range(n - 1):     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最短路至多 n-1 条边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changed = False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u, v, w in edges: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dist[u] != INF and dist[u] + w &lt; dist[v]: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dist[v] = dist[u] + w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changed = True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changed: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一整轮没改动：提前收敛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u, v, w in edges:      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第 n 轮还能松弛 → 负环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dist[u] != INF and dist[u] + w &lt; dist[v]: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None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 = [(0, 1, 4), (0, 2, 5), (1, 3, 2), (2, 1, -3)]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print(bellman_ford(4, edges, 0))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2, 5, 4]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print(bellman_ford(4, edges + [(3, 2, -4)], 0))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</a:t>
            </a:r>
            <a:endParaRPr lang="en-US" sz="9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960120"/>
          <a:ext cx="28346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051560"/>
                <a:gridCol w="685800"/>
                <a:gridCol w="594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Dijkstra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Bellman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Ford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Floyd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思想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动态规划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动态规划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负权边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能检测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对角线 &lt; 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O(V²) / O(E log V)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O(VE)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O(V³)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求的是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每对顶点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852160" y="306324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8932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SPFA 与应用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61888" y="3447288"/>
            <a:ext cx="2615184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SPFA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：只把 dist 刚变小的点放进队列，再松弛它的出边；平均快很多，最坏仍 O(VE)。</a:t>
            </a:r>
            <a:endParaRPr lang="en-US" sz="9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dist[u] != INF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：从源点到不了的点不参与松弛，也不会被误判成负环。</a:t>
            </a:r>
            <a:endParaRPr lang="en-US" sz="9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01860 Currency Exchange：汇率套利就是找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正环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6 · 7.6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最小生成树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MST 性质 · Prim：从点出发长一棵树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Kruskal：从边出发合并森林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 最小生成树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目标：连通全部顶点，选中边的总权最小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1206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个城市之间建通信网，联通只需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 条线路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——怎么选使总花费最小？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所有生成树中代价最小的叫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最小生成树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（minimum-cost spanning tree, MST）。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任意两点最短，而是连通全部顶点且总权最小。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MST 性质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260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是 V 的非空真子集。若 (u, v) 是一端在 U、另一端在 V−U 的边里</a:t>
            </a: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权最小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的一条，则一定存在一棵包含 (u, v) 的 MST。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反证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0873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任何一棵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MST 都不含 (u, v)，任取一棵 T。把 (u, v) 加进 T 必成回路，回路从 u 到 v 还要回到 u，故另有一条边 (u′, v′) 也跨在 U 与 V−U 之间。删掉它得到生成树 T′；因 W(u, v) ≤ W(u′, v′)，T′ 代价不比 T 大，也是 MST 且含 (u, v)——矛盾。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960120"/>
            <a:ext cx="288036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pic>
        <p:nvPicPr>
          <p:cNvPr id="15" name="Image 0" descr="fig-7-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68307"/>
            <a:ext cx="2606040" cy="178616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806440" y="2926080"/>
            <a:ext cx="2880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7.22  含 (u, v) 的回路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06440" y="3383280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0" y="3474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这条性质的用处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376732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 和 Kruskal 都是贪心：每一步都可以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放心地取当前最小的那条跨界边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7.6.1 Prim 算法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从一个点出发，每次把离树最近的顶点拉进来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0058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0058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= {u₀}，TE = {}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66420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16642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在所有 u ∈ U、v ∈ V−U 的边中找权最小的 (u₀, v₀)，加进 TE，v₀ 并入 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3225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23225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= V 时停止；TE 恰好 n−1 条边，构成一棵 MST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 与 Dijkstra：差别只有一处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44728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两者都反复「从集合外挑一个距离值最小的顶点并入集合」。但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 的距离值不累积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，直接用「离集合最近的边距」；Dijkstra 累积的是从源点起的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整条路径长度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时间也相同：O(n²)，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适合稠密图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06440" y="960120"/>
            <a:ext cx="288036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pic>
        <p:nvPicPr>
          <p:cNvPr id="23" name="Image 0" descr="fig-7-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40264"/>
            <a:ext cx="2606040" cy="229944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806440" y="3383280"/>
            <a:ext cx="2880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7.23  本节两个算法共用的带权图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806440" y="3840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实现：从指定源点生长；非连通则返回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7.6.1 Prim 算法 · 图 7.24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在图 7.23 上的六个步骤：每一步都是一棵连着的树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pic>
        <p:nvPicPr>
          <p:cNvPr id="8" name="Image 0" descr="fig-7-24-ab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773" y="969264"/>
            <a:ext cx="7252453" cy="17099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788920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pic>
        <p:nvPicPr>
          <p:cNvPr id="10" name="Image 1" descr="fig-7-24-de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73" y="2825496"/>
            <a:ext cx="7252453" cy="17099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45902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v₀ 出发依次加入：(v₀,v₄)1 → (v₄,v₅)15 → (v₅,v₆)10 → (v₆,v₂)2 → (v₂,v₁)6 → (v₁,v₃)4，总权 38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7.6.1 Prim 算法 · 手算 trace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distance[v] = v 到当前树的最近边距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</a:t>
            </a:r>
            <a:endParaRPr lang="en-US" sz="9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1234440"/>
                <a:gridCol w="841248"/>
                <a:gridCol w="841248"/>
                <a:gridCol w="841248"/>
                <a:gridCol w="841248"/>
                <a:gridCol w="841248"/>
                <a:gridCol w="841248"/>
                <a:gridCol w="85039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(v₀,v₄)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(v₄,v₅) 15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(v₅,v₆) 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(v₆,v₂) 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(v₂,v₁) 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(v₁,v₃) 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每轮：先挑 distance 最小的未入树顶点并入（记下树边），再用它更新其余顶点。红 = 本轮变小；✓ = 已在树中。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3D3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条树边，总权 1 + 15 + 10 + 2 + 6 + 4 = 38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7.6.1 · code/ch07/graph/modern.hpp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prim：与 dijkstra 几乎同一段代码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std::optional&lt;std::vector&lt;Edge&gt;&gt; prim(std::size_t source) const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check_vertex(source);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distance(vertices(), infinity);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predecessor(vertices());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std::vector&lt;bool&gt; used(vertices());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std::vector&lt;Edge&gt; result;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distance[source] = 0;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count = 0; count &lt; vertices(); ++count)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from = nearest_unvisited(distance, used);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(from == vertices() || distance[from] == infinity)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std::nullopt;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used[from] = true;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(from != source)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result.push_back({predecessor[from], from, distance[from]});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to = 0; to &lt; vertices(); ++to)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(!used[to] &amp;&amp; adjacency_[from][to] &lt; distance[to])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distance[to] = adjacency_[from][to];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predecessor[to] = from;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dijkstra 对比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344168"/>
            <a:ext cx="206654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比较的是 D[from] + 边权：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整条路径。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 比较的只是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一条边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的权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adjacency_[from][to]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283464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非连通 → nullopt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21868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挑出的最近点距离还是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infinity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：剩下的顶点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连不上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，没有生成树——可预期结果，返回空。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7.6.2 Kruskal 算法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从边出发：选不成环的最小边，合并森林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1206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贪心准则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：从剩下的边中选择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不会产生回路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且权值最小的边，加入生成树的边集。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开始时 n 个顶点是 n 个独立连通分量：有 n 个顶点而无边的森林 T = ⟨V, {}⟩。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按权从小到大看每条边：两端在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不同连通分支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就加入 T，否则舍去。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直到 T 中所有顶点都在同一个连通分量中。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960120"/>
            <a:ext cx="2880360" cy="2377440"/>
          </a:xfrm>
          <a:prstGeom prst="roundRect">
            <a:avLst>
              <a:gd name="adj" fmla="val 3077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893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「会不会成环」=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两个端点是不是已经在同一棵树里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——这正是第 6 章</a:t>
            </a:r>
            <a:r>
              <a:rPr lang="en-US" sz="1150" b="1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</a:t>
            </a:r>
            <a:r>
              <a:rPr lang="en-US" sz="11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的用处。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代价与适用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90448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排序主导：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O(e log e)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，主要取决于边数 →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适合稀疏图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，正好与适合稠密图的 Prim 互补。连通图上两者得到相同总权、n−1 条边。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7.6.2 Kruskal 算法 · 图 7.25 与手算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中间过程是一片森林，直到最后才连成一棵树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pic>
        <p:nvPicPr>
          <p:cNvPr id="8" name="Image 0" descr="fig-7-25-ab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1607"/>
            <a:ext cx="5029200" cy="11857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24028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pic>
        <p:nvPicPr>
          <p:cNvPr id="10" name="Image 1" descr="fig-7-25-de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69199"/>
            <a:ext cx="5029200" cy="118574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3502152"/>
            <a:ext cx="51206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7.25  Kruskal 在同一张图 7.23 上的步骤</a:t>
            </a:r>
            <a:endParaRPr lang="en-US" sz="95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932688"/>
          <a:ext cx="28803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91440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(v₀,v₄)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(v₂,v₆)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(v₁,v₃)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(v₁,v₂)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(v₃,v₆)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舍弃：已同一分量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(v₅,v₆)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(v₃,v₅)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舍弃：已同一分量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(v₄,v₅)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 → 连通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(v₀,v₁)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舍弃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3D34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总权 1 + 2 + 4 + 6 + 10 + 15 = 38，与 Prim 相同——两个算法走的路不同（Prim 按 1, 15, 10, 2, 6, 4 的次序），得到的总权相同。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7.6.2 · code/ch07/graph/modern.hpp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kruskal：排序 + 并查集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064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601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std::optional&lt;std::vector&lt;Edge&gt;&gt; kruskal() const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std::vector&lt;Edge&gt; edges;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from = 0; from &lt; vertices(); ++from)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to = from + 1; to &lt; vertices(); ++to)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(adjacency_[from][to] &lt; infinity)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edges.push_back({from, to, adjacency_[from][to]});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std::sort(edges.begin(), edges.end());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parent(vertices());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vertex = 0; vertex &lt; vertices(); ++vertex)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parent[vertex] = vertex;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std::vector&lt;Edge&gt; result;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(const Edge&amp; edge : edges)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from_root = find_root(parent, edge.from);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to_root = find_root(parent, edge.to);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(from_root != to_root)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parent[from_root] = to_root;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result.push_back(edge);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result.size() + 1 == vertices() ? std::optional&lt;std::vector&lt;Edge&gt;&gt;(result)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: std::nullopt;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3703320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读代码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344168"/>
            <a:ext cx="2066544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= from + 1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：无向图只取上三角，每条边收一次。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Edge::operator&lt;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按权比较，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std::sort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直接可用。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find_root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：递归找根并做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路径压缩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6 章并查集）。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两端根不同才合并、收边；最后边数 ≠ n−1 → 不连通 →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 最小生成树 · 对照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 vs Kruskal；最短路树 ≠ 最小生成树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</a:t>
            </a:r>
            <a:endParaRPr lang="en-US" sz="9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91640"/>
                <a:gridCol w="1691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Kruskal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出发点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中间过程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始终是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一棵树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一片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森林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关键操作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挑离树最近的顶点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 + 并查集判环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O(n²)（矩阵）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O(e log 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稠密图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稀疏图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257800" y="96012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9496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三个点：A-B 2，B-C 2，A-C 3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flipV="1">
            <a:off x="5656232" y="1744924"/>
            <a:ext cx="437575" cy="807831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45208" y="196943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50592" y="1744924"/>
            <a:ext cx="437575" cy="807831"/>
          </a:xfrm>
          <a:prstGeom prst="line">
            <a:avLst/>
          </a:prstGeom>
          <a:noFill/>
          <a:ln w="19050">
            <a:solidFill>
              <a:srgbClr val="6B7B74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6396856" y="196943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42432" y="2697480"/>
            <a:ext cx="859536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71032" y="273405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13248" y="25328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1324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07608" y="143560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076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601968" y="25328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0196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 flipV="1">
            <a:off x="7347872" y="1744924"/>
            <a:ext cx="437575" cy="807831"/>
          </a:xfrm>
          <a:prstGeom prst="line">
            <a:avLst/>
          </a:prstGeom>
          <a:noFill/>
          <a:ln w="28575">
            <a:solidFill>
              <a:srgbClr val="2E9E6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36848" y="196943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42232" y="1744924"/>
            <a:ext cx="437575" cy="807831"/>
          </a:xfrm>
          <a:prstGeom prst="line">
            <a:avLst/>
          </a:prstGeom>
          <a:noFill/>
          <a:ln w="28575">
            <a:solidFill>
              <a:srgbClr val="2E9E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88496" y="196943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434072" y="2697480"/>
            <a:ext cx="859536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7662672" y="273405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104888" y="25328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10488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699248" y="143560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9924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293608" y="25328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3D3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9360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303520" y="2971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Dijkstra(A) 树：5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040880" y="2971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MST：4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257800" y="34290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DF0E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394960" y="3520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两个目标不同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394960" y="381304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保证每个点到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的距离最短；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保证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总权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最小。结果自然不同。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3429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两个算法走的路不同，得到的边集可以不同，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总权必须相同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以上都依赖同一条 MST 性质。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习题精选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课后想一想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09728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960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负权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960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为什么不能给所有边统一加一个常数后继续用 Dijkstra？给出负权边反例。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18288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1691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最短路树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1691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是否给出一棵生成树？是否给出一棵最小生成树？证明你的结论。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256032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423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拓扑序计数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24231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对图 7.29（原书习题 4）的有向图做拓扑排序，能得到多少个不同的拓扑序列？全部写出。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329184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154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存储取舍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240280" y="315468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code/ch07/adjacency_list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加一个删边接口，说明为什么删边在邻接表上是 O(deg u)、在矩阵上是 O(1)。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402336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6928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关键路径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240280" y="38862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DAG 中设计关键路径算法，计算每个顶点的最早发生时间和工程总工期。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37960" y="96012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pic>
        <p:nvPicPr>
          <p:cNvPr id="33" name="Image 0" descr="fig-7-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8966" y="1024128"/>
            <a:ext cx="1906829" cy="21031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6537960" y="3154680"/>
            <a:ext cx="2148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7.29  习题 4 的图例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6118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参考答案见 book/习题与参考答案.md 的同章小节。</a:t>
            </a:r>
            <a:endParaRPr lang="en-US" sz="9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 / 无向 / 带权；度与入度出度；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连通分量与强连通分量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；生成树有 n−1 条边。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三种存储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 V²、O(1) 判边，适合稠密图；邻接表 V+E，适合稀疏图；十字链表合并出边与入边。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周游与拓扑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无向判环：并查集 / parent；有向判环：Kahn /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三色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；拓扑序：Kahn 或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结束逆序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；Kosaraju 两次 DFS；关键路径 ve / vl。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最短路径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、要求非负权；Floyd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、中转点在最外层；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Bellman-Ford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V−1 轮松弛，能处理负权、查负环。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 从点长树（稠密图），Kruskal 从边合并森林（稀疏图）；复杂度由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+ 存储结构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一起决定。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第七章 图</dc:title>
  <dc:subject>PptxGenJS Presentation</dc:subject>
  <dc:creator>Hongfei Yan</dc:creator>
  <cp:lastModifiedBy>Hongfei Yan</cp:lastModifiedBy>
  <cp:revision>1</cp:revision>
  <dcterms:created xsi:type="dcterms:W3CDTF">2026-10-28T10:29:06Z</dcterms:created>
  <dcterms:modified xsi:type="dcterms:W3CDTF">2026-10-28T10:29:06Z</dcterms:modified>
</cp:coreProperties>
</file>