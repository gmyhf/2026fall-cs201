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notesMasterIdLst>
    <p:notesMasterId r:id="rId7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第七章  图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Graph：前驱和后继都不加限制的结构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图的定义与术语 · 图 ADT 与接口约定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相邻矩阵 / 邻接表 / 十字链表 · 实测：存储量差三百多倍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DFS / BFS 周游 · 拓扑排序与环检测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Dijkstra · Floyd · MST 性质 · Prim · Kruskal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Updated 2026-09-21 · github.com/GMyhf/dsa-modernization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同一张图，邻接矩阵和邻接表差在哪里？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答案不变，代价全变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：存储量 V² 对 V+E；复杂度由「算法 + 存储结构」一起决定。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从一个点能走到哪里？任务按什么顺序做？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DFS / BFS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是树周游的推广；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拓扑排序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排出先修顺序，顺便检测有没有环。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「最短的路」和「最省的网」是一回事吗？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Dijkstra / Floyd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让路径总权最小；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Prim / Kruskal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让连通全部顶点的总权最小。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先分清题目属于哪一种，再选算法；</a:t>
            </a: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换存储方式不该换答案，只该换代价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概念与 ADT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 定义：有向 / 无向 / 带权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度、路径、连通分量、强连通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生成树、网络、有向树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选算法之前先分清题目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7.2 图 ADT 与接口约定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存储与周游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7.3.1 相邻矩阵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7.3.2 邻接表：实测对比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7.3.3 十字链表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7.4.1 深度优先 DFS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7.4.2 广度优先 BFS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7.4.3 拓扑排序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最短路与 MST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7.5.1 Dijkstra（+ pre 取路径）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7.5.2 Floyd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7.6 MST 性质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7.6.1 Prim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7.6.2 Kruskal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 · code/ch07/graph/demo.cpp（上）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一张 5 个顶点的有向带权图：建图 + DFS / BFS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84632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70001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"modern.hpp"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dsa::Graph graph(5);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graph.add_edge(0, 1, 2);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graph.add_edge(0, 2, 7);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graph.add_edge(1, 2, 1);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graph.add_edge(1, 3, 5);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graph.add_edge(2, 3, 1);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graph.add_edge(3, 4, 3);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"DFS(0):";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vertex : graph.dfs(0))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' ' &lt;&lt; vertex;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"\nBFS(0):";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vertex : graph.bfs(0))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' ' &lt;&lt; vertex;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532120" y="960120"/>
            <a:ext cx="3154680" cy="2286000"/>
          </a:xfrm>
          <a:prstGeom prst="roundRect">
            <a:avLst>
              <a:gd name="adj" fmla="val 3200"/>
            </a:avLst>
          </a:prstGeom>
          <a:solidFill>
            <a:srgbClr val="F1F4F2"/>
          </a:solidFill>
          <a:ln/>
        </p:spPr>
      </p:sp>
      <p:sp>
        <p:nvSpPr>
          <p:cNvPr id="10" name="Shape 8"/>
          <p:cNvSpPr/>
          <p:nvPr/>
        </p:nvSpPr>
        <p:spPr>
          <a:xfrm flipV="1">
            <a:off x="6039051" y="1533578"/>
            <a:ext cx="494899" cy="407564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5992325" y="151469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39051" y="2173658"/>
            <a:ext cx="494899" cy="407564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5992325" y="2380648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675120" y="1600200"/>
            <a:ext cx="0" cy="91440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6601968" y="1947672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19477" y="1529597"/>
            <a:ext cx="534247" cy="415525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6975254" y="1512147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 flipV="1">
            <a:off x="6819477" y="2169677"/>
            <a:ext cx="534247" cy="415525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6975254" y="2383197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680960" y="2057400"/>
            <a:ext cx="411480" cy="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7685532" y="1801368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715000" y="1874520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71500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92240" y="1234440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92240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92240" y="2514600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9224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315200" y="1874520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31520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092440" y="1874520"/>
            <a:ext cx="365760" cy="3657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09244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577840" y="292608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0→1(2) 0→2(7) 1→2(1) 1→3(5) 2→3(1) 3→4(3)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532120" y="3383280"/>
            <a:ext cx="3154680" cy="1280160"/>
          </a:xfrm>
          <a:prstGeom prst="roundRect">
            <a:avLst>
              <a:gd name="adj" fmla="val 5714"/>
            </a:avLst>
          </a:prstGeom>
          <a:solidFill>
            <a:srgbClr val="FFF6E0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669280" y="347472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先猜一猜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5641848" y="3767328"/>
            <a:ext cx="2935224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0 出发，DFS 和 BFS 的访问次序各是什么？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到 4 最短是多少？是先走那条权 7 的直达边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0→2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吗？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 · code/ch07/graph/demo.cpp（下）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拓扑序与 Dijkstra：答案是 7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84632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700016" cy="2240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topo = graph.topological_sort();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"\n拓扑序:";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(topo)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vertex : *topo)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std::cout &lt;&lt; ' ' &lt;&lt; vertex;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else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" 无（有环）";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distance = graph.dijkstra(0);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"\nDijkstra(0-&gt;4) = " &lt;&lt; distance[4] &lt;&lt; '\n';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3832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-std=c++17 -Wall -Wextra -Werror -Icode/ch07/graph \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code/ch07/graph/demo.cpp -o /tmp/graph-demo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532120" y="960120"/>
            <a:ext cx="3154680" cy="1417320"/>
          </a:xfrm>
          <a:prstGeom prst="roundRect">
            <a:avLst>
              <a:gd name="adj" fmla="val 5161"/>
            </a:avLst>
          </a:prstGeom>
          <a:solidFill>
            <a:srgbClr val="1B2B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4184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641848" y="1216152"/>
            <a:ext cx="2935224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DFS(0): 0 1 2 3 4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BFS(0): 0 1 2 3 4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拓扑序: 0 1 2 3 4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Dijkstra(0-&gt;4) = 7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532120" y="2514600"/>
            <a:ext cx="3154680" cy="2148840"/>
          </a:xfrm>
          <a:prstGeom prst="roundRect">
            <a:avLst>
              <a:gd name="adj" fmla="val 3404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69280" y="260604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641848" y="2898648"/>
            <a:ext cx="2935224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最短路是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0→1→2→3→4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，总权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2+1+1+3 = 7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——不是直达边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0→2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（权 7）再往后走（7+1+3 = 11）。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拓扑序返回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：再加一条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4→0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形成环，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topological_sort()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（空值）。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931920"/>
            <a:ext cx="4846320" cy="731520"/>
          </a:xfrm>
          <a:prstGeom prst="roundRect">
            <a:avLst>
              <a:gd name="adj" fmla="val 10000"/>
            </a:avLst>
          </a:prstGeom>
          <a:solidFill>
            <a:srgbClr val="CFE0D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4023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「短」是边权总和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43159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最短路不一定是经过的边数最少的那条。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 · 手算核对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Dijkstra(0) 在这张图上逐轮走一遍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54864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194560"/>
                <a:gridCol w="548640"/>
                <a:gridCol w="548640"/>
                <a:gridCol w="548640"/>
                <a:gridCol w="548640"/>
                <a:gridCol w="5486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选出 u（D 最小的未确定点）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D[0]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D[1]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D[2]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D[3]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D[4]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0（D=0）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1（D=2）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2（D=3）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3（D=4）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4（D=7）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3794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红色 = 本轮松弛成功而变小的值；灰色 = 已确定、不会再变。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172200" y="1005840"/>
            <a:ext cx="2514600" cy="3611880"/>
          </a:xfrm>
          <a:prstGeom prst="roundRect">
            <a:avLst>
              <a:gd name="adj" fmla="val 2909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309360" y="10972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轮是关键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281928" y="1389888"/>
            <a:ext cx="2295144" cy="3154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选出 1 之后，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D[1] + W(1,2) = 2 + 1 = 3 &lt; 7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：到 2 的距离从 7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松弛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 3。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直达边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0→2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 7 就此作废，路径改走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0→1→2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轮后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 = [0, 2, 3, 4, 7]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，与程序输出一致。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 · 7.1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图的定义和基本术语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有向 / 无向 / 带权 · 度与路径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连通分量 · 强连通分量 · 生成树 · 网络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 图的定义和基本术语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图比线性结构和树更一般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051560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线性结构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783080" y="1051560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唯一前驱、唯一后继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1618488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618488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783080" y="1618488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唯一前驱、多个后继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185416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185416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783080" y="2185416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前驱和后继的个数都不加限制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834640"/>
            <a:ext cx="475488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按第 1 章的分类：线性结构和树都可以看成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受限的图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57200" y="3246120"/>
            <a:ext cx="4846320" cy="1417320"/>
          </a:xfrm>
          <a:prstGeom prst="roundRect">
            <a:avLst>
              <a:gd name="adj" fmla="val 5161"/>
            </a:avLst>
          </a:prstGeom>
          <a:solidFill>
            <a:srgbClr val="FFF6E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94360" y="3337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一个典型问题：建通信网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" y="3630168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几个城市之间建通信网，使每两个城市都能直接或间接通话，且总造价尽量低。顶点 = 城市，边 = 线路，边旁的数 = 造价 → 在带权图里找一棵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连通全部顶点、边权之和最小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的树：这就是后面的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最小生成树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577840" y="1051560"/>
            <a:ext cx="3108960" cy="3611880"/>
          </a:xfrm>
          <a:prstGeom prst="roundRect">
            <a:avLst>
              <a:gd name="adj" fmla="val 2353"/>
            </a:avLst>
          </a:prstGeom>
          <a:solidFill>
            <a:srgbClr val="F1F4F2"/>
          </a:solidFill>
          <a:ln/>
        </p:spPr>
      </p:sp>
      <p:pic>
        <p:nvPicPr>
          <p:cNvPr id="21" name="Image 0" descr="fig-7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266904"/>
            <a:ext cx="2743200" cy="2678272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577840" y="4160520"/>
            <a:ext cx="31089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7.1  用图描述通信网络（5 个城市）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 图的定义和基本术语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 = ⟨V, E⟩：无向图与有向图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pic>
        <p:nvPicPr>
          <p:cNvPr id="8" name="Image 0" descr="fig-7-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94114" y="1024128"/>
            <a:ext cx="5355771" cy="1371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377440"/>
            <a:ext cx="82296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7.2  (a) 无向图 G₁   (b) 有向图 G₂ —— 本章反复拿这两张图举例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788920"/>
            <a:ext cx="457200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 是顶点的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有穷非空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集合；E 是边的集合，每条边是一对顶点。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无向图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：无序对 (v₁, v₂)，(v₁, v₂) 与 (v₂, v₁) 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同一条边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有向图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：有序对 ⟨v₁, v₂⟩，也叫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弧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；v₁ 是弧尾（起点），v₂ 是弧头（终点）。⟨v₁, v₂⟩ 与 ⟨v₂, v₁⟩ 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两条不同的弧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257800" y="2788920"/>
            <a:ext cx="3429000" cy="1874520"/>
          </a:xfrm>
          <a:prstGeom prst="roundRect">
            <a:avLst>
              <a:gd name="adj" fmla="val 3902"/>
            </a:avLst>
          </a:prstGeom>
          <a:solidFill>
            <a:srgbClr val="FFF6E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0" y="2852928"/>
            <a:ext cx="3246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写成集合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V(G₁) = {v₀, v₁, v₂, v₃, v₄}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E(G₁) = {(v₀,v₂), (v₀,v₃), (v₁,v₃),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     (v₁,v₄), (v₂,v₃), (v₂,v₄)}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V(G₂) = {v₀, v₁, v₂, v₃}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E(G₂) = {⟨v₀,v₁⟩, ⟨v₀,v₂⟩, ⟨v₂,v₃⟩, ⟨v₃,v₀⟩}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 图的定义和基本术语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带权图、边数范围、稀疏与稠密、完全图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493776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边或弧上可以附带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：距离、时间或代价。每条边都带权的图叫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带权图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不考虑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多重边（同一对顶点之间多于一条边）和自环（顶点到自己的边）。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 n = 顶点数、e = 边数。边相对少的叫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稀疏图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，相对多的叫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稠密图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任意两个顶点之间都有边的图叫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完全图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，取到边数的上限。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051560"/>
          <a:ext cx="30175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0116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边数 e 的范围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无向图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~ n(n−1)/2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有向图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~ n(n−1)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669280" y="2377440"/>
            <a:ext cx="3017520" cy="1097280"/>
          </a:xfrm>
          <a:prstGeom prst="roundRect">
            <a:avLst>
              <a:gd name="adj" fmla="val 6667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806440" y="2468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为什么差一倍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806440" y="276148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无向完全图每对顶点之间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；有向完全图每对之间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两条方向相反的弧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57200" y="36118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pic>
        <p:nvPicPr>
          <p:cNvPr id="13" name="Image 0" descr="fig-7-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680906"/>
            <a:ext cx="5852160" cy="91350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583680" y="3749040"/>
            <a:ext cx="201168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7.3  (a) 3 个和 4 个顶点的无向完全图  (b) 顶点数相同的有向完全图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 图的定义和基本术语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子图、邻接、度：入度与出度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pic>
        <p:nvPicPr>
          <p:cNvPr id="8" name="Image 0" descr="fig-7-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59724" y="1005840"/>
            <a:ext cx="6224551" cy="13258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304288"/>
            <a:ext cx="8229600" cy="2377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7.4  图 7.2 的若干子图：(a) 取自无向图 G₁，(b) 取自有向图 G₂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697480"/>
            <a:ext cx="493776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子图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：V′ ⊆ V，E′ ⊆ E，且 E′ 里的边只连 V′ 里的顶点，则 G′ = ⟨V′, E′⟩ 是 G 的子图。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一条边所连的两个顶点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互为邻接点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，这条边与这两个顶点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相关联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。有向图还要分清「邻接到」和「邻接自」。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623560" y="2697480"/>
            <a:ext cx="3063240" cy="1965960"/>
          </a:xfrm>
          <a:prstGeom prst="roundRect">
            <a:avLst>
              <a:gd name="adj" fmla="val 3721"/>
            </a:avLst>
          </a:prstGeom>
          <a:solidFill>
            <a:srgbClr val="FFF6E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760720" y="27706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度（degree）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715000" y="3108960"/>
            <a:ext cx="2880360" cy="1508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与顶点相关联的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有向图分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入度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（指进来的弧）与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出度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（指出去的弧）。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度为 0 的顶点是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孤立点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 图的定义和基本术语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路径、回路与连通分量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822960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：从 u 出发、沿边走到 v 的顶点序列；边数是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路径长度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。有向图必须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顺着弧走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回路（环）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：起点和终点相同、且至少含一条边的路径。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简单路径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：除端点外没有重复顶点的路径。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无向图中任意两点之间都有路径 →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连通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；极大的连通子图叫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连通分量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5669280" cy="2468880"/>
          </a:xfrm>
          <a:prstGeom prst="roundRect">
            <a:avLst>
              <a:gd name="adj" fmla="val 2963"/>
            </a:avLst>
          </a:prstGeom>
          <a:solidFill>
            <a:srgbClr val="F1F4F2"/>
          </a:solidFill>
          <a:ln/>
        </p:spPr>
      </p:sp>
      <p:pic>
        <p:nvPicPr>
          <p:cNvPr id="9" name="Image 0" descr="fig-7-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2613177"/>
            <a:ext cx="5394960" cy="1631646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355080" y="2194560"/>
            <a:ext cx="2331720" cy="2468880"/>
          </a:xfrm>
          <a:prstGeom prst="roundRect">
            <a:avLst>
              <a:gd name="adj" fmla="val 3137"/>
            </a:avLst>
          </a:prstGeom>
          <a:solidFill>
            <a:srgbClr val="FFF6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492240" y="22860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「极大」是什么意思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492240" y="2578608"/>
            <a:ext cx="2057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再添任何一个顶点，子图就不连通了。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7.5：(a) 非连通的无向图 G₃；(b) G₃ 的两个连通分量。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 图的定义和基本术语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有向图：强连通与弱连通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457200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强连通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：任意两点 u、v 都存在 u 到 v 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v 到 u 的有向路径。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弱连通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：只要求把有向边看成无向边后连通。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极大的强连通子图叫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强连通分量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257800" y="1005840"/>
            <a:ext cx="342900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pic>
        <p:nvPicPr>
          <p:cNvPr id="9" name="Image 0" descr="fig-7-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4853" y="1097280"/>
            <a:ext cx="3114893" cy="192024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257800" y="3035808"/>
            <a:ext cx="34290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7.6  G₂ 的两个强连通分量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2743200"/>
            <a:ext cx="4572000" cy="192024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94360" y="283464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读图 7.6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3127248"/>
            <a:ext cx="4352544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左边 {v₀, v₂, v₃}：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v₀→v₂→v₃→v₀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成环，彼此可达。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右边只含 v₁：v₁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只有入弧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，从 v₁ 回不到 v₀。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 G₂ 本身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不是强连通的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——但把弧看成无向边后它是连通的，即弱连通。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257800" y="3520440"/>
            <a:ext cx="3429000" cy="1143000"/>
          </a:xfrm>
          <a:prstGeom prst="roundRect">
            <a:avLst>
              <a:gd name="adj" fmla="val 6400"/>
            </a:avLst>
          </a:prstGeom>
          <a:solidFill>
            <a:srgbClr val="CFE0D8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0" y="361188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对照无向图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394960" y="3904488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连通分量 ↔ 强连通分量；度 ↔ 入度/出度；边 ↔ 弧。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 图的定义和基本术语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生成树、自由树与网络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76072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pic>
        <p:nvPicPr>
          <p:cNvPr id="8" name="Image 0" descr="fig-7-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011973"/>
            <a:ext cx="5486400" cy="140505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395728"/>
            <a:ext cx="5760720" cy="2377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7.7  G₁ 和 G₂ 的一棵生成树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697480"/>
            <a:ext cx="576072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：包含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全部顶点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、有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n−1 条边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、因而没有环的连通子图。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生成树上再加一条边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必成环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；边数少于 n−1 则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必不连通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不带简单回路的连通无向图叫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自由树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，同样有 n−1 条边。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带权的连通图叫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网络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。边权之和最小的生成树就是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最小生成树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有向图里：只有一个顶点入度为 0、其余入度均为 1 的叫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有向树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；弧互不相交、顶点合起来是全图的若干棵有向树构成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生成森林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（图 7.9）。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446520" y="960120"/>
            <a:ext cx="2240280" cy="2514600"/>
          </a:xfrm>
          <a:prstGeom prst="roundRect">
            <a:avLst>
              <a:gd name="adj" fmla="val 3265"/>
            </a:avLst>
          </a:prstGeom>
          <a:solidFill>
            <a:srgbClr val="F1F4F2"/>
          </a:solidFill>
          <a:ln/>
        </p:spPr>
      </p:sp>
      <p:pic>
        <p:nvPicPr>
          <p:cNvPr id="12" name="Image 1" descr="fig-7-8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1418" y="1024128"/>
            <a:ext cx="1590484" cy="21031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46520" y="3154680"/>
            <a:ext cx="224028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7.8  网络实例 G₄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446520" y="3611880"/>
            <a:ext cx="2240280" cy="1051560"/>
          </a:xfrm>
          <a:prstGeom prst="roundRect">
            <a:avLst>
              <a:gd name="adj" fmla="val 6957"/>
            </a:avLst>
          </a:prstGeom>
          <a:solidFill>
            <a:srgbClr val="FDF0EE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6583680" y="370332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别混淆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6583680" y="3995928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最短路的「短」是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边权总和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最小，不一定是边数最少。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 · 选算法之前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先分清题目：前提决定算法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011680"/>
                <a:gridCol w="329184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题目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前提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从一个点能走到哪些点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任意图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DFS 或 BFS 的访问序列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课程或任务的可行顺序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有向无环图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拓扑序；</a:t>
                      </a: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有环则无解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一个源点到各点的最短路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边权非负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Dijkstra 的距离数组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任意两点最短路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顶点数较小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Floyd 的距离矩阵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连通所有点且总权最小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无向连通图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Prim 或 Kruskal 的边集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65760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7490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读这张表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041648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每一行的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前提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一栏就是算法成立的条件：负权边上 Dijkstra 不成立；有环的图没有拓扑序；非连通图没有生成树。本章实现把这些「不满足前提」的情况都做成了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可预期的返回值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或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拒绝建图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 · 7.2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图的抽象数据类型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先说清对外提供哪些运算，再谈怎么存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顶点没有次序 · 边游标 · 接口约定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7.2 图的抽象数据类型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图的顶点之间本来没有次序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51206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逻辑上，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任何一个顶点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都可以当「第一个」；一个顶点的若干邻接点之间也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没有先后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一旦按某种存储结构建起来，次序就被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存储结构定死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了：</a:t>
            </a:r>
            <a:endParaRPr lang="en-US" sz="1250" dirty="0"/>
          </a:p>
          <a:p>
            <a:pPr lvl="1" marL="3556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邻接矩阵里的次序是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列号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250" dirty="0"/>
          </a:p>
          <a:p>
            <a:pPr lvl="1" marL="3556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邻接表里的次序是链表的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插入次序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所以下文的「第一条边」「下一条边」都是存储结构给出的次序，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不是图本身的性质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806440" y="1005840"/>
            <a:ext cx="2880360" cy="2697480"/>
          </a:xfrm>
          <a:prstGeom prst="roundRect">
            <a:avLst>
              <a:gd name="adj" fmla="val 2712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89320" y="10972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推论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989320" y="141732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同一张图换个存法，DFS 的访问序列就可能不同。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989320" y="26517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序列不同不是算法不同，是边表次序不同。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8404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39319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本书怎么钉死这点不确定性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4224528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 节把两种存储结构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逐项对拍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：同一张图、同样的建图次序，两种实现必须给出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同一个序列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7.2 · 原书【代码7.1】（修掉 OCR 断字后）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原书把运算列成一个抽象类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011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Graph {             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图的抽象数据类型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 VerticesNum();      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返回图的顶点个数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 EdgesNum();         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返回图的边数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Edge FirstEdge(int oneVertex);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返回依附于顶点 oneVertex 的第一条边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Edge NextEdge(Edge preEdge);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返回与 preEdge 有相同顶点的下一条边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bool setEdge(int fromVertex, int toVertex, int weight);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添加边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bool delEdge(int fromVertex, int toVertex);    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删除边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bool IsEdge(Edge oneEdge);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oneEdge 是否是边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 FromVertex(Edge oneEdge);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返回 oneEdge 的始点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 ToVertex(Edge oneEdge);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返回 oneEdge 的终点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 Weight(Edge oneEdge);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返回 oneEdge 的权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15468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真正的设计决定是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Edge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：不把邻居整个交出去，而是给一对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游标运算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，上层算法写成——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3520440"/>
            <a:ext cx="8229600" cy="384048"/>
          </a:xfrm>
          <a:prstGeom prst="roundRect">
            <a:avLst>
              <a:gd name="adj" fmla="val 19048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30352" y="3566160"/>
            <a:ext cx="8083296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(Edge e = G.FirstEdge(v); G.IsEdge(e); e = G.NextEdge(e)) { /* 处理 e */ }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4023360"/>
            <a:ext cx="4023360" cy="658368"/>
          </a:xfrm>
          <a:prstGeom prst="roundRect">
            <a:avLst>
              <a:gd name="adj" fmla="val 11111"/>
            </a:avLst>
          </a:prstGeom>
          <a:solidFill>
            <a:srgbClr val="EAF4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4023360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好处：DFS、拓扑、Dijkstra 只依赖这四个运算，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不依赖矩阵还是链表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63440" y="4023360"/>
            <a:ext cx="4023360" cy="658368"/>
          </a:xfrm>
          <a:prstGeom prst="roundRect">
            <a:avLst>
              <a:gd name="adj" fmla="val 11111"/>
            </a:avLst>
          </a:prstGeom>
          <a:solidFill>
            <a:srgbClr val="FDF0E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773168" y="4023360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代价：换存法就要重写游标；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IsEdge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兼任「是不是边」和「游标到头」两种含义。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7.2 · 原书【代码7.2】的可复核问题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基类实现为什么不能照抄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02920" y="1088136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02920" y="10881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960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裸数组没有复制控制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108960" y="96012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Indegree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在构造里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、只在析构里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delete[]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，没有拷贝构造和赋值运算符 → 按值传一次图就会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二次释放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1764792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02920" y="17647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1636776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数据成员是 public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3108960" y="163677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numVertex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numEdge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谁都能改坏。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" y="2441448"/>
            <a:ext cx="365760" cy="36576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02920" y="2441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2313432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权为 0 的边「不存在」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3108960" y="23134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IsEdge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用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oneEdge.weight &gt; 0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判断边是否存在 →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权为 0 的合法边被判成不存在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02920" y="3118104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02920" y="3118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299008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OCR 断字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3108960" y="2990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标识符被空格切断（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 Vertex = num Vert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），不是可编译的 C++。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74904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4360" y="38404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本书的做法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413308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不复刻这个抽象基类，直接把运算定义在两个可运行的类上：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（邻接矩阵，code/ch07/graph）和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GraphList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（邻接表，code/ch07/adjacency_list）。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7.2 图的抽象数据类型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原书运算 → 本书写法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103120"/>
                <a:gridCol w="41148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原书运算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干什么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本书写法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Graph(int numVert)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指定顶点数建一张空图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Graph::Graph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、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GraphList::GraphList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VerticesNum()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返回顶点个数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Graph::vertices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、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GraphList::vertices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setEdge(f, t, w)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添加一条边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add_edge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（末参选有向/无向）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IsEdge(e) / Weight(e)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问某条边在不在、权多少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矩阵直接读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adjacency_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；邻接表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weight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无边返回空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FirstEdge / NextEdge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逐条走一个顶点的出边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矩阵扫一行；邻接表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neighbors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返回边表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周游、拓扑、最短路、MST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dfs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bfs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topological_sort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dijkstra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floyd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prim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kruskal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70332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7947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为什么没有 delEdge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08736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后面七个算法都不删边。凭空加一个没有测试覆盖的运算，只会多一处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无人验证的代码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；需要时按 D-001 的规矩补，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连测试一起补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7.2 · 贯穿全章的接口约定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「有环」「不连通」不是异常，是可预期的结果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3949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097280"/>
                <a:gridCol w="219456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情况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性质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接口怎么表达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图里有环 → 没有拓扑序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可预期结果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topological_sort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返回空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optional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图不连通 → 没有生成树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可预期结果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prim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、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kruskal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返回空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optional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两点之间没有边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可预期结果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GraphList::weight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返回空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顶点下标越界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用法错误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抛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std::out_of_range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负权边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用法错误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抛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std::invalid_argument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权 ≥ infinity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用法错误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抛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std::invalid_argument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931920"/>
            <a:ext cx="5394960" cy="731520"/>
          </a:xfrm>
          <a:prstGeom prst="roundRect">
            <a:avLst>
              <a:gd name="adj" fmla="val 10000"/>
            </a:avLst>
          </a:prstGeom>
          <a:solidFill>
            <a:srgbClr val="FDF0E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40233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已知风险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31596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全部七个算法用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邻接矩阵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实现；DFS 仍是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写法，深图有栈溢出风险。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080760" y="96012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FDF0EE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217920" y="10515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为什么大权也要拒绝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217920" y="1344168"/>
            <a:ext cx="2331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infinity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在矩阵里兼任「无边」。这么大的权若被收下，后面所有算法都会把它当成没有边，而且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一声不吭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080760" y="292608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217920" y="30175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原书的做法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217920" y="3310128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把这些情况打印到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。容器里做输出，调用者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既拿不到结果也没法测试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 · 7.3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图的存储结构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相邻矩阵 · 邻接表 · 十字链表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换存储方式不该换答案，只该换代价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7.3.1 相邻矩阵（邻接矩阵）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不带权：A[i, j] = 1 表示 (vᵢ, vⱼ) ∈ 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(a) 无向图 G₁</a:t>
            </a:r>
            <a:endParaRPr lang="en-US" sz="1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384048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594360"/>
                <a:gridCol w="594360"/>
                <a:gridCol w="594360"/>
                <a:gridCol w="594360"/>
                <a:gridCol w="5943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A(G₁)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v₄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v₄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4709160" y="9601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(b) 有向图 G₂</a:t>
            </a:r>
            <a:endParaRPr lang="en-US" sz="1200" dirty="0"/>
          </a:p>
        </p:txBody>
      </p:sp>
      <p:graphicFrame>
        <p:nvGraphicFramePr>
          <p:cNvPr id="4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09160" y="1280160"/>
          <a:ext cx="32461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594360"/>
                <a:gridCol w="594360"/>
                <a:gridCol w="594360"/>
                <a:gridCol w="5943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A(G₂)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457200" y="3520440"/>
            <a:ext cx="3977640" cy="1143000"/>
          </a:xfrm>
          <a:prstGeom prst="roundRect">
            <a:avLst>
              <a:gd name="adj" fmla="val 6400"/>
            </a:avLst>
          </a:prstGeom>
          <a:solidFill>
            <a:srgbClr val="CFE0D8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594360" y="36118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无向图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594360" y="3904488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一定对称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；顶点 vᵢ 的度 = 第 i 行（或第 i 列）之和。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4709160" y="3520440"/>
            <a:ext cx="3977640" cy="1143000"/>
          </a:xfrm>
          <a:prstGeom prst="roundRect">
            <a:avLst>
              <a:gd name="adj" fmla="val 6400"/>
            </a:avLst>
          </a:prstGeom>
          <a:solidFill>
            <a:srgbClr val="FFF6E0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846320" y="36118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有向图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4846320" y="3904488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不一定对称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；第 i 行之和是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出度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，第 i 列之和是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入度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。例：v₀ 出度 2、入度 1。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7.3.1 相邻矩阵 · 带权图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带权图把 1 换成权值，无边记 ∞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35661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685800"/>
                <a:gridCol w="685800"/>
                <a:gridCol w="685800"/>
                <a:gridCol w="685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A(G₄)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v₀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v₁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v₂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v₃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v₀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15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v₁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v₂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v₃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15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251960" y="1005840"/>
            <a:ext cx="1554480" cy="192024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pic>
        <p:nvPicPr>
          <p:cNvPr id="9" name="Image 0" descr="fig-7-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43400" y="1059117"/>
            <a:ext cx="1371600" cy="181368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7200" y="30175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7.11  G₄ 及其相邻矩阵：对角线是 0（到自己的距离为 0）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6035040" y="1005840"/>
            <a:ext cx="2651760" cy="2286000"/>
          </a:xfrm>
          <a:prstGeom prst="roundRect">
            <a:avLst>
              <a:gd name="adj" fmla="val 3200"/>
            </a:avLst>
          </a:prstGeom>
          <a:solidFill>
            <a:srgbClr val="FDF0EE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172200" y="10972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为什么不用 0 表示无边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6172200" y="1389888"/>
            <a:ext cx="2377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权为 0 的边是合法的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，用 0 兼任「无边」会把它误判掉——这正是原书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IsEdge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 bug。本书用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infinity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表示无边。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57200" y="3429000"/>
            <a:ext cx="822960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640080" y="35021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594360" y="3794760"/>
            <a:ext cx="795528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O(V²)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，无论实际有多少条边；查询两点是否相邻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扫描一个顶点的全部邻居要扫完整行，遍历全图通常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O(V²)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适合稠密图，以及 Floyd、Prim 这类频繁随机访问矩阵元素的算法。</a:t>
            </a:r>
            <a:endParaRPr lang="en-US" sz="11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7.3.1 · code/ch07/graph/modern.hpp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Graph：构造与 add_edge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Graph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邻接矩阵里的「无边」。边权必须满足 0 &lt;= weight &lt; infinity。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constexpr int infinity = std::numeric_limits&lt;int&gt;::max() / 4;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explicit Graph(std::size_t count) : adjacency_(count, std::vector&lt;int&gt;(count, infinity))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vertex = 0; vertex &lt; count; ++vertex)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adjacency_[vertex][vertex] = 0;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std::size_t vertices() const noexcept { return adjacency_.size();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add_edge(std::size_t from, std::size_t to, int weight, bool directed = true)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check_vertex(from);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check_vertex(to);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(weight &lt; 0)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std::invalid_argument("negative edge");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(weight &gt;= infinity) {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infinity 表示「无边」，这么大的权存进去就被当成没有边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std::invalid_argument("edge weight must be below Graph::infinity");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adjacency_[from][to] = weight;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(!directed)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adjacency_[to][from] = weight;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7.3.2 邻接表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每个顶点挂一张出边表，只存实际存在的边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75488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pic>
        <p:nvPicPr>
          <p:cNvPr id="8" name="Image 0" descr="fig-7-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11936"/>
            <a:ext cx="4572000" cy="15240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560320"/>
            <a:ext cx="475488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7.12  无向图 G₁ 的邻接表表示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5394960" y="960120"/>
            <a:ext cx="329184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顶点数组的每一项挂一条链，链上是它的邻接点。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无向图里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一条边出现两次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边表结点共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有向图的一条弧只出现一次，vᵢ 的边表长度就是它的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出度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——所以也叫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出边表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57200" y="2971800"/>
            <a:ext cx="822960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pic>
        <p:nvPicPr>
          <p:cNvPr id="12" name="Image 1" descr="fig-7-1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065367"/>
            <a:ext cx="5760720" cy="113874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48640" y="427939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7.14  带权图 G₄ 的邻接表：边表结点多存一个权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6446520" y="3108960"/>
            <a:ext cx="2103120" cy="1417320"/>
          </a:xfrm>
          <a:prstGeom prst="roundRect">
            <a:avLst>
              <a:gd name="adj" fmla="val 5161"/>
            </a:avLst>
          </a:prstGeom>
          <a:solidFill>
            <a:srgbClr val="FFF6E0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658368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对应代码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6583680" y="3493008"/>
            <a:ext cx="1828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GraphList::Edge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weight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就是图 7.14 边表结点的两个域。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7.3.2 邻接表 · 逆邻接表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想知道入度？把弧记在弧头那一侧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148840"/>
          </a:xfrm>
          <a:prstGeom prst="roundRect">
            <a:avLst>
              <a:gd name="adj" fmla="val 3404"/>
            </a:avLst>
          </a:prstGeom>
          <a:solidFill>
            <a:srgbClr val="F1F4F2"/>
          </a:solidFill>
          <a:ln/>
        </p:spPr>
      </p:sp>
      <p:pic>
        <p:nvPicPr>
          <p:cNvPr id="8" name="Image 0" descr="fig-7-1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27268"/>
            <a:ext cx="7863840" cy="1822521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834640"/>
            <a:ext cx="82296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7.13  有向图 G₂ 的 (a) 邻接表与 (b) 逆邻接表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57200" y="329184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4360" y="33832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邻接表（出边表）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3675888"/>
            <a:ext cx="3703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vᵢ 的边表长度 =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出度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。想知道入度就得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扫遍整张表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709160" y="329184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CFE0D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46320" y="33832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逆邻接表（入边表）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846320" y="3675888"/>
            <a:ext cx="3703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把每条弧记在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弧头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那一侧；vᵢ 的边表长度 =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入度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——7.4.3 节拓扑排序要的正是入度。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7.3.2 邻接表 · 代价对照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代价随之全变：没有哪种表示法总是更好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54864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463040"/>
                <a:gridCol w="182880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邻接矩阵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邻接表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存储量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V²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E9E6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 + E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遍历某点的邻居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O(V)，要扫过整行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E9E6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O(deg v)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问「(u, v) 之间有没有边」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E9E6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O(1)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O(deg u)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DFS / BFS 全图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O(V²)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E9E6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O(V + E)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Dijkstra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O(V²)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O((V+E) log V)（配二叉堆）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172200" y="1005840"/>
            <a:ext cx="2514600" cy="2651760"/>
          </a:xfrm>
          <a:prstGeom prst="roundRect">
            <a:avLst>
              <a:gd name="adj" fmla="val 2909"/>
            </a:avLst>
          </a:prstGeom>
          <a:solidFill>
            <a:srgbClr val="FDF0E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309360" y="10972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注意第三行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309360" y="1389888"/>
            <a:ext cx="2240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邻接表在这一项上是吃亏的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：要在 u 的边表里一条条找。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这正是本节要比较的东西——稠密图或频繁问「这两点之间有没有边」时，矩阵反而合适。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57200" y="379476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94360" y="3886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换存储方式不该换答案，只该换代价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4178808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code/ch07/graph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（矩阵）与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code/ch07/adjacency_list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（邻接表）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逐项对拍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：同一张图上 DFS/BFS 序列、拓扑序、Dijkstra 距离向量必须完全相同，外加 30 轮随机图对拍。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7.3.2 · code/ch07/adjacency_list/modern.hpp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neighbors / weight / 两个教学计数器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8521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70585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某个顶点的边表。邻接表的核心能力：拿到邻居不必扫过不存在的边。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const std::vector&lt;Edge&gt;&amp; neighbors(std::size_t vertex) const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check_vertex(vertex);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adjacency_[vertex];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std::optional&lt;int&gt; weight(std::size_t from, std::size_t to) const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check_vertex(from);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check_vertex(to);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(const Edge&amp; edge : adjacency_[from])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++scanned_;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(edge.to == to)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edge.weight;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std::nullopt;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没有这条边是预期状态，不是错误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存储量（按「一个整数算一格」计）。对照矩阵的 $V^2$，稀疏图上差距一目了然。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std::size_t storage_cells() const noexcept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vertices() + edge_entries() * 2;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每条边存 to 和 weight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492240" y="960120"/>
            <a:ext cx="219456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1051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weight：O(deg u)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1344168"/>
            <a:ext cx="1920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要在 from 的边表里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逐条找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——代价表第三行那个「吃亏」就在这里。没有这条边返回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92240" y="2788920"/>
            <a:ext cx="2194560" cy="1874520"/>
          </a:xfrm>
          <a:prstGeom prst="roundRect">
            <a:avLst>
              <a:gd name="adj" fmla="val 3902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28803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量出来，不是推出来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3172968"/>
            <a:ext cx="1920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scanned_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统计检查过多少条边；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storage_cells()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按 V + 2E 计存储量。后面的实测就靠这两个计数器。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7.3.2 邻接表 · 周游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周游时的差别：矩阵扫整行，邻接表只走边表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577840" cy="3291840"/>
          </a:xfrm>
          <a:prstGeom prst="roundRect">
            <a:avLst>
              <a:gd name="adj" fmla="val 222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431536" cy="3200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std::vector&lt;std::size_t&gt; bfs(std::size_t source) const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check_vertex(source);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std::vector&lt;bool&gt; seen(vertices());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std::queue&lt;std::size_t&gt; pending;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std::vector&lt;std::size_t&gt; result;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pending.push(source);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seen[source] = true;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(!pending.empty())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from = pending.front();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pending.pop();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result.push_back(from);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(const Edge&amp; edge : adjacency_[from]) {  </a:t>
            </a:r>
            <a:r>
              <a:rPr lang="en-US" sz="9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矩阵版这里要扫 V 格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++scanned_;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(!seen[edge.to])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seen[edge.to] = true;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pending.push(edge.to);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result;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29768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GraphList::bfs（adjacency_list/modern.hpp）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263640" y="960120"/>
            <a:ext cx="242316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0" y="102412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矩阵版 Graph::bfs 的内层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355080" y="1325880"/>
            <a:ext cx="224028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28232" y="1371600"/>
            <a:ext cx="2093976" cy="1143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(std::size_t to =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to &lt; vertices(); ++to)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(adjacency_[from][to]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&lt; infinity &amp;&amp; ...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263640" y="2834640"/>
            <a:ext cx="2423160" cy="18288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0" y="29260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其余一模一样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3218688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队列、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seen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、出队顺序都不变——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只有找邻居的方式变了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。每出队一个顶点：矩阵扫 V 格，邻接表走 deg 条边。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7.3.2 · 实测 code/ch07/adjacency_list/demo.cpp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存储差三百多倍，BFS 的检查次数差约 1000 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2240280"/>
          </a:xfrm>
          <a:prstGeom prst="roundRect">
            <a:avLst>
              <a:gd name="adj" fmla="val 3265"/>
            </a:avLst>
          </a:prstGeom>
          <a:solidFill>
            <a:srgbClr val="1B2B2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1216152"/>
            <a:ext cx="5175504" cy="1929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稀疏图 V=1000, E=999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邻接表存储 2998 格   ← 随 V+E 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邻接矩阵存储 1000000 格 ← V*V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BFS 走遍 1000 个顶点，只检查了 999 条边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邻接矩阵的 BFS 要扫 1000000 格（每出队一个顶点扫一整行）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从 0 出发的最短距离: 0 7 9 20 20 11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最小生成树 5 条边，总权 33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3383280"/>
            <a:ext cx="2606040" cy="1280160"/>
          </a:xfrm>
          <a:prstGeom prst="roundRect">
            <a:avLst>
              <a:gd name="adj" fmla="val 5714"/>
            </a:avLst>
          </a:prstGeom>
          <a:solidFill>
            <a:srgbClr val="EAF4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343814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37033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2,998 : 1,000,000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41605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≈ 334 倍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246120" y="3383280"/>
            <a:ext cx="2606040" cy="1280160"/>
          </a:xfrm>
          <a:prstGeom prst="roundRect">
            <a:avLst>
              <a:gd name="adj" fmla="val 5714"/>
            </a:avLst>
          </a:prstGeom>
          <a:solidFill>
            <a:srgbClr val="EAF4E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83280" y="343814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BFS 检查次数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383280" y="37033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999 : 1,000,000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383280" y="41605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≈ 1000 倍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080760" y="96012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153912" y="1005840"/>
            <a:ext cx="2459736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V=1000 的链：E = V-1，典型稀疏图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GraphList sparse(n);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(v = 0; v + 1 &lt; n; ++v)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sparse.add_edge(v, v + 1, 1);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sparse.reset_scan_steps();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 order = sparse.bfs(0);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sparse.scan_steps();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999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sparse.storage_cells();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2998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后半段：6 顶点例子 dijkstra/prim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6080760" y="3017520"/>
            <a:ext cx="2606040" cy="1645920"/>
          </a:xfrm>
          <a:prstGeom prst="roundRect">
            <a:avLst>
              <a:gd name="adj" fmla="val 4444"/>
            </a:avLst>
          </a:prstGeom>
          <a:solidFill>
            <a:srgbClr val="FDF0E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217920" y="31089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稠密图上差距消失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0" y="3401568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 接近 V² 时，V + E 也就是 V²，而矩阵还省掉了存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的那一半空间。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7.3.2 邻接表 · Dijkstra 最小堆版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差别最大的一处：找最近顶点交给堆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76072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61441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std::vector&lt;distance_type&gt; dijkstra(std::size_t source) const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check_vertex(source);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std::vector&lt;distance_type&gt; distance(vertices(), unreachable);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distance[source] =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using Item = std::pair&lt;distance_type, std::size_t&gt;;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(当前距离, 顶点)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std::priority_queue&lt;Item, std::vector&lt;Item&gt;, std::greater&lt;Item&gt;&gt; heap;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heap.emplace(0, source);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(!heap.empty())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auto [dist, from] = heap.top();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heap.pop();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(dist &gt; distance[from])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continue;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堆里的旧条目，已经被更短的路径取代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(const Edge&amp; edge : adjacency_[from])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++scanned_;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const distance_type relaxed = dist + edge.weight;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(relaxed &lt; distance[edge.to])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distance[edge.to] = relaxed;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heap.emplace(relaxed, edge.to);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distance;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400800" y="960120"/>
            <a:ext cx="2286000" cy="1600200"/>
          </a:xfrm>
          <a:prstGeom prst="roundRect">
            <a:avLst>
              <a:gd name="adj" fmla="val 4571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37960" y="10515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O((V+E) log V)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1344168"/>
            <a:ext cx="2011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「找最近顶点」由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最小堆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负责，「松弛」只走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实际存在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的边。稀疏图上这才是该用的组合。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0" y="2697480"/>
            <a:ext cx="228600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37960" y="27889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懒删除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3081528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同一顶点可能多次入堆；弹出的距离比已记录的大，说明是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旧条目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，直接跳过。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0" y="4069080"/>
            <a:ext cx="2286000" cy="594360"/>
          </a:xfrm>
          <a:prstGeom prst="roundRect">
            <a:avLst>
              <a:gd name="adj" fmla="val 12308"/>
            </a:avLst>
          </a:prstGeom>
          <a:solidFill>
            <a:srgbClr val="1E3D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92240" y="4069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矩阵版是 O(V²)：复杂度由「算法 + 存储」一起决定</a:t>
            </a:r>
            <a:endParaRPr lang="en-US" sz="9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7.3.3 十字链表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一条弧，同时挂在「同尾」和「同头」两条链上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4572000" cy="3657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邻接表只沿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出边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组织；还要频繁查「哪些边指向这个顶点」，就得另存一份逆邻接表。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十字链表把两种方向接在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同一个弧结点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上：</a:t>
            </a:r>
            <a:endParaRPr lang="en-US" sz="1200" dirty="0"/>
          </a:p>
          <a:p>
            <a:pPr lvl="1" marL="355600" indent="-1778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tailnextarc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串起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同一尾点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的出边；</a:t>
            </a:r>
            <a:endParaRPr lang="en-US" sz="1200" dirty="0"/>
          </a:p>
          <a:p>
            <a:pPr lvl="1" marL="355600" indent="-1778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headnextarc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串起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同一头点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的入边；</a:t>
            </a:r>
            <a:endParaRPr lang="en-US" sz="1200" dirty="0"/>
          </a:p>
          <a:p>
            <a:pPr lvl="1" marL="3556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顶点同时保存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firstoutarc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firstinarc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每条弧只分配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结点，遍历出边 O(deg⁺(v))、入边 O(deg⁻(v))，空间 O(V + E)。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257800" y="1005840"/>
            <a:ext cx="342900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pic>
        <p:nvPicPr>
          <p:cNvPr id="9" name="Image 0" descr="fig-7-1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1249176"/>
            <a:ext cx="3154680" cy="161644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257800" y="3063240"/>
            <a:ext cx="34290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7.15  有向图的十字链表示例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257800" y="3566160"/>
            <a:ext cx="3429000" cy="1097280"/>
          </a:xfrm>
          <a:prstGeom prst="roundRect">
            <a:avLst>
              <a:gd name="adj" fmla="val 6667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0" y="365760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 / 代价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394960" y="3950208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同时维护入度和出度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的有向图（拓扑排序、依赖图）。代价：插删必须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同时维护两条链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；只沿出边走的程序用邻接表更简单。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7.3.3 · orthogonal_graph/teaching.hpp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原书式教学实现：一个结点、两次挂接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84632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700016" cy="1783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ArcBox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tailvex;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弧尾 u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headvex;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弧头 v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ArcBox* tailnextarc;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下一条同尾弧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ArcBox* headnextarc;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下一条同头弧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info;     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权值或其他边属性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VexNode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ArcBox* firstin = nullptr;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第一条指向本顶点的弧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ArcBox* firstout = nullptr;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第一条从本顶点出发的弧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2926080"/>
            <a:ext cx="489204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2971800"/>
            <a:ext cx="4745736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add_edge(std::size_t tail, std::size_t head, int info = 1)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check_vertex(tail);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check_vertex(head);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auto* arc = new ArcBox{tail, head, vertices_[tail].firstout,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vertices_[head].firstin, info};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vertices_[tail].firstout = arc;  </a:t>
            </a:r>
            <a:r>
              <a:rPr lang="en-US" sz="9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接进 tail 的出边链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vertices_[head].firstin = arc;   </a:t>
            </a:r>
            <a:r>
              <a:rPr lang="en-US" sz="9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同一结点接进 head 的入边链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++arc_count_;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532120" y="960120"/>
            <a:ext cx="3154680" cy="2514600"/>
          </a:xfrm>
          <a:prstGeom prst="roundRect">
            <a:avLst>
              <a:gd name="adj" fmla="val 2909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0" y="105156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读法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41848" y="1344168"/>
            <a:ext cx="2935224" cy="2057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前两个域说明「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哪条弧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」，后两个域说明它在两条链中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各接向哪里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firstin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firstout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指向的可以是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ArcBox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，没有第二份边结点。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表头插入：最新插入的弧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先被遍历到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532120" y="3611880"/>
            <a:ext cx="3154680" cy="1051560"/>
          </a:xfrm>
          <a:prstGeom prst="roundRect">
            <a:avLst>
              <a:gd name="adj" fmla="val 6957"/>
            </a:avLst>
          </a:prstGeom>
          <a:solidFill>
            <a:srgbClr val="FDF0E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0" y="370332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释放只沿出链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0" y="3995928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每条弧恰好属于一个尾点；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绝不能再沿入链释放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。教学版还删除了复制构造与赋值。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7.3.3 十字链表 · 把一条弧拆开看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读的是同一批弧结点，走的是两条不同的 next 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9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291840"/>
                <a:gridCol w="310896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回答的问题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沿它走时保持不变的顶点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tailvex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这条弧从哪里出发？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弧尾，即出边表所属顶点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headvex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这条弧指向哪里？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弧头，即入边表所属顶点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tailnextarc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同一个尾点还有哪条下一弧？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tailvex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相同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headnextarc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同一个头点还有哪条下一弧？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headvex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相同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info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权值、容量或其他边属性？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不参与两条链的连接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3017520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例：依次插入 0→1、0→2、3→2。不管新弧接在表头还是表尾，两个查询的逻辑都如下表；差别只在读出先后：本节实现是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表头插入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，实际依次读到 2、1 和 3、0（表中是表尾插入的次序）。</a:t>
            </a:r>
            <a:endParaRPr lang="en-US" sz="1050" dirty="0"/>
          </a:p>
        </p:txBody>
      </p:sp>
      <p:graphicFrame>
        <p:nvGraphicFramePr>
          <p:cNvPr id="7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7472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828800"/>
                <a:gridCol w="2194560"/>
                <a:gridCol w="1737360"/>
                <a:gridCol w="128016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查询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起点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读取字段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下一步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得到的顶点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 的出边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firstoutarc[0]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每个结点的 </a:t>
                      </a:r>
                      <a:r>
                        <a:rPr lang="en-US" sz="11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headvex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tailnextarc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1、2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的入边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firstinarc[2]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每个结点的 </a:t>
                      </a:r>
                      <a:r>
                        <a:rPr lang="en-US" sz="11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tailvex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headnextarc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0、3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7.3.3 · orthogonal_graph/modern.hpp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现代实现：所有权集中，双链仍显式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add_edge(std::size_t tail, std::size_t head, int info = 1)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check_vertex(tail);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check_vertex(head);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(find_arc(tail, head))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std::invalid_argument("duplicate edge");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auto owned = std::make_unique&lt;Arc&gt;(tail, head, info);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Arc* arc = owned.get();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arc-&gt;tailnextarc = vertices_[tail].firstout;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vertices_[tail].firstout = arc;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arc-&gt;headnextarc = vertices_[head].firstin;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vertices_[head].firstin = arc;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arcs_.push_back(std::move(owned));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080760" y="960120"/>
            <a:ext cx="2606040" cy="2514600"/>
          </a:xfrm>
          <a:prstGeom prst="roundRect">
            <a:avLst>
              <a:gd name="adj" fmla="val 2909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17920" y="10515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谁拥有弧结点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344168"/>
            <a:ext cx="23317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arcs_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unique_ptr&lt;Arc&gt;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 vector）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集中拥有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每个弧结点；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firstin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firstout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tailnextarc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headnextarc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仍是裸的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非拥有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链接——双链的形状没有被智能指针藏掉。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6758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插入仍是与教学版相同的两次挂接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9776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tailnextarc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接住旧出链表头，再改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firstout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headnextarc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接住旧入链表头，再改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firstin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；最后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owned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移入唯一所有者表。重复边抛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invalid_argument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7.3.3 · orthogonal_graph/modern.hpp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remove_edge：两条链各摘一次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5778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43153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 remove_edge(std::size_t tail, std::size_t head)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check_vertex(tail);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check_vertex(head);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Arc** out_link = &amp;vertices_[tail].firstout;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(*out_link &amp;&amp; (*out_link)-&gt;head != head)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out_link = &amp;(*out_link)-&gt;tailnextarc;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(!*out_link)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false;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Arc* victim = *out_link;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*out_link = victim-&gt;tailnextarc;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Arc** in_link = &amp;vertices_[head].firstin;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(*in_link != victim)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in_link = &amp;(*in_link)-&gt;headnextarc;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*in_link = victim-&gt;headnextarc;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arcs_.erase(std::remove_if(arcs_.begin(), arcs_.end(),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[victim](const std::unique_ptr&lt;Arc&gt;&amp; owned)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return owned.get() == victim;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}),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arcs_.end());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true;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63640" y="1060704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63640" y="10607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75120" y="100584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出链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675120" y="12344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在尾点出链找到 victim 并摘下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63640" y="1627632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63640" y="16276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675120" y="157276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入链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675120" y="180136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在头点入链找到同一地址并摘下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263640" y="2194560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263640" y="2194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675120" y="2139696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675120" y="23682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arcs_ 移除唯一所有者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263640" y="2788920"/>
            <a:ext cx="2423160" cy="1874520"/>
          </a:xfrm>
          <a:prstGeom prst="roundRect">
            <a:avLst>
              <a:gd name="adj" fmla="val 3902"/>
            </a:avLst>
          </a:prstGeom>
          <a:solidFill>
            <a:srgbClr val="FDF0E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00800" y="28803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只摘一条会怎样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0" y="3172968"/>
            <a:ext cx="2148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「从 u 出发」可能仍正确，但统计 v 的入度或反向遍历时会读到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陈旧链接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——访问已释放结点。</a:t>
            </a:r>
            <a:endParaRPr lang="en-US" sz="10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4 · 7.4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图的周游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每个顶点访问且只访问一次：靠 seen 数组防止绕回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深度优先 DFS · 广度优先 BFS · 拓扑排序（顺便检测环）</a:t>
            </a:r>
            <a:endParaRPr lang="en-US" sz="13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7.4.1 深度优先周游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DFS：树的先根次序周游的推广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进入一个顶点就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立刻标记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已访问，再沿编号从小到大的出边递归下去；某个顶点的邻接点都访问过了，就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回退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到上一个顶点，换一条没走过的边继续。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384048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pic>
        <p:nvPicPr>
          <p:cNvPr id="9" name="Image 0" descr="fig-7-1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52171"/>
            <a:ext cx="3566160" cy="1707739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57200" y="3474720"/>
            <a:ext cx="3840480" cy="2377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7.16  有向图 G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526280" y="1673352"/>
            <a:ext cx="274320" cy="27432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26280" y="16733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892040" y="164592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 v₀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6355080" y="164592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唯一的邻接点是 v₁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526280" y="2039112"/>
            <a:ext cx="274320" cy="27432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526280" y="20391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4892040" y="201168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 v₁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355080" y="20116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边表里 v₂ 排在 v₃ 前面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526280" y="2404872"/>
            <a:ext cx="274320" cy="27432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526280" y="24048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4892040" y="237744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 v₂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6355080" y="237744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只有已访问的 v₀ → 回退到 v₁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526280" y="2770632"/>
            <a:ext cx="274320" cy="27432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526280" y="27706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4892040" y="274320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 v₃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6355080" y="274320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邻接点都访问过 → 一路回退到 v₀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526280" y="3136392"/>
            <a:ext cx="274320" cy="274320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4526280" y="31363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4892040" y="310896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重新开始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355080" y="310896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还有未访问顶点：挑 v₄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4526280" y="3502152"/>
            <a:ext cx="274320" cy="27432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526280" y="35021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4892040" y="347472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v₄ → v₅ → v₆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6355080" y="347472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v₅ 的 v₁、v₆ 的 v₃ 已访问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457200" y="393192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E3D34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40080" y="39319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深度优先序列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2103120" y="393192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v₀  v₁  v₂  v₃  |  v₄  v₅  v₆</a:t>
            </a:r>
            <a:endParaRPr lang="en-US" sz="2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7.4.1 · code/ch07/graph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dfs + visit_depth_first：递归的先根周游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257800" cy="3017520"/>
          </a:xfrm>
          <a:prstGeom prst="roundRect">
            <a:avLst>
              <a:gd name="adj" fmla="val 242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111496" cy="2926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std::vector&lt;std::size_t&gt; dfs(std::size_t source) const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check_vertex(source);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std::vector&lt;bool&gt; seen(vertices());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std::vector&lt;std::size_t&gt; result;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visit_depth_first(source, seen, result);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result;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visit_depth_first(std::size_t from, std::vector&lt;bool&gt;&amp; seen,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std::vector&lt;std::size_t&gt;&amp; result) const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seen[from] = true;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result.push_back(from);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to = 0; to &lt; vertices(); ++to)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(adjacency_[from][to] &lt; infinity &amp;&amp; !seen[to])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visit_depth_first(to, seen, result);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0233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modern.hpp（visit_depth_first 是 private 辅助函数）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897880" y="960120"/>
            <a:ext cx="2788920" cy="2103120"/>
          </a:xfrm>
          <a:prstGeom prst="roundRect">
            <a:avLst>
              <a:gd name="adj" fmla="val 3478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035040" y="105156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对照算法描述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007608" y="1344168"/>
            <a:ext cx="2569464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进入顶点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立刻标记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seen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，记入序列。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从 0 扫到 V−1：沿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编号从小到大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的出边递归——这就是「边表次序」。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递归返回 =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回退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到上一个顶点。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897880" y="3200400"/>
            <a:ext cx="2788920" cy="1463040"/>
          </a:xfrm>
          <a:prstGeom prst="roundRect">
            <a:avLst>
              <a:gd name="adj" fmla="val 5000"/>
            </a:avLst>
          </a:prstGeom>
          <a:solidFill>
            <a:srgbClr val="CFE0D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035040" y="32918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只走可达的顶点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3584448"/>
            <a:ext cx="2514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dfs(source)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只访问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从源点可达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的顶点。图 7.16 上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dfs(0)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得 0 1 2 3；要周游全图，外层再对每个未访问顶点重起一次。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31596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递归写法：深图有栈溢出风险。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7.4.1 深度优先周游 · 关键要点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代价取决于存储结构，而不是取决于算法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4300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不连通时一次走不完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6916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要在外层对每个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未访问顶点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再起一次 DFS。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09160" y="100584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4892040" y="114300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394960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序列由存储结构决定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16916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存储结构一旦定下、源点一旦定下，深度优先序列就是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唯一的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926080"/>
          <a:ext cx="54864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017520"/>
                <a:gridCol w="12801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存储结构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找邻接点的代价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DFS 总时间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相邻矩阵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每个顶点扫一整行，共检查 n² 个元素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O(n²)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邻接表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所有边结点检查一遍，O(e)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E9E6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O(n + e)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6172200" y="2926080"/>
            <a:ext cx="251460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309360" y="3017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309360" y="3310128"/>
            <a:ext cx="2240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周游实质上是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搜索每个顶点的邻接点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；每个顶点至多调用一次 DFS，时间都花在找邻接点上。</a:t>
            </a:r>
            <a:endParaRPr lang="en-US" sz="10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7.4.2 广度优先周游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BFS：类似树的按层次次序周游，靠 FIFO 队列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393192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访问并标记 v 之后，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横向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搜索 v 的所有邻接点；再从这些邻接点出发，依次访问它们未访问过的邻接点。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先访问的顶点的邻接点，在下一轮被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访问到。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访问到一个顶点就入队；队头出队时把它未访问的邻接点入队——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每个顶点只入队一次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960120"/>
          <a:ext cx="41148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554480"/>
                <a:gridCol w="14630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出队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新入队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队列（头→尾）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（v₀ 入队）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v₀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v₀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v₀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v₂ v₃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v₂ v₃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v₂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—（v₀ 已访问）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重起 v₄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v₄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v₄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v₄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v₅ v₆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v₅ v₆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v₅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0" y="3840480"/>
            <a:ext cx="4114800" cy="822960"/>
          </a:xfrm>
          <a:prstGeom prst="roundRect">
            <a:avLst>
              <a:gd name="adj" fmla="val 8889"/>
            </a:avLst>
          </a:prstGeom>
          <a:solidFill>
            <a:srgbClr val="1E3D34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709160" y="38862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广度优先序列（图 7.16）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709160" y="41605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v₀ v₁ v₂ v₃ | v₄ v₅ v₆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57200" y="3749040"/>
            <a:ext cx="393192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94360" y="3840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DFS 比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94360" y="413308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实质相同，只是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访问顺序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不同；二者的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时间复杂度也相同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7.4.2 · code/ch07/graph/modern.hpp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bfs：入队时就标记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577840" cy="3154680"/>
          </a:xfrm>
          <a:prstGeom prst="roundRect">
            <a:avLst>
              <a:gd name="adj" fmla="val 231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431536" cy="3063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std::vector&lt;std::size_t&gt; bfs(std::size_t source) const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check_vertex(source);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std::vector&lt;bool&gt; seen(vertices());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std::queue&lt;std::size_t&gt; queue;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std::vector&lt;std::size_t&gt; result;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queue.push(source);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seen[source] = true;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(!queue.empty())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from = queue.front();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queue.pop();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result.push_back(from);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to = 0; to &lt; vertices(); ++to)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(adjacency_[from][to] &lt; infinity &amp;&amp; !seen[to])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seen[to] = true;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queue.push(to);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result;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63640" y="960120"/>
            <a:ext cx="2423160" cy="201168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0" y="10515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为什么入队时就标记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1344168"/>
            <a:ext cx="2148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如果等到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才标记，同一个顶点可能被好几个邻居各入队一次。入队即标记，保证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每个顶点只入队一次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63640" y="3108960"/>
            <a:ext cx="2423160" cy="1554480"/>
          </a:xfrm>
          <a:prstGeom prst="roundRect">
            <a:avLst>
              <a:gd name="adj" fmla="val 4706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0" y="320040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内层循环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3493008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to in 0..V-1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：矩阵版每出队一个顶点扫一整行，全图 O(V²)。换成邻接表只走边表，见 7.3.2。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20624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7.16 上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bfs(0)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得 0 1 2 3；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bfs(4)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得 4 5 6 1 3 2 0——源点不同，序列不同。</a:t>
            </a:r>
            <a:endParaRPr lang="en-US" sz="10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7.4.3 拓扑排序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有向无环图（DAG）与拓扑序列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539496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无环的有向图叫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有向无环图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（DAG），常用来描述一个过程或系统的进行过程。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拓扑序列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：若存在 vᵢ 到 vⱼ 的路径，则序列中 vᵢ 必在 vⱼ 之前。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拓扑排序可以解决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先决条件问题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：在满足先决条件的前提下逐个完成各项任务。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743200"/>
            <a:ext cx="5394960" cy="192024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28346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原书例子：课程先修关系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127248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弧 ⟨cᵢ, cⱼ⟩ 表示 cᵢ 是 cⱼ 的先修课。c₀ 高等数学、c₁ 程序设计基础无先修；c₂ 离散数学 ← c₀ c₁；c₃ 数据结构 ← c₁ c₂；c₄ 算法语言 ← c₁；c₅ 编译原理 ← c₃ c₄；c₆ 操作系统 ← c₃ c₈；c₇ 普通物理 ← c₀；c₈ 计算机原理 ← c₇。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080760" y="960120"/>
            <a:ext cx="260604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pic>
        <p:nvPicPr>
          <p:cNvPr id="12" name="Image 0" descr="fig-7-1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6235" y="1024128"/>
            <a:ext cx="2155089" cy="23774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080760" y="361188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1E3D34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217920" y="365760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拓扑序不唯一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6217920" y="393192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c₀ c₁ c₂ c₃ c₄ c₅ c₇ c₈ c₆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c₀ c₇ c₈ c₁ c₄ c₂ c₃ c₆ c₅</a:t>
            </a:r>
            <a:endParaRPr lang="en-US" sz="12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7.4.3 拓扑排序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方法：反复摘掉入度为 0 的顶点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78992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078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10058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10058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从有向图中选出一个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没有前驱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（入度为 0）的顶点并输出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1764792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17647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16916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16916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删除该顶点和所有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以它为起点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的弧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2468880"/>
            <a:ext cx="2377440" cy="1051560"/>
          </a:xfrm>
          <a:prstGeom prst="roundRect">
            <a:avLst>
              <a:gd name="adj" fmla="val 6957"/>
            </a:avLst>
          </a:prstGeom>
          <a:solidFill>
            <a:srgbClr val="EAF4E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25420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全部输出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285292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完成拓扑排序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017520" y="2468880"/>
            <a:ext cx="2377440" cy="1051560"/>
          </a:xfrm>
          <a:prstGeom prst="roundRect">
            <a:avLst>
              <a:gd name="adj" fmla="val 6957"/>
            </a:avLst>
          </a:prstGeom>
          <a:solidFill>
            <a:srgbClr val="FDF0E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154680" y="25420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还有顶点没输出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3154680" y="285292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但找不到入度为 0 的点 →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图中有环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36576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拓扑排序可以</a:t>
            </a: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顺便检查有向图是否存在环</a:t>
            </a: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23560" y="1005840"/>
            <a:ext cx="3063240" cy="3657600"/>
          </a:xfrm>
          <a:prstGeom prst="roundRect">
            <a:avLst>
              <a:gd name="adj" fmla="val 2388"/>
            </a:avLst>
          </a:prstGeom>
          <a:solidFill>
            <a:srgbClr val="FFF6E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760720" y="109728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实现上的两个技巧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733288" y="1389888"/>
            <a:ext cx="2843784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每个顶点加一个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入度域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；「删除以它为尾的弧」= 把所有弧头的入度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 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把入度为 0 的顶点放进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：每次取队头即可，不必检查整个顶点表；某个顶点入度减到 0 就入队。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若最终取出的点数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少于顶点数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，图里有环。</a:t>
            </a:r>
            <a:endParaRPr lang="en-US" sz="11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7.4.3 · code/ch07/graph/modern.hpp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topological_sort：入度表 + 队列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98932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84301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std::optional&lt;std::vector&lt;std::size_t&gt;&gt; topological_sort() const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std::vector&lt;std::size_t&gt; indegree(vertices());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from = 0; from &lt; vertices(); ++from)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to = 0; to &lt; vertices(); ++to)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(from != to &amp;&amp; adjacency_[from][to] &lt; infinity)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++indegree[to];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std::queue&lt;std::size_t&gt; queue;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vertex = 0; vertex &lt; vertices(); ++vertex)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(indegree[vertex] == 0)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queue.push(vertex);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std::vector&lt;std::size_t&gt; result;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(!queue.empty())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from = queue.front();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queue.pop();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result.push_back(from);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to = 0; to &lt; vertices(); ++to)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(from != to &amp;&amp; adjacency_[from][to] &lt; infinity &amp;&amp; --indegree[to] == 0)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queue.push(to);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result.size() == vertices() ? std::optional&lt;std::vector&lt;std::size_t&gt;&gt;(result)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: std::nullopt;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6583680" y="960120"/>
            <a:ext cx="210312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720840" y="10515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from != to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720840" y="1344168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对角线是 0（到自己距离 0），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不是边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；不排除它，入度全多 1，一个都入不了队。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583680" y="224028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720840" y="2331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--indegree[to] == 0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720840" y="2624328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先减再判：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最后一条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入弧删掉的那一刻才入队，每个顶点只入队一次。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583680" y="3474720"/>
            <a:ext cx="2103120" cy="1188720"/>
          </a:xfrm>
          <a:prstGeom prst="roundRect">
            <a:avLst>
              <a:gd name="adj" fmla="val 6154"/>
            </a:avLst>
          </a:prstGeom>
          <a:solidFill>
            <a:srgbClr val="FDF0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720840" y="3566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有环 → nullopt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720840" y="3858768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输出不足 V 个：有顶点永远等不到入度归 0。返回空，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不抛异常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7.4.3 拓扑排序 · 手算 trace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7.17 上逐步执行 topological_sort()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</a:t>
            </a:r>
            <a:endParaRPr lang="en-US" sz="9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32688"/>
          <a:ext cx="585216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548640"/>
                <a:gridCol w="2651760"/>
                <a:gridCol w="100584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入度减 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新入队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队列（头→尾）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入度：c₂ c₃ c₅ c₆ 为 2，c₄ c₇ c₈ 为 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c₀ c₁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c₀ c₁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c₀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c₂ 2→1，c₇ 1→0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c₇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c₁ c₇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c₂ 1→0，c₃ 2→1，c₄ 1→0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c₂ c₄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c₇ c₂ c₄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c₇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c₈ 1→0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c₈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c₂ c₄ c₈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c₂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c₃ 1→0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c₃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c₄ c₈ c₃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c₄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c₅ 2→1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c₈ c₃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c₈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c₆ 2→1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c₃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c₃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c₅ 1→0，c₆ 1→0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c₅ c₆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c₅ c₆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c₅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c₆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c₆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4114800"/>
            <a:ext cx="5852160" cy="548640"/>
          </a:xfrm>
          <a:prstGeom prst="roundRect">
            <a:avLst>
              <a:gd name="adj" fmla="val 13333"/>
            </a:avLst>
          </a:prstGeom>
          <a:solidFill>
            <a:srgbClr val="1E3D3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411480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输出：c₀ c₁ c₇ c₂ c₄ c₈ c₃ c₅ c₆（9 个全输出 → 无环）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492240" y="932688"/>
            <a:ext cx="2194560" cy="3730752"/>
          </a:xfrm>
          <a:prstGeom prst="roundRect">
            <a:avLst>
              <a:gd name="adj" fmla="val 3333"/>
            </a:avLst>
          </a:prstGeom>
          <a:solidFill>
            <a:srgbClr val="FFF6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29400" y="10241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读这张表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601968" y="1316736"/>
            <a:ext cx="1975104" cy="32735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同一步里多个顶点入度归 0，按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列号从小到大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入队（矩阵扫一行的次序）。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得到的序列和图注里的两个都不同——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拓扑序不唯一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，逐条核对每条弧都是弧尾在前即可。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若再加一条 ⟨c₆, c₀⟩，c₀ 入度为 1，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整条链都卡住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5 · 7.5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最短路径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单源最短路：Dijkstra（贪心）· 用 pre 取出路径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每对顶点：Floyd（动态规划）</a:t>
            </a:r>
            <a:endParaRPr lang="en-US" sz="13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7.5.1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7.5.1 单源最短路径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Dijkstra：按路径长度递增的次序产生最短路径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pic>
        <p:nvPicPr>
          <p:cNvPr id="8" name="Image 0" descr="fig-7-1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35558"/>
            <a:ext cx="2468880" cy="13030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377440"/>
            <a:ext cx="265176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7.18  A→C→B 最短，不是边数最少的那条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3291840" y="960120"/>
            <a:ext cx="539496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给定带权图，每条边的权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非负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；给定源点 s，求 s 到所有其他顶点的最短路径——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单源最短路径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问题。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顶点分成两个集合：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（最短距离已确定）和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V−S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。初始 S = {s}。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特殊路径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：从 s 到 v、中间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只经过 S 中顶点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的路径；数组 D 记录当前最短特殊路径长度。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57200" y="2880360"/>
            <a:ext cx="8229600" cy="1783080"/>
          </a:xfrm>
          <a:prstGeom prst="roundRect">
            <a:avLst>
              <a:gd name="adj" fmla="val 4103"/>
            </a:avLst>
          </a:prstGeom>
          <a:solidFill>
            <a:srgbClr val="1E3D3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85800" y="2953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每一轮做两件事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3273552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从 V−S 中取出 D 值最小的顶点 u，并入 S；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36118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松弛：若 D[u] + W[u, v] &lt; D[v]，则 D[v] = D[u] + W[u, v]。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402336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 包含全部顶点时，D[v] 就是 s 到 v 的最短路径长度。这是一个</a:t>
            </a:r>
            <a:r>
              <a:rPr lang="en-US" sz="1150" b="1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</a:t>
            </a:r>
            <a:r>
              <a:rPr lang="en-US" sz="11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算法。</a:t>
            </a:r>
            <a:endParaRPr lang="en-US" sz="11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7.5.1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7.5.1 单源最短路径 · 手算 trace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7.19 上从 v₀ 出发逐轮走一遍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2560320" cy="2468880"/>
          </a:xfrm>
          <a:prstGeom prst="roundRect">
            <a:avLst>
              <a:gd name="adj" fmla="val 2963"/>
            </a:avLst>
          </a:prstGeom>
          <a:solidFill>
            <a:srgbClr val="F1F4F2"/>
          </a:solidFill>
          <a:ln/>
        </p:spPr>
      </p:sp>
      <p:pic>
        <p:nvPicPr>
          <p:cNvPr id="8" name="Image 0" descr="fig-7-1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34029"/>
            <a:ext cx="2377440" cy="2275341"/>
          </a:xfrm>
          <a:prstGeom prst="rect">
            <a:avLst/>
          </a:prstGeom>
        </p:spPr>
      </p:pic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0" y="960120"/>
          <a:ext cx="54864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822960"/>
                <a:gridCol w="841248"/>
                <a:gridCol w="841248"/>
                <a:gridCol w="841248"/>
                <a:gridCol w="841248"/>
                <a:gridCol w="841248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选出 u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D[v₀]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D[v₁]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D[v₂]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D[v₃]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D[v₄]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v₀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v₁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v₃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v₂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v₄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3200400" y="34564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 = 本轮松弛成功；灰 = 已并入 S。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457200" y="361188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594360" y="37033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pre（前驱）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594360" y="399592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v₁←v₀，v₂←v₃，v₃←v₀，v₄←v₂。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 v₄：v₀→v₃→v₂→v₄ = 30+20+10 =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617720" y="3749040"/>
            <a:ext cx="406908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754880" y="384048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3 轮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4754880" y="4133088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v₃ 并入后，v₂ 经 v₃ 的 30+20 = 50 &lt; 60，v₄ 经 v₃ 的 30+60 = 90 &lt; 100；第 4 轮 v₂ 又把 v₄ 松弛成 60。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7.5.1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7.5.1 单源最短路径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为什么边权必须非负？代价又取决于什么？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2377440"/>
          </a:xfrm>
          <a:prstGeom prst="roundRect">
            <a:avLst>
              <a:gd name="adj" fmla="val 3077"/>
            </a:avLst>
          </a:prstGeom>
          <a:solidFill>
            <a:srgbClr val="FDF0E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边权必须非负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463040"/>
            <a:ext cx="36576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V−S 里挑出 D 最小的那个，它的距离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此后不会再变小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——因为任何绕道都要先经过一个距离不更小的顶点，而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边权非负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algn="l" indent="0" marL="0">
              <a:lnSpc>
                <a:spcPct val="110000"/>
              </a:lnSpc>
              <a:buNone/>
            </a:pPr>
            <a:endParaRPr lang="en-US" sz="11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这条论证正是 Dijkstra 要求非负权的地方；本书实现因此在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add_edge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拒绝负权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09160" y="1005840"/>
          <a:ext cx="397764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463040"/>
                <a:gridCol w="7315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怎么挑「最小的那个」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适合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直接比较 D 数组（矩阵版）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O(n²)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稠密图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最小堆（原书【算法7.8】）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O((n+e) log e)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稀疏图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4709160" y="2514600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任何一条边都可能出现在最短路径中，所以每条边至少都要检查一次。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57200" y="356616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FFF6E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94360" y="36576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要输出路径本身：pre 域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94360" y="3950208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记录最短路径上 v 前面经过的那个顶点。只要 D[u] + W[u, v] &lt; D[v] 就设 v 的前一个顶点为 u，否则不改。算法终止时顺着 pre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一路回溯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就得到完整路径。</a:t>
            </a:r>
            <a:endParaRPr lang="en-US" sz="11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7.5.1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7.5.1 · code/ch07/graph/modern.hpp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dijkstra：矩阵版 O(V²)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852160" cy="3108960"/>
          </a:xfrm>
          <a:prstGeom prst="roundRect">
            <a:avLst>
              <a:gd name="adj" fmla="val 235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705856" cy="3017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std::vector&lt;distance_type&gt; dijkstra(std::size_t source) const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check_vertex(source);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std::vector&lt;distance_type&gt; distance(vertices(), unreachable);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std::vector&lt;bool&gt; used(vertices());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distance[source] = 0;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count = 0; count &lt; vertices(); ++count)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from = nearest_unvisited(distance, used);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(from == vertices() || distance[from] == unreachable)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break;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used[from] = true;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to = 0; to &lt; vertices(); ++to)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(adjacency_[from][to] &lt; infinity &amp;&amp;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distance[to] &gt; distance[from] + adjacency_[from][to])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distance[to] = distance[from] + adjacency_[from][to];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distance;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16052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nearest_unvisited(distance, used)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：扫一遍全部顶点，返回未用过且 distance 最小的那个（全用过则返回 V）。Dijkstra 传 64 位路径距离、Prim 传 int 边权，两者共用这个模板。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92240" y="960120"/>
            <a:ext cx="2194560" cy="3703320"/>
          </a:xfrm>
          <a:prstGeom prst="roundRect">
            <a:avLst>
              <a:gd name="adj" fmla="val 3333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29400" y="1051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对照算法描述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601968" y="1344168"/>
            <a:ext cx="1975104" cy="3246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used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就是集合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nearest_unvisited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：在 V−S 里挑 D 最小的——扫一遍全部顶点，O(V)。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内层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松弛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，扫一整行。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挑出的点是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unreachable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：剩下的都到不了，提前结束。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7.5.1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7.5.1 · 把路径本身取出来（上）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dijkstra_tree：只在松弛成功时改前驱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60350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88873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ShortestPathTree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source;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std::vector&lt;distance_type&gt; distance;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std::vector&lt;std::optional&lt;std::size_t&gt;&gt; predecessor;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ShortestPathTree dijkstra_tree(std::size_t source) const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check_vertex(source);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ShortestPathTree tree{source, std::vector&lt;distance_type&gt;(vertices(), unreachable),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std::vector&lt;std::optional&lt;std::size_t&gt;&gt;(vertices())};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std::vector&lt;bool&gt; used(vertices());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tree.distance[source] = 0;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count = 0; count &lt; vertices(); ++count)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from = nearest_unvisited(tree.distance, used);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(from == vertices() || tree.distance[from] == unreachable)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break;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used[from] = true;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to = 0; to &lt; vertices(); ++to)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(adjacency_[from][to] &lt; infinity &amp;&amp;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tree.distance[to] &gt; tree.distance[from] + adjacency_[from][to])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tree.distance[to] = tree.distance[from] + adjacency_[from][to];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tree.predecessor[to] = from;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tree;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6675120" y="960120"/>
            <a:ext cx="2011680" cy="18288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12280" y="1051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 Dist 类的两个域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812280" y="1344168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distance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predecessor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。源点和到不了的顶点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没有前驱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，所以用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675120" y="2926080"/>
            <a:ext cx="2011680" cy="1737360"/>
          </a:xfrm>
          <a:prstGeom prst="roundRect">
            <a:avLst>
              <a:gd name="adj" fmla="val 4211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12280" y="30175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只在松弛成功时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3310128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不管松没松弛都去改前驱：距离数组照样正确，但顺着前驱走出来的路径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和距离对不上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，甚至走成环。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7.5.1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7.5.1 · 把路径本身取出来（下）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shortest_path：从汇点倒着走回源点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6035040" cy="2880360"/>
          </a:xfrm>
          <a:prstGeom prst="roundRect">
            <a:avLst>
              <a:gd name="adj" fmla="val 254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888736" cy="2788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static std::optional&lt;std::vector&lt;std::size_t&gt;&gt; shortest_path(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ShortestPathTree&amp; tree, std::size_t target)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count = tree.distance.size();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(target &gt;= count || tree.source &gt;= count || tree.predecessor.size() != count)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std::out_of_range("vertex");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(tree.distance[target] == unreachable)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std::nullopt;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std::vector&lt;std::size_t&gt; path{target};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vertex = target; vertex != tree.source;)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(!tree.predecessor[vertex] || path.size() &gt; count)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std::invalid_argument("broken predecessor chain");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vertex = *tree.predecessor[vertex];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path.push_back(vertex);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std::reverse(path.begin(), path.end());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path;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6675120" y="960120"/>
            <a:ext cx="2011680" cy="621792"/>
          </a:xfrm>
          <a:prstGeom prst="roundRect">
            <a:avLst>
              <a:gd name="adj" fmla="val 11765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766560" y="99669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到不了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766560" y="1252728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 nullopt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675120" y="1673352"/>
            <a:ext cx="2011680" cy="621792"/>
          </a:xfrm>
          <a:prstGeom prst="roundRect">
            <a:avLst>
              <a:gd name="adj" fmla="val 11765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766560" y="17099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汇点 = 源点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1965960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路径只有 {source}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675120" y="2386584"/>
            <a:ext cx="2011680" cy="621792"/>
          </a:xfrm>
          <a:prstGeom prst="roundRect">
            <a:avLst>
              <a:gd name="adj" fmla="val 11765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766560" y="242316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前驱链断了 / 成环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766560" y="2679192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树已经坏了 → 抛 invalid_argument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93192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CFE0D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" y="40233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测试不断言具体路径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94360" y="4315968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等长路径有好几条时返回哪条取决于扫描次序。测试只断言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路径合法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：首尾是源点和汇点，每步都是真实的边，边权之和等于 Floyd 算出的最短距离（随机小图，边权 0～4）。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675120" y="315468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 图上：pre = [—, 0, 1, 2, 3]，到 4 的路径 0 1 2 3 4。</a:t>
            </a:r>
            <a:endParaRPr lang="en-US" sz="9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7.5.2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7.5.2 每对顶点之间的最短路径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Floyd：典型的动态规划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所有顶点对之间的最短路径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：对任意有序对 ⟨vᵢ, vⱼ⟩ 求最短路径。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可以以每个顶点为源点重复 Dijkstra n 次，O(n³)；Floyd 也是 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O(n³)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，但形式简单。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adj⁽⁰⁾ = 相邻矩阵出发，做 n 次迭代：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adj⁽ᵏ⁾[i, j] = 从 vᵢ 到 vⱼ、中间顶点只取自前 k 个顶点 v₀…vₖ₋₁ 的最短路径长度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（第 k 轮新开放 vₖ₋₁）。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606040"/>
            <a:ext cx="39776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6791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中间不经过 vₖ₋₁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0175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adj⁽ᵏ⁾[i, j] = adj⁽ᵏ⁻¹⁾[i, j]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09160" y="2606040"/>
            <a:ext cx="39776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92040" y="26791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中间经过 vₖ₋₁：两段拼起来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892040" y="30175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adj⁽ᵏ⁻¹⁾[i, k−1] + adj⁽ᵏ⁻¹⁾[k−1, j]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74904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37490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adj⁽ᵏ⁾[i, j] = min{ adj⁽ᵏ⁻¹⁾[i, j],  adj⁽ᵏ⁻¹⁾[i, k−1] + adj⁽ᵏ⁻¹⁾[k−1, j] }</a:t>
            </a:r>
            <a:endParaRPr lang="en-US" sz="15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7.5.2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7.5.2 Floyd · 手算 trace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7.20：每轮多开放一个中转点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192024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pic>
        <p:nvPicPr>
          <p:cNvPr id="8" name="Image 0" descr="fig-7-2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67808"/>
            <a:ext cx="1737360" cy="152198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7432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边：v₀→v₂ 2，v₁→v₀ 5，v₁→v₂ 8，v₂→v₁ 3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2606040" y="96012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adj⁽⁰⁾（相邻矩阵）</a:t>
            </a:r>
            <a:endParaRPr lang="en-US" sz="1050" dirty="0"/>
          </a:p>
        </p:txBody>
      </p:sp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1234440"/>
          <a:ext cx="237744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594360"/>
                <a:gridCol w="594360"/>
                <a:gridCol w="5943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v₀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v₀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5669280" y="96012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 v₀ 之后</a:t>
            </a:r>
            <a:endParaRPr lang="en-US" sz="1050" dirty="0"/>
          </a:p>
        </p:txBody>
      </p:sp>
      <p:graphicFrame>
        <p:nvGraphicFramePr>
          <p:cNvPr id="1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234440"/>
          <a:ext cx="237744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594360"/>
                <a:gridCol w="594360"/>
                <a:gridCol w="5943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v₀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v₀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 txBox="1"/>
          <p:nvPr/>
        </p:nvSpPr>
        <p:spPr>
          <a:xfrm>
            <a:off x="2606040" y="256032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 v₁ 之后</a:t>
            </a:r>
            <a:endParaRPr lang="en-US" sz="1050" dirty="0"/>
          </a:p>
        </p:txBody>
      </p:sp>
      <p:graphicFrame>
        <p:nvGraphicFramePr>
          <p:cNvPr id="16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2834640"/>
          <a:ext cx="237744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594360"/>
                <a:gridCol w="594360"/>
                <a:gridCol w="5943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v₀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v₀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 txBox="1"/>
          <p:nvPr/>
        </p:nvSpPr>
        <p:spPr>
          <a:xfrm>
            <a:off x="5669280" y="256032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 v₂ 之后（最终）</a:t>
            </a:r>
            <a:endParaRPr lang="en-US" sz="1050" dirty="0"/>
          </a:p>
        </p:txBody>
      </p:sp>
      <p:graphicFrame>
        <p:nvGraphicFramePr>
          <p:cNvPr id="2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2834640"/>
          <a:ext cx="237744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594360"/>
                <a:gridCol w="594360"/>
                <a:gridCol w="5943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v₀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v₀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Shape 11"/>
          <p:cNvSpPr/>
          <p:nvPr/>
        </p:nvSpPr>
        <p:spPr>
          <a:xfrm>
            <a:off x="457200" y="416052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CFE0D8"/>
          </a:solidFill>
          <a:ln/>
        </p:spPr>
      </p:sp>
      <p:sp>
        <p:nvSpPr>
          <p:cNvPr id="19" name="Text 12"/>
          <p:cNvSpPr txBox="1"/>
          <p:nvPr/>
        </p:nvSpPr>
        <p:spPr>
          <a:xfrm>
            <a:off x="594360" y="416052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变了的三格：v₁→v₂ = 5+2 =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&lt; 8（经 v₀）；v₂→v₀ = 3+5 =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（经 v₁）；v₀→v₁ = 2+3 =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（经 v₂）。</a:t>
            </a:r>
            <a:endParaRPr lang="en-US" sz="11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7.5.2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7.5.2 · code/ch07/graph/modern.hpp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floyd：中转点 via 必须在最外层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3172968"/>
          </a:xfrm>
          <a:prstGeom prst="roundRect">
            <a:avLst>
              <a:gd name="adj" fmla="val 230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30815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std::vector&lt;std::vector&lt;distance_type&gt;&gt; floyd() const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std::vector&lt;std::vector&lt;distance_type&gt;&gt; distance(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vertices(), std::vector&lt;distance_type&gt;(vertices(), unreachable));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from = 0; from &lt; vertices(); ++from)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to = 0; to &lt; vertices(); ++to)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(adjacency_[from][to] &lt; infinity)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distance[from][to] = adjacency_[from][to];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via = 0; via &lt; vertices(); ++via)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from = 0; from &lt; vertices(); ++from)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for (std::size_t to = 0; to &lt; vertices(); ++to)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if (distance[from][via] != unreachable &amp;&amp; distance[via][to] != unreachable)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distance[from][to] = std::min(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distance[from][to], distance[from][via] + distance[via][to]);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distance;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457200" y="4224528"/>
            <a:ext cx="4937760" cy="457200"/>
          </a:xfrm>
          <a:prstGeom prst="roundRect">
            <a:avLst>
              <a:gd name="adj" fmla="val 16000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42245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</a:t>
            </a: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中转点 via 必须在最外层</a:t>
            </a:r>
            <a:r>
              <a:rPr lang="en-US" sz="10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，否则 adj⁽ᵏ⁾ 还没算完就被拿去用了。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577840" y="4224528"/>
            <a:ext cx="3108960" cy="457200"/>
          </a:xfrm>
          <a:prstGeom prst="roundRect">
            <a:avLst>
              <a:gd name="adj" fmla="val 16000"/>
            </a:avLst>
          </a:prstGeom>
          <a:solidFill>
            <a:srgbClr val="CFE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87568" y="422452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测试：五个源点的 Dijkstra 与 Floyd 逐项对拍。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6 · 7.6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最小生成树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MST 性质 · Prim：从点出发长一棵树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Kruskal：从边出发合并森林</a:t>
            </a:r>
            <a:endParaRPr lang="en-US" sz="13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7.6 最小生成树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目标：连通全部顶点，选中边的总权最小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5120640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个城市之间建通信网，联通只需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n−1 条线路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——怎么选使总花费最小？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所有生成树中代价最小的叫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最小生成树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（minimum-cost spanning tree, MST）。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任意两点最短，而是连通全部顶点且总权最小。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606040"/>
            <a:ext cx="512064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651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MST 性质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926080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 是 V 的非空真子集。若 (u, v) 是一端在 U、另一端在 V−U 的边里</a:t>
            </a: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权最小</a:t>
            </a: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的一条，则一定存在一棵包含 (u, v) 的 MST。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703320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37947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反证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408736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任何一棵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MST 都不含 (u, v)，任取一棵 T。把 (u, v) 加进 T 必成回路，回路从 u 到 v 还要回到 u，故另有一条边 (u′, v′) 也跨在 U 与 V−U 之间。删掉它得到生成树 T′；因 W(u, v) ≤ W(u′, v′)，T′ 代价不比 T 大，也是 MST 且含 (u, v)——矛盾。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806440" y="960120"/>
            <a:ext cx="2880360" cy="2286000"/>
          </a:xfrm>
          <a:prstGeom prst="roundRect">
            <a:avLst>
              <a:gd name="adj" fmla="val 3200"/>
            </a:avLst>
          </a:prstGeom>
          <a:solidFill>
            <a:srgbClr val="F1F4F2"/>
          </a:solidFill>
          <a:ln/>
        </p:spPr>
      </p:sp>
      <p:pic>
        <p:nvPicPr>
          <p:cNvPr id="15" name="Image 0" descr="fig-7-2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1068307"/>
            <a:ext cx="2606040" cy="1786162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806440" y="2926080"/>
            <a:ext cx="28803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7.22  含 (u, v) 的回路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806440" y="3383280"/>
            <a:ext cx="2880360" cy="1280160"/>
          </a:xfrm>
          <a:prstGeom prst="roundRect">
            <a:avLst>
              <a:gd name="adj" fmla="val 5714"/>
            </a:avLst>
          </a:prstGeom>
          <a:solidFill>
            <a:srgbClr val="CFE0D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943600" y="34747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这条性质的用处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0" y="3767328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Prim 和 Kruskal 都是贪心：每一步都可以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放心地取当前最小的那条跨界边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7.6.1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7.6.1 Prim 算法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从一个点出发，每次把离树最近的顶点拉进来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097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1005840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初始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691640" y="1005840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 = {u₀}，TE = {}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1755648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60120" y="1664208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691640" y="1664208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在所有 u ∈ U、v ∈ V−U 的边中找权最小的 (u₀, v₀)，加进 TE，v₀ 并入 U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2414016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2414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60120" y="2322576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结束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691640" y="2322576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 = V 时停止；TE 恰好 n−1 条边，构成一棵 MST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3063240"/>
            <a:ext cx="5120640" cy="1600200"/>
          </a:xfrm>
          <a:prstGeom prst="roundRect">
            <a:avLst>
              <a:gd name="adj" fmla="val 4571"/>
            </a:avLst>
          </a:prstGeom>
          <a:solidFill>
            <a:srgbClr val="FFF6E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" y="31546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Prim 与 Dijkstra：差别只有一处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3447288"/>
            <a:ext cx="4846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两者都反复「从集合外挑一个距离值最小的顶点并入集合」。但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Prim 的距离值不累积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，直接用「离集合最近的边距」；Dijkstra 累积的是从源点起的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整条路径长度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时间也相同：O(n²)，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适合稠密图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806440" y="960120"/>
            <a:ext cx="288036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pic>
        <p:nvPicPr>
          <p:cNvPr id="23" name="Image 0" descr="fig-7-2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1040264"/>
            <a:ext cx="2606040" cy="2299447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5806440" y="3383280"/>
            <a:ext cx="28803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7.23  本节两个算法共用的带权图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5806440" y="384048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实现：从指定源点生长；非连通则返回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7.6.1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7.6.1 Prim 算法 · 图 7.24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在图 7.23 上的六个步骤：每一步都是一棵连着的树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178308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/>
        </p:spPr>
      </p:sp>
      <p:pic>
        <p:nvPicPr>
          <p:cNvPr id="8" name="Image 0" descr="fig-7-24-ab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5773" y="969264"/>
            <a:ext cx="7252453" cy="170992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2788920"/>
            <a:ext cx="8229600" cy="178308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/>
        </p:spPr>
      </p:sp>
      <p:pic>
        <p:nvPicPr>
          <p:cNvPr id="10" name="Image 1" descr="fig-7-24-def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5773" y="2825496"/>
            <a:ext cx="7252453" cy="170992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7200" y="4590288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v₀ 出发依次加入：(v₀,v₄)1 → (v₄,v₅)15 → (v₅,v₆)10 → (v₆,v₂)2 → (v₂,v₁)6 → (v₁,v₃)4，总权 38</a:t>
            </a:r>
            <a:endParaRPr lang="en-US" sz="95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7.6.1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7.6.1 Prim 算法 · 手算 trace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distance[v] = v 到当前树的最近边距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62</a:t>
            </a:r>
            <a:endParaRPr lang="en-US" sz="90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640080"/>
                <a:gridCol w="1234440"/>
                <a:gridCol w="841248"/>
                <a:gridCol w="841248"/>
                <a:gridCol w="841248"/>
                <a:gridCol w="841248"/>
                <a:gridCol w="841248"/>
                <a:gridCol w="841248"/>
                <a:gridCol w="850392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并入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树边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v₀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v₃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v₄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v₅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v₀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v₄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(v₀,v₄) 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15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v₅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(v₄,v₅) 15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∞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(v₅,v₆) 10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(v₆,v₂) 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(v₂,v₁) 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v₃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(v₁,v₃) 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3657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每轮：先挑 distance 最小的未入树顶点并入（记下树边），再用它更新其余顶点。红 = 本轮变小；✓ = 已在树中。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402336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1E3D34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0080" y="4023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条树边，总权 1 + 15 + 10 + 2 + 6 + 4 = 38</a:t>
            </a:r>
            <a:endParaRPr lang="en-US" sz="15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7.6.1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7.6.1 · code/ch07/graph/modern.hpp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prim：与 dijkstra 几乎同一段代码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76072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61441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std::optional&lt;std::vector&lt;Edge&gt;&gt; prim(std::size_t source) const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check_vertex(source);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std::vector&lt;int&gt; distance(vertices(), infinity);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std::vector&lt;std::size_t&gt; predecessor(vertices());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std::vector&lt;bool&gt; used(vertices());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std::vector&lt;Edge&gt; result;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distance[source] = 0;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count = 0; count &lt; vertices(); ++count)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from = nearest_unvisited(distance, used);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(from == vertices() || distance[from] == infinity)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std::nullopt;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used[from] = true;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(from != source)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result.push_back({predecessor[from], from, distance[from]});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to = 0; to &lt; vertices(); ++to)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(!used[to] &amp;&amp; adjacency_[from][to] &lt; distance[to])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distance[to] = adjacency_[from][to];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predecessor[to] = from;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result;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6400800" y="960120"/>
            <a:ext cx="228600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37960" y="10515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dijkstra 对比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10528" y="1344168"/>
            <a:ext cx="2066544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Dijkstra 比较的是 D[from] + 边权：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累积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整条路径。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Prim 比较的只是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一条边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的权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adjacency_[from][to]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0" y="2834640"/>
            <a:ext cx="2286000" cy="18288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37960" y="29260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非连通 → nullopt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3218688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挑出的最近点距离还是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infinity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：剩下的顶点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连不上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，没有生成树——可预期结果，返回空。</a:t>
            </a:r>
            <a:endParaRPr lang="en-US" sz="10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7.6.2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7.6.2 Kruskal 算法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从边出发：选不成环的最小边，合并森林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512064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贪心准则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：从剩下的边中选择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不会产生回路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且权值最小的边，加入生成树的边集。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开始时 n 个顶点是 n 个独立连通分量：有 n 个顶点而无边的森林 T = ⟨V, {}⟩。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按权从小到大看每条边：两端在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不同连通分支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就加入 T，否则舍去。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直到 T 中所有顶点都在同一个连通分量中。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806440" y="960120"/>
            <a:ext cx="2880360" cy="2377440"/>
          </a:xfrm>
          <a:prstGeom prst="roundRect">
            <a:avLst>
              <a:gd name="adj" fmla="val 3077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89320" y="1051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「会不会成环」=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989320" y="137160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两个端点是不是已经在同一棵树里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989320" y="24688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——这正是第 6 章</a:t>
            </a:r>
            <a:r>
              <a:rPr lang="en-US" sz="1150" b="1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并查集</a:t>
            </a:r>
            <a:r>
              <a:rPr lang="en-US" sz="11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的用处。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3520440"/>
            <a:ext cx="8229600" cy="1143000"/>
          </a:xfrm>
          <a:prstGeom prst="roundRect">
            <a:avLst>
              <a:gd name="adj" fmla="val 640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36118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代价与适用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904488"/>
            <a:ext cx="7955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排序主导：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O(e log e)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，主要取决于边数 →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适合稀疏图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，正好与适合稠密图的 Prim 互补。连通图上两者得到相同总权、n−1 条边。</a:t>
            </a:r>
            <a:endParaRPr lang="en-US" sz="11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7.6.2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7.6.2 Kruskal 算法 · 图 7.25 与手算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中间过程是一片森林，直到最后才连成一棵树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1206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pic>
        <p:nvPicPr>
          <p:cNvPr id="8" name="Image 0" descr="fig-7-25-ab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961607"/>
            <a:ext cx="5029200" cy="1185746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2240280"/>
            <a:ext cx="51206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pic>
        <p:nvPicPr>
          <p:cNvPr id="10" name="Image 1" descr="fig-7-25-def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69199"/>
            <a:ext cx="5029200" cy="118574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7200" y="3502152"/>
            <a:ext cx="5120640" cy="2377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7.25  Kruskal 在同一张图 7.23 上的步骤</a:t>
            </a:r>
            <a:endParaRPr lang="en-US" sz="95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06440" y="932688"/>
          <a:ext cx="288036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914400"/>
                <a:gridCol w="155448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权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(v₀,v₄)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接受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(v₂,v₆)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接受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(v₁,v₃)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接受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(v₁,v₂)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接受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(v₃,v₆)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舍弃：已同一分量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(v₅,v₆)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接受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(v₃,v₅)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舍弃：已同一分量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(v₄,v₅)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接受 → 连通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(v₀,v₁)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舍弃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8"/>
          <p:cNvSpPr/>
          <p:nvPr/>
        </p:nvSpPr>
        <p:spPr>
          <a:xfrm>
            <a:off x="457200" y="38404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1E3D34"/>
          </a:solidFill>
          <a:ln/>
        </p:spPr>
      </p:sp>
      <p:sp>
        <p:nvSpPr>
          <p:cNvPr id="14" name="Text 9"/>
          <p:cNvSpPr txBox="1"/>
          <p:nvPr/>
        </p:nvSpPr>
        <p:spPr>
          <a:xfrm>
            <a:off x="640080" y="38404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总权 1 + 2 + 4 + 6 + 10 + 15 = 38，与 Prim 相同——两个算法走的路不同（Prim 按 1, 15, 10, 2, 6, 4 的次序），得到的总权相同。</a:t>
            </a:r>
            <a:endParaRPr lang="en-US" sz="115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7.6.2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7.6.2 · code/ch07/graph/modern.hpp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kruskal：排序 + 并查集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8064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66013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std::optional&lt;std::vector&lt;Edge&gt;&gt; kruskal() const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std::vector&lt;Edge&gt; edges;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from = 0; from &lt; vertices(); ++from)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to = from + 1; to &lt; vertices(); ++to)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(adjacency_[from][to] &lt; infinity)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edges.push_back({from, to, adjacency_[from][to]});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std::sort(edges.begin(), edges.end());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std::vector&lt;std::size_t&gt; parent(vertices());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vertex = 0; vertex &lt; vertices(); ++vertex)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parent[vertex] = vertex;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std::vector&lt;Edge&gt; result;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(const Edge&amp; edge : edges)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from_root = find_root(parent, edge.from);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to_root = find_root(parent, edge.to);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(from_root != to_root)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parent[from_root] = to_root;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result.push_back(edge);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result.size() + 1 == vertices() ? std::optional&lt;std::vector&lt;Edge&gt;&gt;(result)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: std::nullopt;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6400800" y="960120"/>
            <a:ext cx="2286000" cy="3703320"/>
          </a:xfrm>
          <a:prstGeom prst="roundRect">
            <a:avLst>
              <a:gd name="adj" fmla="val 32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37960" y="10515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读代码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10528" y="1344168"/>
            <a:ext cx="2066544" cy="3246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 = from + 1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：无向图只取上三角，每条边收一次。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Edge::operator&lt;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按权比较，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std::sort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直接可用。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find_root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：递归找根并做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路径压缩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（第 6 章并查集）。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两端根不同才合并、收边；最后边数 ≠ n−1 → 不连通 →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7.6 最小生成树 · 对照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Prim vs Kruskal；最短路树 ≠ 最小生成树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67</a:t>
            </a:r>
            <a:endParaRPr lang="en-US" sz="90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45720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691640"/>
                <a:gridCol w="16916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Prim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Kruskal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出发点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从</a:t>
                      </a: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点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从</a:t>
                      </a: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边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中间过程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始终是</a:t>
                      </a: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一棵树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一片</a:t>
                      </a: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森林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关键操作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挑离树最近的顶点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 + 并查集判环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O(n²)（矩阵）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O(e log e)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适合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稠密图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稀疏图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257800" y="960120"/>
            <a:ext cx="342900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0" y="100584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三个点：A-B 2，B-C 2，A-C 3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 flipV="1">
            <a:off x="5656232" y="1744924"/>
            <a:ext cx="437575" cy="807831"/>
          </a:xfrm>
          <a:prstGeom prst="line">
            <a:avLst/>
          </a:prstGeom>
          <a:noFill/>
          <a:ln w="28575">
            <a:solidFill>
              <a:srgbClr val="C0392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545208" y="1969430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250592" y="1744924"/>
            <a:ext cx="437575" cy="807831"/>
          </a:xfrm>
          <a:prstGeom prst="line">
            <a:avLst/>
          </a:prstGeom>
          <a:noFill/>
          <a:ln w="19050">
            <a:solidFill>
              <a:srgbClr val="6B7B74"/>
            </a:solidFill>
            <a:prstDash val="dash"/>
          </a:ln>
        </p:spPr>
      </p:sp>
      <p:sp>
        <p:nvSpPr>
          <p:cNvPr id="13" name="Text 10"/>
          <p:cNvSpPr txBox="1"/>
          <p:nvPr/>
        </p:nvSpPr>
        <p:spPr>
          <a:xfrm>
            <a:off x="6396856" y="1969430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742432" y="2697480"/>
            <a:ext cx="859536" cy="0"/>
          </a:xfrm>
          <a:prstGeom prst="line">
            <a:avLst/>
          </a:prstGeom>
          <a:noFill/>
          <a:ln w="28575">
            <a:solidFill>
              <a:srgbClr val="C0392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971032" y="273405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413248" y="2532888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13248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007608" y="1435608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007608" y="1435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601968" y="2532888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601968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 flipV="1">
            <a:off x="7347872" y="1744924"/>
            <a:ext cx="437575" cy="807831"/>
          </a:xfrm>
          <a:prstGeom prst="line">
            <a:avLst/>
          </a:prstGeom>
          <a:noFill/>
          <a:ln w="28575">
            <a:solidFill>
              <a:srgbClr val="2E9E6B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236848" y="1969430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7942232" y="1744924"/>
            <a:ext cx="437575" cy="807831"/>
          </a:xfrm>
          <a:prstGeom prst="line">
            <a:avLst/>
          </a:prstGeom>
          <a:noFill/>
          <a:ln w="28575">
            <a:solidFill>
              <a:srgbClr val="2E9E6B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088496" y="1969430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7434072" y="2697480"/>
            <a:ext cx="859536" cy="0"/>
          </a:xfrm>
          <a:prstGeom prst="line">
            <a:avLst/>
          </a:prstGeom>
          <a:noFill/>
          <a:ln w="19050">
            <a:solidFill>
              <a:srgbClr val="6B7B74"/>
            </a:solidFill>
            <a:prstDash val="dash"/>
          </a:ln>
        </p:spPr>
      </p:sp>
      <p:sp>
        <p:nvSpPr>
          <p:cNvPr id="27" name="Text 24"/>
          <p:cNvSpPr txBox="1"/>
          <p:nvPr/>
        </p:nvSpPr>
        <p:spPr>
          <a:xfrm>
            <a:off x="7662672" y="273405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7104888" y="2532888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104888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7699248" y="1435608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699248" y="1435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8293608" y="2532888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E3D34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293608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303520" y="297180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Dijkstra(A) 树：5</a:t>
            </a:r>
            <a:endParaRPr lang="en-US" sz="1000" dirty="0"/>
          </a:p>
        </p:txBody>
      </p:sp>
      <p:sp>
        <p:nvSpPr>
          <p:cNvPr id="35" name="Text 32"/>
          <p:cNvSpPr txBox="1"/>
          <p:nvPr/>
        </p:nvSpPr>
        <p:spPr>
          <a:xfrm>
            <a:off x="7040880" y="29718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MST：4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5257800" y="3429000"/>
            <a:ext cx="3429000" cy="1234440"/>
          </a:xfrm>
          <a:prstGeom prst="roundRect">
            <a:avLst>
              <a:gd name="adj" fmla="val 5926"/>
            </a:avLst>
          </a:prstGeom>
          <a:solidFill>
            <a:srgbClr val="FDF0EE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5394960" y="35204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两个目标不同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394960" y="3813048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Dijkstra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保证每个点到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的距离最短；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MST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保证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总权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最小。结果自然不同。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457200" y="34290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两个算法走的路不同，得到的边集可以不同，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总权必须相同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40" name="Text 37"/>
          <p:cNvSpPr txBox="1"/>
          <p:nvPr/>
        </p:nvSpPr>
        <p:spPr>
          <a:xfrm>
            <a:off x="457200" y="4023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以上都依赖同一条 MST 性质。</a:t>
            </a:r>
            <a:endParaRPr lang="en-US" sz="11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✎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习题精选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课后想一想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85216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09728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1097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96012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负权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240280" y="960120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为什么不能给所有边统一加一个常数后继续用 Dijkstra？给出负权边反例。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1691640"/>
            <a:ext cx="585216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566928" y="182880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6928" y="1828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16916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最短路树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2240280" y="1691640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Dijkstra 是否给出一棵生成树？是否给出一棵最小生成树？证明你的结论。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2423160"/>
            <a:ext cx="585216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566928" y="256032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2560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242316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拓扑序计数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2240280" y="2423160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对图 7.29（原书习题 4）的有向图做拓扑排序，能得到多少个不同的拓扑序列？全部写出。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" y="3154680"/>
            <a:ext cx="585216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23" name="Shape 21"/>
          <p:cNvSpPr/>
          <p:nvPr/>
        </p:nvSpPr>
        <p:spPr>
          <a:xfrm>
            <a:off x="566928" y="329184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66928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" y="31546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存储取舍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2240280" y="3154680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code/ch07/adjacency_list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加一个删边接口，说明为什么删边在邻接表上是 O(deg u)、在矩阵上是 O(1)。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3886200"/>
            <a:ext cx="585216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28" name="Shape 26"/>
          <p:cNvSpPr/>
          <p:nvPr/>
        </p:nvSpPr>
        <p:spPr>
          <a:xfrm>
            <a:off x="566928" y="402336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66928" y="4023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051560" y="38862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关键路径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2240280" y="3886200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DAG 中设计关键路径算法，计算每个顶点的最早发生时间和工程总工期。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537960" y="960120"/>
            <a:ext cx="2148840" cy="2468880"/>
          </a:xfrm>
          <a:prstGeom prst="roundRect">
            <a:avLst>
              <a:gd name="adj" fmla="val 3404"/>
            </a:avLst>
          </a:prstGeom>
          <a:solidFill>
            <a:srgbClr val="F1F4F2"/>
          </a:solidFill>
          <a:ln/>
        </p:spPr>
      </p:sp>
      <p:pic>
        <p:nvPicPr>
          <p:cNvPr id="33" name="Image 0" descr="fig-7-2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58966" y="1024128"/>
            <a:ext cx="1906829" cy="2103120"/>
          </a:xfrm>
          <a:prstGeom prst="rect">
            <a:avLst/>
          </a:prstGeom>
        </p:spPr>
      </p:pic>
      <p:sp>
        <p:nvSpPr>
          <p:cNvPr id="34" name="Text 31"/>
          <p:cNvSpPr txBox="1"/>
          <p:nvPr/>
        </p:nvSpPr>
        <p:spPr>
          <a:xfrm>
            <a:off x="6537960" y="3154680"/>
            <a:ext cx="2148840" cy="2377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7.29  习题 4 的图例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6537960" y="361188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参考答案见 book/习题与参考答案.md 的同章小节。</a:t>
            </a:r>
            <a:endParaRPr lang="en-US" sz="9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概念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有向 / 无向 / 带权；度与入度出度；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连通分量与强连通分量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；生成树有 n−1 条边。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三种存储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 V²、O(1) 判边，适合稠密图；邻接表 V+E，适合稀疏图；十字链表合并出边与入边。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周游与拓扑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DFS ≈ 先根周游、BFS ≈ 层次周游（队列）；拓扑排序反复摘入度 0 的点，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顺便查环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最短路径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Dijkstra 是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，要求边权非负；Floyd 是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动态规划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，中转点在最外层。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MST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Prim 从点长树（稠密图），Kruskal 从边合并森林（稀疏图）；复杂度由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 + 存储结构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一起决定。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第七章 图</dc:title>
  <dc:subject>PptxGenJS Presentation</dc:subject>
  <dc:creator>Hongfei Yan</dc:creator>
  <cp:lastModifiedBy>Hongfei Yan</cp:lastModifiedBy>
  <cp:revision>1</cp:revision>
  <dcterms:created xsi:type="dcterms:W3CDTF">2026-10-08T08:02:37Z</dcterms:created>
  <dcterms:modified xsi:type="dcterms:W3CDTF">2026-10-08T08:02:37Z</dcterms:modified>
</cp:coreProperties>
</file>