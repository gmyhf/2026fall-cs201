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第12章  高级数据结构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把「存储、查找、回收」推到更复杂的对象上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多维数组的地址公式 · 三角 / 对称矩阵压缩 · 稀疏矩阵十字链表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广义表与共享 · 引用计数 · 可利用空间表 · 三种顺序适配 · 标记–清除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与 Patricia：按字符 / 按位分支，公共前缀只存一次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 的动态规划 · AVL 四种旋转 · 伸展树的均摊平衡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每一节都追问三个问题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一个逻辑对象落在哪些物理位置？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多维下标换算成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一个线性地址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；一个非零元同时挂在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行链和列链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上；一个子表可以被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多处共享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一次更新要同时维护哪些不变量？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、Trie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计数、AVL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——旋转前后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中序次序不变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结构失效或空间不足时怎样收尾？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句柄池耗尽返回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；变长块要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；引用计数收不回环，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按可达性回收。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读这一章不要只记结构名称：每种结构都要回答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落在哪、维护什么、怎样收尾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内容地图：四条独立的线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 多维数组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多维数组的存储：行优先 / 列优先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特殊矩阵：三角、对称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稀疏矩阵：三元组、十字链表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sparse_matrix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9748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 广义表与存储管理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广义表：纯表 / 再入表 / 循环表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共享与引用计数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可利用空间表（句柄池）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变长块：三种适配、合并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无用单元回收：标记–清除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gen_list · optimal_bst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memory_allocator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storage_recovery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060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与 Patricia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对象空间 vs 关键码空间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Trie、字母 Trie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Patricia：按位分支、压缩单孩子结点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0372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 改进的 BST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BST：扩充二叉树、动态规划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AVL：平衡因子、四种旋转、高度上界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伸展树：一字形 / 之字形、半伸展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optimal_bst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balanced_trees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1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广义表：头尾分解、三个指标、共享子表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724912"/>
          </a:xfrm>
          <a:prstGeom prst="roundRect">
            <a:avLst>
              <a:gd name="adj" fmla="val 268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633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dsa::advanced::GenList;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list = GenList::parse("(a,(b,c),d)");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      : %s\n", list.to_string().c_str());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std::printf("表头    : %s\n", list.head()-&gt;to_string().c_str());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std::printf("表尾    : %s\n", list.tail()-&gt;to_string().c_str());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std::printf("长度 %zu，深度 %zu，原子 %zu 个\n",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list.length(), list.depth(), list.atom_count());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再入表：同一个子表挂到两处，靠引用计数而不是拷贝。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shared = GenList::parse("(b,c)");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host = GenList::cons(shared, GenList::cons(shared, GenList()));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std::printf("共享后  : %s，被引用 %zu 次\n", host.to_string().c_str(), shared.use_count());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3291840" cy="978408"/>
          </a:xfrm>
          <a:prstGeom prst="roundRect">
            <a:avLst>
              <a:gd name="adj" fmla="val 747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86784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      : (a,(b,c),d)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表头    : a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表尾    : ((b,c),d)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长度 3，深度 2，原子 4 个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共享后  : ((b,c),(b,c))，被引用 3 次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931920" y="3730752"/>
            <a:ext cx="4754880" cy="978408"/>
          </a:xfrm>
          <a:prstGeom prst="roundRect">
            <a:avLst>
              <a:gd name="adj" fmla="val 747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69080" y="38221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4114800"/>
            <a:ext cx="4480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((b,c),d)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；长度、深度、原子数是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三个不同的问题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(b,c)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、挂在两处，计数 3：自己一份，两个宿主各一份。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2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句柄池复用槽位；最优 BST 算出总成本与根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dsa::advanced::ReusableNodePool&lt;int&gt; pool(2);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first = pool.acquire(11);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second = pool.acquire(22);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"申请到槽 " &lt;&lt; *first &lt;&lt; " 和 " &lt;&lt; *second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"，剩余 " &lt;&lt; pool.available()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pool.release(*first);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reused = pool.acquire(44);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"归还后再申请得到槽 " &lt;&lt; *reused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"，值为 " &lt;&lt; *pool.get(*reused)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tree = dsa::advanced::optimal_bst({1, 5, 4, 3}, {5, 4, 3, 2, 1});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"最优 BST 总成本 " &lt;&lt; tree.cost[0][4]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"，根为键 " &lt;&lt; tree.root[0][4]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-Icode/ch12/optimal_bst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code/ch12/optimal_bst/demo.cpp -o /tmp/bst-demo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362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216152"/>
            <a:ext cx="234086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申请到槽 0 和 1，剩余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归还后再申请得到槽 0，值为 44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最优 BST 总成本 57，根为键 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233172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2715768"/>
            <a:ext cx="234086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归还的槽 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马上被复用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：可利用空间表就是一个空闲栈。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教材样例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{1,5,4,3}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{5,4,3,2,1}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：总成本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，根是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个键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长度对不上的输入（如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optimal_bst({1,2}, {3,4})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3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与 Patricia：结点数是程序报的，不是数出来的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dsa::advanced::Trie trie;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dsa::advanced::PatriciaTree patricia;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char* word : {"can", "car", "cat", "do"})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trie.insert(word);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patricia.insert(word);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std::printf("Trie     : %zu 个词，%zu 个结点（字符总数 11）\n",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trie.size(), trie.node_count());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std::printf("Patricia : %zu 个词，%zu 个内部结点\n",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patricia.size(), patricia.internal_count());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std::printf("前缀 ca 下有 %zu 个词：", trie.count_with_prefix("ca"));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auto&amp; word : trie.keys_with_prefix("ca"))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std::printf("%s ", word.c_str());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std::printf("\n最长前缀匹配 dozen -&gt; %s（走不动就回退到最近词尾）\n",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trie.longest_prefix_of("dozen").c_str());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760720" y="96012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16152"/>
            <a:ext cx="270662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Trie     : 4 个词，7 个结点（字符总数 11）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Patricia : 4 个词，3 个内部结点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前缀 ca 下有 3 个词：can car cat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最长前缀匹配 dozen -&gt; do（走不动就回退到最近词尾）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288036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3264408"/>
            <a:ext cx="270662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个字符只要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只存了一次——前缀共享的全部价值。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 把单孩子结点压掉，只剩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个内部结点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dozen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之后走不动，回退到最近的词尾。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多个下标 → 一个线性地址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 / 列优先 · 三角与对称矩阵压缩 · 稀疏矩阵十字链表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12.1.1 多维数组的存储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多维数组：按某种周游次序排成一条线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数组的数组就是二维，二维数组再排成一列就是三维。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同一数组里元素类型相同；个数相对固定，生成后通常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只改值、不改相对位置和个数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自然采用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同时属于第 i 行和第 j 列，最多两个前驱、两个后继；推到 k 维，每个元素属于 k 个向量。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92040" y="100584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078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行优先（C++、Pascal）：先排最右的下标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7492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7784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8076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492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7784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75120" y="1810512"/>
            <a:ext cx="411480" cy="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7492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7784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8076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8076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08076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8368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660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8660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58952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58952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081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列优先（FORTRAN）：先排最左下标，公式左右对调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4290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4747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d₀ × d₁ × ⋯ × dₙ₋₁ 数组中 A[j₀, …, jₙ₋₁] 的偏移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34747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· ( Σᵢ₌₀ⁿ⁻² jᵢ · Πₖ₌ᵢ₊₁ⁿ⁻¹ dₖ  +  jₙ₋₁ )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是一个元素所占单元数。每个元素的定位时间相同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随机存储结构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。定位前仍要逐维检查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&lt;= j_i &lt; d_i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公式本身不会替程序发现越界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12.1.1 多维数组的存储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A[2][3][4]：A[1][2][3] 在哪？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不必真把 24 个元素列出来：最右一维每跨一步跳 1 个，中间一维跳 4 个，最左一维跳 3 × 4 = 12 个。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480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18288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后续维大小的乘积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× 4 = 12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个元素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74720"/>
            <a:ext cx="44805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int 占 4 字节，字节偏移是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。从左往右用霍纳法：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((1 * 3 + 2) * 4 + 3) * 4 = 92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79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一边读下标一边累乘，不必预存每一维的跨度。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166360" y="13716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303520" y="14630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测试布局：选能区分规则的下标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76088" y="1755648"/>
            <a:ext cx="3300984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列优先把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最左下标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当作变化最快的一维：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[1,2,3]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1 + 2×2 + 3×(2×3)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这个角落碰巧仍是 23——拿它测，两种布局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都能通过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，什么也没检出来。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[1,0,0]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：行优先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，列优先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12.1.2 特殊矩阵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三角矩阵与对称矩阵：只存有用的一半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62" y="1051560"/>
            <a:ext cx="3656317" cy="1353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459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  上三角矩阵和下三角矩阵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三角矩阵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：对角线一侧全是 0 或常数 c，只存另一侧加那个常数，共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(n² + n) / 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个单元。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下三角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（i ≥ j）前面有 i 行、共 (i² + i)/2 个元素，再加本行的 j。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对称矩阵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 = a[j][i]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，只存下三角（含对角线），另一半用对称关系映射。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3108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一维数组 list[0 .. (n²+n)/2 − 1] 的下标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下三角 / 对称矩阵，i ≥ j：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(i² + i) / 2 + j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023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对称矩阵，i &lt; j：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40233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(j² + j) / 2 + i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12.1.2 特殊矩阵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阶下三角按行压缩：a₃,₁ 落在哪？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阶下三角（格内是压缩后的下标）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solidFill>
            <a:srgbClr val="F9E3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46304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13716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463040" y="1828800"/>
            <a:ext cx="548640" cy="45720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11680" y="18288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18288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480" y="18288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46304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6304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560320" y="22860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" y="2286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463040" y="2743200"/>
            <a:ext cx="548640" cy="45720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6304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01168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11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56032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56032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" y="2743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i=3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j=1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01168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56032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611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压缩后的一维数组：各行区间 [0]、[1..2]、[3..5]、[6..9]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57200" y="3977640"/>
            <a:ext cx="475488" cy="384048"/>
          </a:xfrm>
          <a:prstGeom prst="rect">
            <a:avLst/>
          </a:prstGeom>
          <a:solidFill>
            <a:srgbClr val="F9E3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32688" y="3977640"/>
            <a:ext cx="475488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32688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32688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408176" y="3977640"/>
            <a:ext cx="475488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408176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408176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883664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83664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a20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1883664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359152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359152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a21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2359152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834640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4640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a22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2834640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310128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310128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a30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3310128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3785616" y="3977640"/>
            <a:ext cx="475488" cy="384048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85616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a31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3785616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261104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261104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a32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4261104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736592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736592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a33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4736592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5394960" y="96012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532120" y="1051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a₃,₁ → 下标 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504688" y="1344168"/>
            <a:ext cx="30723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行之前有 (9 + 3)/2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个元素，再加本行 j = 1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+ 1 = 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上三角位置 a₁,₃：若矩阵对称，先换成 a₃,₁，仍读下标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5394960" y="320040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532120" y="3291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核对口诀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5532120" y="35844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先判断三角区域、再套公式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，比背两套公式容易核对。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非零元很少、分布又不规则：不要再分配整块二维数组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976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× n 矩阵有 t 个非零元，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 δ = t / (mn)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；通常 δ &lt; 0.05 就按稀疏处理。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改存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三元组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(行, 列, 值)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的线性表，或用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每个非零元同时挂在一条行链和一条列链上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，按行、按列遍历都方便。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现代视角：COO / CSR / CSC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9300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十字链表（orthogonal list）适合需要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频繁按行、按列更新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的场合。现代数值计算更常用 COO（三元组）、CSR（压缩稀疏行）、CSC（压缩稀疏列）：连续存储、缓存局部性更好，但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动态插入通常要批量重建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83480" y="960120"/>
            <a:ext cx="3703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12" name="Image 0" descr="fig-12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505966"/>
            <a:ext cx="3520440" cy="23190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029200" y="43342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  稀疏矩阵的十字链表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三种存法的代价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228600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整块二维数组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三元组线性表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十字链表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O(t)，每个元多一个指针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a_ij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O(该行非零元数)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按列扫一遍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O(t)，要滤掉别的列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O(该列非零元数)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插入一个非零元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O(t)，要挪动后面的项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O(行内 + 列内定位)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587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「取 a_ij」那一行是十字链表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的地方；「按列扫」「插入」才是它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存在的理由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。选数据结构不看它哪里最好，看它在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你的负载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上哪几行最重要。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× 200 的对角线矩阵：扫第 7 列只走过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个结点，而不是全表的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十字链表：一次更新要同时维护两条链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× 5 矩阵，只列非零元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13258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13258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7373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45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51760" y="13258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51760" y="13258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32588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1728216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80160" y="2130552"/>
            <a:ext cx="457200" cy="402336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280160" y="21305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7373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45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21305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801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373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94560" y="2532888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94560" y="25328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517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2920" y="253288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2801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21945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6517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(0,1,8) (0,4,2) (2,1,5) (3,3,7)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520440"/>
            <a:ext cx="32004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(2,1,5)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在第 2 行链里是唯一结点，在第 1 列链里却接在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(0,1,8)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后面。删掉它要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摘两次链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2 行头改为空；第 1 列中让 8 的下继越过 5。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17320"/>
                <a:gridCol w="731520"/>
                <a:gridCol w="1463040"/>
                <a:gridCol w="365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0 行链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行链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 列链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(0,1,8)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(0,1,8) -&gt; 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41"/>
          <p:cNvSpPr/>
          <p:nvPr/>
        </p:nvSpPr>
        <p:spPr>
          <a:xfrm>
            <a:off x="3840480" y="2697480"/>
            <a:ext cx="48463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397764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测试至少查四件事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950208" y="3081528"/>
            <a:ext cx="46268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新坐标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同时出现在两条链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覆盖同坐标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不增加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非零元数（找到旧结点改值）。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赋值为 0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等价于删除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两条链都找不到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code/ch12/sparse_matrix（上）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set：先在第 row 行链上定位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set(std::size_t row, std::size_t col, int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check(row, col);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row_prev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cursor = row_heads_[row];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(cursor != nullptr &amp;&amp; cursor-&gt;col &lt; col)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++steps_;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row_prev = cursor;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cursor = cursor-&gt;right;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exists = cursor != nullptr &amp;&amp; cursor-&gt;col == col;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(exists &amp;&amp; value !=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cursor-&gt;value = value;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就地改值，两条链一根都不用动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(exists)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unlink(row, col, row_prev, cursor);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本来就是零元，什么都不用做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960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结点：五个域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2801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45352" y="1325880"/>
            <a:ext cx="2368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行链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down;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列链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7432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三个分支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3127248"/>
            <a:ext cx="229514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已存在、新值非 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就地改值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已存在、新值为 0 → 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上摘掉。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不存在、新值为 0 → 什么都不做。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剩下的情况才要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（下页）。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code/ch12/sparse_matrix（下）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set：再在第 col 列链上定位，两条链同时接上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col_prev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down_cursor = col_heads_[col];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(down_cursor != nullptr &amp;&amp; down_cursor-&gt;row &lt; row)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++steps_;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col_prev = down_cursor;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down_cursor = down_cursor-&gt;down;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Node{row, col, value, cursor, down_cursor};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(row_prev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row_prev-&gt;right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row_heads_[row]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(col_prev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col_prev-&gt;down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col_heads_[col]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++count_;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51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定位是局部的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34416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只在第 row 行和第 col 列上各走一段，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不碰其他行列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。新结点的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接行内后继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接列内后继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down_cursor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926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删除：unlink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218688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行链前驱在 set 里已经找到；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列链的前驱要现找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——结点只存后继，不存前驱。两条链各摘一次，再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--count_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所有权归容器：两条链都是裸指针，析构迭代释放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unique_ptr 串链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上，只能有一个主人——所有权归容器，链上都是观察指针。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串行链，析构是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的：一行里非零元一多，就会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压穿栈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判据见 2.3.1 节「所有权工具怎么选」；实测数字在该单元的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legacy.md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clear()：逐行沿 right 迭代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1645920"/>
            <a:ext cx="3703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19472" y="1691640"/>
            <a:ext cx="3557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(Node*&amp; head : row_heads_)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 = head;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(p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next = p-&gt;right;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(Node*&amp; head : col_heads_)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每个结点恰在一条行链上 → 沿行链释放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每个只删一次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；列头只需清空。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广义表和存储管理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元素可以是表 · 共享与环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 · 可利用空间表 · 首次 / 最佳 / 最坏适应 · 标记–清除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广义表的定义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广义表：元素可以是原子，也可以是另一个广义表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是第一个元素，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是去掉表头后剩下的那个表；空表既没有头也没有尾。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任何非空广义表都能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拆成「头 + 尾」→ 递归算法写成「先处理头、再处理尾」就和定义对上了。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L = (a, (b,c), d) 连续拆解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head(L)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6517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80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tail(L)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980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((b,c),d)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101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head((b,c))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310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tail((b,c))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6393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(c)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只数最外层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4028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4028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要进入子表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4904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 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遍历所有层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532120" y="96012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现代视角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134416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「广义表」是教材中的历史名称；今天通常叫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嵌套对象、对象图、共享 DAG 或循环对象图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——编译器 AST、JSON/XML 的嵌套值、内容寻址存储里的共享节点，都能用头尾分解、共享和环来解释。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为什么这一节只有 C++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：结点被多个表共享、释放要避免重复访问、还要处理环。Python 的引用计数 / GC 会替你维护这些，本节就没了。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广义表的分类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按是否共享、是否有环：线性表 → 纯表 → 再入表 → 循环表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endParaRPr lang="en-US" sz="1200" dirty="0"/>
          </a:p>
        </p:txBody>
      </p:sp>
      <p:pic>
        <p:nvPicPr>
          <p:cNvPr id="9" name="Image 0" descr="fig-12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80651"/>
            <a:ext cx="1737360" cy="89863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元素全是原子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56032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5176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 ↔ 树</a:t>
            </a:r>
            <a:endParaRPr lang="en-US" sz="1200" dirty="0"/>
          </a:p>
        </p:txBody>
      </p:sp>
      <p:pic>
        <p:nvPicPr>
          <p:cNvPr id="13" name="Image 1" descr="fig-12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564473"/>
            <a:ext cx="1737360" cy="9309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5176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每个子表只出现一次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66344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75488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再入表 ↔ DAG</a:t>
            </a:r>
            <a:endParaRPr lang="en-US" sz="1200" dirty="0"/>
          </a:p>
        </p:txBody>
      </p:sp>
      <p:pic>
        <p:nvPicPr>
          <p:cNvPr id="17" name="Image 2" descr="fig-12-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94606"/>
            <a:ext cx="1737360" cy="67072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5488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子表可被共享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76656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85800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 ↔ 有环图</a:t>
            </a:r>
            <a:endParaRPr lang="en-US" sz="1200" dirty="0"/>
          </a:p>
        </p:txBody>
      </p:sp>
      <p:pic>
        <p:nvPicPr>
          <p:cNvPr id="21" name="Image 3" descr="fig-12-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575297"/>
            <a:ext cx="1737360" cy="9093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子表可以包含自己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57200" y="321868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40080" y="32186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 ⊇  再入表（循环表是带回路的特殊再入表）  ⊇  纯表  ⊇  线性表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457200" y="37947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94360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标号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594360" y="41788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共享时允许对子表和原子标号，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重复出现的标号代替对应的元素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；写循环表的括号形式必须用标号。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663440" y="37947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4800600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= 展开后括号的层数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4800600" y="41788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线性表深度 1；图 12.4、12.5 深度 3；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循环表深度为无穷大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 · code/ch12/gen_list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GenNode 与 cons：头 + 尾 → 新表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GenNode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enum class Tag { Atom, List 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Tag tag = Tag::Atom;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value = '\0';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Atom 时有效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GenNode* head = nullptr;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List 时有效：表头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GenNode* tail = nullptr;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List 时有效：表尾，空表用 nullptr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refs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表头 + 表尾 → 新表。原书的「任何非空广义表都能唯一拆成头和尾」的逆运算。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GenList cons(const GenList&amp; head, const GenList&amp; tail)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(tail.node_ != nullptr &amp;&amp; tail.node_-&gt;tag != GenNode::Tag::List)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std::invalid_argument("tail must be a list");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auto* node = new GenNode{GenNode::Tag::List, '\0', head.node_, tail.node_, 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retain(node-&gt;head);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retain(node-&gt;tail);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GenList(node);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760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表用「头 + 尾」表示：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(a,(b,c),d)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cons(a, cons((b,c), cons(d, ())))。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960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计数放在结点上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1344168"/>
            <a:ext cx="202082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：有几处引用这个结点。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负责加减：拷贝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，析构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对头、尾各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共享而不是拷贝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3520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表尾必须是表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8130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是原子属于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用错接口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，抛异常；空表的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 · code/ch12/gen_list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共享一旦发生，回收就不能再按树递归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retain(GenNode*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++node-&gt;refs;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release(GenNode*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计数归零才真正删除；共享的子表因此只会被删一次。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 &amp;&amp; --node-&gt;refs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GenNode* const head = node-&gt;head;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GenNode* const tail = node-&gt;tail;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表尾用循环走，长表不会把栈压穿；表头递归，深度由嵌套层数决定。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release(head);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tail;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pic>
        <p:nvPicPr>
          <p:cNvPr id="10" name="Image 0" descr="fig-12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6474" y="3886200"/>
            <a:ext cx="1776413" cy="685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80760" y="96012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190488" y="1344168"/>
            <a:ext cx="2386584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按树递归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会把共享的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(b,c)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删两次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沿表尾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、只对表头递归：三万个元素的长表析构不压栈，栈深只跟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嵌套层数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shared_ptr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：本节要教的就是「谁来回收共享结点」。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356616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17920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引用计数收不回环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39502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本书接口自底向上建表，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造不出循环表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。环交给 12.2.4 的标记–清除。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等长结点的复用：从全局 avail 链到显式句柄池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1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426" y="1051560"/>
            <a:ext cx="4259548" cy="16276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7340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12.10  等长结点的可利用空间表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56616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 new/delete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一条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链；所有对象共享隐式全局状态，结束时还要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整条链。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83464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EAF4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7180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现代实现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356616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显式索引句柄池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acquire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从空闲栈弹下标，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推回；耗尽返回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，重复 / 越界归还返回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960120"/>
            <a:ext cx="34290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「可利用空间表」（free list）是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固定大小对象池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的历史叫法。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工程中按对象大小用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arena、pool、slab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allocator——都把分配路径和所有权边界显式化。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释放后的下标失效，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本章的句柄池把「失败」做成返回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不劫持全局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容量为 3 的句柄池：一张账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7548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100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下一可用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acquire(A)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acquire(B)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release(0)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acquire(C)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初始空闲栈顶依次是 0, 1, 2；归还 0 后空闲栈是 0, 2；再申请 C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 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40680" y="1005840"/>
            <a:ext cx="32461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77840" y="10972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旧句柄 0 已经失效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1389888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 0 后来又出现，却代表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新的占用期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。真实系统要识别「拿旧句柄误访问新对象」，还会在句柄里加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（generation）；本节的简化池只保证空闲槽不可读、重复释放会失败。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40680" y="315468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3246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为什么要先查占用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3538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若不确认槽位处于占用状态，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重复归还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会让空闲栈出现两个 0，之后两次申请可能拿到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code/ch12/optimal_bst（上）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ReusableNodePool：构造与 acquire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ReusableNodePool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ReusableNodePool(std::size_t capacity) : slots_(capacity)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capacity;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free_.push_back(capacity - index - 1);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acquire(const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(free_.empty())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index = free_.back();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free_.pop_back();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slots_[index]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2588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vector&lt;optional&lt;T&gt;&gt; slots_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槽位：有值 = 占用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vector&lt;size_t&gt; free_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空闲栈：存空槽下标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9748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88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下标从大到小入栈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81528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构造时压入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capacity-1, …, 1,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，栈顶是 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 acquire 拿到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，与演示输出「申请到槽 0 和 1」一致。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，不是异常。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code/ch12/optimal_bst（下）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/ get：先确认占用，再归还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release(std::size_t 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 || !slots_[index])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slots_[index].reset();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free_.push_back(index);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T* get(std::size_t index) const noexcept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 || !slots_[index])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&amp;*slots_[index];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available() const noexcept { return free_.size();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std::vector&lt;std::optional&lt;T&gt;&gt; slots_;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free_;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的两道闸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&gt;= slots_.size()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重复归还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：槽已空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!slots_[index]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清空槽，再推回空闲栈。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32918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383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 对空槽给空指针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7588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释放后的下标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，而不是读到上一轮留下的旧值。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顺序适配（sequential fit）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 / 最佳 / 最差适配：只在「挑哪一块」这一步不同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变长空闲块自带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标记位、块长度、双链指针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，空闲表不再是栈。分配 N 时找一块 K ≥ N：整块给出，多余的浪费在块内（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内部碎片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）；切出 N、剩 K − N 另成空闲块，长期运行留下一堆用不上的小块（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外部碎片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首先适配 First fit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从表头顺次搜索，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请求的就分配。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改进：记住上次搜到的位置，从那里接着搜，到表尾再绕回表头（今天叫 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fit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速度快；但可能把大块拆小，后来难以满足大请求。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338328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8328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最佳适配 Best fit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41071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在所有 ≥ 请求的块中挑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的一块。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41071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实现：扫整个无序表；或把空闲块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从小到大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排成优先队列，只需从表头往后看。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5584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4728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大请求无法满足的可能性最低；但剩下的碎片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，外部碎片可能很严重。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17220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7220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最差适配 Worst fit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每次分配当前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的块。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19963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指望剩下的部分还大到能再用一次。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4476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3620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剩下的还能再分；但大块很快被拆光。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空闲区 500、200、300、600，请求 212 字节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10972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54864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1234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234440"/>
            <a:ext cx="73152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1234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1234440"/>
            <a:ext cx="128016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1234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灰色是已分配块，把空闲区隔开，所以不会合并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80160" y="1051560"/>
            <a:ext cx="0" cy="16459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83464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51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11480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5156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188720"/>
                <a:gridCol w="4754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剩下的碎片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首次适应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找到就停，扫得最少；小碎片在低地址堆积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大块留住了，但剩下的碎片最碎、最难再用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剩下的还大到能再分一次；大块很快被拆光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测试要用多块、大小不同的空闲区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空闲区上测，三种策略必然挑中同一块——把最佳适应和最坏适应的判据对调，测试照样全绿。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code/ch12/memory_allocator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的测试用的正是上面这组数字。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 · code/ch12/memory_allocator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select：三种策略的唯一分歧点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Fit { First, Best, Worst 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三种策略的唯一分歧点。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select(std::size_t bytes, Fit fit)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scanned_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chosen;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blocks_.size();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(!blocks_[i].free || blocks_[i].size &lt; bytes)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(fit == Fit::First)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第一块够大的就走，不再往后看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(!chosen)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(fit == Fit::Best &amp;&amp; blocks_[i].size &lt; blocks_[*chosen].size)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(fit == Fit::Worst &amp;&amp; blocks_[i].size &gt; blocks_[*chosen].size)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chosen;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：命中即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，后面的块不看。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/ Worst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：扫完全表，比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scanned_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记扫过几块：首次适应通常最小——这是它「快」的全部含义。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blocks_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偏移升序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，覆盖整段空间、无空洞。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释放块 M：与相邻空闲块合并的四种位置关系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左右都忙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8872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592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单独入空闲表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6032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65176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只有左边空闲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83464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346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490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扩大左块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只有右边空闲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93776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377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39496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949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85216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521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右块起点移到 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76656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85800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左右都空闲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04088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408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980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5528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552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三块合成一块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6060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pic>
        <p:nvPicPr>
          <p:cNvPr id="44" name="Image 0" descr="fig-12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57" y="2697480"/>
            <a:ext cx="2951325" cy="89611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502920" y="36484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12.13  释放 M 时与相邻空闲块合并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顺序表实现检查前后项；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边界标记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（块头块尾各记一份大小与忙闲）从 M 的块头、块尾 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找到物理邻居。本书按偏移升序存块表，相邻块就是表里相邻的项——同一个想法，代价是定位要扫表。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4663440" y="2606040"/>
            <a:ext cx="402336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480060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外部碎片可以量出来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4773168" y="2990088"/>
            <a:ext cx="380390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释放出两个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30 字节空洞：空闲总量 60，最大一块只有 30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 字节的请求失败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把中间那块也释放、三块并成一整块 → 同样的请求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立刻能满足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装不下一个请求时，看的是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largest_free_block()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，不是空闲总量。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 · code/ch12/memory_allocator（上）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allocate：挑块，够大就分裂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264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801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allocate(std::size_t bytes, Fit fit)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(bytes ==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std::invalid_argument("BoundaryAllocator: size must be positive");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std::optional&lt;std::size_t&gt; chosen = select(bytes, fit);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(!chosen)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Block&amp; block = blocks_[*chosen];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(block.size &gt; bytes)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分裂：剩下的那截仍然空闲，作为下一项插进块表。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Block rest{block.offset + bytes, block.size - bytes, true};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block.size = bytes;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blocks_.insert(blocks_.begin() + static_cast&lt;std::ptrdiff_t&gt;(*chosen) + 1, rest);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blocks_[*chosen].free =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blocks_[*chosen].offset;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6126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两种失败，两种口径：请求 0 字节是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调用方用错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，抛异常；空间不足是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12280" y="960120"/>
            <a:ext cx="1874520" cy="37033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1344168"/>
            <a:ext cx="16550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块比请求大：前半截给请求者，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后半截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仍空闲，插在块表下一项。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块表始终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按偏移升序、覆盖整段、无空洞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返回的是块的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，释放时凭它找回块。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 · code/ch12/memory_allocator（下）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+ coalesce：先合右，再合左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264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801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release(std::size_t offset)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std::optional&lt;std::size_t&gt; index = index_of(offset);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(!index || blocks_[*index].free)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blocks_[*index].free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coalesce(*index);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与左右两侧的空闲块合并。**先合右再合左**：先处理右边，左边的下标才不会失效。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不合并的话，外部碎片只会越积越多——这是本节的正题。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coalesce(std::size_t 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+ 1 &lt; blocks_.size() &amp;&amp; blocks_[index + 1].free)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blocks_[index].size += blocks_[index + 1].size;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blocks_.erase(blocks_.begin() + static_cast&lt;std::ptrdiff_t&gt;(index) + 1);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 0 &amp;&amp; blocks_[index - 1].free)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blocks_[index - 1].size += blocks_[index].size;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blocks_.erase(blocks_.begin() + static_cast&lt;std::ptrdiff_t&gt;(index));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为什么先合右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合右删的是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本身不动；若先合左，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那一项被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，再去看右边就用错了下标。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32004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重复释放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58444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偏移上没有块，或块已空闲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四种位置关系在这里只剩两个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：右邻空闲就吞掉右邻，左邻空闲就被左邻吞掉。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失败处理策略和无用单元回收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分配失败时：拒绝、压缩，或回收够不着的块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直接拒绝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压缩：把已分配块搬到一起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垃圾回收：收回够不着却占着的块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087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6596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每个对象记有多少指针指着它，减到零就释放。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实现简单；但对象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互相指形成环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时，计数永远掉不到零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内存泄漏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15087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96596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（栈上的指针、全局变量）出发，走遍能碰到的对象并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；再扫一遍堆，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没标记的统统回收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能处理环；但要能从根集走到每个活对象，还要区分「指针」和「像地址的整数」。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pic>
        <p:nvPicPr>
          <p:cNvPr id="20" name="Image 0" descr="fig-12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28" y="3931920"/>
            <a:ext cx="1995544" cy="640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3383280" y="3840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12.14  无根循环引用不会自行消失。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判生死的是可达性，不是入度或引用数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——这正是循环引用能被整组收回的原因。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无用单元回收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标记–清除走一遍：根集只有 R → A → B，另有 C ⇄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R（根）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51660" y="1211580"/>
            <a:ext cx="411480" cy="411480"/>
          </a:xfrm>
          <a:prstGeom prst="ellipse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51660" y="12115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03220" y="1211580"/>
            <a:ext cx="411480" cy="411480"/>
          </a:xfrm>
          <a:prstGeom prst="ellipse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3220" y="12115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54480" y="1417320"/>
            <a:ext cx="29260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67712" y="1417320"/>
            <a:ext cx="630936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257300" y="2308860"/>
            <a:ext cx="411480" cy="411480"/>
          </a:xfrm>
          <a:prstGeom prst="ellipse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57300" y="23088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37460" y="2308860"/>
            <a:ext cx="411480" cy="411480"/>
          </a:xfrm>
          <a:prstGeom prst="ellipse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37460" y="23088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73352" y="2423160"/>
            <a:ext cx="859536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1673352" y="2606040"/>
            <a:ext cx="859536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2880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 各有一个入边，却从任何根都走不到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60120"/>
          <a:ext cx="4709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960120"/>
                <a:gridCol w="82296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已标记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放入根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根先标记再入栈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 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 A → B 发现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标记阶段结束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 A、B；</a:t>
                      </a: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回收 C、D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977640" y="3063240"/>
            <a:ext cx="470916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14800" y="3154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一定要「先标记、再入栈」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44728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若等到弹出时才标，环或菱形共享会把同一结点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反复压栈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；结果也许仍对，空间和时间却可能失控。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34747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一个被三处引用的对象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3858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谁都够不着根 → 引用计数收不回，标记–清除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3977640" y="41605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清除阶段顺着堆里所有对象串成的链走一遍：没标记的删掉，有标记的把标记清零，为下一轮复位。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无用单元回收 · code/ch12/storage_recovery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 = mark + sweep；标记用显式栈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collect(const std::vector&lt;Node*&gt;&amp;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mark(roots);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sweep();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mark(const std::vector&lt;Node*&gt;&amp;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std::vector&lt;Node*&gt; pending;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 root :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(root != nullptr &amp;&amp; !root-&gt;marked)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root-&gt;marked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pending.push_back(root);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(!pending.empty())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node = pending.back();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pending.pop_back();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(Node* next : node-&gt;edges)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(next != nullptr &amp;&amp; !next-&gt;marked)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next-&gt;marked = true;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先标记再入栈：环不会让这里转不出来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pending.push_back(next);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44168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 恰恰是在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内存吃紧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时跑的，那时最不该再去吃调用栈。测试里有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万个对象的深链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，递归标记必然压穿栈。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它仍是教学模型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3264408"/>
            <a:ext cx="21122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出边是一张表，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没有栈扫描、写屏障、分代，也不区分指针与整数——那恰恰是真实 GC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结构和 Patricia 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换一种「分解」：按关键码的字符或位分层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 · 字母 Trie · 最长前缀匹配 · Patricia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 Trie 分属两种「分解」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对象空间分解（BST）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关键码范围怎么划分，由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存进树里的关键码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树形与输入顺序关系很大：升序输入退化成线性表，查找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33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关键码空间分解（Trie）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预定义划分位置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，均分关键码范围。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不依赖插入顺序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，深度只受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影响：0～255 的整数精度 8 位，只在最低位不同的两个关键码到第 8 次划分才分开。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29000"/>
            <a:ext cx="539496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「trie」来自 re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val：信息检索；常用于存英文词典。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基于两个原则：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关键码集合固定；能对结点分层标记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（如 0～9 的数字，根分出 10 个子结点）。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B+ 树一样，内部结点只作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引导检索，数据记录只存在叶结点。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34290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但不保证平衡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81304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关键码分布不均时，比如都小于根的划分点，右子树就一个元素也没有。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二叉 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Trie：按数值区间对半分，左枝 0、右枝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2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4584"/>
            <a:ext cx="4663440" cy="28417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43342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12.16  二叉 Trie 树（元素 2、5、9、17、41、45、63）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32120" y="960120"/>
            <a:ext cx="315468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最大元素 63 → 关键码范围取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 64)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根把范围劈成 [0, 32) 和 [32, 64)：2、5、9、17 进左子树，41、45、63 进右子树。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再往下继续对半分，直到每个元素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单独落在一个叶上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同一棵子树下的关键码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共享父结点代表的前缀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32120" y="3657600"/>
            <a:ext cx="31546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0" y="3749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老朋友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4041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章的 Huffman 编码树也有「共享前缀」这个性质——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树就是一种二叉 Trie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字母 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can、car、cat、do 插进字母 Trie：公共前缀 ca 只存一次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223113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·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d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|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   o*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/|\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n* r* t*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 * 的是词尾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63240" y="96012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0" descr="fig-12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44062" y="1051560"/>
            <a:ext cx="4661916" cy="18562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108960" y="296265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12.17  按字符分支存放单词的 Trie（原书例）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51206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层对应第 i 个字符；查找沿字符走，时间与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成正比，与表里有多少个词关系不大。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：c–a–r，三步；查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b 处没有分支，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（路由）：走到不能再走为止，回退到最近的词尾。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0" y="3520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个字符 → 7 个结点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390448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c、a、n、r、t、d、o：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只存了一次。字典、IP 路由这类「按前缀分类」的问题特别合适。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Trie::insert：沿途建结点，并维护 passing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insert(std::string_view word)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validate(word);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&amp;root_;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char letter : word)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slot = index_of(letter);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(!node-&gt;children[slot])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node-&gt;children[slot] = std::make_unique&lt;Node&gt;();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++nodes_;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node-&gt;children[slot].get();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++node-&gt;passing;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(node-&gt;terminal)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词已存在：把刚才一路加上的 passing 退回去。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unwind(word);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node-&gt;terminal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261872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53912" y="1307592"/>
            <a:ext cx="245973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std::array&lt;std::unique_ptr&lt;Node&gt;,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kAlphabet&gt; children{};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terminal =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passing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80760" y="26060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passing 与 terminal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990088"/>
            <a:ext cx="23865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：有多少个词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count_with_prefix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一次问答，不必把子树数一遍。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：这里是不是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字母表限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a..z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，越界字符抛异常。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Patricia：把「只有一个孩子」的结点压缩掉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12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984" y="1051560"/>
            <a:ext cx="3000073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455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12.19  x 表示那一位取 0 或 1 都落在同一枝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12-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949" y="1051560"/>
            <a:ext cx="3240061" cy="20391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31455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12.20  压缩后的 PATRICIA Trie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Trie 在单孩子内部结点上仍然分支，路径偏长。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不需要用来分支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——把这样的层去掉就是 Patricia。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内部结点不再逐位下降，而是各自记住「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该比第几位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」；查找按记下的位取关键码的那一位，决定走左还是走右。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36118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17220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39959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路径更短、结点更少，仍保持前缀共享——同样四个词，Patricia 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个内部结点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两块基石：按位取值、第一次不同在第几位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bit_of(std::string_view key, std::size_t index)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byte = index / 8;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(byte &gt;= key.size())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越过关键码长度，一律读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value = static_cast&lt;unsigned char&gt;(key[byte]);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((value &gt;&gt; (7 - index % 8)) &amp; 1U) !=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optional_bit first_differing_bit(std::string_view a, std::string_view b)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longest = a.size() &gt; b.size() ? a.size() : b.size();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bits = (longest + 1) * 8;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让「一个是另一个的前缀」也能分开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bits;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(bit_of(a, i) != bit_of(b, i))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{true, i};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760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关键码按字节的位串看待，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最高位在前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index 位在第 index / 8 个字节里，右移 7 − index % 8 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96012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越界读 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134416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这种「一个是另一个的前缀」也能分开；代价是关键码里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不能出现 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叶上必须再比一次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127248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沿位下降到叶后，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必须和叶上的完整关键码再比一次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——路上只看了少数几位，不比就会把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判成命中。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'a' 与 'c'：第一次不同在第 6 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= 0x61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202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774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774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346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918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918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490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062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062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1188720"/>
            <a:ext cx="457200" cy="41148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20640" y="1188720"/>
            <a:ext cx="4572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7830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'c' = 0x63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774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774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3774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8346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8346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918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918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32918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7490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490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37490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062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062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2062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663440" y="1783080"/>
            <a:ext cx="457200" cy="41148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6634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120640" y="1783080"/>
            <a:ext cx="4572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206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1206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434840" y="804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位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92040" y="100584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192024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位号（从 0 起，最高位在前）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89320" y="10241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内部结点只记分歧位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063740" y="1394460"/>
            <a:ext cx="411480" cy="41148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063740" y="1394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 flipH="1">
            <a:off x="6675120" y="1783080"/>
            <a:ext cx="457200" cy="4114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406640" y="1783080"/>
            <a:ext cx="457200" cy="4114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55080" y="219456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355080" y="21945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543800" y="219456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543800" y="21945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6629400" y="1783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726680" y="1783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分别是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01100001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01100011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，前六位相同，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第一次不同在从 0 起算的第 6 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 内部结点只记这个分歧位：该位为 0 走一边，为 1 走另一边；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前面六个相同位不再各占一层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插入新键：先走到叶、找出首个不同位，再把新分支插到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位号仍保持递增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的位置——否则查找路径会跳过应比较的位。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前半：沿位下降到叶，求首个不同位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insert(std::string_view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validate(key);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(root_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root_ = make_leaf(key);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leaf = descend(key);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optional_bit differing = first_differing_bit(leaf-&gt;key, 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(!differing.found)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已经在树里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Node* descend(std::string_view key)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root_.get();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(node-&gt;is_internal())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bit_of(key, node-&gt;bit) ? node-&gt;right.get() : node-&gt;left.get();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37960" y="96012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descend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344168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内部结点记着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：按关键码的那一位走左（0）或右（1），直到叶。路上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只看了少数几位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2834640"/>
            <a:ext cx="214884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2926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和叶比完整关键码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218688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没有不同位 → 已在树里；有 → 分歧位就是新内部结点要记的位。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同理：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leaf-&gt;key == key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后半：从根重走，插到位号递增的位置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differing.index 位上插入一个新的内部结点。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std::unique_ptr&lt;Node&gt;* slot = &amp;root_;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((*slot)-&gt;is_internal() &amp;&amp; (*slot)-&gt;bit &lt; differing.index)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slot = bit_of(key, (*slot)-&gt;bit) ? &amp;(*slot)-&gt;right : &amp;(*slot)-&gt;left;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node = std::make_unique&lt;Node&gt;();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node-&gt;bit = differing.index;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leaf_node = make_leaf(key);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(bit_of(key, differing.index))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std::move(*slot);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std::move(leaf_node);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std::move(*slot);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std::move(leaf_node);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*slot = std::move(node);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++internal_;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37960" y="960120"/>
            <a:ext cx="2148840" cy="26060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7688" y="1344168"/>
            <a:ext cx="1929384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从根重走，停在第一个位号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分歧位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的地方（或叶）。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新内部结点记分歧位：新键该位为 1 → 新叶在右，原子树在左；反之亦然。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位号沿路径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保持递增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，查找才不会跳过应比较的位。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37033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37947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每插一个键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08736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一个内部结点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、一个叶：4 个词 → 3 个内部结点。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改进的二叉搜索树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按访问权重、严格高度平衡、访问局部性改进查找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BST（动态规划） · AVL 树 · 伸展树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同一批关键码，插入次序不同，长出的 BST 就不同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12-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117" y="1051560"/>
            <a:ext cx="3367806" cy="153619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426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12.21  按给定次序插入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11" name="Image 1" descr="fig-12-2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922" y="1051560"/>
            <a:ext cx="2296117" cy="153619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26426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12.22  同一批关键码倒着插入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3108960"/>
            <a:ext cx="55778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K = { xal, wan, wil, zol, yo, xul, yum, wen, wim, zi, yon, xem, wul, zom }。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个关键码有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种插入次序，但不同次序可能长出同一棵树；真正不同的形状只有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C(2n, n) / (n+1)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棵（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等价问法：中序是 {1, 2, …, n} 时有多少种前序排列——例如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{2, 3, 1} 不是任何 BST 的前序排列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63640" y="3108960"/>
            <a:ext cx="24231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0" y="32004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0" y="349300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 C(2n, n)/(n+1) 棵树里，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哪一棵检索效率最好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扩充二叉树：成功代价落在内部结点，失败代价落在外部结点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8" name="Image 0" descr="fig-12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911" y="1051560"/>
            <a:ext cx="3872817" cy="18105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12.23  扩充二叉树（小方框是外部结点）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331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空子树补成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，每个外部结点代表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一类检索失败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 A 代表落在 wim 与 wul 之间的关键码。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外部路径长度 E、内部路径长度 I 满足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I + 2n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根为第 0 层：成功检索比较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lᵢ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次；失败检索比较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l′ᵢ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次（外部结点的层数）。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平均比较次数（带权）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749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ASL(n) = [ Σᵢ₌₁ⁿ pᵢ (lᵢ + 1) + Σᵢ₌₀ⁿ qᵢ l′ᵢ ] / W ，  W = Σ pᵢ + Σ qᵢ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pᵢ：检索第 i 个关键码的频率；qᵢ：落在第 i 与第 i+1 个关键码之间的频率。二者叫</a:t>
            </a:r>
            <a:r>
              <a:rPr lang="en-US" sz="10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</a:t>
            </a: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。ASL 最小的那棵叫</a:t>
            </a:r>
            <a:r>
              <a:rPr lang="en-US" sz="10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最佳二叉搜索树</a:t>
            </a: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等权时：让内部路径长度 I 最小，即形状尽量平衡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253" y="1051560"/>
            <a:ext cx="3477534" cy="987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09397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12.24  等权时的最佳 BST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5603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11" name="Image 1" descr="fig-12-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04" y="2651760"/>
            <a:ext cx="2808032" cy="16276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12.25  最坏：退化成链，O(n)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960120"/>
            <a:ext cx="402336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 / W = qᵢ / W = 1 / (2n+1)，用 E = I + 2n 化简得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ASL(n) = (2I + 3n) / (2n + 1)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路径长度为 0 的结点只有 1 个，为 1 的至多 2 个，为 2 的至多 4 个…… → I 至少是 0, 1, 1, 2, 2, 2, 2, 3, … 的前 n 项和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Σ⌊log₂k⌋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只有最下面两层结点的度数可以小于 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时达到，ASL 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。构造：排序后用二分法依次插入。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00600" y="3703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随便插入会怎样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399592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对全部 C(2n, n)/(n+1) 棵 BST 平均，检索次数仍是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O(log₂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：大多数 BST 和最佳 BST 差别不大，只有少数情况是 O(n)。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不等权时：最佳的形状未必最平衡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pic>
        <p:nvPicPr>
          <p:cNvPr id="8" name="Image 0" descr="fig-12-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372" y="1051560"/>
            <a:ext cx="3851656" cy="21762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2826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12.26  具有不等权结点的二叉搜索树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30752"/>
          <a:ext cx="4572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128016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 Σp(l+1)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 Σq·l′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左：B 为根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+ 10 + 4 = 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× 2 = 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 / 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右：A 为根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+ 2 + 6 = 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+ 6 + 6 = 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/ 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257800" y="960120"/>
            <a:ext cx="34290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权：A = 5、B = 1、C = 2；四个外部结点 4、3、1、1；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= 17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成功查找按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计，失败查找按外部结点的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A（5）往根靠，哪怕整棵树因此歪一些，ASL 反而更小。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257800" y="34747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94960" y="3566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所以要动态规划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不能简单「取中位数当根」——要在每个区间里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动态规划：最佳 BST 的任何子树也是最佳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t(i, j)：以 key₍ᵢ₊₁₎ … keyⱼ 为内部结点、权为 (qᵢ, pᵢ₊₁, qᵢ₊₁, …, pⱼ, qⱼ) 的最佳 BST；根 r(i, j)，开销 C(i, j)。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W(i, j) = pᵢ₊₁ + ⋯ + pⱼ + qᵢ + ⋯ + qⱼ。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先构造 1 个结点的 t(0,1), t(1,2), …；再 2 个结点的 t(0,2), t(1,3), …；直到 t(0, n)。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大树用前面构造的小树当子树。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C(i, j) = W(i, j) + min₍ᵢ&lt;ₖ≤ⱼ₎ ( C(i, k−1) + C(k, j) 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5303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keyₖ 为根：左子树 t(i, k−1)、右子树 t(k, j) 都已求出。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每换一个根都要再加一次 W(i, j)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——挂到新根下面后，区间内每种查找的深度都加 1。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root[i][j]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是重建树时的路线图。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0" y="960120"/>
            <a:ext cx="2697480" cy="370332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12" name="Image 0" descr="fig-12-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497" y="1051560"/>
            <a:ext cx="2503126" cy="322783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035040" y="43342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12.27  按区间由短到长构造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code/ch12/optimal_bst（上）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optimal_bst：校验权数，初始化空区间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OptimalBstResult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std::vector&lt;std::vector&lt;long long&gt;&gt; cost;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std::vector&lt;std::vector&lt;std::size_t&gt;&gt; root;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OptimalBstResult optimal_bst(const std::vector&lt;int&gt;&amp; successful,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const std::vector&lt;int&gt;&amp; unsuccessful)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(unsuccessful.size() != successful.size() + 1)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std::invalid_argument("weight count");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count = successful.size();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OptimalBstResult result{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std::vector&lt;std::vector&lt;long long&gt;&gt;(count + 1,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std::vector&lt;long long&gt;(count + 1, 0)),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std::vector&lt;std::vector&lt;std::size_t&gt;&gt;(count + 1,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std::vector&lt;std::size_t&gt;(count + 1, 0))};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std::vector&lt;std::vector&lt;long long&gt;&gt; weight(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 + 1, std::vector&lt;long long&gt;(count + 1, 0));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&lt;= count; ++index)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book's c table measures internal-key comparison cost; an empty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interval has zero c cost while its unsuccessful weight remains in w.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result.cost[index][index]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weight[index][index] = unsuccessful[index];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370332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输入与边界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30568" y="1344168"/>
            <a:ext cx="17465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p[1..n]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，失败权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q[0..n]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必须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q.size() == p.size()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空区间：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cost[i][i] 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weight[i][i] = q[i]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空树：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{}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{某个失败权}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，代价 0。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code/ch12/optimal_bst（下）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按区间长度递增，枚举每个根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length = 1; length &lt;= count; ++length)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first = 0; first + length &lt;= count; ++first)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last = first + length;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weight[first][last] = weight[first][last - 1] + successful[last - 1] +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unsuccessful[last];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result.cost[first][last] = std::numeric_limits&lt;long long&gt;::max() / 4;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root = first + 1; root &lt;= last; ++root)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long long candidate = result.cost[first][root - 1] +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result.cost[root][last] + weight[first][last];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(candidate &lt; result.cost[first][last])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result.cost[first][last] = candidate;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result.root[first][last] = root;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77640"/>
            <a:ext cx="6035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三重循环：区间长度 × 起点 × 根 → 朴素实现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O(n³)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20840" y="96012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为什么按长度递增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344168"/>
            <a:ext cx="1691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[i, 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选根 r 时，必须已经知道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[i, r−1]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[r, 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的最优代价——它们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都比当前区间短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20840" y="338328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0" y="34747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weight 递推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76732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w[i][j] = w[i][j−1] + p[j] + q[j]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：每格 O(1)。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逐层核算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{1,5,4,3}，q = {5,4,3,2,1}：最后一格怎样得到 57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00584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总权 w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最优代价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[0,1]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[1,2]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[2,3]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[0,2]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[2,4]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343400" y="932688"/>
            <a:ext cx="43434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48056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[0,4] 的四个候选：c[0][k−1] + c[k][4] + 28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1325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+ 40 + 28 = 68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6550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655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+ 19 + 28 = 57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19842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394960" y="19842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+ 6 + 28 = 62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3134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23134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+ 0 + 28 = 71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343400" y="283464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434840" y="2880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按根表重建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 flipH="1">
            <a:off x="4892040" y="3383280"/>
            <a:ext cx="50292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94960" y="3383280"/>
            <a:ext cx="50292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97880" y="3840480"/>
            <a:ext cx="32004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221224" y="3209544"/>
            <a:ext cx="347472" cy="347472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21224" y="3209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18304" y="36667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724144" y="36667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2414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044184" y="41239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44184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583680" y="283464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72084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这张表能抓什么错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720840" y="3218688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复算了演示输出；也能抓住把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漏加或多加一次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的实现错误。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0690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root[0][4] = 2 → 左 [0,1] 根 1；右 [2,4] 根 3 → 其右 [3,4] 根 4。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平衡的二叉搜索树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树：任何结点的左右子树高度最多相差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12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54" y="1051560"/>
            <a:ext cx="3104732" cy="16276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7340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12.15  同一批关键码：接近完全 vs 一条链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1" name="Image 1" descr="fig-12-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50" y="3291840"/>
            <a:ext cx="2040941" cy="9875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12.28  (a) AVL 树  (b) 非 AVL 树的 BST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960120"/>
            <a:ext cx="40233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最好 O(log n)、最坏 O(n)。Adelson-Velskii 和 Landis 发明的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BST 不受输入影响、始终保持平衡。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709160" y="193852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709160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166360" y="189280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空二叉树是 AVL 树。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70916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7091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166360" y="242316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 AVL 树高度为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709160" y="299923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709160" y="2999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166360" y="2953512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 T_L、T_R 也是 AVL 树，且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|h_L − h_R| ≤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663440" y="35204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80060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关键问题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800600" y="390448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 O(log n) → 查找、插入、删除都 O(log n)。难点是：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任何操作之后都保持 AVL 特性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，而且维护本身也要在 O(log n) 内完成。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平衡因子与四种失衡：LL、LR、RR、RL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pic>
        <p:nvPicPr>
          <p:cNvPr id="8" name="Image 0" descr="fig-12-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769" y="1051560"/>
            <a:ext cx="1876301" cy="14447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5511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12.29  带平衡因子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96012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右子树高 − 左子树高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，只允许 −1、0、1。插入使某祖先变成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±2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：不平衡结点一定在根到新结点的路径上。</a:t>
            </a:r>
            <a:endParaRPr lang="en-US" sz="11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94560"/>
                <a:gridCol w="283464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新结点位置（失衡结点 A）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的左孩子的左子树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A 上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右旋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的右孩子的右子树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A 上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左旋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的左孩子的右子树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先在左孩子上左旋，再在 A 上右旋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的右孩子的左子树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先在右孩子上右旋，再在 A 上左旋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31089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13" name="Image 1" descr="fig-12-3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955" y="3200400"/>
            <a:ext cx="2885131" cy="10789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43342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12.31  (a) LL  (b) LR  (c) RR  (d) RL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760720" y="3154680"/>
            <a:ext cx="292608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897880" y="3246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插入时子树根的三类变化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870448" y="3538728"/>
            <a:ext cx="270662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原来平衡 → 变重：父结点状态也变。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原来一边重 → 变平衡：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子树高度未变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，父结点不变。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原来一边重、又加到重的一边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危急结点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，要旋转。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旋转为什么一定对：把 7 个部分排成一个数组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重构：从新结点 u 往上找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最近的不平衡祖先 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（到根都没有就返回）；a 往 u 方向的第一、二个子结点为 b、c。3 个结点 + 4 棵子树按中序放进数组：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6304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3172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6908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6908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0644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0644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7512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2148840"/>
            <a:ext cx="6080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T₀ &lt; a &lt; T₁ &lt; c &lt; T₂ &lt; b &lt; T₃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5603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24" name="Image 0" descr="fig-12-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540" y="2651760"/>
            <a:ext cx="3616960" cy="162763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12.32  LL 型：单旋转（RR 对称）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709160" y="25603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27" name="Image 1" descr="fig-12-3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872331"/>
            <a:ext cx="2194560" cy="118649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754880" y="4334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12.33  RL 型双旋转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7269480" y="2560320"/>
            <a:ext cx="1417320" cy="21031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7406640" y="2651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379208" y="2944368"/>
            <a:ext cx="119786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旋转只是把这 7 部分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重新组成 AVL 结构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，中序次序不变。</a:t>
            </a:r>
            <a:endParaRPr lang="en-US" sz="9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只改几个指针；新子树高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+ 2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，与插入前相同 → 更高层不受影响。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四种情形的最小输入：正好当旋转单元测试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LL（左左，一次右旋）          RR（右右，一次左旋）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                     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             \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        →               B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                              \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                                 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LR（左右，先左旋再右旋）      RL（右左，先右旋再左旋）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                     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             \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              →               B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                             / \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                           A   C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5120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中序始终保持 A &lt; B &lt; C。</a:t>
            </a:r>
            <a:endParaRPr lang="en-US" sz="11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60120"/>
          <a:ext cx="28803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02920"/>
                <a:gridCol w="1600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插入次序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旋转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3, 2, 1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3 上右旋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1, 2, 3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1 上左旋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3, 1, 2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 1 上左旋，再在 3 上右旋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1, 3, 2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 3 上右旋，再在 1 上左旋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只测中序不够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结果都应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2 为根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1,2,3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。一条退化链的中序也正确——还要查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根、高度和平衡因子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，才能证明旋转真的发生。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高度、平衡因子与两种单旋转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722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258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height_of(const std::unique_ptr&lt;Node&gt;&amp; node) { return node ? node-&gt;height : 0;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refresh(Node* node)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node-&gt;height = 1 + std::max(height_of(node-&gt;left), height_of(node-&gt;right));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平衡因子：右子树高 − 左子树高。绝对值超过 1 就要旋转。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balance_factor(const std::unique_ptr&lt;Node&gt;&amp; node)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? height_of(node-&gt;right) - height_of(node-&gt;left) :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std::unique_ptr&lt;Node&gt; rotate_left(std::unique_ptr&lt;Node&gt; 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y = std::move(x-&gt;right);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x-&gt;right = std::move(y-&gt;left);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refresh(x.get());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y-&gt;left = std::move(x);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refresh(y.get());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std::unique_ptr&lt;Node&gt; rotate_right(std::unique_ptr&lt;Node&gt; 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x = std::move(y-&gt;left);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y-&gt;left = std::move(x-&gt;right);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refresh(y.get());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x-&gt;right = std::move(y);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refresh(x.get());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（空树 0，叶 1）、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。实现里存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，平衡因子现算。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12280" y="278892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旋转的顺序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17296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新根——新根的高度依赖下沉结点。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insert：自底向上回溯，第一个失衡的结点按表选旋转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76472"/>
          </a:xfrm>
          <a:prstGeom prst="roundRect">
            <a:avLst>
              <a:gd name="adj" fmla="val 19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85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std::unique_ptr&lt;Node&gt; insert(std::unique_ptr&lt;Node&gt; node, int 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(!node)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++size_;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std::make_unique&lt;Node&gt;(key);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 &lt; node-&gt;key)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insert(std::move(node-&gt;left), 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(key &gt; node-&gt;key)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insert(std::move(node-&gt;right), 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重复键不插入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refresh(node.get());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balance = balance_factor(node);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&gt; 1) {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&lt; node-&gt;right-&gt;key) {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RL：先把右孩子右旋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node-&gt;right = rotate_right(std::move(node-&gt;right));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rotate_left(std::move(node));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RR / RL 的第二步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&lt; -1) {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左边高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&gt; node-&gt;left-&gt;key) {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LR：先把左孩子左旋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node-&gt;left = rotate_left(std::move(node-&gt;left));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rotate_right(std::move(node));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LL / LR 的第二步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265176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1344168"/>
            <a:ext cx="2020824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递归返回时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判平衡——这就是「向上回溯」。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双旋转 = 先把孩子转一下，变成单旋转的形状，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第二步共用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用新键和孩子的键比较，判断是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374904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3840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插入最多转一次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1330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转完子树高度恢复原值，上面的祖先不再失衡。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删除：可能一路向上每层都要转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两个孩子都在：用右子树的最小键顶上来，再去右子树删掉那个键。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Node* successor = node-&gt;right.get();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(successor-&gt;left)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successor = successor-&gt;left.get();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node-&gt;key = successor-&gt;key;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erase(std::move(node-&gt;right), node-&gt;key);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refresh(node.get());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balance = balance_factor(node);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&gt;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(balance_factor(node-&gt;right) &lt;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node-&gt;right = rotate_right(std::move(node-&gt;right));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rotate_left(std::move(node));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&lt; -1)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(balance_factor(node-&gt;left) &gt;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node-&gt;left = rotate_left(std::move(node-&gt;left));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rotate_right(std::move(node));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4224528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注意：图 12.36 用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（左子树最大）顶替，代码用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中序后继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（右子树最小）。两者互为镜像、都正确；用代码复现此图，顶替结点和失衡位置会与图不同。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77840" y="96012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2" name="Image 0" descr="fig-12-36-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85423"/>
            <a:ext cx="2926080" cy="107527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577840" y="2331720"/>
            <a:ext cx="31089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14" name="Image 1" descr="fig-12-36-c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903" y="2423160"/>
            <a:ext cx="2108835" cy="1371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12.36  删 c 用中序前驱 m 顶替 → 删 g 后 m 失衡 → 对 m 作 LL → 回溯到 a 又失衡 → 再作 LL。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高度上界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最「瘦」的 AVL 树：Fibonacci 递推给出 O(log 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8" name="Image 0" descr="fig-12-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240" y="1051560"/>
            <a:ext cx="3088640" cy="19019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0083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12.37  临界 AVL 树 T₁ … T₄ 与 Tᵢ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960120"/>
            <a:ext cx="452628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Tᵢ 以 Tᵢ₋₁、Tᵢ₋₂ 为左右子树：既不破坏 AVL，又要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结点最少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两棵子树高度差必然为 1。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t(1) = 2、t(2) = 4、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t(i) = t(i−1) + t(i−2)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t(i) = F(i+3) − 1。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F(i) ≈ φⁱ / √5，φ = (1+√5)/2，log₂φ ≈ 0.694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&lt; 1.5 log₂(t(i)+1) 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t(i)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F(i+3)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257800" y="34747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94960" y="3547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 AVL 树高度 ≤ 1.5 log₂(n+1)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409651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平衡不是完美平衡，但足以保证 O(log n)。查找、插入、删除都是单路径局部运算。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伸展树：不存平衡信息，每次访问后把结点展开到根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Sleator 与 Tarjan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提出（论文 Self-Adjusting Binary Search Trees，1985；原书误作 Hopcroft 与 Tarjan），与 10.1 节的线性表调整技术同属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自调整数据结构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一次访问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让树更平衡，也不保证树高平衡；但保证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访问的总代价不高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它不是新结构，而是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BST 性能的一组规则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每次访问结点 x 都做一次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（splaying）：插入、检索 x 时 x 为当前结点；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x 时 x 的父结点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为当前结点；沿路旋转直到当前结点到根。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57800" y="9601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9496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三种旋转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94960" y="13716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9496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单旋转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441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是根的孩子；与 AVL 单旋转相同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9202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94960" y="19202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一字形双旋转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x、父、祖父同向（zig-zig）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94960" y="24688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94960" y="24688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之字形双旋转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4414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x、父、祖父拐弯（zig-zag）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57800" y="3246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pic>
        <p:nvPicPr>
          <p:cNvPr id="20" name="Image 0" descr="fig-12-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3491781"/>
            <a:ext cx="3246120" cy="633389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303520" y="43342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12.38  x 已是根的孩子：单旋转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06908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4160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4453128"/>
            <a:ext cx="4297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最近被用到的键下次更容易先碰到；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 O(log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一字形先转祖父、再转父；之字形先转父、再转祖父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12-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7795"/>
            <a:ext cx="4023360" cy="9322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2311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12.39  一字形旋转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892040" y="960120"/>
            <a:ext cx="3794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1" name="Image 1" descr="fig-12-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748" y="1051560"/>
            <a:ext cx="2869344" cy="11247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7760" y="22311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12.40  之字形旋转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97480"/>
            <a:ext cx="4754880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（连续两次同向）：一般不降低树高，但会把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整条同向长链压短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（先左后右或先右后左）：倾向于让树更平衡——子树 B、C 上升一层，D 下降一层。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两种双旋都把目标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提升两层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；只差一层到根时，再做一次单旋转。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40680" y="269748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577840" y="2761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例：链 10 → 20 → 30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577840" y="30632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30：右–右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，先围绕 10 左旋，再围绕 20 左旋，30 到根。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577840" y="3749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10 的右孩子是 30、30 的左孩子是 20：访问 20 是右–左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，两次旋转方向相反。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检索之后展开到根：四次旋转，整棵树明显变浅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370332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965" y="1051560"/>
            <a:ext cx="3088070" cy="3227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43342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12.41  检索 a 之后把它展开到根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43400" y="960120"/>
            <a:ext cx="43434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c、b、a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d、a、e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f、a、g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，最后一次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单旋转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 成为根。（内部结点只是索引代号，记录都在外部叶上，所以字母不必中序有序。）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3400" y="233172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24231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插入与删除怎么接上展开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453128" y="2715768"/>
            <a:ext cx="41239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 BST 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插入后把新结点展开到根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BST 策略删除结点后，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被删结点的父结点展开到根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3657600"/>
            <a:ext cx="43434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80560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容易忽略的边界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4041648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记录都存在外部结点、内部结点只作索引时：检索到外部结点，由它的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内部父结点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作为当前结点开始调整——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外部结点不能被旋转到根上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 · code/ch12/balanced_trees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splay：把 key（或最接近它的键）旋到 t 的根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splay(std::unique_ptr&lt;Node&gt;&amp; t, int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 || t-&gt;key ==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 &lt; t-&gt;key)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(!t-&gt;left)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&lt; t-&gt;left-&gt;key) {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左-左，一字形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splay(t-&gt;left-&gt;left,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rotate_right(t);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(key &gt; t-&gt;left-&gt;key)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左-右，之字形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splay(t-&gt;left-&gt;right,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(t-&gt;left-&gt;right)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rotate_left(t-&gt;left);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(t-&gt;left)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rotate_right(t);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对照规则读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48" y="1344168"/>
            <a:ext cx="247802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rotate_right(t)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转祖父，再转一次 → 目标升两层。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rotate_left(t-&gt;left)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转父，再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rotate_right(t)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转祖父。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分支是右侧的镜像。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查找会改变树形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72160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命中后该键被旋到根，所以它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const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。无需平衡域；子树用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维护所有权。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均摊不等于每次都快；半伸展是一种折中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4805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访问深链末端的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单次代价仍可达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；保证的是一串 m 次操作总成本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 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（另加初始势能）。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热点键反复出现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、又不要求单次延迟上界的场景；实时系统要求每次都在确定高度内结束，更适合 AVL 或红黑树。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半伸展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：对一字形像 AVL 的 LL、RR 那样处理；下一轮从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父结点位置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开始——不需要把目标移到根，旋转更少。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120640" y="9601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pic>
        <p:nvPicPr>
          <p:cNvPr id="9" name="Image 0" descr="fig-12-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2603" y="1051560"/>
            <a:ext cx="2942234" cy="89611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166360" y="2002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12.42  半伸展与全伸展的区别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120640" y="246888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12" name="Image 1" descr="fig-12-4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382" y="2560320"/>
            <a:ext cx="2414676" cy="17190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66360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12.45  在图 12.44 上连续读 a、a、b、g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57200" y="374904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94360" y="3840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热点会浮上来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重复访问的键会一路浮到靠近根的位置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——这正是伸展树占便宜的地方。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 改进的二叉搜索树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三种改进的 BST，各自改进了什么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94560"/>
                <a:gridCol w="2514600"/>
                <a:gridCol w="2331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 BST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AVL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伸展树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访问权重 p、q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严格高度平衡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访问局部性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动态规划按区间选根，O(n³)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平衡因子 + 四种旋转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访问后一字形 / 之字形旋至根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带权 ASL 最小（静态集合）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高度 ≤ 1.5 log₂(n+1)，最坏 O(log 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O(log n)，单次可能 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cost / root 两张表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每结点平衡因子（或高度）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918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红黑树（第 11 章）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平衡要求比 AVL 更低；n 个内部结点的红黑树最大树高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log₂(n+1)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，最坏情况比同规模 AVL 高。AVL、伸展树适合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检索较多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；插入删除频繁常用红黑树。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0060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 vs 外存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BST（红黑树、AVL、伸展树）适合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内存中小规模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的目录；外存文件若以结点为交换单位，找到关键码前平均要访问外存 log₂n 次——文件索引用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 / B+ 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088136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0881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96012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 3 × 4 数组按行优先时 a₂,₁ 相对首地址的偏移（元素占 1 个单元）；把 4 阶下三角压成一维，给出 a₃,₁ 的下标。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58191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709928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158191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说明共享广义表为什么不能简单递归释放，并设计引用计数或访问标记方案。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0370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3317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23317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2203704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空闲块按地址顺序是 900、1500、700。举一个请求，使首次、最佳、最坏适应分别选中三块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的空闲区；为什么「能不能满足」本身分辨不出三种策略？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2549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95351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29535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282549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can、car、cat 插入字母 Trie，画出结果，并写出查找 cab 的失败路径。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4472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75304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35753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447288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 AVL 依次插入 1、2、3，画出每次旋转；再插入 0，需要旋转吗？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4197096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41970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406908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伸展树中，之字形和一字形各升几层？为什么半伸展适合连续访问同一结点？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多维数组与矩阵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 / 列优先把多个下标换成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一个线性地址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；三角、对称矩阵压一半；稀疏矩阵用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，一次更新维护两条链。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广义表与回收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头尾分解对应递归；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后不能按树 delete，靠引用计数；引用计数收不回环，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按可达性回收。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存储分配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定长结点用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（空闲栈）；变长块用首次 / 最佳 / 最坏适应，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对付碎片。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/ Patricia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关键码空间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分解，公共前缀只存一次；Patricia 只记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分歧位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，叶上必须再比完整关键码。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改进的 BST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 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选根；AVL 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四种旋转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 O(log n)；伸展树访问后上移，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O(log n)。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第12章 高级数据结构</dc:title>
  <dc:subject>PptxGenJS Presentation</dc:subject>
  <dc:creator>Hongfei Yan</dc:creator>
  <cp:lastModifiedBy>Hongfei Yan</cp:lastModifiedBy>
  <cp:revision>1</cp:revision>
  <dcterms:created xsi:type="dcterms:W3CDTF">2026-09-22T02:59:52Z</dcterms:created>
  <dcterms:modified xsi:type="dcterms:W3CDTF">2026-09-22T02:59:52Z</dcterms:modified>
</cp:coreProperties>
</file>