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slideMasters/slideMaster38.xml" ContentType="application/vnd.openxmlformats-officedocument.presentationml.slideMaster+xml"/>
  <Override PartName="/ppt/slides/slide38.xml" ContentType="application/vnd.openxmlformats-officedocument.presentationml.slide+xml"/>
  <Override PartName="/ppt/slideMasters/slideMaster39.xml" ContentType="application/vnd.openxmlformats-officedocument.presentationml.slideMaster+xml"/>
  <Override PartName="/ppt/slides/slide39.xml" ContentType="application/vnd.openxmlformats-officedocument.presentationml.slide+xml"/>
  <Override PartName="/ppt/slideMasters/slideMaster40.xml" ContentType="application/vnd.openxmlformats-officedocument.presentationml.slideMaster+xml"/>
  <Override PartName="/ppt/slides/slide40.xml" ContentType="application/vnd.openxmlformats-officedocument.presentationml.slide+xml"/>
  <Override PartName="/ppt/slideMasters/slideMaster41.xml" ContentType="application/vnd.openxmlformats-officedocument.presentationml.slideMaster+xml"/>
  <Override PartName="/ppt/slides/slide41.xml" ContentType="application/vnd.openxmlformats-officedocument.presentationml.slide+xml"/>
  <Override PartName="/ppt/slideMasters/slideMaster42.xml" ContentType="application/vnd.openxmlformats-officedocument.presentationml.slideMaster+xml"/>
  <Override PartName="/ppt/slides/slide42.xml" ContentType="application/vnd.openxmlformats-officedocument.presentationml.slide+xml"/>
  <Override PartName="/ppt/slideMasters/slideMaster43.xml" ContentType="application/vnd.openxmlformats-officedocument.presentationml.slideMaster+xml"/>
  <Override PartName="/ppt/slides/slide43.xml" ContentType="application/vnd.openxmlformats-officedocument.presentationml.slide+xml"/>
  <Override PartName="/ppt/slideMasters/slideMaster44.xml" ContentType="application/vnd.openxmlformats-officedocument.presentationml.slideMaster+xml"/>
  <Override PartName="/ppt/slides/slide44.xml" ContentType="application/vnd.openxmlformats-officedocument.presentationml.slide+xml"/>
  <Override PartName="/ppt/slideMasters/slideMaster45.xml" ContentType="application/vnd.openxmlformats-officedocument.presentationml.slideMaster+xml"/>
  <Override PartName="/ppt/slides/slide45.xml" ContentType="application/vnd.openxmlformats-officedocument.presentationml.slide+xml"/>
  <Override PartName="/ppt/slideMasters/slideMaster46.xml" ContentType="application/vnd.openxmlformats-officedocument.presentationml.slideMaster+xml"/>
  <Override PartName="/ppt/slides/slide46.xml" ContentType="application/vnd.openxmlformats-officedocument.presentationml.slide+xml"/>
  <Override PartName="/ppt/slideMasters/slideMaster47.xml" ContentType="application/vnd.openxmlformats-officedocument.presentationml.slideMaster+xml"/>
  <Override PartName="/ppt/slides/slide47.xml" ContentType="application/vnd.openxmlformats-officedocument.presentationml.slide+xml"/>
  <Override PartName="/ppt/slideMasters/slideMaster48.xml" ContentType="application/vnd.openxmlformats-officedocument.presentationml.slideMaster+xml"/>
  <Override PartName="/ppt/slides/slide48.xml" ContentType="application/vnd.openxmlformats-officedocument.presentationml.slide+xml"/>
  <Override PartName="/ppt/slideMasters/slideMaster49.xml" ContentType="application/vnd.openxmlformats-officedocument.presentationml.slideMaster+xml"/>
  <Override PartName="/ppt/slides/slide49.xml" ContentType="application/vnd.openxmlformats-officedocument.presentationml.slide+xml"/>
  <Override PartName="/ppt/slideMasters/slideMaster50.xml" ContentType="application/vnd.openxmlformats-officedocument.presentationml.slideMaster+xml"/>
  <Override PartName="/ppt/slides/slide50.xml" ContentType="application/vnd.openxmlformats-officedocument.presentationml.slide+xml"/>
  <Override PartName="/ppt/slideMasters/slideMaster51.xml" ContentType="application/vnd.openxmlformats-officedocument.presentationml.slideMaster+xml"/>
  <Override PartName="/ppt/slides/slide51.xml" ContentType="application/vnd.openxmlformats-officedocument.presentationml.slide+xml"/>
  <Override PartName="/ppt/slideMasters/slideMaster52.xml" ContentType="application/vnd.openxmlformats-officedocument.presentationml.slideMaster+xml"/>
  <Override PartName="/ppt/slides/slide52.xml" ContentType="application/vnd.openxmlformats-officedocument.presentationml.slide+xml"/>
  <Override PartName="/ppt/slideMasters/slideMaster53.xml" ContentType="application/vnd.openxmlformats-officedocument.presentationml.slideMaster+xml"/>
  <Override PartName="/ppt/slides/slide53.xml" ContentType="application/vnd.openxmlformats-officedocument.presentationml.slide+xml"/>
  <Override PartName="/ppt/slideMasters/slideMaster54.xml" ContentType="application/vnd.openxmlformats-officedocument.presentationml.slideMaster+xml"/>
  <Override PartName="/ppt/slides/slide54.xml" ContentType="application/vnd.openxmlformats-officedocument.presentationml.slide+xml"/>
  <Override PartName="/ppt/slideMasters/slideMaster55.xml" ContentType="application/vnd.openxmlformats-officedocument.presentationml.slideMaster+xml"/>
  <Override PartName="/ppt/slides/slide55.xml" ContentType="application/vnd.openxmlformats-officedocument.presentationml.slide+xml"/>
  <Override PartName="/ppt/slideMasters/slideMaster56.xml" ContentType="application/vnd.openxmlformats-officedocument.presentationml.slideMaster+xml"/>
  <Override PartName="/ppt/slides/slide56.xml" ContentType="application/vnd.openxmlformats-officedocument.presentationml.slide+xml"/>
  <Override PartName="/ppt/slideMasters/slideMaster57.xml" ContentType="application/vnd.openxmlformats-officedocument.presentationml.slideMaster+xml"/>
  <Override PartName="/ppt/slides/slide57.xml" ContentType="application/vnd.openxmlformats-officedocument.presentationml.slide+xml"/>
  <Override PartName="/ppt/slideMasters/slideMaster58.xml" ContentType="application/vnd.openxmlformats-officedocument.presentationml.slideMaster+xml"/>
  <Override PartName="/ppt/slides/slide58.xml" ContentType="application/vnd.openxmlformats-officedocument.presentationml.slide+xml"/>
  <Override PartName="/ppt/slideMasters/slideMaster59.xml" ContentType="application/vnd.openxmlformats-officedocument.presentationml.slideMaster+xml"/>
  <Override PartName="/ppt/slides/slide59.xml" ContentType="application/vnd.openxmlformats-officedocument.presentationml.slide+xml"/>
  <Override PartName="/ppt/slideMasters/slideMaster60.xml" ContentType="application/vnd.openxmlformats-officedocument.presentationml.slideMaster+xml"/>
  <Override PartName="/ppt/slides/slide60.xml" ContentType="application/vnd.openxmlformats-officedocument.presentationml.slide+xml"/>
  <Override PartName="/ppt/slideMasters/slideMaster61.xml" ContentType="application/vnd.openxmlformats-officedocument.presentationml.slideMaster+xml"/>
  <Override PartName="/ppt/slides/slide61.xml" ContentType="application/vnd.openxmlformats-officedocument.presentationml.slide+xml"/>
  <Override PartName="/ppt/slideMasters/slideMaster62.xml" ContentType="application/vnd.openxmlformats-officedocument.presentationml.slideMaster+xml"/>
  <Override PartName="/ppt/slides/slide62.xml" ContentType="application/vnd.openxmlformats-officedocument.presentationml.slide+xml"/>
  <Override PartName="/ppt/slideMasters/slideMaster63.xml" ContentType="application/vnd.openxmlformats-officedocument.presentationml.slideMaster+xml"/>
  <Override PartName="/ppt/slides/slide63.xml" ContentType="application/vnd.openxmlformats-officedocument.presentationml.slide+xml"/>
  <Override PartName="/ppt/slideMasters/slideMaster64.xml" ContentType="application/vnd.openxmlformats-officedocument.presentationml.slideMaster+xml"/>
  <Override PartName="/ppt/slides/slide64.xml" ContentType="application/vnd.openxmlformats-officedocument.presentationml.slide+xml"/>
  <Override PartName="/ppt/slideMasters/slideMaster65.xml" ContentType="application/vnd.openxmlformats-officedocument.presentationml.slideMaster+xml"/>
  <Override PartName="/ppt/slides/slide65.xml" ContentType="application/vnd.openxmlformats-officedocument.presentationml.slide+xml"/>
  <Override PartName="/ppt/slideMasters/slideMaster66.xml" ContentType="application/vnd.openxmlformats-officedocument.presentationml.slideMaster+xml"/>
  <Override PartName="/ppt/slides/slide66.xml" ContentType="application/vnd.openxmlformats-officedocument.presentationml.slide+xml"/>
  <Override PartName="/ppt/slideMasters/slideMaster67.xml" ContentType="application/vnd.openxmlformats-officedocument.presentationml.slideMaster+xml"/>
  <Override PartName="/ppt/slides/slide67.xml" ContentType="application/vnd.openxmlformats-officedocument.presentationml.slide+xml"/>
  <Override PartName="/ppt/slideMasters/slideMaster68.xml" ContentType="application/vnd.openxmlformats-officedocument.presentationml.slideMaster+xml"/>
  <Override PartName="/ppt/slides/slide68.xml" ContentType="application/vnd.openxmlformats-officedocument.presentationml.slide+xml"/>
  <Override PartName="/ppt/slideMasters/slideMaster69.xml" ContentType="application/vnd.openxmlformats-officedocument.presentationml.slideMaster+xml"/>
  <Override PartName="/ppt/slides/slide69.xml" ContentType="application/vnd.openxmlformats-officedocument.presentationml.slide+xml"/>
  <Override PartName="/ppt/slideMasters/slideMaster70.xml" ContentType="application/vnd.openxmlformats-officedocument.presentationml.slideMaster+xml"/>
  <Override PartName="/ppt/slides/slide70.xml" ContentType="application/vnd.openxmlformats-officedocument.presentationml.slide+xml"/>
  <Override PartName="/ppt/slideMasters/slideMaster71.xml" ContentType="application/vnd.openxmlformats-officedocument.presentationml.slideMaster+xml"/>
  <Override PartName="/ppt/slides/slide7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0.xml" ContentType="application/vnd.openxmlformats-officedocument.presentationml.notesSlide+xml"/>
  <Override PartName="/ppt/notesSlides/notesSlide51.xml" ContentType="application/vnd.openxmlformats-officedocument.presentationml.notesSlide+xml"/>
  <Override PartName="/ppt/notesSlides/notesSlide52.xml" ContentType="application/vnd.openxmlformats-officedocument.presentationml.notesSlide+xml"/>
  <Override PartName="/ppt/notesSlides/notesSlide53.xml" ContentType="application/vnd.openxmlformats-officedocument.presentationml.notesSlide+xml"/>
  <Override PartName="/ppt/notesSlides/notesSlide54.xml" ContentType="application/vnd.openxmlformats-officedocument.presentationml.notesSlide+xml"/>
  <Override PartName="/ppt/notesSlides/notesSlide55.xml" ContentType="application/vnd.openxmlformats-officedocument.presentationml.notesSlide+xml"/>
  <Override PartName="/ppt/notesSlides/notesSlide56.xml" ContentType="application/vnd.openxmlformats-officedocument.presentationml.notesSlide+xml"/>
  <Override PartName="/ppt/notesSlides/notesSlide57.xml" ContentType="application/vnd.openxmlformats-officedocument.presentationml.notesSlide+xml"/>
  <Override PartName="/ppt/notesSlides/notesSlide58.xml" ContentType="application/vnd.openxmlformats-officedocument.presentationml.notesSlide+xml"/>
  <Override PartName="/ppt/notesSlides/notesSlide59.xml" ContentType="application/vnd.openxmlformats-officedocument.presentationml.notesSlide+xml"/>
  <Override PartName="/ppt/notesSlides/notesSlide60.xml" ContentType="application/vnd.openxmlformats-officedocument.presentationml.notesSlide+xml"/>
  <Override PartName="/ppt/notesSlides/notesSlide61.xml" ContentType="application/vnd.openxmlformats-officedocument.presentationml.notesSlide+xml"/>
  <Override PartName="/ppt/notesSlides/notesSlide62.xml" ContentType="application/vnd.openxmlformats-officedocument.presentationml.notesSlide+xml"/>
  <Override PartName="/ppt/notesSlides/notesSlide63.xml" ContentType="application/vnd.openxmlformats-officedocument.presentationml.notesSlide+xml"/>
  <Override PartName="/ppt/notesSlides/notesSlide64.xml" ContentType="application/vnd.openxmlformats-officedocument.presentationml.notesSlide+xml"/>
  <Override PartName="/ppt/notesSlides/notesSlide65.xml" ContentType="application/vnd.openxmlformats-officedocument.presentationml.notesSlide+xml"/>
  <Override PartName="/ppt/notesSlides/notesSlide66.xml" ContentType="application/vnd.openxmlformats-officedocument.presentationml.notesSlide+xml"/>
  <Override PartName="/ppt/notesSlides/notesSlide67.xml" ContentType="application/vnd.openxmlformats-officedocument.presentationml.notesSlide+xml"/>
  <Override PartName="/ppt/notesSlides/notesSlide68.xml" ContentType="application/vnd.openxmlformats-officedocument.presentationml.notesSlide+xml"/>
  <Override PartName="/ppt/notesSlides/notesSlide69.xml" ContentType="application/vnd.openxmlformats-officedocument.presentationml.notesSlide+xml"/>
  <Override PartName="/ppt/notesSlides/notesSlide70.xml" ContentType="application/vnd.openxmlformats-officedocument.presentationml.notesSlide+xml"/>
  <Override PartName="/ppt/notesSlides/notesSlide7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ppt/theme/theme2.xml" ContentType="application/vnd.openxmlformats-officedocument.theme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  <p:sldId id="300" r:id="rId46"/>
    <p:sldId id="301" r:id="rId47"/>
    <p:sldId id="302" r:id="rId48"/>
    <p:sldId id="303" r:id="rId49"/>
    <p:sldId id="304" r:id="rId50"/>
    <p:sldId id="305" r:id="rId51"/>
    <p:sldId id="306" r:id="rId52"/>
    <p:sldId id="307" r:id="rId53"/>
    <p:sldId id="308" r:id="rId54"/>
    <p:sldId id="309" r:id="rId55"/>
    <p:sldId id="310" r:id="rId56"/>
    <p:sldId id="311" r:id="rId57"/>
    <p:sldId id="312" r:id="rId58"/>
    <p:sldId id="313" r:id="rId59"/>
    <p:sldId id="314" r:id="rId60"/>
    <p:sldId id="315" r:id="rId61"/>
    <p:sldId id="316" r:id="rId62"/>
    <p:sldId id="317" r:id="rId63"/>
    <p:sldId id="318" r:id="rId64"/>
    <p:sldId id="319" r:id="rId65"/>
    <p:sldId id="320" r:id="rId66"/>
    <p:sldId id="321" r:id="rId67"/>
    <p:sldId id="322" r:id="rId68"/>
    <p:sldId id="323" r:id="rId69"/>
    <p:sldId id="324" r:id="rId70"/>
    <p:sldId id="325" r:id="rId71"/>
    <p:sldId id="326" r:id="rId72"/>
  </p:sldIdLst>
  <p:notesMasterIdLst>
    <p:notesMasterId r:id="rId73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slide" Target="slides/slide38.xml"/><Relationship Id="rId40" Type="http://schemas.openxmlformats.org/officeDocument/2006/relationships/slide" Target="slides/slide39.xml"/><Relationship Id="rId41" Type="http://schemas.openxmlformats.org/officeDocument/2006/relationships/slide" Target="slides/slide40.xml"/><Relationship Id="rId42" Type="http://schemas.openxmlformats.org/officeDocument/2006/relationships/slide" Target="slides/slide41.xml"/><Relationship Id="rId43" Type="http://schemas.openxmlformats.org/officeDocument/2006/relationships/slide" Target="slides/slide42.xml"/><Relationship Id="rId44" Type="http://schemas.openxmlformats.org/officeDocument/2006/relationships/slide" Target="slides/slide43.xml"/><Relationship Id="rId45" Type="http://schemas.openxmlformats.org/officeDocument/2006/relationships/slide" Target="slides/slide44.xml"/><Relationship Id="rId46" Type="http://schemas.openxmlformats.org/officeDocument/2006/relationships/slide" Target="slides/slide45.xml"/><Relationship Id="rId47" Type="http://schemas.openxmlformats.org/officeDocument/2006/relationships/slide" Target="slides/slide46.xml"/><Relationship Id="rId48" Type="http://schemas.openxmlformats.org/officeDocument/2006/relationships/slide" Target="slides/slide47.xml"/><Relationship Id="rId49" Type="http://schemas.openxmlformats.org/officeDocument/2006/relationships/slide" Target="slides/slide48.xml"/><Relationship Id="rId50" Type="http://schemas.openxmlformats.org/officeDocument/2006/relationships/slide" Target="slides/slide49.xml"/><Relationship Id="rId51" Type="http://schemas.openxmlformats.org/officeDocument/2006/relationships/slide" Target="slides/slide50.xml"/><Relationship Id="rId52" Type="http://schemas.openxmlformats.org/officeDocument/2006/relationships/slide" Target="slides/slide51.xml"/><Relationship Id="rId53" Type="http://schemas.openxmlformats.org/officeDocument/2006/relationships/slide" Target="slides/slide52.xml"/><Relationship Id="rId54" Type="http://schemas.openxmlformats.org/officeDocument/2006/relationships/slide" Target="slides/slide53.xml"/><Relationship Id="rId55" Type="http://schemas.openxmlformats.org/officeDocument/2006/relationships/slide" Target="slides/slide54.xml"/><Relationship Id="rId56" Type="http://schemas.openxmlformats.org/officeDocument/2006/relationships/slide" Target="slides/slide55.xml"/><Relationship Id="rId57" Type="http://schemas.openxmlformats.org/officeDocument/2006/relationships/slide" Target="slides/slide56.xml"/><Relationship Id="rId58" Type="http://schemas.openxmlformats.org/officeDocument/2006/relationships/slide" Target="slides/slide57.xml"/><Relationship Id="rId59" Type="http://schemas.openxmlformats.org/officeDocument/2006/relationships/slide" Target="slides/slide58.xml"/><Relationship Id="rId60" Type="http://schemas.openxmlformats.org/officeDocument/2006/relationships/slide" Target="slides/slide59.xml"/><Relationship Id="rId61" Type="http://schemas.openxmlformats.org/officeDocument/2006/relationships/slide" Target="slides/slide60.xml"/><Relationship Id="rId62" Type="http://schemas.openxmlformats.org/officeDocument/2006/relationships/slide" Target="slides/slide61.xml"/><Relationship Id="rId63" Type="http://schemas.openxmlformats.org/officeDocument/2006/relationships/slide" Target="slides/slide62.xml"/><Relationship Id="rId64" Type="http://schemas.openxmlformats.org/officeDocument/2006/relationships/slide" Target="slides/slide63.xml"/><Relationship Id="rId65" Type="http://schemas.openxmlformats.org/officeDocument/2006/relationships/slide" Target="slides/slide64.xml"/><Relationship Id="rId66" Type="http://schemas.openxmlformats.org/officeDocument/2006/relationships/slide" Target="slides/slide65.xml"/><Relationship Id="rId67" Type="http://schemas.openxmlformats.org/officeDocument/2006/relationships/slide" Target="slides/slide66.xml"/><Relationship Id="rId68" Type="http://schemas.openxmlformats.org/officeDocument/2006/relationships/slide" Target="slides/slide67.xml"/><Relationship Id="rId69" Type="http://schemas.openxmlformats.org/officeDocument/2006/relationships/slide" Target="slides/slide68.xml"/><Relationship Id="rId70" Type="http://schemas.openxmlformats.org/officeDocument/2006/relationships/slide" Target="slides/slide69.xml"/><Relationship Id="rId71" Type="http://schemas.openxmlformats.org/officeDocument/2006/relationships/slide" Target="slides/slide70.xml"/><Relationship Id="rId72" Type="http://schemas.openxmlformats.org/officeDocument/2006/relationships/slide" Target="slides/slide71.xml"/><Relationship Id="rId73" Type="http://schemas.openxmlformats.org/officeDocument/2006/relationships/notesMaster" Target="notesMasters/notesMaster1.xml"/><Relationship Id="rId74" Type="http://schemas.openxmlformats.org/officeDocument/2006/relationships/presProps" Target="presProps.xml"/><Relationship Id="rId75" Type="http://schemas.openxmlformats.org/officeDocument/2006/relationships/viewProps" Target="viewProps.xml"/><Relationship Id="rId76" Type="http://schemas.openxmlformats.org/officeDocument/2006/relationships/theme" Target="theme/theme1.xml"/><Relationship Id="rId7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2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_rels/notesSlide3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8.xml"/>
		</Relationships>
</file>

<file path=ppt/notesSlides/_rels/notesSlide3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9.xml"/>
		</Relationships>
</file>

<file path=ppt/notesSlides/_rels/notesSlide4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0.xml"/>
		</Relationships>
</file>

<file path=ppt/notesSlides/_rels/notesSlide4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1.xml"/>
		</Relationships>
</file>

<file path=ppt/notesSlides/_rels/notesSlide4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2.xml"/>
		</Relationships>
</file>

<file path=ppt/notesSlides/_rels/notesSlide4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3.xml"/>
		</Relationships>
</file>

<file path=ppt/notesSlides/_rels/notesSlide4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4.xml"/>
		</Relationships>
</file>

<file path=ppt/notesSlides/_rels/notesSlide4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5.xml"/>
		</Relationships>
</file>

<file path=ppt/notesSlides/_rels/notesSlide4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6.xml"/>
		</Relationships>
</file>

<file path=ppt/notesSlides/_rels/notesSlide4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7.xml"/>
		</Relationships>
</file>

<file path=ppt/notesSlides/_rels/notesSlide4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8.xml"/>
		</Relationships>
</file>

<file path=ppt/notesSlides/_rels/notesSlide4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9.xml"/>
		</Relationships>
</file>

<file path=ppt/notesSlides/_rels/notesSlide5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0.xml"/>
		</Relationships>
</file>

<file path=ppt/notesSlides/_rels/notesSlide5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1.xml"/>
		</Relationships>
</file>

<file path=ppt/notesSlides/_rels/notesSlide5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2.xml"/>
		</Relationships>
</file>

<file path=ppt/notesSlides/_rels/notesSlide5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3.xml"/>
		</Relationships>
</file>

<file path=ppt/notesSlides/_rels/notesSlide5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4.xml"/>
		</Relationships>
</file>

<file path=ppt/notesSlides/_rels/notesSlide5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5.xml"/>
		</Relationships>
</file>

<file path=ppt/notesSlides/_rels/notesSlide5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6.xml"/>
		</Relationships>
</file>

<file path=ppt/notesSlides/_rels/notesSlide5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7.xml"/>
		</Relationships>
</file>

<file path=ppt/notesSlides/_rels/notesSlide5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8.xml"/>
		</Relationships>
</file>

<file path=ppt/notesSlides/_rels/notesSlide5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9.xml"/>
		</Relationships>
</file>

<file path=ppt/notesSlides/_rels/notesSlide6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0.xml"/>
		</Relationships>
</file>

<file path=ppt/notesSlides/_rels/notesSlide6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1.xml"/>
		</Relationships>
</file>

<file path=ppt/notesSlides/_rels/notesSlide6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2.xml"/>
		</Relationships>
</file>

<file path=ppt/notesSlides/_rels/notesSlide6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3.xml"/>
		</Relationships>
</file>

<file path=ppt/notesSlides/_rels/notesSlide6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4.xml"/>
		</Relationships>
</file>

<file path=ppt/notesSlides/_rels/notesSlide6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5.xml"/>
		</Relationships>
</file>

<file path=ppt/notesSlides/_rels/notesSlide6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6.xml"/>
		</Relationships>
</file>

<file path=ppt/notesSlides/_rels/notesSlide6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7.xml"/>
		</Relationships>
</file>

<file path=ppt/notesSlides/_rels/notesSlide6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8.xml"/>
		</Relationships>
</file>

<file path=ppt/notesSlides/_rels/notesSlide6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9.xml"/>
		</Relationships>
</file>

<file path=ppt/notesSlides/_rels/notesSlide7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0.xml"/>
		</Relationships>
</file>

<file path=ppt/notesSlides/_rels/notesSlide7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0-1.png"/><Relationship Id="rId2" Type="http://schemas.openxmlformats.org/officeDocument/2006/relationships/image" Target="../media/image-20-2.png"/><Relationship Id="rId3" Type="http://schemas.openxmlformats.org/officeDocument/2006/relationships/image" Target="../media/image-20-3.png"/><Relationship Id="rId4" Type="http://schemas.openxmlformats.org/officeDocument/2006/relationships/image" Target="../media/image-20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7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8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9.xml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0.xml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1.xml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2-1.png"/><Relationship Id="rId2" Type="http://schemas.openxmlformats.org/officeDocument/2006/relationships/image" Target="../media/image-42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42.xml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3.xml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4.xml"/></Relationships>
</file>

<file path=ppt/slides/_rels/slide4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5.xml"/></Relationships>
</file>

<file path=ppt/slides/_rels/slide4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6.xml"/></Relationships>
</file>

<file path=ppt/slides/_rels/slide4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7.xml"/></Relationships>
</file>

<file path=ppt/slides/_rels/slide4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8-1.png"/><Relationship Id="rId2" Type="http://schemas.openxmlformats.org/officeDocument/2006/relationships/image" Target="../media/image-48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48.xml"/></Relationships>
</file>

<file path=ppt/slides/_rels/slide4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9.xml"/></Relationships>
</file>

<file path=ppt/slides/_rels/slide5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0-1.png"/><Relationship Id="rId2" Type="http://schemas.openxmlformats.org/officeDocument/2006/relationships/image" Target="../media/image-50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50.xml"/></Relationships>
</file>

<file path=ppt/slides/_rels/slide5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1.xml"/></Relationships>
</file>

<file path=ppt/slides/_rels/slide5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2.xml"/></Relationships>
</file>

<file path=ppt/slides/_rels/slide5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3.xml"/></Relationships>
</file>

<file path=ppt/slides/_rels/slide5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4.xml"/></Relationships>
</file>

<file path=ppt/slides/_rels/slide5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5.xml"/></Relationships>
</file>

<file path=ppt/slides/_rels/slide5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6-1.png"/><Relationship Id="rId2" Type="http://schemas.openxmlformats.org/officeDocument/2006/relationships/image" Target="../media/image-56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56.xml"/></Relationships>
</file>

<file path=ppt/slides/_rels/slide5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7-1.png"/><Relationship Id="rId2" Type="http://schemas.openxmlformats.org/officeDocument/2006/relationships/image" Target="../media/image-57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57.xml"/></Relationships>
</file>

<file path=ppt/slides/_rels/slide5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8-1.png"/><Relationship Id="rId2" Type="http://schemas.openxmlformats.org/officeDocument/2006/relationships/image" Target="../media/image-58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58.xml"/></Relationships>
</file>

<file path=ppt/slides/_rels/slide5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9.xml"/></Relationships>
</file>

<file path=ppt/slides/_rels/slide6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0.xml"/></Relationships>
</file>

<file path=ppt/slides/_rels/slide6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1.xml"/></Relationships>
</file>

<file path=ppt/slides/_rels/slide6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2-1.png"/><Relationship Id="rId2" Type="http://schemas.openxmlformats.org/officeDocument/2006/relationships/image" Target="../media/image-62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62.xml"/></Relationships>
</file>

<file path=ppt/slides/_rels/slide6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3.xml"/></Relationships>
</file>

<file path=ppt/slides/_rels/slide6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4.xml"/></Relationships>
</file>

<file path=ppt/slides/_rels/slide6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5-1.png"/><Relationship Id="rId2" Type="http://schemas.openxmlformats.org/officeDocument/2006/relationships/image" Target="../media/image-65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65.xml"/></Relationships>
</file>

<file path=ppt/slides/_rels/slide6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6.xml"/></Relationships>
</file>

<file path=ppt/slides/_rels/slide6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7.xml"/></Relationships>
</file>

<file path=ppt/slides/_rels/slide6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8-1.png"/><Relationship Id="rId2" Type="http://schemas.openxmlformats.org/officeDocument/2006/relationships/image" Target="../media/image-68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68.xml"/></Relationships>
</file>

<file path=ppt/slides/_rels/slide6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9.xml"/></Relationships>
</file>

<file path=ppt/slides/_rels/slide7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0.xml"/></Relationships>
</file>

<file path=ppt/slides/_rels/slide7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E3D3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309360" y="-1188720"/>
            <a:ext cx="3840480" cy="3840480"/>
          </a:xfrm>
          <a:prstGeom prst="ellipse">
            <a:avLst/>
          </a:prstGeom>
          <a:solidFill>
            <a:srgbClr val="2F5C4C"/>
          </a:solidFill>
          <a:ln/>
        </p:spPr>
      </p:sp>
      <p:sp>
        <p:nvSpPr>
          <p:cNvPr id="3" name="Shape 1"/>
          <p:cNvSpPr/>
          <p:nvPr/>
        </p:nvSpPr>
        <p:spPr>
          <a:xfrm>
            <a:off x="7223760" y="3017520"/>
            <a:ext cx="2651760" cy="2651760"/>
          </a:xfrm>
          <a:prstGeom prst="ellipse">
            <a:avLst/>
          </a:prstGeom>
          <a:solidFill>
            <a:srgbClr val="F2B134">
              <a:alpha val="45000"/>
            </a:srgbClr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640080" y="960120"/>
            <a:ext cx="5486400" cy="32004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数据结构与算法 · 2026 Fall</a:t>
            </a:r>
            <a:endParaRPr lang="en-US" sz="1300" dirty="0"/>
          </a:p>
        </p:txBody>
      </p:sp>
      <p:sp>
        <p:nvSpPr>
          <p:cNvPr id="5" name="Text 3"/>
          <p:cNvSpPr txBox="1"/>
          <p:nvPr/>
        </p:nvSpPr>
        <p:spPr>
          <a:xfrm>
            <a:off x="640080" y="1325880"/>
            <a:ext cx="6400800" cy="82296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buNone/>
            </a:pPr>
            <a:r>
              <a:rPr lang="en-US" sz="38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第12章  高级数据结构</a:t>
            </a:r>
            <a:endParaRPr lang="en-US" sz="3800" dirty="0"/>
          </a:p>
        </p:txBody>
      </p:sp>
      <p:sp>
        <p:nvSpPr>
          <p:cNvPr id="6" name="Text 4"/>
          <p:cNvSpPr txBox="1"/>
          <p:nvPr/>
        </p:nvSpPr>
        <p:spPr>
          <a:xfrm>
            <a:off x="640080" y="2103120"/>
            <a:ext cx="6400800" cy="41148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buNone/>
            </a:pPr>
            <a:r>
              <a:rPr lang="en-US" sz="1800" dirty="0">
                <a:solidFill>
                  <a:srgbClr val="CFE0D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把「存储、查找、回收」推到更复杂的对象上</a:t>
            </a:r>
            <a:endParaRPr lang="en-US" sz="1800" dirty="0"/>
          </a:p>
        </p:txBody>
      </p:sp>
      <p:sp>
        <p:nvSpPr>
          <p:cNvPr id="7" name="Text 5"/>
          <p:cNvSpPr txBox="1"/>
          <p:nvPr/>
        </p:nvSpPr>
        <p:spPr>
          <a:xfrm>
            <a:off x="640080" y="2697480"/>
            <a:ext cx="6035040" cy="123444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多维数组的地址公式 · 三角 / 对称矩阵压缩 · 稀疏矩阵十字链表</a:t>
            </a:r>
            <a:endParaRPr lang="en-US" sz="1100" dirty="0"/>
          </a:p>
          <a:p>
            <a:pPr algn="l"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广义表与共享 · 引用计数 · 可利用空间表 · 三种顺序适配 · 标记–清除</a:t>
            </a:r>
            <a:endParaRPr lang="en-US" sz="1100" dirty="0"/>
          </a:p>
          <a:p>
            <a:pPr algn="l"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Trie 与 Patricia：按字符 / 按位分支，公共前缀只存一次</a:t>
            </a:r>
            <a:endParaRPr lang="en-US" sz="1100" dirty="0"/>
          </a:p>
          <a:p>
            <a:pPr algn="l"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最佳 BST 的动态规划 · AVL 四种旋转 · 伸展树的均摊平衡</a:t>
            </a:r>
            <a:endParaRPr lang="en-US" sz="1100" dirty="0"/>
          </a:p>
        </p:txBody>
      </p:sp>
      <p:sp>
        <p:nvSpPr>
          <p:cNvPr id="8" name="Text 6"/>
          <p:cNvSpPr txBox="1"/>
          <p:nvPr/>
        </p:nvSpPr>
        <p:spPr>
          <a:xfrm>
            <a:off x="640080" y="4343400"/>
            <a:ext cx="6400800" cy="2743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rgbClr val="CFE0D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Compiled by Hongfei Yan · Updated 2026-09-21 · github.com/GMyhf/dsa-modernization</a:t>
            </a:r>
            <a:endParaRPr lang="en-US" sz="1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?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本章导引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每一节都追问三个问题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457200" y="1051560"/>
            <a:ext cx="2606040" cy="2331720"/>
          </a:xfrm>
          <a:prstGeom prst="roundRect">
            <a:avLst>
              <a:gd name="adj" fmla="val 3137"/>
            </a:avLst>
          </a:prstGeom>
          <a:solidFill>
            <a:srgbClr val="F1F4F2"/>
          </a:solidFill>
          <a:ln/>
        </p:spPr>
      </p:sp>
      <p:sp>
        <p:nvSpPr>
          <p:cNvPr id="8" name="Shape 6"/>
          <p:cNvSpPr/>
          <p:nvPr/>
        </p:nvSpPr>
        <p:spPr>
          <a:xfrm>
            <a:off x="640080" y="1207008"/>
            <a:ext cx="420624" cy="420624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640080" y="1207008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</a:t>
            </a:r>
            <a:endParaRPr lang="en-US" sz="1200" dirty="0"/>
          </a:p>
        </p:txBody>
      </p:sp>
      <p:sp>
        <p:nvSpPr>
          <p:cNvPr id="10" name="Text 8"/>
          <p:cNvSpPr txBox="1"/>
          <p:nvPr/>
        </p:nvSpPr>
        <p:spPr>
          <a:xfrm>
            <a:off x="640080" y="1755648"/>
            <a:ext cx="22860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一个逻辑对象落在哪些物理位置？</a:t>
            </a:r>
            <a:endParaRPr lang="en-US" sz="1400" dirty="0"/>
          </a:p>
        </p:txBody>
      </p:sp>
      <p:sp>
        <p:nvSpPr>
          <p:cNvPr id="11" name="Text 9"/>
          <p:cNvSpPr txBox="1"/>
          <p:nvPr/>
        </p:nvSpPr>
        <p:spPr>
          <a:xfrm>
            <a:off x="640080" y="2423160"/>
            <a:ext cx="22860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多维下标换算成</a:t>
            </a:r>
            <a:r>
              <a:rPr lang="en-US" sz="11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一个线性地址</a:t>
            </a: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；一个非零元同时挂在</a:t>
            </a:r>
            <a:r>
              <a:rPr lang="en-US" sz="11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行链和列链</a:t>
            </a: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上；一个子表可以被</a:t>
            </a:r>
            <a:r>
              <a:rPr lang="en-US" sz="11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多处共享</a:t>
            </a: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3246120" y="1051560"/>
            <a:ext cx="2606040" cy="2331720"/>
          </a:xfrm>
          <a:prstGeom prst="roundRect">
            <a:avLst>
              <a:gd name="adj" fmla="val 3137"/>
            </a:avLst>
          </a:prstGeom>
          <a:solidFill>
            <a:srgbClr val="F1F4F2"/>
          </a:solidFill>
          <a:ln/>
        </p:spPr>
      </p:sp>
      <p:sp>
        <p:nvSpPr>
          <p:cNvPr id="13" name="Shape 11"/>
          <p:cNvSpPr/>
          <p:nvPr/>
        </p:nvSpPr>
        <p:spPr>
          <a:xfrm>
            <a:off x="3429000" y="1207008"/>
            <a:ext cx="420624" cy="420624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3429000" y="1207008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</a:t>
            </a:r>
            <a:endParaRPr lang="en-US" sz="1200" dirty="0"/>
          </a:p>
        </p:txBody>
      </p:sp>
      <p:sp>
        <p:nvSpPr>
          <p:cNvPr id="15" name="Text 13"/>
          <p:cNvSpPr txBox="1"/>
          <p:nvPr/>
        </p:nvSpPr>
        <p:spPr>
          <a:xfrm>
            <a:off x="3429000" y="1755648"/>
            <a:ext cx="22860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一次更新要同时维护哪些不变量？</a:t>
            </a:r>
            <a:endParaRPr lang="en-US" sz="1400" dirty="0"/>
          </a:p>
        </p:txBody>
      </p:sp>
      <p:sp>
        <p:nvSpPr>
          <p:cNvPr id="16" name="Text 14"/>
          <p:cNvSpPr txBox="1"/>
          <p:nvPr/>
        </p:nvSpPr>
        <p:spPr>
          <a:xfrm>
            <a:off x="3429000" y="2423160"/>
            <a:ext cx="22860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十字链表的</a:t>
            </a:r>
            <a:r>
              <a:rPr lang="en-US" sz="11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两条链</a:t>
            </a: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、Trie 的 </a:t>
            </a:r>
            <a:r>
              <a:rPr lang="en-US" sz="110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passing</a:t>
            </a: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计数、AVL 的</a:t>
            </a:r>
            <a:r>
              <a:rPr lang="en-US" sz="11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平衡因子</a:t>
            </a: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——旋转前后</a:t>
            </a:r>
            <a:r>
              <a:rPr lang="en-US" sz="11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中序次序不变</a:t>
            </a: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</a:t>
            </a: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>
            <a:off x="6035040" y="1051560"/>
            <a:ext cx="2606040" cy="2331720"/>
          </a:xfrm>
          <a:prstGeom prst="roundRect">
            <a:avLst>
              <a:gd name="adj" fmla="val 3137"/>
            </a:avLst>
          </a:prstGeom>
          <a:solidFill>
            <a:srgbClr val="F1F4F2"/>
          </a:solidFill>
          <a:ln/>
        </p:spPr>
      </p:sp>
      <p:sp>
        <p:nvSpPr>
          <p:cNvPr id="18" name="Shape 16"/>
          <p:cNvSpPr/>
          <p:nvPr/>
        </p:nvSpPr>
        <p:spPr>
          <a:xfrm>
            <a:off x="6217920" y="1207008"/>
            <a:ext cx="420624" cy="420624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19" name="Text 17"/>
          <p:cNvSpPr txBox="1"/>
          <p:nvPr/>
        </p:nvSpPr>
        <p:spPr>
          <a:xfrm>
            <a:off x="6217920" y="1207008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</a:t>
            </a:r>
            <a:endParaRPr lang="en-US" sz="1200" dirty="0"/>
          </a:p>
        </p:txBody>
      </p:sp>
      <p:sp>
        <p:nvSpPr>
          <p:cNvPr id="20" name="Text 18"/>
          <p:cNvSpPr txBox="1"/>
          <p:nvPr/>
        </p:nvSpPr>
        <p:spPr>
          <a:xfrm>
            <a:off x="6217920" y="1755648"/>
            <a:ext cx="22860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结构失效或空间不足时怎样收尾？</a:t>
            </a:r>
            <a:endParaRPr lang="en-US" sz="1400" dirty="0"/>
          </a:p>
        </p:txBody>
      </p:sp>
      <p:sp>
        <p:nvSpPr>
          <p:cNvPr id="21" name="Text 19"/>
          <p:cNvSpPr txBox="1"/>
          <p:nvPr/>
        </p:nvSpPr>
        <p:spPr>
          <a:xfrm>
            <a:off x="6217920" y="2423160"/>
            <a:ext cx="22860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句柄池耗尽返回 </a:t>
            </a:r>
            <a:r>
              <a:rPr lang="en-US" sz="110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nullopt</a:t>
            </a: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；变长块要</a:t>
            </a:r>
            <a:r>
              <a:rPr lang="en-US" sz="11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分裂与合并</a:t>
            </a: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；引用计数收不回环，</a:t>
            </a:r>
            <a:r>
              <a:rPr lang="en-US" sz="11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标记–清除</a:t>
            </a: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按可达性回收。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457200" y="3611880"/>
            <a:ext cx="8229600" cy="1005840"/>
          </a:xfrm>
          <a:prstGeom prst="roundRect">
            <a:avLst>
              <a:gd name="adj" fmla="val 7273"/>
            </a:avLst>
          </a:prstGeom>
          <a:solidFill>
            <a:srgbClr val="1E3D34"/>
          </a:solidFill>
          <a:ln/>
        </p:spPr>
      </p:sp>
      <p:sp>
        <p:nvSpPr>
          <p:cNvPr id="23" name="Text 21"/>
          <p:cNvSpPr txBox="1"/>
          <p:nvPr/>
        </p:nvSpPr>
        <p:spPr>
          <a:xfrm>
            <a:off x="685800" y="370332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一句话概括</a:t>
            </a:r>
            <a:endParaRPr lang="en-US" sz="1100" dirty="0"/>
          </a:p>
        </p:txBody>
      </p:sp>
      <p:sp>
        <p:nvSpPr>
          <p:cNvPr id="24" name="Text 22"/>
          <p:cNvSpPr txBox="1"/>
          <p:nvPr/>
        </p:nvSpPr>
        <p:spPr>
          <a:xfrm>
            <a:off x="685800" y="4005072"/>
            <a:ext cx="7863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读这一章不要只记结构名称：每种结构都要回答</a:t>
            </a:r>
            <a:r>
              <a:rPr lang="en-US" sz="15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落在哪、维护什么、怎样收尾</a:t>
            </a:r>
            <a:r>
              <a:rPr lang="en-US" sz="15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</a:t>
            </a:r>
            <a:endParaRPr lang="en-US" sz="15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≡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本章导引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内容地图：四条独立的线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457200" y="1051560"/>
            <a:ext cx="1920240" cy="3566160"/>
          </a:xfrm>
          <a:prstGeom prst="roundRect">
            <a:avLst>
              <a:gd name="adj" fmla="val 3810"/>
            </a:avLst>
          </a:prstGeom>
          <a:solidFill>
            <a:srgbClr val="FFF6E0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594360" y="1170432"/>
            <a:ext cx="1691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12.1 多维数组</a:t>
            </a:r>
            <a:endParaRPr lang="en-US" sz="1400" dirty="0"/>
          </a:p>
        </p:txBody>
      </p:sp>
      <p:sp>
        <p:nvSpPr>
          <p:cNvPr id="9" name="Text 7"/>
          <p:cNvSpPr txBox="1"/>
          <p:nvPr/>
        </p:nvSpPr>
        <p:spPr>
          <a:xfrm>
            <a:off x="548640" y="1783080"/>
            <a:ext cx="1783080" cy="21031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多维数组的存储：行优先 / 列优先</a:t>
            </a:r>
            <a:endParaRPr lang="en-US" sz="105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特殊矩阵：三角、对称</a:t>
            </a:r>
            <a:endParaRPr lang="en-US" sz="105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稀疏矩阵：三元组、十字链表</a:t>
            </a:r>
            <a:endParaRPr lang="en-US" sz="1050" dirty="0"/>
          </a:p>
        </p:txBody>
      </p:sp>
      <p:sp>
        <p:nvSpPr>
          <p:cNvPr id="10" name="Text 8"/>
          <p:cNvSpPr txBox="1"/>
          <p:nvPr/>
        </p:nvSpPr>
        <p:spPr>
          <a:xfrm>
            <a:off x="594360" y="3886200"/>
            <a:ext cx="16916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85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代码：code/ch12/</a:t>
            </a:r>
            <a:endParaRPr lang="en-US" sz="850" dirty="0"/>
          </a:p>
          <a:p>
            <a:pPr algn="l" indent="0" marL="0">
              <a:lnSpc>
                <a:spcPct val="110000"/>
              </a:lnSpc>
              <a:buNone/>
            </a:pPr>
            <a:r>
              <a:rPr lang="en-US" sz="85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sparse_matrix</a:t>
            </a:r>
            <a:endParaRPr lang="en-US" sz="850" dirty="0"/>
          </a:p>
        </p:txBody>
      </p:sp>
      <p:sp>
        <p:nvSpPr>
          <p:cNvPr id="11" name="Shape 9"/>
          <p:cNvSpPr/>
          <p:nvPr/>
        </p:nvSpPr>
        <p:spPr>
          <a:xfrm>
            <a:off x="2560320" y="1051560"/>
            <a:ext cx="1920240" cy="3566160"/>
          </a:xfrm>
          <a:prstGeom prst="roundRect">
            <a:avLst>
              <a:gd name="adj" fmla="val 3810"/>
            </a:avLst>
          </a:prstGeom>
          <a:solidFill>
            <a:srgbClr val="F1F4F2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2697480" y="1170432"/>
            <a:ext cx="1691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12.2 广义表与存储管理</a:t>
            </a:r>
            <a:endParaRPr lang="en-US" sz="1400" dirty="0"/>
          </a:p>
        </p:txBody>
      </p:sp>
      <p:sp>
        <p:nvSpPr>
          <p:cNvPr id="13" name="Text 11"/>
          <p:cNvSpPr txBox="1"/>
          <p:nvPr/>
        </p:nvSpPr>
        <p:spPr>
          <a:xfrm>
            <a:off x="2651760" y="1783080"/>
            <a:ext cx="1783080" cy="21031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广义表：纯表 / 再入表 / 循环表</a:t>
            </a:r>
            <a:endParaRPr lang="en-US" sz="105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共享与引用计数</a:t>
            </a:r>
            <a:endParaRPr lang="en-US" sz="105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可利用空间表（句柄池）</a:t>
            </a:r>
            <a:endParaRPr lang="en-US" sz="105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变长块：三种适配、合并</a:t>
            </a:r>
            <a:endParaRPr lang="en-US" sz="105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无用单元回收：标记–清除</a:t>
            </a:r>
            <a:endParaRPr lang="en-US" sz="1050" dirty="0"/>
          </a:p>
        </p:txBody>
      </p:sp>
      <p:sp>
        <p:nvSpPr>
          <p:cNvPr id="14" name="Text 12"/>
          <p:cNvSpPr txBox="1"/>
          <p:nvPr/>
        </p:nvSpPr>
        <p:spPr>
          <a:xfrm>
            <a:off x="2697480" y="3886200"/>
            <a:ext cx="16916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85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代码：code/ch12/</a:t>
            </a:r>
            <a:endParaRPr lang="en-US" sz="850" dirty="0"/>
          </a:p>
          <a:p>
            <a:pPr algn="l" indent="0" marL="0">
              <a:lnSpc>
                <a:spcPct val="110000"/>
              </a:lnSpc>
              <a:buNone/>
            </a:pPr>
            <a:r>
              <a:rPr lang="en-US" sz="85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gen_list · optimal_bst</a:t>
            </a:r>
            <a:endParaRPr lang="en-US" sz="850" dirty="0"/>
          </a:p>
          <a:p>
            <a:pPr algn="l" indent="0" marL="0">
              <a:lnSpc>
                <a:spcPct val="110000"/>
              </a:lnSpc>
              <a:buNone/>
            </a:pPr>
            <a:r>
              <a:rPr lang="en-US" sz="85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memory_allocator</a:t>
            </a:r>
            <a:endParaRPr lang="en-US" sz="850" dirty="0"/>
          </a:p>
          <a:p>
            <a:pPr algn="l" indent="0" marL="0">
              <a:lnSpc>
                <a:spcPct val="110000"/>
              </a:lnSpc>
              <a:buNone/>
            </a:pPr>
            <a:r>
              <a:rPr lang="en-US" sz="85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storage_recovery</a:t>
            </a:r>
            <a:endParaRPr lang="en-US" sz="850" dirty="0"/>
          </a:p>
        </p:txBody>
      </p:sp>
      <p:sp>
        <p:nvSpPr>
          <p:cNvPr id="15" name="Shape 13"/>
          <p:cNvSpPr/>
          <p:nvPr/>
        </p:nvSpPr>
        <p:spPr>
          <a:xfrm>
            <a:off x="4663440" y="1051560"/>
            <a:ext cx="1920240" cy="3566160"/>
          </a:xfrm>
          <a:prstGeom prst="roundRect">
            <a:avLst>
              <a:gd name="adj" fmla="val 3810"/>
            </a:avLst>
          </a:prstGeom>
          <a:solidFill>
            <a:srgbClr val="FFF6E0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4800600" y="1170432"/>
            <a:ext cx="1691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12.3 Trie 与 Patricia</a:t>
            </a:r>
            <a:endParaRPr lang="en-US" sz="1400" dirty="0"/>
          </a:p>
        </p:txBody>
      </p:sp>
      <p:sp>
        <p:nvSpPr>
          <p:cNvPr id="17" name="Text 15"/>
          <p:cNvSpPr txBox="1"/>
          <p:nvPr/>
        </p:nvSpPr>
        <p:spPr>
          <a:xfrm>
            <a:off x="4754880" y="1783080"/>
            <a:ext cx="1783080" cy="21031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对象空间 vs 关键码空间</a:t>
            </a:r>
            <a:endParaRPr lang="en-US" sz="105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二叉 Trie、字母 Trie</a:t>
            </a:r>
            <a:endParaRPr lang="en-US" sz="105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最长前缀匹配</a:t>
            </a:r>
            <a:endParaRPr lang="en-US" sz="105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Patricia：按位分支、压缩单孩子结点</a:t>
            </a:r>
            <a:endParaRPr lang="en-US" sz="1050" dirty="0"/>
          </a:p>
        </p:txBody>
      </p:sp>
      <p:sp>
        <p:nvSpPr>
          <p:cNvPr id="18" name="Text 16"/>
          <p:cNvSpPr txBox="1"/>
          <p:nvPr/>
        </p:nvSpPr>
        <p:spPr>
          <a:xfrm>
            <a:off x="4800600" y="3886200"/>
            <a:ext cx="16916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85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代码：code/ch12/</a:t>
            </a:r>
            <a:endParaRPr lang="en-US" sz="850" dirty="0"/>
          </a:p>
          <a:p>
            <a:pPr algn="l" indent="0" marL="0">
              <a:lnSpc>
                <a:spcPct val="110000"/>
              </a:lnSpc>
              <a:buNone/>
            </a:pPr>
            <a:r>
              <a:rPr lang="en-US" sz="85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trie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6766560" y="1051560"/>
            <a:ext cx="1920240" cy="3566160"/>
          </a:xfrm>
          <a:prstGeom prst="roundRect">
            <a:avLst>
              <a:gd name="adj" fmla="val 3810"/>
            </a:avLst>
          </a:prstGeom>
          <a:solidFill>
            <a:srgbClr val="F1F4F2"/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6903720" y="1170432"/>
            <a:ext cx="1691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12.4 改进的 BST</a:t>
            </a:r>
            <a:endParaRPr lang="en-US" sz="1400" dirty="0"/>
          </a:p>
        </p:txBody>
      </p:sp>
      <p:sp>
        <p:nvSpPr>
          <p:cNvPr id="21" name="Text 19"/>
          <p:cNvSpPr txBox="1"/>
          <p:nvPr/>
        </p:nvSpPr>
        <p:spPr>
          <a:xfrm>
            <a:off x="6858000" y="1783080"/>
            <a:ext cx="1783080" cy="21031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最佳 BST：扩充二叉树、动态规划</a:t>
            </a:r>
            <a:endParaRPr lang="en-US" sz="105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AVL：平衡因子、四种旋转、高度上界</a:t>
            </a:r>
            <a:endParaRPr lang="en-US" sz="105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伸展树：一字形 / 之字形、半伸展</a:t>
            </a:r>
            <a:endParaRPr lang="en-US" sz="1050" dirty="0"/>
          </a:p>
        </p:txBody>
      </p:sp>
      <p:sp>
        <p:nvSpPr>
          <p:cNvPr id="22" name="Text 20"/>
          <p:cNvSpPr txBox="1"/>
          <p:nvPr/>
        </p:nvSpPr>
        <p:spPr>
          <a:xfrm>
            <a:off x="6903720" y="3886200"/>
            <a:ext cx="16916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85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代码：code/ch12/</a:t>
            </a:r>
            <a:endParaRPr lang="en-US" sz="850" dirty="0"/>
          </a:p>
          <a:p>
            <a:pPr algn="l" indent="0" marL="0">
              <a:lnSpc>
                <a:spcPct val="110000"/>
              </a:lnSpc>
              <a:buNone/>
            </a:pPr>
            <a:r>
              <a:rPr lang="en-US" sz="85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optimal_bst</a:t>
            </a:r>
            <a:endParaRPr lang="en-US" sz="850" dirty="0"/>
          </a:p>
          <a:p>
            <a:pPr algn="l" indent="0" marL="0">
              <a:lnSpc>
                <a:spcPct val="110000"/>
              </a:lnSpc>
              <a:buNone/>
            </a:pPr>
            <a:r>
              <a:rPr lang="en-US" sz="85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balanced_trees</a:t>
            </a:r>
            <a:endParaRPr lang="en-US" sz="8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▶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先跑一遍 · 1 / 3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广义表：头尾分解、三个指标、共享子表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4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457200" y="932688"/>
            <a:ext cx="8229600" cy="2724912"/>
          </a:xfrm>
          <a:prstGeom prst="roundRect">
            <a:avLst>
              <a:gd name="adj" fmla="val 2685"/>
            </a:avLst>
          </a:prstGeom>
          <a:solidFill>
            <a:srgbClr val="F1F4F2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530352" y="978408"/>
            <a:ext cx="8083296" cy="263347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8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#include "modern.hpp"</a:t>
            </a:r>
            <a:endParaRPr lang="en-US" sz="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endParaRPr lang="en-US" sz="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#include &lt;cstdio&gt;</a:t>
            </a:r>
            <a:endParaRPr lang="en-US" sz="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endParaRPr lang="en-US" sz="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int main() {</a:t>
            </a:r>
            <a:endParaRPr lang="en-US" sz="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using dsa::advanced::GenList;</a:t>
            </a:r>
            <a:endParaRPr lang="en-US" sz="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const GenList list = GenList::parse("(a,(b,c),d)");</a:t>
            </a:r>
            <a:endParaRPr lang="en-US" sz="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std::printf("表      : %s\n", list.to_string().c_str());</a:t>
            </a:r>
            <a:endParaRPr lang="en-US" sz="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std::printf("表头    : %s\n", list.head()-&gt;to_string().c_str());</a:t>
            </a:r>
            <a:endParaRPr lang="en-US" sz="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std::printf("表尾    : %s\n", list.tail()-&gt;to_string().c_str());</a:t>
            </a:r>
            <a:endParaRPr lang="en-US" sz="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std::printf("长度 %zu，深度 %zu，原子 %zu 个\n",</a:t>
            </a:r>
            <a:endParaRPr lang="en-US" sz="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   list.length(), list.depth(), list.atom_count());</a:t>
            </a:r>
            <a:endParaRPr lang="en-US" sz="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endParaRPr lang="en-US" sz="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r>
              <a:rPr lang="en-US" sz="80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再入表：同一个子表挂到两处，靠引用计数而不是拷贝。</a:t>
            </a:r>
            <a:endParaRPr lang="en-US" sz="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const GenList shared = GenList::parse("(b,c)");</a:t>
            </a:r>
            <a:endParaRPr lang="en-US" sz="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const GenList host = GenList::cons(shared, GenList::cons(shared, GenList()));</a:t>
            </a:r>
            <a:endParaRPr lang="en-US" sz="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std::printf("共享后  : %s，被引用 %zu 次\n", host.to_string().c_str(), shared.use_count());</a:t>
            </a:r>
            <a:endParaRPr lang="en-US" sz="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return 0;</a:t>
            </a:r>
            <a:endParaRPr lang="en-US" sz="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800" dirty="0"/>
          </a:p>
        </p:txBody>
      </p:sp>
      <p:sp>
        <p:nvSpPr>
          <p:cNvPr id="9" name="Shape 7"/>
          <p:cNvSpPr/>
          <p:nvPr/>
        </p:nvSpPr>
        <p:spPr>
          <a:xfrm>
            <a:off x="457200" y="3730752"/>
            <a:ext cx="3291840" cy="978408"/>
          </a:xfrm>
          <a:prstGeom prst="roundRect">
            <a:avLst>
              <a:gd name="adj" fmla="val 7477"/>
            </a:avLst>
          </a:prstGeom>
          <a:solidFill>
            <a:srgbClr val="1B2B24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566928" y="3785616"/>
            <a:ext cx="914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输出</a:t>
            </a:r>
            <a:endParaRPr lang="en-US" sz="800" dirty="0"/>
          </a:p>
        </p:txBody>
      </p:sp>
      <p:sp>
        <p:nvSpPr>
          <p:cNvPr id="11" name="Text 9"/>
          <p:cNvSpPr txBox="1"/>
          <p:nvPr/>
        </p:nvSpPr>
        <p:spPr>
          <a:xfrm>
            <a:off x="566928" y="3986784"/>
            <a:ext cx="3072384" cy="6675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" dirty="0">
                <a:solidFill>
                  <a:srgbClr val="CFE0D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表      : (a,(b,c),d)</a:t>
            </a:r>
            <a:endParaRPr lang="en-US" sz="800" dirty="0"/>
          </a:p>
          <a:p>
            <a:pPr indent="0" marL="0">
              <a:buNone/>
            </a:pPr>
            <a:r>
              <a:rPr lang="en-US" sz="800" dirty="0">
                <a:solidFill>
                  <a:srgbClr val="CFE0D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表头    : a</a:t>
            </a:r>
            <a:endParaRPr lang="en-US" sz="800" dirty="0"/>
          </a:p>
          <a:p>
            <a:pPr indent="0" marL="0">
              <a:buNone/>
            </a:pPr>
            <a:r>
              <a:rPr lang="en-US" sz="800" dirty="0">
                <a:solidFill>
                  <a:srgbClr val="CFE0D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表尾    : ((b,c),d)</a:t>
            </a:r>
            <a:endParaRPr lang="en-US" sz="800" dirty="0"/>
          </a:p>
          <a:p>
            <a:pPr indent="0" marL="0">
              <a:buNone/>
            </a:pPr>
            <a:r>
              <a:rPr lang="en-US" sz="800" dirty="0">
                <a:solidFill>
                  <a:srgbClr val="CFE0D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长度 3，深度 2，原子 4 个</a:t>
            </a:r>
            <a:endParaRPr lang="en-US" sz="800" dirty="0"/>
          </a:p>
          <a:p>
            <a:pPr indent="0" marL="0">
              <a:buNone/>
            </a:pPr>
            <a:r>
              <a:rPr lang="en-US" sz="800" dirty="0">
                <a:solidFill>
                  <a:srgbClr val="CFE0D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共享后  : ((b,c),(b,c))，被引用 3 次</a:t>
            </a:r>
            <a:endParaRPr lang="en-US" sz="800" dirty="0"/>
          </a:p>
        </p:txBody>
      </p:sp>
      <p:sp>
        <p:nvSpPr>
          <p:cNvPr id="12" name="Shape 10"/>
          <p:cNvSpPr/>
          <p:nvPr/>
        </p:nvSpPr>
        <p:spPr>
          <a:xfrm>
            <a:off x="3931920" y="3730752"/>
            <a:ext cx="4754880" cy="978408"/>
          </a:xfrm>
          <a:prstGeom prst="roundRect">
            <a:avLst>
              <a:gd name="adj" fmla="val 7477"/>
            </a:avLst>
          </a:prstGeom>
          <a:solidFill>
            <a:srgbClr val="FFF6E0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4069080" y="3822192"/>
            <a:ext cx="4480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看到了什么</a:t>
            </a:r>
            <a:endParaRPr lang="en-US" sz="1100" dirty="0"/>
          </a:p>
        </p:txBody>
      </p:sp>
      <p:sp>
        <p:nvSpPr>
          <p:cNvPr id="14" name="Text 12"/>
          <p:cNvSpPr txBox="1"/>
          <p:nvPr/>
        </p:nvSpPr>
        <p:spPr>
          <a:xfrm>
            <a:off x="4069080" y="4114800"/>
            <a:ext cx="4480560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表尾仍是</a:t>
            </a:r>
            <a:r>
              <a:rPr lang="en-US" sz="10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一个表</a:t>
            </a: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</a:t>
            </a:r>
            <a:r>
              <a:rPr lang="en-US" sz="100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((b,c),d)</a:t>
            </a: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；长度、深度、原子数是</a:t>
            </a:r>
            <a:r>
              <a:rPr lang="en-US" sz="10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三个不同的问题</a:t>
            </a: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</a:t>
            </a:r>
            <a:r>
              <a:rPr lang="en-US" sz="100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(b,c)</a:t>
            </a: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只有</a:t>
            </a:r>
            <a:r>
              <a:rPr lang="en-US" sz="10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一份</a:t>
            </a: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、挂在两处，计数 3：自己一份，两个宿主各一份。</a:t>
            </a:r>
            <a:endParaRPr lang="en-US" sz="1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▶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先跑一遍 · 2 / 3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句柄池复用槽位；最优 BST 算出总成本与根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5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457200" y="960120"/>
            <a:ext cx="5486400" cy="3154680"/>
          </a:xfrm>
          <a:prstGeom prst="roundRect">
            <a:avLst>
              <a:gd name="adj" fmla="val 2319"/>
            </a:avLst>
          </a:prstGeom>
          <a:solidFill>
            <a:srgbClr val="F1F4F2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530352" y="1005840"/>
            <a:ext cx="5340096" cy="306324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#include "modern.hpp"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#include &lt;iostream&gt;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int main() {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dsa::advanced::ReusableNodePool&lt;int&gt; pool(2);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const auto first = pool.acquire(11);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const auto second = pool.acquire(22);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std::cout &lt;&lt; "申请到槽 " &lt;&lt; *first &lt;&lt; " 和 " &lt;&lt; *second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 &lt;&lt; "，剩余 " &lt;&lt; pool.available() &lt;&lt; '\n';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pool.release(*first);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const auto reused = pool.acquire(44);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std::cout &lt;&lt; "归还后再申请得到槽 " &lt;&lt; *reused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 &lt;&lt; "，值为 " &lt;&lt; *pool.get(*reused) &lt;&lt; '\n';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const auto tree = dsa::advanced::optimal_bst({1, 5, 4, 3}, {5, 4, 3, 2, 1});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std::cout &lt;&lt; "最优 BST 总成本 " &lt;&lt; tree.cost[0][4]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 &lt;&lt; "，根为键 " &lt;&lt; tree.root[0][4] &lt;&lt; '\n';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850" dirty="0"/>
          </a:p>
        </p:txBody>
      </p:sp>
      <p:sp>
        <p:nvSpPr>
          <p:cNvPr id="9" name="Text 7"/>
          <p:cNvSpPr txBox="1"/>
          <p:nvPr/>
        </p:nvSpPr>
        <p:spPr>
          <a:xfrm>
            <a:off x="457200" y="4206240"/>
            <a:ext cx="5486400" cy="4572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buNone/>
            </a:pPr>
            <a:r>
              <a:rPr lang="en-US" sz="85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c++ -std=c++17 -Wall -Wextra -Werror -Icode/ch12/optimal_bst \</a:t>
            </a:r>
            <a:endParaRPr lang="en-US" sz="850" dirty="0"/>
          </a:p>
          <a:p>
            <a:pPr algn="l" indent="0" marL="0">
              <a:buNone/>
            </a:pPr>
            <a:r>
              <a:rPr lang="en-US" sz="85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   code/ch12/optimal_bst/demo.cpp -o /tmp/bst-demo</a:t>
            </a:r>
            <a:endParaRPr lang="en-US" sz="850" dirty="0"/>
          </a:p>
        </p:txBody>
      </p:sp>
      <p:sp>
        <p:nvSpPr>
          <p:cNvPr id="10" name="Shape 8"/>
          <p:cNvSpPr/>
          <p:nvPr/>
        </p:nvSpPr>
        <p:spPr>
          <a:xfrm>
            <a:off x="6126480" y="960120"/>
            <a:ext cx="2560320" cy="1234440"/>
          </a:xfrm>
          <a:prstGeom prst="roundRect">
            <a:avLst>
              <a:gd name="adj" fmla="val 5926"/>
            </a:avLst>
          </a:prstGeom>
          <a:solidFill>
            <a:srgbClr val="1B2B24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6236208" y="1014984"/>
            <a:ext cx="914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输出</a:t>
            </a:r>
            <a:endParaRPr lang="en-US" sz="800" dirty="0"/>
          </a:p>
        </p:txBody>
      </p:sp>
      <p:sp>
        <p:nvSpPr>
          <p:cNvPr id="12" name="Text 10"/>
          <p:cNvSpPr txBox="1"/>
          <p:nvPr/>
        </p:nvSpPr>
        <p:spPr>
          <a:xfrm>
            <a:off x="6236208" y="1216152"/>
            <a:ext cx="2340864" cy="9235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CFE0D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申请到槽 0 和 1，剩余 0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CFE0D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归还后再申请得到槽 0，值为 44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CFE0D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最优 BST 总成本 57，根为键 2</a:t>
            </a:r>
            <a:endParaRPr lang="en-US" sz="950" dirty="0"/>
          </a:p>
        </p:txBody>
      </p:sp>
      <p:sp>
        <p:nvSpPr>
          <p:cNvPr id="13" name="Shape 11"/>
          <p:cNvSpPr/>
          <p:nvPr/>
        </p:nvSpPr>
        <p:spPr>
          <a:xfrm>
            <a:off x="6126480" y="2331720"/>
            <a:ext cx="2560320" cy="2331720"/>
          </a:xfrm>
          <a:prstGeom prst="roundRect">
            <a:avLst>
              <a:gd name="adj" fmla="val 3137"/>
            </a:avLst>
          </a:prstGeom>
          <a:solidFill>
            <a:srgbClr val="FFF6E0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6263640" y="2423160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看到了什么</a:t>
            </a:r>
            <a:endParaRPr lang="en-US" sz="1200" dirty="0"/>
          </a:p>
        </p:txBody>
      </p:sp>
      <p:sp>
        <p:nvSpPr>
          <p:cNvPr id="15" name="Text 13"/>
          <p:cNvSpPr txBox="1"/>
          <p:nvPr/>
        </p:nvSpPr>
        <p:spPr>
          <a:xfrm>
            <a:off x="6236208" y="2715768"/>
            <a:ext cx="2340864" cy="18745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marL="177800" indent="-177800">
              <a:spcAft>
                <a:spcPts val="400"/>
              </a:spcAft>
              <a:buSzPct val="100000"/>
              <a:buChar char="•"/>
            </a:pP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归还的槽 0 </a:t>
            </a:r>
            <a:r>
              <a:rPr lang="en-US" sz="10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马上被复用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：可利用空间表就是一个空闲栈。</a:t>
            </a:r>
            <a:endParaRPr lang="en-US" sz="1050" dirty="0"/>
          </a:p>
          <a:p>
            <a:pPr marL="177800" indent="-177800">
              <a:spcAft>
                <a:spcPts val="400"/>
              </a:spcAft>
              <a:buSzPct val="100000"/>
              <a:buChar char="•"/>
            </a:pP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教材样例 </a:t>
            </a:r>
            <a:r>
              <a:rPr lang="en-US" sz="10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 = {1,5,4,3}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、</a:t>
            </a:r>
            <a:r>
              <a:rPr lang="en-US" sz="10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q = {5,4,3,2,1}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：总成本 </a:t>
            </a:r>
            <a:r>
              <a:rPr lang="en-US" sz="10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57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，根是</a:t>
            </a:r>
            <a:r>
              <a:rPr lang="en-US" sz="10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第 2 个键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</a:t>
            </a:r>
            <a:endParaRPr lang="en-US" sz="1050" dirty="0"/>
          </a:p>
          <a:p>
            <a:pPr marL="177800" indent="-177800">
              <a:spcAft>
                <a:spcPts val="400"/>
              </a:spcAft>
              <a:buSzPct val="100000"/>
              <a:buChar char="•"/>
            </a:pP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长度对不上的输入（如 </a:t>
            </a:r>
            <a:r>
              <a:rPr lang="en-US" sz="10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optimal_bst({1,2}, {3,4})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）抛 </a:t>
            </a:r>
            <a:r>
              <a:rPr lang="en-US" sz="10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std::invalid_argument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</a:t>
            </a:r>
            <a:endParaRPr lang="en-US" sz="10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▶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先跑一遍 · 3 / 3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Trie 与 Patricia：结点数是程序报的，不是数出来的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6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457200" y="960120"/>
            <a:ext cx="5120640" cy="3703320"/>
          </a:xfrm>
          <a:prstGeom prst="roundRect">
            <a:avLst>
              <a:gd name="adj" fmla="val 1975"/>
            </a:avLst>
          </a:prstGeom>
          <a:solidFill>
            <a:srgbClr val="F1F4F2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530352" y="1005840"/>
            <a:ext cx="4974336" cy="361188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#include "modern.hpp"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#include &lt;cstdio&gt;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int main() {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dsa::advanced::Trie trie;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dsa::advanced::PatriciaTree patricia;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for (const char* word : {"can", "car", "cat", "do"}) {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trie.insert(word);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patricia.insert(word);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}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std::printf("Trie     : %zu 个词，%zu 个结点（字符总数 11）\n",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   trie.size(), trie.node_count());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std::printf("Patricia : %zu 个词，%zu 个内部结点\n",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   patricia.size(), patricia.internal_count());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std::printf("前缀 ca 下有 %zu 个词：", trie.count_with_prefix("ca"));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for (const auto&amp; word : trie.keys_with_prefix("ca")) {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std::printf("%s ", word.c_str());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}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std::printf("\n最长前缀匹配 dozen -&gt; %s（走不动就回退到最近词尾）\n",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   trie.longest_prefix_of("dozen").c_str());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return 0;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850" dirty="0"/>
          </a:p>
        </p:txBody>
      </p:sp>
      <p:sp>
        <p:nvSpPr>
          <p:cNvPr id="9" name="Shape 7"/>
          <p:cNvSpPr/>
          <p:nvPr/>
        </p:nvSpPr>
        <p:spPr>
          <a:xfrm>
            <a:off x="5760720" y="960120"/>
            <a:ext cx="2926080" cy="1783080"/>
          </a:xfrm>
          <a:prstGeom prst="roundRect">
            <a:avLst>
              <a:gd name="adj" fmla="val 4103"/>
            </a:avLst>
          </a:prstGeom>
          <a:solidFill>
            <a:srgbClr val="1B2B24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5870448" y="1014984"/>
            <a:ext cx="914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输出</a:t>
            </a:r>
            <a:endParaRPr lang="en-US" sz="800" dirty="0"/>
          </a:p>
        </p:txBody>
      </p:sp>
      <p:sp>
        <p:nvSpPr>
          <p:cNvPr id="11" name="Text 9"/>
          <p:cNvSpPr txBox="1"/>
          <p:nvPr/>
        </p:nvSpPr>
        <p:spPr>
          <a:xfrm>
            <a:off x="5870448" y="1216152"/>
            <a:ext cx="2706624" cy="1472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CFE0D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Trie     : 4 个词，7 个结点（字符总数 11）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CFE0D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Patricia : 4 个词，3 个内部结点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CFE0D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前缀 ca 下有 3 个词：can car cat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CFE0D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最长前缀匹配 dozen -&gt; do（走不动就回退到最近词尾）</a:t>
            </a:r>
            <a:endParaRPr lang="en-US" sz="850" dirty="0"/>
          </a:p>
        </p:txBody>
      </p:sp>
      <p:sp>
        <p:nvSpPr>
          <p:cNvPr id="12" name="Shape 10"/>
          <p:cNvSpPr/>
          <p:nvPr/>
        </p:nvSpPr>
        <p:spPr>
          <a:xfrm>
            <a:off x="5760720" y="2880360"/>
            <a:ext cx="2926080" cy="1783080"/>
          </a:xfrm>
          <a:prstGeom prst="roundRect">
            <a:avLst>
              <a:gd name="adj" fmla="val 4103"/>
            </a:avLst>
          </a:prstGeom>
          <a:solidFill>
            <a:srgbClr val="FFF6E0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5897880" y="2971800"/>
            <a:ext cx="2651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看到了什么</a:t>
            </a:r>
            <a:endParaRPr lang="en-US" sz="1200" dirty="0"/>
          </a:p>
        </p:txBody>
      </p:sp>
      <p:sp>
        <p:nvSpPr>
          <p:cNvPr id="14" name="Text 12"/>
          <p:cNvSpPr txBox="1"/>
          <p:nvPr/>
        </p:nvSpPr>
        <p:spPr>
          <a:xfrm>
            <a:off x="5870448" y="3264408"/>
            <a:ext cx="2706624" cy="132588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marL="177800" indent="-177800">
              <a:spcAft>
                <a:spcPts val="400"/>
              </a:spcAft>
              <a:buSzPct val="100000"/>
              <a:buChar char="•"/>
            </a:pP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11 个字符只要 </a:t>
            </a:r>
            <a:r>
              <a:rPr lang="en-US" sz="10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7 个结点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：</a:t>
            </a:r>
            <a:r>
              <a:rPr lang="en-US" sz="10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ca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只存了一次——前缀共享的全部价值。</a:t>
            </a:r>
            <a:endParaRPr lang="en-US" sz="1050" dirty="0"/>
          </a:p>
          <a:p>
            <a:pPr marL="177800" indent="-177800">
              <a:spcAft>
                <a:spcPts val="400"/>
              </a:spcAft>
              <a:buSzPct val="100000"/>
              <a:buChar char="•"/>
            </a:pP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Patricia 把单孩子结点压掉，只剩 </a:t>
            </a:r>
            <a:r>
              <a:rPr lang="en-US" sz="10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 个内部结点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</a:t>
            </a:r>
            <a:endParaRPr lang="en-US" sz="1050" dirty="0"/>
          </a:p>
          <a:p>
            <a:pPr marL="177800" indent="-177800">
              <a:spcAft>
                <a:spcPts val="400"/>
              </a:spcAft>
              <a:buSzPct val="100000"/>
              <a:buChar char="•"/>
            </a:pPr>
            <a:r>
              <a:rPr lang="en-US" sz="10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dozen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走到 </a:t>
            </a:r>
            <a:r>
              <a:rPr lang="en-US" sz="10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do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之后走不动，回退到最近的词尾。</a:t>
            </a:r>
            <a:endParaRPr lang="en-US" sz="10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1E3D3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309360" y="-1188720"/>
            <a:ext cx="3840480" cy="3840480"/>
          </a:xfrm>
          <a:prstGeom prst="ellipse">
            <a:avLst/>
          </a:prstGeom>
          <a:solidFill>
            <a:srgbClr val="2F5C4C"/>
          </a:solidFill>
          <a:ln/>
        </p:spPr>
      </p:sp>
      <p:sp>
        <p:nvSpPr>
          <p:cNvPr id="3" name="Shape 1"/>
          <p:cNvSpPr/>
          <p:nvPr/>
        </p:nvSpPr>
        <p:spPr>
          <a:xfrm>
            <a:off x="7223760" y="3017520"/>
            <a:ext cx="2651760" cy="2651760"/>
          </a:xfrm>
          <a:prstGeom prst="ellipse">
            <a:avLst/>
          </a:prstGeom>
          <a:solidFill>
            <a:srgbClr val="F2B134">
              <a:alpha val="45000"/>
            </a:srgbClr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640080" y="1554480"/>
            <a:ext cx="5486400" cy="32004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12.1</a:t>
            </a:r>
            <a:endParaRPr lang="en-US" sz="1300" dirty="0"/>
          </a:p>
        </p:txBody>
      </p:sp>
      <p:sp>
        <p:nvSpPr>
          <p:cNvPr id="5" name="Text 3"/>
          <p:cNvSpPr txBox="1"/>
          <p:nvPr/>
        </p:nvSpPr>
        <p:spPr>
          <a:xfrm>
            <a:off x="640080" y="1874520"/>
            <a:ext cx="6400800" cy="7315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多维数组</a:t>
            </a:r>
            <a:endParaRPr lang="en-US" sz="3400" dirty="0"/>
          </a:p>
        </p:txBody>
      </p:sp>
      <p:sp>
        <p:nvSpPr>
          <p:cNvPr id="6" name="Text 4"/>
          <p:cNvSpPr txBox="1"/>
          <p:nvPr/>
        </p:nvSpPr>
        <p:spPr>
          <a:xfrm>
            <a:off x="640080" y="2697480"/>
            <a:ext cx="5760720" cy="9144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CFE0D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多个下标 → 一个线性地址</a:t>
            </a:r>
            <a:endParaRPr lang="en-US" sz="1300" dirty="0"/>
          </a:p>
          <a:p>
            <a:pPr algn="l"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CFE0D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行优先 / 列优先 · 三角与对称矩阵压缩 · 稀疏矩阵十字链表</a:t>
            </a:r>
            <a:endParaRPr lang="en-US" sz="13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12.1</a:t>
            </a:r>
            <a:endParaRPr lang="en-US" sz="9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12.1.1 多维数组的存储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多维数组：按某种周游次序排成一条线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8</a:t>
            </a:r>
            <a:endParaRPr lang="en-US" sz="900" dirty="0"/>
          </a:p>
        </p:txBody>
      </p:sp>
      <p:sp>
        <p:nvSpPr>
          <p:cNvPr id="7" name="Text 5"/>
          <p:cNvSpPr txBox="1"/>
          <p:nvPr/>
        </p:nvSpPr>
        <p:spPr>
          <a:xfrm>
            <a:off x="457200" y="960120"/>
            <a:ext cx="4206240" cy="21031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2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数组的数组就是二维，二维数组再排成一列就是三维。</a:t>
            </a:r>
            <a:endParaRPr lang="en-US" sz="12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2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同一数组里元素类型相同；个数相对固定，生成后通常</a:t>
            </a:r>
            <a:r>
              <a:rPr lang="en-US" sz="12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只改值、不改相对位置和个数</a:t>
            </a:r>
            <a:r>
              <a:rPr lang="en-US" sz="12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→ 自然采用</a:t>
            </a:r>
            <a:r>
              <a:rPr lang="en-US" sz="12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顺序存储</a:t>
            </a:r>
            <a:r>
              <a:rPr lang="en-US" sz="12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</a:t>
            </a:r>
            <a:endParaRPr lang="en-US" sz="12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20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a[i][j]</a:t>
            </a:r>
            <a:r>
              <a:rPr lang="en-US" sz="12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同时属于第 i 行和第 j 列，最多两个前驱、两个后继；推到 k 维，每个元素属于 k 个向量。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4892040" y="1005840"/>
            <a:ext cx="3794760" cy="2011680"/>
          </a:xfrm>
          <a:prstGeom prst="roundRect">
            <a:avLst>
              <a:gd name="adj" fmla="val 3636"/>
            </a:avLst>
          </a:prstGeom>
          <a:solidFill>
            <a:srgbClr val="F1F4F2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5029200" y="1078992"/>
            <a:ext cx="3566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行优先（C++、Pascal）：先排最右的下标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5074920" y="1463040"/>
            <a:ext cx="502920" cy="347472"/>
          </a:xfrm>
          <a:prstGeom prst="rect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5074920" y="1463040"/>
            <a:ext cx="5029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a00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5577840" y="1463040"/>
            <a:ext cx="502920" cy="347472"/>
          </a:xfrm>
          <a:prstGeom prst="rect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5577840" y="1463040"/>
            <a:ext cx="5029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a01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6080760" y="1463040"/>
            <a:ext cx="502920" cy="347472"/>
          </a:xfrm>
          <a:prstGeom prst="rect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6080760" y="1463040"/>
            <a:ext cx="5029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a02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5074920" y="1810512"/>
            <a:ext cx="502920" cy="347472"/>
          </a:xfrm>
          <a:prstGeom prst="rect">
            <a:avLst/>
          </a:prstGeom>
          <a:solidFill>
            <a:srgbClr val="CDEBD9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5074920" y="1810512"/>
            <a:ext cx="5029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a10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5577840" y="1810512"/>
            <a:ext cx="502920" cy="347472"/>
          </a:xfrm>
          <a:prstGeom prst="rect">
            <a:avLst/>
          </a:prstGeom>
          <a:solidFill>
            <a:srgbClr val="CDEBD9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5577840" y="1810512"/>
            <a:ext cx="5029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a11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6080760" y="1810512"/>
            <a:ext cx="502920" cy="347472"/>
          </a:xfrm>
          <a:prstGeom prst="rect">
            <a:avLst/>
          </a:prstGeom>
          <a:solidFill>
            <a:srgbClr val="CDEBD9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6080760" y="1810512"/>
            <a:ext cx="5029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a12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6675120" y="1810512"/>
            <a:ext cx="411480" cy="0"/>
          </a:xfrm>
          <a:prstGeom prst="line">
            <a:avLst/>
          </a:prstGeom>
          <a:noFill/>
          <a:ln w="19050">
            <a:solidFill>
              <a:srgbClr val="A06A00"/>
            </a:solidFill>
            <a:prstDash val="solid"/>
            <a:tailEnd type="triangle"/>
          </a:ln>
        </p:spPr>
      </p:sp>
      <p:sp>
        <p:nvSpPr>
          <p:cNvPr id="23" name="Shape 21"/>
          <p:cNvSpPr/>
          <p:nvPr/>
        </p:nvSpPr>
        <p:spPr>
          <a:xfrm>
            <a:off x="5074920" y="2395728"/>
            <a:ext cx="502920" cy="347472"/>
          </a:xfrm>
          <a:prstGeom prst="rect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5074920" y="2395728"/>
            <a:ext cx="5029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a00</a:t>
            </a:r>
            <a:endParaRPr lang="en-US" sz="1000" dirty="0"/>
          </a:p>
        </p:txBody>
      </p:sp>
      <p:sp>
        <p:nvSpPr>
          <p:cNvPr id="25" name="Text 23"/>
          <p:cNvSpPr txBox="1"/>
          <p:nvPr/>
        </p:nvSpPr>
        <p:spPr>
          <a:xfrm>
            <a:off x="5074920" y="2743200"/>
            <a:ext cx="5029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</a:t>
            </a:r>
            <a:endParaRPr lang="en-US" sz="800" dirty="0"/>
          </a:p>
        </p:txBody>
      </p:sp>
      <p:sp>
        <p:nvSpPr>
          <p:cNvPr id="26" name="Shape 24"/>
          <p:cNvSpPr/>
          <p:nvPr/>
        </p:nvSpPr>
        <p:spPr>
          <a:xfrm>
            <a:off x="5577840" y="2395728"/>
            <a:ext cx="502920" cy="347472"/>
          </a:xfrm>
          <a:prstGeom prst="rect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27" name="Text 25"/>
          <p:cNvSpPr txBox="1"/>
          <p:nvPr/>
        </p:nvSpPr>
        <p:spPr>
          <a:xfrm>
            <a:off x="5577840" y="2395728"/>
            <a:ext cx="5029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a01</a:t>
            </a:r>
            <a:endParaRPr lang="en-US" sz="1000" dirty="0"/>
          </a:p>
        </p:txBody>
      </p:sp>
      <p:sp>
        <p:nvSpPr>
          <p:cNvPr id="28" name="Text 26"/>
          <p:cNvSpPr txBox="1"/>
          <p:nvPr/>
        </p:nvSpPr>
        <p:spPr>
          <a:xfrm>
            <a:off x="5577840" y="2743200"/>
            <a:ext cx="5029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</a:t>
            </a:r>
            <a:endParaRPr lang="en-US" sz="800" dirty="0"/>
          </a:p>
        </p:txBody>
      </p:sp>
      <p:sp>
        <p:nvSpPr>
          <p:cNvPr id="29" name="Shape 27"/>
          <p:cNvSpPr/>
          <p:nvPr/>
        </p:nvSpPr>
        <p:spPr>
          <a:xfrm>
            <a:off x="6080760" y="2395728"/>
            <a:ext cx="502920" cy="347472"/>
          </a:xfrm>
          <a:prstGeom prst="rect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30" name="Text 28"/>
          <p:cNvSpPr txBox="1"/>
          <p:nvPr/>
        </p:nvSpPr>
        <p:spPr>
          <a:xfrm>
            <a:off x="6080760" y="2395728"/>
            <a:ext cx="5029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a02</a:t>
            </a:r>
            <a:endParaRPr lang="en-US" sz="1000" dirty="0"/>
          </a:p>
        </p:txBody>
      </p:sp>
      <p:sp>
        <p:nvSpPr>
          <p:cNvPr id="31" name="Text 29"/>
          <p:cNvSpPr txBox="1"/>
          <p:nvPr/>
        </p:nvSpPr>
        <p:spPr>
          <a:xfrm>
            <a:off x="6080760" y="2743200"/>
            <a:ext cx="5029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</a:t>
            </a:r>
            <a:endParaRPr lang="en-US" sz="800" dirty="0"/>
          </a:p>
        </p:txBody>
      </p:sp>
      <p:sp>
        <p:nvSpPr>
          <p:cNvPr id="32" name="Shape 30"/>
          <p:cNvSpPr/>
          <p:nvPr/>
        </p:nvSpPr>
        <p:spPr>
          <a:xfrm>
            <a:off x="6583680" y="2395728"/>
            <a:ext cx="502920" cy="347472"/>
          </a:xfrm>
          <a:prstGeom prst="rect">
            <a:avLst/>
          </a:prstGeom>
          <a:solidFill>
            <a:srgbClr val="CDEBD9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33" name="Text 31"/>
          <p:cNvSpPr txBox="1"/>
          <p:nvPr/>
        </p:nvSpPr>
        <p:spPr>
          <a:xfrm>
            <a:off x="6583680" y="2395728"/>
            <a:ext cx="5029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a10</a:t>
            </a:r>
            <a:endParaRPr lang="en-US" sz="1000" dirty="0"/>
          </a:p>
        </p:txBody>
      </p:sp>
      <p:sp>
        <p:nvSpPr>
          <p:cNvPr id="34" name="Text 32"/>
          <p:cNvSpPr txBox="1"/>
          <p:nvPr/>
        </p:nvSpPr>
        <p:spPr>
          <a:xfrm>
            <a:off x="6583680" y="2743200"/>
            <a:ext cx="5029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</a:t>
            </a:r>
            <a:endParaRPr lang="en-US" sz="800" dirty="0"/>
          </a:p>
        </p:txBody>
      </p:sp>
      <p:sp>
        <p:nvSpPr>
          <p:cNvPr id="35" name="Shape 33"/>
          <p:cNvSpPr/>
          <p:nvPr/>
        </p:nvSpPr>
        <p:spPr>
          <a:xfrm>
            <a:off x="7086600" y="2395728"/>
            <a:ext cx="502920" cy="347472"/>
          </a:xfrm>
          <a:prstGeom prst="rect">
            <a:avLst/>
          </a:prstGeom>
          <a:solidFill>
            <a:srgbClr val="CDEBD9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36" name="Text 34"/>
          <p:cNvSpPr txBox="1"/>
          <p:nvPr/>
        </p:nvSpPr>
        <p:spPr>
          <a:xfrm>
            <a:off x="7086600" y="2395728"/>
            <a:ext cx="5029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a11</a:t>
            </a:r>
            <a:endParaRPr lang="en-US" sz="1000" dirty="0"/>
          </a:p>
        </p:txBody>
      </p:sp>
      <p:sp>
        <p:nvSpPr>
          <p:cNvPr id="37" name="Text 35"/>
          <p:cNvSpPr txBox="1"/>
          <p:nvPr/>
        </p:nvSpPr>
        <p:spPr>
          <a:xfrm>
            <a:off x="7086600" y="2743200"/>
            <a:ext cx="5029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4</a:t>
            </a:r>
            <a:endParaRPr lang="en-US" sz="800" dirty="0"/>
          </a:p>
        </p:txBody>
      </p:sp>
      <p:sp>
        <p:nvSpPr>
          <p:cNvPr id="38" name="Shape 36"/>
          <p:cNvSpPr/>
          <p:nvPr/>
        </p:nvSpPr>
        <p:spPr>
          <a:xfrm>
            <a:off x="7589520" y="2395728"/>
            <a:ext cx="502920" cy="347472"/>
          </a:xfrm>
          <a:prstGeom prst="rect">
            <a:avLst/>
          </a:prstGeom>
          <a:solidFill>
            <a:srgbClr val="CDEBD9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39" name="Text 37"/>
          <p:cNvSpPr txBox="1"/>
          <p:nvPr/>
        </p:nvSpPr>
        <p:spPr>
          <a:xfrm>
            <a:off x="7589520" y="2395728"/>
            <a:ext cx="5029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a12</a:t>
            </a:r>
            <a:endParaRPr lang="en-US" sz="1000" dirty="0"/>
          </a:p>
        </p:txBody>
      </p:sp>
      <p:sp>
        <p:nvSpPr>
          <p:cNvPr id="40" name="Text 38"/>
          <p:cNvSpPr txBox="1"/>
          <p:nvPr/>
        </p:nvSpPr>
        <p:spPr>
          <a:xfrm>
            <a:off x="7589520" y="2743200"/>
            <a:ext cx="5029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5</a:t>
            </a:r>
            <a:endParaRPr lang="en-US" sz="800" dirty="0"/>
          </a:p>
        </p:txBody>
      </p:sp>
      <p:sp>
        <p:nvSpPr>
          <p:cNvPr id="41" name="Text 39"/>
          <p:cNvSpPr txBox="1"/>
          <p:nvPr/>
        </p:nvSpPr>
        <p:spPr>
          <a:xfrm>
            <a:off x="5029200" y="3081528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列优先（FORTRAN）：先排最左下标，公式左右对调</a:t>
            </a:r>
            <a:endParaRPr lang="en-US" sz="1000" dirty="0"/>
          </a:p>
        </p:txBody>
      </p:sp>
      <p:sp>
        <p:nvSpPr>
          <p:cNvPr id="42" name="Shape 40"/>
          <p:cNvSpPr/>
          <p:nvPr/>
        </p:nvSpPr>
        <p:spPr>
          <a:xfrm>
            <a:off x="457200" y="3429000"/>
            <a:ext cx="8229600" cy="685800"/>
          </a:xfrm>
          <a:prstGeom prst="roundRect">
            <a:avLst>
              <a:gd name="adj" fmla="val 10667"/>
            </a:avLst>
          </a:prstGeom>
          <a:solidFill>
            <a:srgbClr val="1E3D34"/>
          </a:solidFill>
          <a:ln/>
        </p:spPr>
      </p:sp>
      <p:sp>
        <p:nvSpPr>
          <p:cNvPr id="43" name="Text 41"/>
          <p:cNvSpPr txBox="1"/>
          <p:nvPr/>
        </p:nvSpPr>
        <p:spPr>
          <a:xfrm>
            <a:off x="640080" y="3474720"/>
            <a:ext cx="38404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CFE0D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d₀ × d₁ × ⋯ × dₙ₋₁ 数组中 A[j₀, …, jₙ₋₁] 的偏移</a:t>
            </a:r>
            <a:endParaRPr lang="en-US" sz="1150" dirty="0"/>
          </a:p>
        </p:txBody>
      </p:sp>
      <p:sp>
        <p:nvSpPr>
          <p:cNvPr id="44" name="Text 42"/>
          <p:cNvSpPr txBox="1"/>
          <p:nvPr/>
        </p:nvSpPr>
        <p:spPr>
          <a:xfrm>
            <a:off x="4480560" y="3474720"/>
            <a:ext cx="41148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d · ( Σᵢ₌₀ⁿ⁻² jᵢ · Πₖ₌ᵢ₊₁ⁿ⁻¹ dₖ  +  jₙ₋₁ )</a:t>
            </a:r>
            <a:endParaRPr lang="en-US" sz="1700" dirty="0"/>
          </a:p>
        </p:txBody>
      </p:sp>
      <p:sp>
        <p:nvSpPr>
          <p:cNvPr id="45" name="Text 43"/>
          <p:cNvSpPr txBox="1"/>
          <p:nvPr/>
        </p:nvSpPr>
        <p:spPr>
          <a:xfrm>
            <a:off x="457200" y="4206240"/>
            <a:ext cx="8229600" cy="4572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buNone/>
            </a:pP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d 是一个元素所占单元数。每个元素的定位时间相同 → </a:t>
            </a:r>
            <a:r>
              <a:rPr lang="en-US" sz="11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随机存储结构</a:t>
            </a: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。定位前仍要逐维检查 </a:t>
            </a:r>
            <a:r>
              <a:rPr lang="en-US" sz="11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 &lt;= j_i &lt; d_i</a:t>
            </a: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——</a:t>
            </a:r>
            <a:r>
              <a:rPr lang="en-US" sz="11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公式本身不会替程序发现越界</a:t>
            </a: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</a:t>
            </a:r>
            <a:endParaRPr lang="en-US" sz="11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12.1</a:t>
            </a:r>
            <a:endParaRPr lang="en-US" sz="9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12.1.1 多维数组的存储 · 例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int A[2][3][4]：A[1][2][3] 在哪？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9</a:t>
            </a:r>
            <a:endParaRPr lang="en-US" sz="900" dirty="0"/>
          </a:p>
        </p:txBody>
      </p:sp>
      <p:sp>
        <p:nvSpPr>
          <p:cNvPr id="7" name="Text 5"/>
          <p:cNvSpPr txBox="1"/>
          <p:nvPr/>
        </p:nvSpPr>
        <p:spPr>
          <a:xfrm>
            <a:off x="457200" y="932688"/>
            <a:ext cx="8229600" cy="32004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buNone/>
            </a:pPr>
            <a:r>
              <a:rPr lang="en-US" sz="12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不必真把 24 个元素列出来：最右一维每跨一步跳 1 个，中间一维跳 4 个，最左一维跳 3 × 4 = 12 个。</a:t>
            </a:r>
            <a:endParaRPr lang="en-US" sz="1250" dirty="0"/>
          </a:p>
        </p:txBody>
      </p:sp>
      <p:graphicFrame>
        <p:nvGraphicFramePr>
          <p:cNvPr id="1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371600"/>
          <a:ext cx="4480560" cy="914400"/>
        </p:xfrm>
        <a:graphic>
          <a:graphicData uri="http://schemas.openxmlformats.org/drawingml/2006/table">
            <a:tbl>
              <a:tblPr/>
              <a:tblGrid>
                <a:gridCol w="640080"/>
                <a:gridCol w="731520"/>
                <a:gridCol w="1828800"/>
                <a:gridCol w="1280160"/>
              </a:tblGrid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维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下标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后续维大小的乘积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贡献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0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1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3 × 4 = 12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12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1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2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4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8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2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3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1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3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合计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 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 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23 个元素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</a:tr>
            </a:tbl>
          </a:graphicData>
        </a:graphic>
      </p:graphicFrame>
      <p:sp>
        <p:nvSpPr>
          <p:cNvPr id="9" name="Shape 6"/>
          <p:cNvSpPr/>
          <p:nvPr/>
        </p:nvSpPr>
        <p:spPr>
          <a:xfrm>
            <a:off x="457200" y="3474720"/>
            <a:ext cx="4480560" cy="1188720"/>
          </a:xfrm>
          <a:prstGeom prst="roundRect">
            <a:avLst>
              <a:gd name="adj" fmla="val 6154"/>
            </a:avLst>
          </a:prstGeom>
          <a:solidFill>
            <a:srgbClr val="F1F4F2"/>
          </a:solidFill>
          <a:ln/>
        </p:spPr>
      </p:sp>
      <p:sp>
        <p:nvSpPr>
          <p:cNvPr id="10" name="Text 7"/>
          <p:cNvSpPr txBox="1"/>
          <p:nvPr/>
        </p:nvSpPr>
        <p:spPr>
          <a:xfrm>
            <a:off x="594360" y="3547872"/>
            <a:ext cx="4206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若 int 占 4 字节，字节偏移是 </a:t>
            </a:r>
            <a:r>
              <a:rPr lang="en-US" sz="11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92</a:t>
            </a: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。从左往右用霍纳法：</a:t>
            </a:r>
            <a:endParaRPr lang="en-US" sz="1150" dirty="0"/>
          </a:p>
        </p:txBody>
      </p:sp>
      <p:sp>
        <p:nvSpPr>
          <p:cNvPr id="11" name="Text 8"/>
          <p:cNvSpPr txBox="1"/>
          <p:nvPr/>
        </p:nvSpPr>
        <p:spPr>
          <a:xfrm>
            <a:off x="594360" y="3886200"/>
            <a:ext cx="4206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((1 * 3 + 2) * 4 + 3) * 4 = 92</a:t>
            </a:r>
            <a:endParaRPr lang="en-US" sz="1500" dirty="0"/>
          </a:p>
        </p:txBody>
      </p:sp>
      <p:sp>
        <p:nvSpPr>
          <p:cNvPr id="12" name="Text 9"/>
          <p:cNvSpPr txBox="1"/>
          <p:nvPr/>
        </p:nvSpPr>
        <p:spPr>
          <a:xfrm>
            <a:off x="594360" y="4279392"/>
            <a:ext cx="4206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5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一边读下标一边累乘，不必预存每一维的跨度。</a:t>
            </a:r>
            <a:endParaRPr lang="en-US" sz="1050" dirty="0"/>
          </a:p>
        </p:txBody>
      </p:sp>
      <p:sp>
        <p:nvSpPr>
          <p:cNvPr id="13" name="Shape 10"/>
          <p:cNvSpPr/>
          <p:nvPr/>
        </p:nvSpPr>
        <p:spPr>
          <a:xfrm>
            <a:off x="5166360" y="1371600"/>
            <a:ext cx="3520440" cy="3291840"/>
          </a:xfrm>
          <a:prstGeom prst="roundRect">
            <a:avLst>
              <a:gd name="adj" fmla="val 2222"/>
            </a:avLst>
          </a:prstGeom>
          <a:solidFill>
            <a:srgbClr val="FFF6E0"/>
          </a:solidFill>
          <a:ln/>
        </p:spPr>
      </p:sp>
      <p:sp>
        <p:nvSpPr>
          <p:cNvPr id="14" name="Text 11"/>
          <p:cNvSpPr txBox="1"/>
          <p:nvPr/>
        </p:nvSpPr>
        <p:spPr>
          <a:xfrm>
            <a:off x="5303520" y="1463040"/>
            <a:ext cx="3246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测试布局：选能区分规则的下标</a:t>
            </a:r>
            <a:endParaRPr lang="en-US" sz="1200" dirty="0"/>
          </a:p>
        </p:txBody>
      </p:sp>
      <p:sp>
        <p:nvSpPr>
          <p:cNvPr id="15" name="Text 12"/>
          <p:cNvSpPr txBox="1"/>
          <p:nvPr/>
        </p:nvSpPr>
        <p:spPr>
          <a:xfrm>
            <a:off x="5276088" y="1755648"/>
            <a:ext cx="3300984" cy="283464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列优先把</a:t>
            </a:r>
            <a:r>
              <a:rPr lang="en-US" sz="11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最左下标</a:t>
            </a: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当作变化最快的一维：</a:t>
            </a:r>
            <a:r>
              <a:rPr lang="en-US" sz="11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[1,2,3]</a:t>
            </a: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→ 1 + 2×2 + 3×(2×3) = </a:t>
            </a:r>
            <a:r>
              <a:rPr lang="en-US" sz="11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23</a:t>
            </a: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</a:t>
            </a:r>
            <a:endParaRPr lang="en-US" sz="115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这个角落碰巧仍是 23——拿它测，两种布局</a:t>
            </a:r>
            <a:r>
              <a:rPr lang="en-US" sz="11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都能通过</a:t>
            </a: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，什么也没检出来。</a:t>
            </a:r>
            <a:endParaRPr lang="en-US" sz="115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换成 </a:t>
            </a:r>
            <a:r>
              <a:rPr lang="en-US" sz="11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[1,0,0]</a:t>
            </a: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：行优先 </a:t>
            </a:r>
            <a:r>
              <a:rPr lang="en-US" sz="11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12</a:t>
            </a: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，列优先 </a:t>
            </a:r>
            <a:r>
              <a:rPr lang="en-US" sz="11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</a:t>
            </a: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</a:t>
            </a:r>
            <a:endParaRPr lang="en-US" sz="11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12.1</a:t>
            </a:r>
            <a:endParaRPr lang="en-US" sz="9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12.1.2 特殊矩阵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三角矩阵与对称矩阵：只存有用的一半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10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457200" y="960120"/>
            <a:ext cx="4206240" cy="1828800"/>
          </a:xfrm>
          <a:prstGeom prst="roundRect">
            <a:avLst>
              <a:gd name="adj" fmla="val 4000"/>
            </a:avLst>
          </a:prstGeom>
          <a:solidFill>
            <a:srgbClr val="F1F4F2"/>
          </a:solidFill>
          <a:ln/>
        </p:spPr>
      </p:sp>
      <p:pic>
        <p:nvPicPr>
          <p:cNvPr id="8" name="Image 0" descr="fig-12-1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32162" y="1051560"/>
            <a:ext cx="3656317" cy="1353312"/>
          </a:xfrm>
          <a:prstGeom prst="rect">
            <a:avLst/>
          </a:prstGeom>
        </p:spPr>
      </p:pic>
      <p:sp>
        <p:nvSpPr>
          <p:cNvPr id="9" name="Text 6"/>
          <p:cNvSpPr txBox="1"/>
          <p:nvPr/>
        </p:nvSpPr>
        <p:spPr>
          <a:xfrm>
            <a:off x="502920" y="2459736"/>
            <a:ext cx="4114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5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图 12.1  上三角矩阵和下三角矩阵</a:t>
            </a:r>
            <a:endParaRPr lang="en-US" sz="950" dirty="0"/>
          </a:p>
        </p:txBody>
      </p:sp>
      <p:sp>
        <p:nvSpPr>
          <p:cNvPr id="10" name="Text 7"/>
          <p:cNvSpPr txBox="1"/>
          <p:nvPr/>
        </p:nvSpPr>
        <p:spPr>
          <a:xfrm>
            <a:off x="4892040" y="960120"/>
            <a:ext cx="3794760" cy="237744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2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三角矩阵</a:t>
            </a:r>
            <a:r>
              <a:rPr lang="en-US" sz="12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：对角线一侧全是 0 或常数 c，只存另一侧的 </a:t>
            </a:r>
            <a:r>
              <a:rPr lang="en-US" sz="12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(n² + n) / 2</a:t>
            </a:r>
            <a:r>
              <a:rPr lang="en-US" sz="12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个元素，再加 1 个单元存常数 c。</a:t>
            </a:r>
            <a:endParaRPr lang="en-US" sz="12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2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下三角 </a:t>
            </a:r>
            <a:r>
              <a:rPr lang="en-US" sz="120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a[i][j]</a:t>
            </a:r>
            <a:r>
              <a:rPr lang="en-US" sz="12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（i ≥ j）前面有 i 行、共 (i² + i)/2 个元素，再加本行的 j。</a:t>
            </a:r>
            <a:endParaRPr lang="en-US" sz="12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2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对称矩阵</a:t>
            </a:r>
            <a:r>
              <a:rPr lang="en-US" sz="12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：</a:t>
            </a:r>
            <a:r>
              <a:rPr lang="en-US" sz="120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a[i][j] = a[j][i]</a:t>
            </a:r>
            <a:r>
              <a:rPr lang="en-US" sz="12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，只存下三角（含对角线），另一半用对称关系映射。</a:t>
            </a:r>
            <a:endParaRPr lang="en-US" sz="1200" dirty="0"/>
          </a:p>
        </p:txBody>
      </p:sp>
      <p:sp>
        <p:nvSpPr>
          <p:cNvPr id="11" name="Shape 8"/>
          <p:cNvSpPr/>
          <p:nvPr/>
        </p:nvSpPr>
        <p:spPr>
          <a:xfrm>
            <a:off x="457200" y="3017520"/>
            <a:ext cx="8229600" cy="1645920"/>
          </a:xfrm>
          <a:prstGeom prst="roundRect">
            <a:avLst>
              <a:gd name="adj" fmla="val 4444"/>
            </a:avLst>
          </a:prstGeom>
          <a:solidFill>
            <a:srgbClr val="1E3D34"/>
          </a:solidFill>
          <a:ln/>
        </p:spPr>
      </p:sp>
      <p:sp>
        <p:nvSpPr>
          <p:cNvPr id="12" name="Text 9"/>
          <p:cNvSpPr txBox="1"/>
          <p:nvPr/>
        </p:nvSpPr>
        <p:spPr>
          <a:xfrm>
            <a:off x="685800" y="310896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一维数组 list[0 .. (n²+n)/2 − 1] 的下标</a:t>
            </a:r>
            <a:endParaRPr lang="en-US" sz="1100" dirty="0"/>
          </a:p>
        </p:txBody>
      </p:sp>
      <p:sp>
        <p:nvSpPr>
          <p:cNvPr id="13" name="Text 10"/>
          <p:cNvSpPr txBox="1"/>
          <p:nvPr/>
        </p:nvSpPr>
        <p:spPr>
          <a:xfrm>
            <a:off x="685800" y="3520440"/>
            <a:ext cx="29260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CFE0D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下三角 / 对称矩阵，i ≥ j：</a:t>
            </a:r>
            <a:endParaRPr lang="en-US" sz="1300" dirty="0"/>
          </a:p>
        </p:txBody>
      </p:sp>
      <p:sp>
        <p:nvSpPr>
          <p:cNvPr id="14" name="Text 11"/>
          <p:cNvSpPr txBox="1"/>
          <p:nvPr/>
        </p:nvSpPr>
        <p:spPr>
          <a:xfrm>
            <a:off x="3657600" y="3520440"/>
            <a:ext cx="4572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(i² + i) / 2 + j</a:t>
            </a:r>
            <a:endParaRPr lang="en-US" sz="2000" dirty="0"/>
          </a:p>
        </p:txBody>
      </p:sp>
      <p:sp>
        <p:nvSpPr>
          <p:cNvPr id="15" name="Text 12"/>
          <p:cNvSpPr txBox="1"/>
          <p:nvPr/>
        </p:nvSpPr>
        <p:spPr>
          <a:xfrm>
            <a:off x="685800" y="4023360"/>
            <a:ext cx="29260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CFE0D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对称矩阵，i &lt; j：</a:t>
            </a:r>
            <a:endParaRPr lang="en-US" sz="1300" dirty="0"/>
          </a:p>
        </p:txBody>
      </p:sp>
      <p:sp>
        <p:nvSpPr>
          <p:cNvPr id="16" name="Text 13"/>
          <p:cNvSpPr txBox="1"/>
          <p:nvPr/>
        </p:nvSpPr>
        <p:spPr>
          <a:xfrm>
            <a:off x="3657600" y="4023360"/>
            <a:ext cx="4572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(j² + j) / 2 + i</a:t>
            </a:r>
            <a:endParaRPr lang="en-US" sz="2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12.1</a:t>
            </a:r>
            <a:endParaRPr lang="en-US" sz="9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12.1.2 特殊矩阵 · 例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4 阶下三角按行压缩：a₃,₁ 落在哪？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11</a:t>
            </a:r>
            <a:endParaRPr lang="en-US" sz="900" dirty="0"/>
          </a:p>
        </p:txBody>
      </p:sp>
      <p:sp>
        <p:nvSpPr>
          <p:cNvPr id="7" name="Text 5"/>
          <p:cNvSpPr txBox="1"/>
          <p:nvPr/>
        </p:nvSpPr>
        <p:spPr>
          <a:xfrm>
            <a:off x="457200" y="960120"/>
            <a:ext cx="3840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4 阶下三角（格内是压缩后的下标）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914400" y="1371600"/>
            <a:ext cx="548640" cy="457200"/>
          </a:xfrm>
          <a:prstGeom prst="rect">
            <a:avLst/>
          </a:prstGeom>
          <a:solidFill>
            <a:srgbClr val="F9E3B0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914400" y="1371600"/>
            <a:ext cx="548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1463040" y="1371600"/>
            <a:ext cx="548640" cy="457200"/>
          </a:xfrm>
          <a:prstGeom prst="rect">
            <a:avLst/>
          </a:prstGeom>
          <a:solidFill>
            <a:srgbClr val="FFFFFF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2011680" y="1371600"/>
            <a:ext cx="548640" cy="457200"/>
          </a:xfrm>
          <a:prstGeom prst="rect">
            <a:avLst/>
          </a:prstGeom>
          <a:solidFill>
            <a:srgbClr val="FFFFFF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2560320" y="1371600"/>
            <a:ext cx="548640" cy="457200"/>
          </a:xfrm>
          <a:prstGeom prst="rect">
            <a:avLst/>
          </a:prstGeom>
          <a:solidFill>
            <a:srgbClr val="FFFFFF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411480" y="1371600"/>
            <a:ext cx="502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i=0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914400" y="1828800"/>
            <a:ext cx="548640" cy="457200"/>
          </a:xfrm>
          <a:prstGeom prst="rect">
            <a:avLst/>
          </a:prstGeom>
          <a:solidFill>
            <a:srgbClr val="CDEBD9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914400" y="1828800"/>
            <a:ext cx="548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1463040" y="1828800"/>
            <a:ext cx="548640" cy="457200"/>
          </a:xfrm>
          <a:prstGeom prst="rect">
            <a:avLst/>
          </a:prstGeom>
          <a:solidFill>
            <a:srgbClr val="CDEBD9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1463040" y="1828800"/>
            <a:ext cx="548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</a:t>
            </a:r>
            <a:endParaRPr lang="en-US" sz="1300" dirty="0"/>
          </a:p>
        </p:txBody>
      </p:sp>
      <p:sp>
        <p:nvSpPr>
          <p:cNvPr id="18" name="Shape 16"/>
          <p:cNvSpPr/>
          <p:nvPr/>
        </p:nvSpPr>
        <p:spPr>
          <a:xfrm>
            <a:off x="2011680" y="1828800"/>
            <a:ext cx="548640" cy="457200"/>
          </a:xfrm>
          <a:prstGeom prst="rect">
            <a:avLst/>
          </a:prstGeom>
          <a:solidFill>
            <a:srgbClr val="FFFFFF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2560320" y="1828800"/>
            <a:ext cx="548640" cy="457200"/>
          </a:xfrm>
          <a:prstGeom prst="rect">
            <a:avLst/>
          </a:prstGeom>
          <a:solidFill>
            <a:srgbClr val="FFFFFF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411480" y="1828800"/>
            <a:ext cx="502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i=1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914400" y="2286000"/>
            <a:ext cx="548640" cy="457200"/>
          </a:xfrm>
          <a:prstGeom prst="rect">
            <a:avLst/>
          </a:prstGeom>
          <a:solidFill>
            <a:srgbClr val="D6E4F0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914400" y="2286000"/>
            <a:ext cx="548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</a:t>
            </a:r>
            <a:endParaRPr lang="en-US" sz="1300" dirty="0"/>
          </a:p>
        </p:txBody>
      </p:sp>
      <p:sp>
        <p:nvSpPr>
          <p:cNvPr id="23" name="Shape 21"/>
          <p:cNvSpPr/>
          <p:nvPr/>
        </p:nvSpPr>
        <p:spPr>
          <a:xfrm>
            <a:off x="1463040" y="2286000"/>
            <a:ext cx="548640" cy="457200"/>
          </a:xfrm>
          <a:prstGeom prst="rect">
            <a:avLst/>
          </a:prstGeom>
          <a:solidFill>
            <a:srgbClr val="D6E4F0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1463040" y="2286000"/>
            <a:ext cx="548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4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2011680" y="2286000"/>
            <a:ext cx="548640" cy="457200"/>
          </a:xfrm>
          <a:prstGeom prst="rect">
            <a:avLst/>
          </a:prstGeom>
          <a:solidFill>
            <a:srgbClr val="D6E4F0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26" name="Text 24"/>
          <p:cNvSpPr txBox="1"/>
          <p:nvPr/>
        </p:nvSpPr>
        <p:spPr>
          <a:xfrm>
            <a:off x="2011680" y="2286000"/>
            <a:ext cx="548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5</a:t>
            </a:r>
            <a:endParaRPr lang="en-US" sz="1300" dirty="0"/>
          </a:p>
        </p:txBody>
      </p:sp>
      <p:sp>
        <p:nvSpPr>
          <p:cNvPr id="27" name="Shape 25"/>
          <p:cNvSpPr/>
          <p:nvPr/>
        </p:nvSpPr>
        <p:spPr>
          <a:xfrm>
            <a:off x="2560320" y="2286000"/>
            <a:ext cx="548640" cy="457200"/>
          </a:xfrm>
          <a:prstGeom prst="rect">
            <a:avLst/>
          </a:prstGeom>
          <a:solidFill>
            <a:srgbClr val="FFFFFF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28" name="Text 26"/>
          <p:cNvSpPr txBox="1"/>
          <p:nvPr/>
        </p:nvSpPr>
        <p:spPr>
          <a:xfrm>
            <a:off x="411480" y="2286000"/>
            <a:ext cx="502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i=2</a:t>
            </a:r>
            <a:endParaRPr lang="en-US" sz="1000" dirty="0"/>
          </a:p>
        </p:txBody>
      </p:sp>
      <p:sp>
        <p:nvSpPr>
          <p:cNvPr id="29" name="Shape 27"/>
          <p:cNvSpPr/>
          <p:nvPr/>
        </p:nvSpPr>
        <p:spPr>
          <a:xfrm>
            <a:off x="914400" y="2743200"/>
            <a:ext cx="548640" cy="457200"/>
          </a:xfrm>
          <a:prstGeom prst="rect">
            <a:avLst/>
          </a:prstGeom>
          <a:solidFill>
            <a:srgbClr val="EBD9EF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30" name="Text 28"/>
          <p:cNvSpPr txBox="1"/>
          <p:nvPr/>
        </p:nvSpPr>
        <p:spPr>
          <a:xfrm>
            <a:off x="914400" y="2743200"/>
            <a:ext cx="548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6</a:t>
            </a:r>
            <a:endParaRPr lang="en-US" sz="1300" dirty="0"/>
          </a:p>
        </p:txBody>
      </p:sp>
      <p:sp>
        <p:nvSpPr>
          <p:cNvPr id="31" name="Shape 29"/>
          <p:cNvSpPr/>
          <p:nvPr/>
        </p:nvSpPr>
        <p:spPr>
          <a:xfrm>
            <a:off x="1463040" y="2743200"/>
            <a:ext cx="548640" cy="457200"/>
          </a:xfrm>
          <a:prstGeom prst="rect">
            <a:avLst/>
          </a:prstGeom>
          <a:solidFill>
            <a:srgbClr val="F4B9B0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32" name="Text 30"/>
          <p:cNvSpPr txBox="1"/>
          <p:nvPr/>
        </p:nvSpPr>
        <p:spPr>
          <a:xfrm>
            <a:off x="1463040" y="2743200"/>
            <a:ext cx="548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7</a:t>
            </a:r>
            <a:endParaRPr lang="en-US" sz="1300" dirty="0"/>
          </a:p>
        </p:txBody>
      </p:sp>
      <p:sp>
        <p:nvSpPr>
          <p:cNvPr id="33" name="Shape 31"/>
          <p:cNvSpPr/>
          <p:nvPr/>
        </p:nvSpPr>
        <p:spPr>
          <a:xfrm>
            <a:off x="2011680" y="2743200"/>
            <a:ext cx="548640" cy="457200"/>
          </a:xfrm>
          <a:prstGeom prst="rect">
            <a:avLst/>
          </a:prstGeom>
          <a:solidFill>
            <a:srgbClr val="EBD9EF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34" name="Text 32"/>
          <p:cNvSpPr txBox="1"/>
          <p:nvPr/>
        </p:nvSpPr>
        <p:spPr>
          <a:xfrm>
            <a:off x="2011680" y="2743200"/>
            <a:ext cx="548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8</a:t>
            </a:r>
            <a:endParaRPr lang="en-US" sz="1300" dirty="0"/>
          </a:p>
        </p:txBody>
      </p:sp>
      <p:sp>
        <p:nvSpPr>
          <p:cNvPr id="35" name="Shape 33"/>
          <p:cNvSpPr/>
          <p:nvPr/>
        </p:nvSpPr>
        <p:spPr>
          <a:xfrm>
            <a:off x="2560320" y="2743200"/>
            <a:ext cx="548640" cy="457200"/>
          </a:xfrm>
          <a:prstGeom prst="rect">
            <a:avLst/>
          </a:prstGeom>
          <a:solidFill>
            <a:srgbClr val="EBD9EF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36" name="Text 34"/>
          <p:cNvSpPr txBox="1"/>
          <p:nvPr/>
        </p:nvSpPr>
        <p:spPr>
          <a:xfrm>
            <a:off x="2560320" y="2743200"/>
            <a:ext cx="548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9</a:t>
            </a:r>
            <a:endParaRPr lang="en-US" sz="1300" dirty="0"/>
          </a:p>
        </p:txBody>
      </p:sp>
      <p:sp>
        <p:nvSpPr>
          <p:cNvPr id="37" name="Text 35"/>
          <p:cNvSpPr txBox="1"/>
          <p:nvPr/>
        </p:nvSpPr>
        <p:spPr>
          <a:xfrm>
            <a:off x="411480" y="2743200"/>
            <a:ext cx="502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i=3</a:t>
            </a:r>
            <a:endParaRPr lang="en-US" sz="1000" dirty="0"/>
          </a:p>
        </p:txBody>
      </p:sp>
      <p:sp>
        <p:nvSpPr>
          <p:cNvPr id="38" name="Text 36"/>
          <p:cNvSpPr txBox="1"/>
          <p:nvPr/>
        </p:nvSpPr>
        <p:spPr>
          <a:xfrm>
            <a:off x="914400" y="3218688"/>
            <a:ext cx="5486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j=0</a:t>
            </a:r>
            <a:endParaRPr lang="en-US" sz="1000" dirty="0"/>
          </a:p>
        </p:txBody>
      </p:sp>
      <p:sp>
        <p:nvSpPr>
          <p:cNvPr id="39" name="Text 37"/>
          <p:cNvSpPr txBox="1"/>
          <p:nvPr/>
        </p:nvSpPr>
        <p:spPr>
          <a:xfrm>
            <a:off x="1463040" y="3218688"/>
            <a:ext cx="5486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j=1</a:t>
            </a:r>
            <a:endParaRPr lang="en-US" sz="1000" dirty="0"/>
          </a:p>
        </p:txBody>
      </p:sp>
      <p:sp>
        <p:nvSpPr>
          <p:cNvPr id="40" name="Text 38"/>
          <p:cNvSpPr txBox="1"/>
          <p:nvPr/>
        </p:nvSpPr>
        <p:spPr>
          <a:xfrm>
            <a:off x="2011680" y="3218688"/>
            <a:ext cx="5486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j=2</a:t>
            </a:r>
            <a:endParaRPr lang="en-US" sz="1000" dirty="0"/>
          </a:p>
        </p:txBody>
      </p:sp>
      <p:sp>
        <p:nvSpPr>
          <p:cNvPr id="41" name="Text 39"/>
          <p:cNvSpPr txBox="1"/>
          <p:nvPr/>
        </p:nvSpPr>
        <p:spPr>
          <a:xfrm>
            <a:off x="2560320" y="3218688"/>
            <a:ext cx="5486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j=3</a:t>
            </a:r>
            <a:endParaRPr lang="en-US" sz="1000" dirty="0"/>
          </a:p>
        </p:txBody>
      </p:sp>
      <p:sp>
        <p:nvSpPr>
          <p:cNvPr id="42" name="Text 40"/>
          <p:cNvSpPr txBox="1"/>
          <p:nvPr/>
        </p:nvSpPr>
        <p:spPr>
          <a:xfrm>
            <a:off x="457200" y="3611880"/>
            <a:ext cx="5029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压缩后的一维数组：各行区间 [0]、[1..2]、[3..5]、[6..9]</a:t>
            </a:r>
            <a:endParaRPr lang="en-US" sz="1150" dirty="0"/>
          </a:p>
        </p:txBody>
      </p:sp>
      <p:sp>
        <p:nvSpPr>
          <p:cNvPr id="43" name="Shape 41"/>
          <p:cNvSpPr/>
          <p:nvPr/>
        </p:nvSpPr>
        <p:spPr>
          <a:xfrm>
            <a:off x="457200" y="3977640"/>
            <a:ext cx="475488" cy="384048"/>
          </a:xfrm>
          <a:prstGeom prst="rect">
            <a:avLst/>
          </a:prstGeom>
          <a:solidFill>
            <a:srgbClr val="F9E3B0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44" name="Text 42"/>
          <p:cNvSpPr txBox="1"/>
          <p:nvPr/>
        </p:nvSpPr>
        <p:spPr>
          <a:xfrm>
            <a:off x="457200" y="3977640"/>
            <a:ext cx="47548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a00</a:t>
            </a:r>
            <a:endParaRPr lang="en-US" sz="950" dirty="0"/>
          </a:p>
        </p:txBody>
      </p:sp>
      <p:sp>
        <p:nvSpPr>
          <p:cNvPr id="45" name="Text 43"/>
          <p:cNvSpPr txBox="1"/>
          <p:nvPr/>
        </p:nvSpPr>
        <p:spPr>
          <a:xfrm>
            <a:off x="457200" y="4361688"/>
            <a:ext cx="47548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</a:t>
            </a:r>
            <a:endParaRPr lang="en-US" sz="800" dirty="0"/>
          </a:p>
        </p:txBody>
      </p:sp>
      <p:sp>
        <p:nvSpPr>
          <p:cNvPr id="46" name="Shape 44"/>
          <p:cNvSpPr/>
          <p:nvPr/>
        </p:nvSpPr>
        <p:spPr>
          <a:xfrm>
            <a:off x="932688" y="3977640"/>
            <a:ext cx="475488" cy="384048"/>
          </a:xfrm>
          <a:prstGeom prst="rect">
            <a:avLst/>
          </a:prstGeom>
          <a:solidFill>
            <a:srgbClr val="CDEBD9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47" name="Text 45"/>
          <p:cNvSpPr txBox="1"/>
          <p:nvPr/>
        </p:nvSpPr>
        <p:spPr>
          <a:xfrm>
            <a:off x="932688" y="3977640"/>
            <a:ext cx="47548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a10</a:t>
            </a:r>
            <a:endParaRPr lang="en-US" sz="950" dirty="0"/>
          </a:p>
        </p:txBody>
      </p:sp>
      <p:sp>
        <p:nvSpPr>
          <p:cNvPr id="48" name="Text 46"/>
          <p:cNvSpPr txBox="1"/>
          <p:nvPr/>
        </p:nvSpPr>
        <p:spPr>
          <a:xfrm>
            <a:off x="932688" y="4361688"/>
            <a:ext cx="47548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</a:t>
            </a:r>
            <a:endParaRPr lang="en-US" sz="800" dirty="0"/>
          </a:p>
        </p:txBody>
      </p:sp>
      <p:sp>
        <p:nvSpPr>
          <p:cNvPr id="49" name="Shape 47"/>
          <p:cNvSpPr/>
          <p:nvPr/>
        </p:nvSpPr>
        <p:spPr>
          <a:xfrm>
            <a:off x="1408176" y="3977640"/>
            <a:ext cx="475488" cy="384048"/>
          </a:xfrm>
          <a:prstGeom prst="rect">
            <a:avLst/>
          </a:prstGeom>
          <a:solidFill>
            <a:srgbClr val="CDEBD9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50" name="Text 48"/>
          <p:cNvSpPr txBox="1"/>
          <p:nvPr/>
        </p:nvSpPr>
        <p:spPr>
          <a:xfrm>
            <a:off x="1408176" y="3977640"/>
            <a:ext cx="47548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a11</a:t>
            </a:r>
            <a:endParaRPr lang="en-US" sz="950" dirty="0"/>
          </a:p>
        </p:txBody>
      </p:sp>
      <p:sp>
        <p:nvSpPr>
          <p:cNvPr id="51" name="Text 49"/>
          <p:cNvSpPr txBox="1"/>
          <p:nvPr/>
        </p:nvSpPr>
        <p:spPr>
          <a:xfrm>
            <a:off x="1408176" y="4361688"/>
            <a:ext cx="47548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</a:t>
            </a:r>
            <a:endParaRPr lang="en-US" sz="800" dirty="0"/>
          </a:p>
        </p:txBody>
      </p:sp>
      <p:sp>
        <p:nvSpPr>
          <p:cNvPr id="52" name="Shape 50"/>
          <p:cNvSpPr/>
          <p:nvPr/>
        </p:nvSpPr>
        <p:spPr>
          <a:xfrm>
            <a:off x="1883664" y="3977640"/>
            <a:ext cx="475488" cy="384048"/>
          </a:xfrm>
          <a:prstGeom prst="rect">
            <a:avLst/>
          </a:prstGeom>
          <a:solidFill>
            <a:srgbClr val="D6E4F0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53" name="Text 51"/>
          <p:cNvSpPr txBox="1"/>
          <p:nvPr/>
        </p:nvSpPr>
        <p:spPr>
          <a:xfrm>
            <a:off x="1883664" y="3977640"/>
            <a:ext cx="47548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a20</a:t>
            </a:r>
            <a:endParaRPr lang="en-US" sz="950" dirty="0"/>
          </a:p>
        </p:txBody>
      </p:sp>
      <p:sp>
        <p:nvSpPr>
          <p:cNvPr id="54" name="Text 52"/>
          <p:cNvSpPr txBox="1"/>
          <p:nvPr/>
        </p:nvSpPr>
        <p:spPr>
          <a:xfrm>
            <a:off x="1883664" y="4361688"/>
            <a:ext cx="47548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</a:t>
            </a:r>
            <a:endParaRPr lang="en-US" sz="800" dirty="0"/>
          </a:p>
        </p:txBody>
      </p:sp>
      <p:sp>
        <p:nvSpPr>
          <p:cNvPr id="55" name="Shape 53"/>
          <p:cNvSpPr/>
          <p:nvPr/>
        </p:nvSpPr>
        <p:spPr>
          <a:xfrm>
            <a:off x="2359152" y="3977640"/>
            <a:ext cx="475488" cy="384048"/>
          </a:xfrm>
          <a:prstGeom prst="rect">
            <a:avLst/>
          </a:prstGeom>
          <a:solidFill>
            <a:srgbClr val="D6E4F0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56" name="Text 54"/>
          <p:cNvSpPr txBox="1"/>
          <p:nvPr/>
        </p:nvSpPr>
        <p:spPr>
          <a:xfrm>
            <a:off x="2359152" y="3977640"/>
            <a:ext cx="47548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a21</a:t>
            </a:r>
            <a:endParaRPr lang="en-US" sz="950" dirty="0"/>
          </a:p>
        </p:txBody>
      </p:sp>
      <p:sp>
        <p:nvSpPr>
          <p:cNvPr id="57" name="Text 55"/>
          <p:cNvSpPr txBox="1"/>
          <p:nvPr/>
        </p:nvSpPr>
        <p:spPr>
          <a:xfrm>
            <a:off x="2359152" y="4361688"/>
            <a:ext cx="47548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4</a:t>
            </a:r>
            <a:endParaRPr lang="en-US" sz="800" dirty="0"/>
          </a:p>
        </p:txBody>
      </p:sp>
      <p:sp>
        <p:nvSpPr>
          <p:cNvPr id="58" name="Shape 56"/>
          <p:cNvSpPr/>
          <p:nvPr/>
        </p:nvSpPr>
        <p:spPr>
          <a:xfrm>
            <a:off x="2834640" y="3977640"/>
            <a:ext cx="475488" cy="384048"/>
          </a:xfrm>
          <a:prstGeom prst="rect">
            <a:avLst/>
          </a:prstGeom>
          <a:solidFill>
            <a:srgbClr val="D6E4F0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59" name="Text 57"/>
          <p:cNvSpPr txBox="1"/>
          <p:nvPr/>
        </p:nvSpPr>
        <p:spPr>
          <a:xfrm>
            <a:off x="2834640" y="3977640"/>
            <a:ext cx="47548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a22</a:t>
            </a:r>
            <a:endParaRPr lang="en-US" sz="950" dirty="0"/>
          </a:p>
        </p:txBody>
      </p:sp>
      <p:sp>
        <p:nvSpPr>
          <p:cNvPr id="60" name="Text 58"/>
          <p:cNvSpPr txBox="1"/>
          <p:nvPr/>
        </p:nvSpPr>
        <p:spPr>
          <a:xfrm>
            <a:off x="2834640" y="4361688"/>
            <a:ext cx="47548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5</a:t>
            </a:r>
            <a:endParaRPr lang="en-US" sz="800" dirty="0"/>
          </a:p>
        </p:txBody>
      </p:sp>
      <p:sp>
        <p:nvSpPr>
          <p:cNvPr id="61" name="Shape 59"/>
          <p:cNvSpPr/>
          <p:nvPr/>
        </p:nvSpPr>
        <p:spPr>
          <a:xfrm>
            <a:off x="3310128" y="3977640"/>
            <a:ext cx="475488" cy="384048"/>
          </a:xfrm>
          <a:prstGeom prst="rect">
            <a:avLst/>
          </a:prstGeom>
          <a:solidFill>
            <a:srgbClr val="EBD9EF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62" name="Text 60"/>
          <p:cNvSpPr txBox="1"/>
          <p:nvPr/>
        </p:nvSpPr>
        <p:spPr>
          <a:xfrm>
            <a:off x="3310128" y="3977640"/>
            <a:ext cx="47548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a30</a:t>
            </a:r>
            <a:endParaRPr lang="en-US" sz="950" dirty="0"/>
          </a:p>
        </p:txBody>
      </p:sp>
      <p:sp>
        <p:nvSpPr>
          <p:cNvPr id="63" name="Text 61"/>
          <p:cNvSpPr txBox="1"/>
          <p:nvPr/>
        </p:nvSpPr>
        <p:spPr>
          <a:xfrm>
            <a:off x="3310128" y="4361688"/>
            <a:ext cx="47548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6</a:t>
            </a:r>
            <a:endParaRPr lang="en-US" sz="800" dirty="0"/>
          </a:p>
        </p:txBody>
      </p:sp>
      <p:sp>
        <p:nvSpPr>
          <p:cNvPr id="64" name="Shape 62"/>
          <p:cNvSpPr/>
          <p:nvPr/>
        </p:nvSpPr>
        <p:spPr>
          <a:xfrm>
            <a:off x="3785616" y="3977640"/>
            <a:ext cx="475488" cy="384048"/>
          </a:xfrm>
          <a:prstGeom prst="rect">
            <a:avLst/>
          </a:prstGeom>
          <a:solidFill>
            <a:srgbClr val="F4B9B0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65" name="Text 63"/>
          <p:cNvSpPr txBox="1"/>
          <p:nvPr/>
        </p:nvSpPr>
        <p:spPr>
          <a:xfrm>
            <a:off x="3785616" y="3977640"/>
            <a:ext cx="47548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a31</a:t>
            </a:r>
            <a:endParaRPr lang="en-US" sz="950" dirty="0"/>
          </a:p>
        </p:txBody>
      </p:sp>
      <p:sp>
        <p:nvSpPr>
          <p:cNvPr id="66" name="Text 64"/>
          <p:cNvSpPr txBox="1"/>
          <p:nvPr/>
        </p:nvSpPr>
        <p:spPr>
          <a:xfrm>
            <a:off x="3785616" y="4361688"/>
            <a:ext cx="47548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7</a:t>
            </a:r>
            <a:endParaRPr lang="en-US" sz="800" dirty="0"/>
          </a:p>
        </p:txBody>
      </p:sp>
      <p:sp>
        <p:nvSpPr>
          <p:cNvPr id="67" name="Shape 65"/>
          <p:cNvSpPr/>
          <p:nvPr/>
        </p:nvSpPr>
        <p:spPr>
          <a:xfrm>
            <a:off x="4261104" y="3977640"/>
            <a:ext cx="475488" cy="384048"/>
          </a:xfrm>
          <a:prstGeom prst="rect">
            <a:avLst/>
          </a:prstGeom>
          <a:solidFill>
            <a:srgbClr val="EBD9EF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68" name="Text 66"/>
          <p:cNvSpPr txBox="1"/>
          <p:nvPr/>
        </p:nvSpPr>
        <p:spPr>
          <a:xfrm>
            <a:off x="4261104" y="3977640"/>
            <a:ext cx="47548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a32</a:t>
            </a:r>
            <a:endParaRPr lang="en-US" sz="950" dirty="0"/>
          </a:p>
        </p:txBody>
      </p:sp>
      <p:sp>
        <p:nvSpPr>
          <p:cNvPr id="69" name="Text 67"/>
          <p:cNvSpPr txBox="1"/>
          <p:nvPr/>
        </p:nvSpPr>
        <p:spPr>
          <a:xfrm>
            <a:off x="4261104" y="4361688"/>
            <a:ext cx="47548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8</a:t>
            </a:r>
            <a:endParaRPr lang="en-US" sz="800" dirty="0"/>
          </a:p>
        </p:txBody>
      </p:sp>
      <p:sp>
        <p:nvSpPr>
          <p:cNvPr id="70" name="Shape 68"/>
          <p:cNvSpPr/>
          <p:nvPr/>
        </p:nvSpPr>
        <p:spPr>
          <a:xfrm>
            <a:off x="4736592" y="3977640"/>
            <a:ext cx="475488" cy="384048"/>
          </a:xfrm>
          <a:prstGeom prst="rect">
            <a:avLst/>
          </a:prstGeom>
          <a:solidFill>
            <a:srgbClr val="EBD9EF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71" name="Text 69"/>
          <p:cNvSpPr txBox="1"/>
          <p:nvPr/>
        </p:nvSpPr>
        <p:spPr>
          <a:xfrm>
            <a:off x="4736592" y="3977640"/>
            <a:ext cx="47548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a33</a:t>
            </a:r>
            <a:endParaRPr lang="en-US" sz="950" dirty="0"/>
          </a:p>
        </p:txBody>
      </p:sp>
      <p:sp>
        <p:nvSpPr>
          <p:cNvPr id="72" name="Text 70"/>
          <p:cNvSpPr txBox="1"/>
          <p:nvPr/>
        </p:nvSpPr>
        <p:spPr>
          <a:xfrm>
            <a:off x="4736592" y="4361688"/>
            <a:ext cx="47548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9</a:t>
            </a:r>
            <a:endParaRPr lang="en-US" sz="800" dirty="0"/>
          </a:p>
        </p:txBody>
      </p:sp>
      <p:sp>
        <p:nvSpPr>
          <p:cNvPr id="73" name="Shape 71"/>
          <p:cNvSpPr/>
          <p:nvPr/>
        </p:nvSpPr>
        <p:spPr>
          <a:xfrm>
            <a:off x="5394960" y="960120"/>
            <a:ext cx="3291840" cy="2103120"/>
          </a:xfrm>
          <a:prstGeom prst="roundRect">
            <a:avLst>
              <a:gd name="adj" fmla="val 3478"/>
            </a:avLst>
          </a:prstGeom>
          <a:solidFill>
            <a:srgbClr val="FFF6E0"/>
          </a:solidFill>
          <a:ln/>
        </p:spPr>
      </p:sp>
      <p:sp>
        <p:nvSpPr>
          <p:cNvPr id="74" name="Text 72"/>
          <p:cNvSpPr txBox="1"/>
          <p:nvPr/>
        </p:nvSpPr>
        <p:spPr>
          <a:xfrm>
            <a:off x="5532120" y="1051560"/>
            <a:ext cx="3017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a₃,₁ → 下标 7</a:t>
            </a:r>
            <a:endParaRPr lang="en-US" sz="1200" dirty="0"/>
          </a:p>
        </p:txBody>
      </p:sp>
      <p:sp>
        <p:nvSpPr>
          <p:cNvPr id="75" name="Text 73"/>
          <p:cNvSpPr txBox="1"/>
          <p:nvPr/>
        </p:nvSpPr>
        <p:spPr>
          <a:xfrm>
            <a:off x="5504688" y="1344168"/>
            <a:ext cx="3072384" cy="16459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第 3 行之前有 (9 + 3)/2 = </a:t>
            </a:r>
            <a:r>
              <a:rPr lang="en-US" sz="11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6</a:t>
            </a: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个元素，再加本行 j = 1 → </a:t>
            </a:r>
            <a:r>
              <a:rPr lang="en-US" sz="11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6 + 1 = 7</a:t>
            </a: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</a:t>
            </a:r>
            <a:endParaRPr lang="en-US" sz="115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上三角位置 a₁,₃：若矩阵对称，先换成 a₃,₁，仍读下标 </a:t>
            </a:r>
            <a:r>
              <a:rPr lang="en-US" sz="11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7</a:t>
            </a: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</a:t>
            </a:r>
            <a:endParaRPr lang="en-US" sz="1150" dirty="0"/>
          </a:p>
        </p:txBody>
      </p:sp>
      <p:sp>
        <p:nvSpPr>
          <p:cNvPr id="76" name="Shape 74"/>
          <p:cNvSpPr/>
          <p:nvPr/>
        </p:nvSpPr>
        <p:spPr>
          <a:xfrm>
            <a:off x="5394960" y="3200400"/>
            <a:ext cx="3291840" cy="960120"/>
          </a:xfrm>
          <a:prstGeom prst="roundRect">
            <a:avLst>
              <a:gd name="adj" fmla="val 7619"/>
            </a:avLst>
          </a:prstGeom>
          <a:solidFill>
            <a:srgbClr val="CFE0D8"/>
          </a:solidFill>
          <a:ln/>
        </p:spPr>
      </p:sp>
      <p:sp>
        <p:nvSpPr>
          <p:cNvPr id="77" name="Text 75"/>
          <p:cNvSpPr txBox="1"/>
          <p:nvPr/>
        </p:nvSpPr>
        <p:spPr>
          <a:xfrm>
            <a:off x="5532120" y="3291840"/>
            <a:ext cx="3017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核对口诀</a:t>
            </a:r>
            <a:endParaRPr lang="en-US" sz="1200" dirty="0"/>
          </a:p>
        </p:txBody>
      </p:sp>
      <p:sp>
        <p:nvSpPr>
          <p:cNvPr id="78" name="Text 76"/>
          <p:cNvSpPr txBox="1"/>
          <p:nvPr/>
        </p:nvSpPr>
        <p:spPr>
          <a:xfrm>
            <a:off x="5532120" y="3584448"/>
            <a:ext cx="3017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先判断三角区域、再套公式</a:t>
            </a: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，比背两套公式容易核对。</a:t>
            </a:r>
            <a:endParaRPr lang="en-US" sz="115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12.1</a:t>
            </a:r>
            <a:endParaRPr lang="en-US" sz="9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12.1.3 稀疏矩阵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非零元很少、分布又不规则：不要再分配整块二维数组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12</a:t>
            </a:r>
            <a:endParaRPr lang="en-US" sz="900" dirty="0"/>
          </a:p>
        </p:txBody>
      </p:sp>
      <p:sp>
        <p:nvSpPr>
          <p:cNvPr id="7" name="Text 5"/>
          <p:cNvSpPr txBox="1"/>
          <p:nvPr/>
        </p:nvSpPr>
        <p:spPr>
          <a:xfrm>
            <a:off x="457200" y="960120"/>
            <a:ext cx="4297680" cy="21031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marL="177800" indent="-177800">
              <a:spcAft>
                <a:spcPts val="900"/>
              </a:spcAft>
              <a:buSzPct val="100000"/>
              <a:buChar char="•"/>
            </a:pPr>
            <a:r>
              <a:rPr lang="en-US" sz="12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m × n 矩阵有 t 个非零元，</a:t>
            </a:r>
            <a:r>
              <a:rPr lang="en-US" sz="12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稀疏因子 δ = t / (mn)</a:t>
            </a:r>
            <a:r>
              <a:rPr lang="en-US" sz="12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；通常 δ &lt; 0.05 就按稀疏处理。</a:t>
            </a:r>
            <a:endParaRPr lang="en-US" sz="1250" dirty="0"/>
          </a:p>
          <a:p>
            <a:pPr marL="177800" indent="-177800">
              <a:spcAft>
                <a:spcPts val="900"/>
              </a:spcAft>
              <a:buSzPct val="100000"/>
              <a:buChar char="•"/>
            </a:pPr>
            <a:r>
              <a:rPr lang="en-US" sz="12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改存</a:t>
            </a:r>
            <a:r>
              <a:rPr lang="en-US" sz="12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三元组</a:t>
            </a:r>
            <a:r>
              <a:rPr lang="en-US" sz="12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</a:t>
            </a:r>
            <a:r>
              <a:rPr lang="en-US" sz="12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(行, 列, 值)</a:t>
            </a:r>
            <a:r>
              <a:rPr lang="en-US" sz="12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的线性表，或用</a:t>
            </a:r>
            <a:r>
              <a:rPr lang="en-US" sz="12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十字链表</a:t>
            </a:r>
            <a:r>
              <a:rPr lang="en-US" sz="12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</a:t>
            </a:r>
            <a:endParaRPr lang="en-US" sz="1250" dirty="0"/>
          </a:p>
          <a:p>
            <a:pPr marL="177800" indent="-177800">
              <a:spcAft>
                <a:spcPts val="900"/>
              </a:spcAft>
              <a:buSzPct val="100000"/>
              <a:buChar char="•"/>
            </a:pPr>
            <a:r>
              <a:rPr lang="en-US" sz="12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十字链表：</a:t>
            </a:r>
            <a:r>
              <a:rPr lang="en-US" sz="12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每个非零元同时挂在一条行链和一条列链上</a:t>
            </a:r>
            <a:r>
              <a:rPr lang="en-US" sz="12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，按行、按列遍历都方便。</a:t>
            </a:r>
            <a:endParaRPr lang="en-US" sz="1250" dirty="0"/>
          </a:p>
        </p:txBody>
      </p:sp>
      <p:sp>
        <p:nvSpPr>
          <p:cNvPr id="8" name="Shape 6"/>
          <p:cNvSpPr/>
          <p:nvPr/>
        </p:nvSpPr>
        <p:spPr>
          <a:xfrm>
            <a:off x="457200" y="3108960"/>
            <a:ext cx="4297680" cy="1554480"/>
          </a:xfrm>
          <a:prstGeom prst="roundRect">
            <a:avLst>
              <a:gd name="adj" fmla="val 4706"/>
            </a:avLst>
          </a:prstGeom>
          <a:solidFill>
            <a:srgbClr val="FFF6E0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594360" y="3200400"/>
            <a:ext cx="4023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现代视角：COO / CSR / CSC</a:t>
            </a:r>
            <a:endParaRPr lang="en-US" sz="1200" dirty="0"/>
          </a:p>
        </p:txBody>
      </p:sp>
      <p:sp>
        <p:nvSpPr>
          <p:cNvPr id="10" name="Text 8"/>
          <p:cNvSpPr txBox="1"/>
          <p:nvPr/>
        </p:nvSpPr>
        <p:spPr>
          <a:xfrm>
            <a:off x="594360" y="3493008"/>
            <a:ext cx="40233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十字链表（orthogonal list）适合需要</a:t>
            </a:r>
            <a:r>
              <a:rPr lang="en-US" sz="11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频繁按行、按列更新</a:t>
            </a: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的场合。现代数值计算更常用 COO（三元组）、CSR（压缩稀疏行）、CSC（压缩稀疏列）：连续存储、缓存局部性更好，但</a:t>
            </a:r>
            <a:r>
              <a:rPr lang="en-US" sz="11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动态插入通常要批量重建</a:t>
            </a: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4983480" y="960120"/>
            <a:ext cx="3703320" cy="3703320"/>
          </a:xfrm>
          <a:prstGeom prst="roundRect">
            <a:avLst>
              <a:gd name="adj" fmla="val 1975"/>
            </a:avLst>
          </a:prstGeom>
          <a:solidFill>
            <a:srgbClr val="F1F4F2"/>
          </a:solidFill>
          <a:ln/>
        </p:spPr>
      </p:sp>
      <p:pic>
        <p:nvPicPr>
          <p:cNvPr id="12" name="Image 0" descr="fig-12-2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074920" y="1505966"/>
            <a:ext cx="3520440" cy="2319020"/>
          </a:xfrm>
          <a:prstGeom prst="rect">
            <a:avLst/>
          </a:prstGeom>
        </p:spPr>
      </p:pic>
      <p:sp>
        <p:nvSpPr>
          <p:cNvPr id="13" name="Text 10"/>
          <p:cNvSpPr txBox="1"/>
          <p:nvPr/>
        </p:nvSpPr>
        <p:spPr>
          <a:xfrm>
            <a:off x="5029200" y="4334256"/>
            <a:ext cx="3611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5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图 12.2  稀疏矩阵的十字链表</a:t>
            </a:r>
            <a:endParaRPr lang="en-US" sz="95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12.1</a:t>
            </a:r>
            <a:endParaRPr lang="en-US" sz="9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12.1.3 稀疏矩阵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三种存法的代价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13</a:t>
            </a:r>
            <a:endParaRPr lang="en-US" sz="900" dirty="0"/>
          </a:p>
        </p:txBody>
      </p:sp>
      <p:graphicFrame>
        <p:nvGraphicFramePr>
          <p:cNvPr id="1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005840"/>
          <a:ext cx="8229600" cy="914400"/>
        </p:xfrm>
        <a:graphic>
          <a:graphicData uri="http://schemas.openxmlformats.org/drawingml/2006/table">
            <a:tbl>
              <a:tblPr/>
              <a:tblGrid>
                <a:gridCol w="1554480"/>
                <a:gridCol w="1828800"/>
                <a:gridCol w="2286000"/>
                <a:gridCol w="2560320"/>
              </a:tblGrid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 </a:t>
                      </a:r>
                      <a:endParaRPr lang="en-US" sz="12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整块二维数组</a:t>
                      </a:r>
                      <a:endParaRPr lang="en-US" sz="12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三元组线性表</a:t>
                      </a:r>
                      <a:endParaRPr lang="en-US" sz="12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十字链表</a:t>
                      </a:r>
                      <a:endParaRPr lang="en-US" sz="12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存储量</a:t>
                      </a:r>
                      <a:endParaRPr lang="en-US" sz="12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mn</a:t>
                      </a:r>
                      <a:endParaRPr lang="en-US" sz="12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O(t)</a:t>
                      </a:r>
                      <a:endParaRPr lang="en-US" sz="12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O(t)，每个元另带 right、down 两个指针</a:t>
                      </a:r>
                      <a:endParaRPr lang="en-US" sz="12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取 a_ij</a:t>
                      </a:r>
                      <a:endParaRPr lang="en-US" sz="12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O(1)</a:t>
                      </a:r>
                      <a:endParaRPr lang="en-US" sz="12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O(log t)</a:t>
                      </a:r>
                      <a:endParaRPr lang="en-US" sz="12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C039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O(该行非零元数)</a:t>
                      </a:r>
                      <a:endParaRPr lang="en-US" sz="12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按列扫一遍</a:t>
                      </a:r>
                      <a:endParaRPr lang="en-US" sz="12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O(m)</a:t>
                      </a:r>
                      <a:endParaRPr lang="en-US" sz="12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O(t)，要滤掉别的列</a:t>
                      </a:r>
                      <a:endParaRPr lang="en-US" sz="12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rgbClr val="2E9E6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O(该列非零元数)</a:t>
                      </a:r>
                      <a:endParaRPr lang="en-US" sz="12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插入一个非零元</a:t>
                      </a:r>
                      <a:endParaRPr lang="en-US" sz="12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O(1)</a:t>
                      </a:r>
                      <a:endParaRPr lang="en-US" sz="12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O(t)，要挪动后面的项</a:t>
                      </a:r>
                      <a:endParaRPr lang="en-US" sz="12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rgbClr val="2E9E6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O(行内 + 列内定位)</a:t>
                      </a:r>
                      <a:endParaRPr lang="en-US" sz="12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</a:tr>
            </a:tbl>
          </a:graphicData>
        </a:graphic>
      </p:graphicFrame>
      <p:sp>
        <p:nvSpPr>
          <p:cNvPr id="8" name="Shape 5"/>
          <p:cNvSpPr/>
          <p:nvPr/>
        </p:nvSpPr>
        <p:spPr>
          <a:xfrm>
            <a:off x="457200" y="3474720"/>
            <a:ext cx="5120640" cy="1188720"/>
          </a:xfrm>
          <a:prstGeom prst="roundRect">
            <a:avLst>
              <a:gd name="adj" fmla="val 6154"/>
            </a:avLst>
          </a:prstGeom>
          <a:solidFill>
            <a:srgbClr val="FFF6E0"/>
          </a:solidFill>
          <a:ln/>
        </p:spPr>
      </p:sp>
      <p:sp>
        <p:nvSpPr>
          <p:cNvPr id="9" name="Text 6"/>
          <p:cNvSpPr txBox="1"/>
          <p:nvPr/>
        </p:nvSpPr>
        <p:spPr>
          <a:xfrm>
            <a:off x="594360" y="3566160"/>
            <a:ext cx="4846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怎么读这张表</a:t>
            </a:r>
            <a:endParaRPr lang="en-US" sz="1200" dirty="0"/>
          </a:p>
        </p:txBody>
      </p:sp>
      <p:sp>
        <p:nvSpPr>
          <p:cNvPr id="10" name="Text 7"/>
          <p:cNvSpPr txBox="1"/>
          <p:nvPr/>
        </p:nvSpPr>
        <p:spPr>
          <a:xfrm>
            <a:off x="594360" y="3858768"/>
            <a:ext cx="48463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「取 a_ij」那一行是十字链表</a:t>
            </a:r>
            <a:r>
              <a:rPr lang="en-US" sz="11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吃亏</a:t>
            </a: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的地方；「按列扫」「插入」才是它</a:t>
            </a:r>
            <a:r>
              <a:rPr lang="en-US" sz="11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存在的理由</a:t>
            </a: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。选数据结构不看它哪里最好，看它在</a:t>
            </a:r>
            <a:r>
              <a:rPr lang="en-US" sz="11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你的负载</a:t>
            </a: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上哪几行最重要。</a:t>
            </a:r>
            <a:endParaRPr lang="en-US" sz="1150" dirty="0"/>
          </a:p>
        </p:txBody>
      </p:sp>
      <p:sp>
        <p:nvSpPr>
          <p:cNvPr id="11" name="Shape 8"/>
          <p:cNvSpPr/>
          <p:nvPr/>
        </p:nvSpPr>
        <p:spPr>
          <a:xfrm>
            <a:off x="5806440" y="3474720"/>
            <a:ext cx="2880360" cy="1188720"/>
          </a:xfrm>
          <a:prstGeom prst="roundRect">
            <a:avLst>
              <a:gd name="adj" fmla="val 6154"/>
            </a:avLst>
          </a:prstGeom>
          <a:solidFill>
            <a:srgbClr val="CFE0D8"/>
          </a:solidFill>
          <a:ln/>
        </p:spPr>
      </p:sp>
      <p:sp>
        <p:nvSpPr>
          <p:cNvPr id="12" name="Text 9"/>
          <p:cNvSpPr txBox="1"/>
          <p:nvPr/>
        </p:nvSpPr>
        <p:spPr>
          <a:xfrm>
            <a:off x="5943600" y="3566160"/>
            <a:ext cx="2606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实测</a:t>
            </a:r>
            <a:endParaRPr lang="en-US" sz="1200" dirty="0"/>
          </a:p>
        </p:txBody>
      </p:sp>
      <p:sp>
        <p:nvSpPr>
          <p:cNvPr id="13" name="Text 10"/>
          <p:cNvSpPr txBox="1"/>
          <p:nvPr/>
        </p:nvSpPr>
        <p:spPr>
          <a:xfrm>
            <a:off x="5943600" y="3858768"/>
            <a:ext cx="26060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200 × 200 对角线矩阵、第 7 列再补两个非零元（共 202 个）：扫第 7 列只走过该列 </a:t>
            </a:r>
            <a:r>
              <a:rPr lang="en-US" sz="10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</a:t>
            </a: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个结点，而不是全表的 </a:t>
            </a:r>
            <a:r>
              <a:rPr lang="en-US" sz="10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202</a:t>
            </a: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个。</a:t>
            </a:r>
            <a:endParaRPr lang="en-US" sz="10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12.1</a:t>
            </a:r>
            <a:endParaRPr lang="en-US" sz="9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12.1.3 稀疏矩阵 · 例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十字链表：一次更新要同时维护两条链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14</a:t>
            </a:r>
            <a:endParaRPr lang="en-US" sz="900" dirty="0"/>
          </a:p>
        </p:txBody>
      </p:sp>
      <p:sp>
        <p:nvSpPr>
          <p:cNvPr id="7" name="Text 5"/>
          <p:cNvSpPr txBox="1"/>
          <p:nvPr/>
        </p:nvSpPr>
        <p:spPr>
          <a:xfrm>
            <a:off x="457200" y="932688"/>
            <a:ext cx="3108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4 × 5 矩阵，只列非零元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822960" y="1325880"/>
            <a:ext cx="457200" cy="402336"/>
          </a:xfrm>
          <a:prstGeom prst="rect">
            <a:avLst/>
          </a:prstGeom>
          <a:solidFill>
            <a:srgbClr val="FFFFFF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1280160" y="1325880"/>
            <a:ext cx="457200" cy="402336"/>
          </a:xfrm>
          <a:prstGeom prst="rect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1280160" y="1325880"/>
            <a:ext cx="4572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8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1737360" y="1325880"/>
            <a:ext cx="457200" cy="402336"/>
          </a:xfrm>
          <a:prstGeom prst="rect">
            <a:avLst/>
          </a:prstGeom>
          <a:solidFill>
            <a:srgbClr val="FFFFFF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2194560" y="1325880"/>
            <a:ext cx="457200" cy="402336"/>
          </a:xfrm>
          <a:prstGeom prst="rect">
            <a:avLst/>
          </a:prstGeom>
          <a:solidFill>
            <a:srgbClr val="FFFFFF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2651760" y="1325880"/>
            <a:ext cx="457200" cy="402336"/>
          </a:xfrm>
          <a:prstGeom prst="rect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2651760" y="1325880"/>
            <a:ext cx="4572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</a:t>
            </a:r>
            <a:endParaRPr lang="en-US" sz="1300" dirty="0"/>
          </a:p>
        </p:txBody>
      </p:sp>
      <p:sp>
        <p:nvSpPr>
          <p:cNvPr id="15" name="Text 13"/>
          <p:cNvSpPr txBox="1"/>
          <p:nvPr/>
        </p:nvSpPr>
        <p:spPr>
          <a:xfrm>
            <a:off x="502920" y="1325880"/>
            <a:ext cx="27432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822960" y="1728216"/>
            <a:ext cx="457200" cy="402336"/>
          </a:xfrm>
          <a:prstGeom prst="rect">
            <a:avLst/>
          </a:prstGeom>
          <a:solidFill>
            <a:srgbClr val="FFFFFF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1280160" y="1728216"/>
            <a:ext cx="457200" cy="402336"/>
          </a:xfrm>
          <a:prstGeom prst="rect">
            <a:avLst/>
          </a:prstGeom>
          <a:solidFill>
            <a:srgbClr val="FFFFFF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1737360" y="1728216"/>
            <a:ext cx="457200" cy="402336"/>
          </a:xfrm>
          <a:prstGeom prst="rect">
            <a:avLst/>
          </a:prstGeom>
          <a:solidFill>
            <a:srgbClr val="FFFFFF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2194560" y="1728216"/>
            <a:ext cx="457200" cy="402336"/>
          </a:xfrm>
          <a:prstGeom prst="rect">
            <a:avLst/>
          </a:prstGeom>
          <a:solidFill>
            <a:srgbClr val="FFFFFF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2651760" y="1728216"/>
            <a:ext cx="457200" cy="402336"/>
          </a:xfrm>
          <a:prstGeom prst="rect">
            <a:avLst/>
          </a:prstGeom>
          <a:solidFill>
            <a:srgbClr val="FFFFFF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502920" y="1728216"/>
            <a:ext cx="27432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822960" y="2130552"/>
            <a:ext cx="457200" cy="402336"/>
          </a:xfrm>
          <a:prstGeom prst="rect">
            <a:avLst/>
          </a:prstGeom>
          <a:solidFill>
            <a:srgbClr val="FFFFFF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1280160" y="2130552"/>
            <a:ext cx="457200" cy="402336"/>
          </a:xfrm>
          <a:prstGeom prst="rect">
            <a:avLst/>
          </a:prstGeom>
          <a:solidFill>
            <a:srgbClr val="F4B9B0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1280160" y="2130552"/>
            <a:ext cx="4572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5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1737360" y="2130552"/>
            <a:ext cx="457200" cy="402336"/>
          </a:xfrm>
          <a:prstGeom prst="rect">
            <a:avLst/>
          </a:prstGeom>
          <a:solidFill>
            <a:srgbClr val="FFFFFF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2194560" y="2130552"/>
            <a:ext cx="457200" cy="402336"/>
          </a:xfrm>
          <a:prstGeom prst="rect">
            <a:avLst/>
          </a:prstGeom>
          <a:solidFill>
            <a:srgbClr val="FFFFFF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2651760" y="2130552"/>
            <a:ext cx="457200" cy="402336"/>
          </a:xfrm>
          <a:prstGeom prst="rect">
            <a:avLst/>
          </a:prstGeom>
          <a:solidFill>
            <a:srgbClr val="FFFFFF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28" name="Text 26"/>
          <p:cNvSpPr txBox="1"/>
          <p:nvPr/>
        </p:nvSpPr>
        <p:spPr>
          <a:xfrm>
            <a:off x="502920" y="2130552"/>
            <a:ext cx="27432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</a:t>
            </a:r>
            <a:endParaRPr lang="en-US" sz="1000" dirty="0"/>
          </a:p>
        </p:txBody>
      </p:sp>
      <p:sp>
        <p:nvSpPr>
          <p:cNvPr id="29" name="Shape 27"/>
          <p:cNvSpPr/>
          <p:nvPr/>
        </p:nvSpPr>
        <p:spPr>
          <a:xfrm>
            <a:off x="822960" y="2532888"/>
            <a:ext cx="457200" cy="402336"/>
          </a:xfrm>
          <a:prstGeom prst="rect">
            <a:avLst/>
          </a:prstGeom>
          <a:solidFill>
            <a:srgbClr val="FFFFFF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1280160" y="2532888"/>
            <a:ext cx="457200" cy="402336"/>
          </a:xfrm>
          <a:prstGeom prst="rect">
            <a:avLst/>
          </a:prstGeom>
          <a:solidFill>
            <a:srgbClr val="FFFFFF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1737360" y="2532888"/>
            <a:ext cx="457200" cy="402336"/>
          </a:xfrm>
          <a:prstGeom prst="rect">
            <a:avLst/>
          </a:prstGeom>
          <a:solidFill>
            <a:srgbClr val="FFFFFF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2194560" y="2532888"/>
            <a:ext cx="457200" cy="402336"/>
          </a:xfrm>
          <a:prstGeom prst="rect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33" name="Text 31"/>
          <p:cNvSpPr txBox="1"/>
          <p:nvPr/>
        </p:nvSpPr>
        <p:spPr>
          <a:xfrm>
            <a:off x="2194560" y="2532888"/>
            <a:ext cx="4572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7</a:t>
            </a:r>
            <a:endParaRPr lang="en-US" sz="1300" dirty="0"/>
          </a:p>
        </p:txBody>
      </p:sp>
      <p:sp>
        <p:nvSpPr>
          <p:cNvPr id="34" name="Shape 32"/>
          <p:cNvSpPr/>
          <p:nvPr/>
        </p:nvSpPr>
        <p:spPr>
          <a:xfrm>
            <a:off x="2651760" y="2532888"/>
            <a:ext cx="457200" cy="402336"/>
          </a:xfrm>
          <a:prstGeom prst="rect">
            <a:avLst/>
          </a:prstGeom>
          <a:solidFill>
            <a:srgbClr val="FFFFFF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35" name="Text 33"/>
          <p:cNvSpPr txBox="1"/>
          <p:nvPr/>
        </p:nvSpPr>
        <p:spPr>
          <a:xfrm>
            <a:off x="502920" y="2532888"/>
            <a:ext cx="27432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</a:t>
            </a:r>
            <a:endParaRPr lang="en-US" sz="1000" dirty="0"/>
          </a:p>
        </p:txBody>
      </p:sp>
      <p:sp>
        <p:nvSpPr>
          <p:cNvPr id="36" name="Text 34"/>
          <p:cNvSpPr txBox="1"/>
          <p:nvPr/>
        </p:nvSpPr>
        <p:spPr>
          <a:xfrm>
            <a:off x="822960" y="2953512"/>
            <a:ext cx="457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</a:t>
            </a:r>
            <a:endParaRPr lang="en-US" sz="1000" dirty="0"/>
          </a:p>
        </p:txBody>
      </p:sp>
      <p:sp>
        <p:nvSpPr>
          <p:cNvPr id="37" name="Text 35"/>
          <p:cNvSpPr txBox="1"/>
          <p:nvPr/>
        </p:nvSpPr>
        <p:spPr>
          <a:xfrm>
            <a:off x="1280160" y="2953512"/>
            <a:ext cx="457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</a:t>
            </a:r>
            <a:endParaRPr lang="en-US" sz="1000" dirty="0"/>
          </a:p>
        </p:txBody>
      </p:sp>
      <p:sp>
        <p:nvSpPr>
          <p:cNvPr id="38" name="Text 36"/>
          <p:cNvSpPr txBox="1"/>
          <p:nvPr/>
        </p:nvSpPr>
        <p:spPr>
          <a:xfrm>
            <a:off x="1737360" y="2953512"/>
            <a:ext cx="457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</a:t>
            </a:r>
            <a:endParaRPr lang="en-US" sz="1000" dirty="0"/>
          </a:p>
        </p:txBody>
      </p:sp>
      <p:sp>
        <p:nvSpPr>
          <p:cNvPr id="39" name="Text 37"/>
          <p:cNvSpPr txBox="1"/>
          <p:nvPr/>
        </p:nvSpPr>
        <p:spPr>
          <a:xfrm>
            <a:off x="2194560" y="2953512"/>
            <a:ext cx="457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</a:t>
            </a:r>
            <a:endParaRPr lang="en-US" sz="1000" dirty="0"/>
          </a:p>
        </p:txBody>
      </p:sp>
      <p:sp>
        <p:nvSpPr>
          <p:cNvPr id="40" name="Text 38"/>
          <p:cNvSpPr txBox="1"/>
          <p:nvPr/>
        </p:nvSpPr>
        <p:spPr>
          <a:xfrm>
            <a:off x="2651760" y="2953512"/>
            <a:ext cx="457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4</a:t>
            </a:r>
            <a:endParaRPr lang="en-US" sz="1000" dirty="0"/>
          </a:p>
        </p:txBody>
      </p:sp>
      <p:sp>
        <p:nvSpPr>
          <p:cNvPr id="41" name="Text 39"/>
          <p:cNvSpPr txBox="1"/>
          <p:nvPr/>
        </p:nvSpPr>
        <p:spPr>
          <a:xfrm>
            <a:off x="457200" y="3200400"/>
            <a:ext cx="3108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(0,1,8) (0,4,2) (2,1,5) (3,3,7)</a:t>
            </a:r>
            <a:endParaRPr lang="en-US" sz="1100" dirty="0"/>
          </a:p>
        </p:txBody>
      </p:sp>
      <p:sp>
        <p:nvSpPr>
          <p:cNvPr id="42" name="Text 40"/>
          <p:cNvSpPr txBox="1"/>
          <p:nvPr/>
        </p:nvSpPr>
        <p:spPr>
          <a:xfrm>
            <a:off x="457200" y="3520440"/>
            <a:ext cx="3200400" cy="11430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buNone/>
            </a:pP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结点 </a:t>
            </a:r>
            <a:r>
              <a:rPr lang="en-US" sz="110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(2,1,5)</a:t>
            </a: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在第 2 行链里是唯一结点，在第 1 列链里却接在 </a:t>
            </a:r>
            <a:r>
              <a:rPr lang="en-US" sz="110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(0,1,8)</a:t>
            </a: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后面。删掉它要</a:t>
            </a:r>
            <a:r>
              <a:rPr lang="en-US" sz="11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摘两次链</a:t>
            </a: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：第 2 行头改为空；第 1 列中让 8 的下继越过 5。</a:t>
            </a:r>
            <a:endParaRPr lang="en-US" sz="1100" dirty="0"/>
          </a:p>
        </p:txBody>
      </p:sp>
      <p:graphicFrame>
        <p:nvGraphicFramePr>
          <p:cNvPr id="1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840480" y="960120"/>
          <a:ext cx="4846320" cy="914400"/>
        </p:xfrm>
        <a:graphic>
          <a:graphicData uri="http://schemas.openxmlformats.org/drawingml/2006/table">
            <a:tbl>
              <a:tblPr/>
              <a:tblGrid>
                <a:gridCol w="868680"/>
                <a:gridCol w="1417320"/>
                <a:gridCol w="731520"/>
                <a:gridCol w="1463040"/>
                <a:gridCol w="365760"/>
              </a:tblGrid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操作后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第 0 行链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第 2 行链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第 1 列链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t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初始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(0,1,8) -&gt; (0,4,2)</a:t>
                      </a:r>
                      <a:endParaRPr lang="en-US" sz="9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(2,1,5)</a:t>
                      </a:r>
                      <a:endParaRPr lang="en-US" sz="9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(0,1,8) -&gt; (2,1,5)</a:t>
                      </a:r>
                      <a:endParaRPr lang="en-US" sz="9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4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覆盖 </a:t>
                      </a:r>
                      <a:r>
                        <a:rPr lang="en-US" sz="900" b="1" dirty="0">
                          <a:solidFill>
                            <a:srgbClr val="3E7C68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(0,1,9)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(0,1,9) -&gt; (0,4,2)</a:t>
                      </a:r>
                      <a:endParaRPr lang="en-US" sz="9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(2,1,5)</a:t>
                      </a:r>
                      <a:endParaRPr lang="en-US" sz="9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(0,1,9) -&gt; (2,1,5)</a:t>
                      </a:r>
                      <a:endParaRPr lang="en-US" sz="9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4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删除 </a:t>
                      </a:r>
                      <a:r>
                        <a:rPr lang="en-US" sz="900" b="1" dirty="0">
                          <a:solidFill>
                            <a:srgbClr val="3E7C68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(2,1)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(0,1,9) -&gt; (0,4,2)</a:t>
                      </a:r>
                      <a:endParaRPr lang="en-US" sz="9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C039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空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(0,1,9)</a:t>
                      </a:r>
                      <a:endParaRPr lang="en-US" sz="9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3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44" name="Shape 41"/>
          <p:cNvSpPr/>
          <p:nvPr/>
        </p:nvSpPr>
        <p:spPr>
          <a:xfrm>
            <a:off x="3840480" y="2697480"/>
            <a:ext cx="4846320" cy="1965960"/>
          </a:xfrm>
          <a:prstGeom prst="roundRect">
            <a:avLst>
              <a:gd name="adj" fmla="val 3721"/>
            </a:avLst>
          </a:prstGeom>
          <a:solidFill>
            <a:srgbClr val="FFF6E0"/>
          </a:solidFill>
          <a:ln/>
        </p:spPr>
      </p:sp>
      <p:sp>
        <p:nvSpPr>
          <p:cNvPr id="45" name="Text 42"/>
          <p:cNvSpPr txBox="1"/>
          <p:nvPr/>
        </p:nvSpPr>
        <p:spPr>
          <a:xfrm>
            <a:off x="3977640" y="278892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测试至少查四件事</a:t>
            </a:r>
            <a:endParaRPr lang="en-US" sz="1200" dirty="0"/>
          </a:p>
        </p:txBody>
      </p:sp>
      <p:sp>
        <p:nvSpPr>
          <p:cNvPr id="46" name="Text 43"/>
          <p:cNvSpPr txBox="1"/>
          <p:nvPr/>
        </p:nvSpPr>
        <p:spPr>
          <a:xfrm>
            <a:off x="3950208" y="3081528"/>
            <a:ext cx="4626864" cy="150876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marL="177800" indent="-177800"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新坐标</a:t>
            </a:r>
            <a:r>
              <a:rPr lang="en-US" sz="11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同时出现在两条链</a:t>
            </a: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上。</a:t>
            </a:r>
            <a:endParaRPr lang="en-US" sz="1150" dirty="0"/>
          </a:p>
          <a:p>
            <a:pPr marL="177800" indent="-177800"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覆盖同坐标</a:t>
            </a:r>
            <a:r>
              <a:rPr lang="en-US" sz="11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不增加</a:t>
            </a: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非零元数（找到旧结点改值）。</a:t>
            </a:r>
            <a:endParaRPr lang="en-US" sz="1150" dirty="0"/>
          </a:p>
          <a:p>
            <a:pPr marL="177800" indent="-177800"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赋值为 0 </a:t>
            </a:r>
            <a:r>
              <a:rPr lang="en-US" sz="11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等价于删除</a:t>
            </a: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</a:t>
            </a:r>
            <a:endParaRPr lang="en-US" sz="1150" dirty="0"/>
          </a:p>
          <a:p>
            <a:pPr marL="177800" indent="-177800"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删除后</a:t>
            </a:r>
            <a:r>
              <a:rPr lang="en-US" sz="11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两条链都找不到</a:t>
            </a: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它。</a:t>
            </a:r>
            <a:endParaRPr lang="en-US" sz="115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12.1</a:t>
            </a:r>
            <a:endParaRPr lang="en-US" sz="9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12.1.3 稀疏矩阵 · code/ch12/sparse_matrix（上）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set：先在第 row 行链上定位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15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457200" y="960120"/>
            <a:ext cx="5486400" cy="3703320"/>
          </a:xfrm>
          <a:prstGeom prst="roundRect">
            <a:avLst>
              <a:gd name="adj" fmla="val 1975"/>
            </a:avLst>
          </a:prstGeom>
          <a:solidFill>
            <a:srgbClr val="F1F4F2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530352" y="1005840"/>
            <a:ext cx="5340096" cy="361188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void set(std::size_t row, std::size_t col, int value) {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check(row, col);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Node* row_prev = nullptr;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Node* cursor = row_heads_[row];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while (cursor != nullptr &amp;&amp; cursor-&gt;col &lt; col) {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++steps_;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row_prev = cursor;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cursor = cursor-&gt;right;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}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const bool exists = cursor != nullptr &amp;&amp; cursor-&gt;col == col;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if (exists &amp;&amp; value != 0) {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cursor-&gt;value = value;  </a:t>
            </a:r>
            <a:r>
              <a:rPr lang="en-US" sz="90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就地改值，两条链一根都不用动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return;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}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if (exists) {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unlink(row, col, row_prev, cursor);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return;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}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if (value == 0) {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return;  </a:t>
            </a:r>
            <a:r>
              <a:rPr lang="en-US" sz="90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本来就是零元，什么都不用做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}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</a:t>
            </a:r>
            <a:r>
              <a:rPr lang="en-US" sz="90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...</a:t>
            </a:r>
            <a:endParaRPr lang="en-US" sz="900" dirty="0"/>
          </a:p>
        </p:txBody>
      </p:sp>
      <p:sp>
        <p:nvSpPr>
          <p:cNvPr id="9" name="Text 7"/>
          <p:cNvSpPr txBox="1"/>
          <p:nvPr/>
        </p:nvSpPr>
        <p:spPr>
          <a:xfrm>
            <a:off x="6172200" y="960120"/>
            <a:ext cx="2468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结点：五个域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6172200" y="1280160"/>
            <a:ext cx="2514600" cy="1325880"/>
          </a:xfrm>
          <a:prstGeom prst="roundRect">
            <a:avLst>
              <a:gd name="adj" fmla="val 5517"/>
            </a:avLst>
          </a:prstGeom>
          <a:solidFill>
            <a:srgbClr val="F1F4F2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6245352" y="1325880"/>
            <a:ext cx="2368296" cy="123444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struct Node {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std::size_t row;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std::size_t col;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int value;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Node* right;  </a:t>
            </a:r>
            <a:r>
              <a:rPr lang="en-US" sz="85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行链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Node* down;   </a:t>
            </a:r>
            <a:r>
              <a:rPr lang="en-US" sz="85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列链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};</a:t>
            </a:r>
            <a:endParaRPr lang="en-US" sz="850" dirty="0"/>
          </a:p>
        </p:txBody>
      </p:sp>
      <p:sp>
        <p:nvSpPr>
          <p:cNvPr id="12" name="Shape 10"/>
          <p:cNvSpPr/>
          <p:nvPr/>
        </p:nvSpPr>
        <p:spPr>
          <a:xfrm>
            <a:off x="6172200" y="2743200"/>
            <a:ext cx="2514600" cy="1920240"/>
          </a:xfrm>
          <a:prstGeom prst="roundRect">
            <a:avLst>
              <a:gd name="adj" fmla="val 3810"/>
            </a:avLst>
          </a:prstGeom>
          <a:solidFill>
            <a:srgbClr val="FFF6E0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6309360" y="2834640"/>
            <a:ext cx="2240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三个分支</a:t>
            </a:r>
            <a:endParaRPr lang="en-US" sz="1200" dirty="0"/>
          </a:p>
        </p:txBody>
      </p:sp>
      <p:sp>
        <p:nvSpPr>
          <p:cNvPr id="14" name="Text 12"/>
          <p:cNvSpPr txBox="1"/>
          <p:nvPr/>
        </p:nvSpPr>
        <p:spPr>
          <a:xfrm>
            <a:off x="6281928" y="3127248"/>
            <a:ext cx="2295144" cy="146304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marL="177800" indent="-177800">
              <a:spcAft>
                <a:spcPts val="300"/>
              </a:spcAft>
              <a:buSzPct val="100000"/>
              <a:buChar char="•"/>
            </a:pP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已存在、新值非 0 → </a:t>
            </a:r>
            <a:r>
              <a:rPr lang="en-US" sz="10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就地改值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</a:t>
            </a:r>
            <a:endParaRPr lang="en-US" sz="1050" dirty="0"/>
          </a:p>
          <a:p>
            <a:pPr marL="177800" indent="-177800">
              <a:spcAft>
                <a:spcPts val="300"/>
              </a:spcAft>
              <a:buSzPct val="100000"/>
              <a:buChar char="•"/>
            </a:pP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已存在、新值为 0 → 从</a:t>
            </a:r>
            <a:r>
              <a:rPr lang="en-US" sz="10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两条链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上摘掉。</a:t>
            </a:r>
            <a:endParaRPr lang="en-US" sz="1050" dirty="0"/>
          </a:p>
          <a:p>
            <a:pPr marL="177800" indent="-177800">
              <a:spcAft>
                <a:spcPts val="300"/>
              </a:spcAft>
              <a:buSzPct val="100000"/>
              <a:buChar char="•"/>
            </a:pP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不存在、新值为 0 → 什么都不做。</a:t>
            </a:r>
            <a:endParaRPr lang="en-US" sz="1050" dirty="0"/>
          </a:p>
          <a:p>
            <a:pPr marL="177800" indent="-177800">
              <a:spcAft>
                <a:spcPts val="300"/>
              </a:spcAft>
              <a:buSzPct val="100000"/>
              <a:buChar char="•"/>
            </a:pP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剩下的情况才要</a:t>
            </a:r>
            <a:r>
              <a:rPr lang="en-US" sz="10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插入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（下页）。</a:t>
            </a:r>
            <a:endParaRPr lang="en-US" sz="105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12.1</a:t>
            </a:r>
            <a:endParaRPr lang="en-US" sz="9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12.1.3 稀疏矩阵 · code/ch12/sparse_matrix（下）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set：再在第 col 列链上定位，两条链同时接上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16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457200" y="960120"/>
            <a:ext cx="5486400" cy="3703320"/>
          </a:xfrm>
          <a:prstGeom prst="roundRect">
            <a:avLst>
              <a:gd name="adj" fmla="val 1975"/>
            </a:avLst>
          </a:prstGeom>
          <a:solidFill>
            <a:srgbClr val="F1F4F2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530352" y="1005840"/>
            <a:ext cx="5340096" cy="361188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</a:t>
            </a:r>
            <a:r>
              <a:rPr lang="en-US" sz="90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...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Node* col_prev = nullptr;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Node* down_cursor = col_heads_[col];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while (down_cursor != nullptr &amp;&amp; down_cursor-&gt;row &lt; row) {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++steps_;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col_prev = down_cursor;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down_cursor = down_cursor-&gt;down;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}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Node* fresh = new Node{row, col, value, cursor, down_cursor};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if (row_prev != nullptr) {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row_prev-&gt;right = fresh;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} else {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row_heads_[row] = fresh;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}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if (col_prev != nullptr) {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col_prev-&gt;down = fresh;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} else {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col_heads_[col] = fresh;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}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++count_;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}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6172200" y="960120"/>
            <a:ext cx="2514600" cy="1737360"/>
          </a:xfrm>
          <a:prstGeom prst="roundRect">
            <a:avLst>
              <a:gd name="adj" fmla="val 4211"/>
            </a:avLst>
          </a:prstGeom>
          <a:solidFill>
            <a:srgbClr val="FFF6E0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6309360" y="1051560"/>
            <a:ext cx="2240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定位是局部的</a:t>
            </a:r>
            <a:endParaRPr lang="en-US" sz="1200" dirty="0"/>
          </a:p>
        </p:txBody>
      </p:sp>
      <p:sp>
        <p:nvSpPr>
          <p:cNvPr id="11" name="Text 9"/>
          <p:cNvSpPr txBox="1"/>
          <p:nvPr/>
        </p:nvSpPr>
        <p:spPr>
          <a:xfrm>
            <a:off x="6309360" y="1344168"/>
            <a:ext cx="22402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只在第 row 行和第 col 列上各走一段，</a:t>
            </a:r>
            <a:r>
              <a:rPr lang="en-US" sz="10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不碰其他行列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。新结点的 </a:t>
            </a:r>
            <a:r>
              <a:rPr lang="en-US" sz="10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right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接行内后继 </a:t>
            </a:r>
            <a:r>
              <a:rPr lang="en-US" sz="10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cursor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，</a:t>
            </a:r>
            <a:r>
              <a:rPr lang="en-US" sz="10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down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接列内后继 </a:t>
            </a:r>
            <a:r>
              <a:rPr lang="en-US" sz="10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down_cursor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6172200" y="2834640"/>
            <a:ext cx="2514600" cy="1828800"/>
          </a:xfrm>
          <a:prstGeom prst="roundRect">
            <a:avLst>
              <a:gd name="adj" fmla="val 4000"/>
            </a:avLst>
          </a:prstGeom>
          <a:solidFill>
            <a:srgbClr val="CFE0D8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6309360" y="2926080"/>
            <a:ext cx="2240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删除：unlink</a:t>
            </a:r>
            <a:endParaRPr lang="en-US" sz="1200" dirty="0"/>
          </a:p>
        </p:txBody>
      </p:sp>
      <p:sp>
        <p:nvSpPr>
          <p:cNvPr id="14" name="Text 12"/>
          <p:cNvSpPr txBox="1"/>
          <p:nvPr/>
        </p:nvSpPr>
        <p:spPr>
          <a:xfrm>
            <a:off x="6309360" y="3218688"/>
            <a:ext cx="224028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行链前驱在 set 里已经找到；</a:t>
            </a:r>
            <a:r>
              <a:rPr lang="en-US" sz="10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列链的前驱要现找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——结点只存后继，不存前驱。两条链各摘一次，再 </a:t>
            </a:r>
            <a:r>
              <a:rPr lang="en-US" sz="10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delete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、</a:t>
            </a:r>
            <a:r>
              <a:rPr lang="en-US" sz="10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--count_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</a:t>
            </a:r>
            <a:endParaRPr lang="en-US" sz="105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12.1</a:t>
            </a:r>
            <a:endParaRPr lang="en-US" sz="9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12.1.3 稀疏矩阵 · 关键要点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所有权归容器：两条链都是裸指针，析构迭代释放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17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457200" y="1005840"/>
            <a:ext cx="3977640" cy="3611880"/>
          </a:xfrm>
          <a:prstGeom prst="roundRect">
            <a:avLst>
              <a:gd name="adj" fmla="val 2025"/>
            </a:avLst>
          </a:prstGeom>
          <a:solidFill>
            <a:srgbClr val="F1F4F2"/>
          </a:solidFill>
          <a:ln/>
        </p:spPr>
      </p:sp>
      <p:sp>
        <p:nvSpPr>
          <p:cNvPr id="8" name="Shape 6"/>
          <p:cNvSpPr/>
          <p:nvPr/>
        </p:nvSpPr>
        <p:spPr>
          <a:xfrm>
            <a:off x="640080" y="1143000"/>
            <a:ext cx="384048" cy="38404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640080" y="11430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</a:t>
            </a:r>
            <a:endParaRPr lang="en-US" sz="1200" dirty="0"/>
          </a:p>
        </p:txBody>
      </p:sp>
      <p:sp>
        <p:nvSpPr>
          <p:cNvPr id="10" name="Text 8"/>
          <p:cNvSpPr txBox="1"/>
          <p:nvPr/>
        </p:nvSpPr>
        <p:spPr>
          <a:xfrm>
            <a:off x="1143000" y="1170432"/>
            <a:ext cx="32004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为什么不用 unique_ptr 串链</a:t>
            </a:r>
            <a:endParaRPr lang="en-US" sz="1400" dirty="0"/>
          </a:p>
        </p:txBody>
      </p:sp>
      <p:sp>
        <p:nvSpPr>
          <p:cNvPr id="11" name="Text 9"/>
          <p:cNvSpPr txBox="1"/>
          <p:nvPr/>
        </p:nvSpPr>
        <p:spPr>
          <a:xfrm>
            <a:off x="640080" y="1645920"/>
            <a:ext cx="3657600" cy="283464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2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一个结点在</a:t>
            </a:r>
            <a:r>
              <a:rPr lang="en-US" sz="12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两条链</a:t>
            </a:r>
            <a:r>
              <a:rPr lang="en-US" sz="12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上，只能有一个主人——所有权归容器，链上都是观察指针。</a:t>
            </a:r>
            <a:endParaRPr lang="en-US" sz="12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2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用 </a:t>
            </a:r>
            <a:r>
              <a:rPr lang="en-US" sz="120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unique_ptr</a:t>
            </a:r>
            <a:r>
              <a:rPr lang="en-US" sz="12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串行链，析构是</a:t>
            </a:r>
            <a:r>
              <a:rPr lang="en-US" sz="12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递归</a:t>
            </a:r>
            <a:r>
              <a:rPr lang="en-US" sz="12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的：一行里非零元一多，就会</a:t>
            </a:r>
            <a:r>
              <a:rPr lang="en-US" sz="12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压穿栈</a:t>
            </a:r>
            <a:r>
              <a:rPr lang="en-US" sz="12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</a:t>
            </a:r>
            <a:endParaRPr lang="en-US" sz="12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2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判据见 2.3.1 节「所有权工具怎么选」；实测数字在该单元的 </a:t>
            </a:r>
            <a:r>
              <a:rPr lang="en-US" sz="120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legacy.md</a:t>
            </a:r>
            <a:r>
              <a:rPr lang="en-US" sz="12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4709160" y="1005840"/>
            <a:ext cx="3977640" cy="3611880"/>
          </a:xfrm>
          <a:prstGeom prst="roundRect">
            <a:avLst>
              <a:gd name="adj" fmla="val 2025"/>
            </a:avLst>
          </a:prstGeom>
          <a:solidFill>
            <a:srgbClr val="F1F4F2"/>
          </a:solidFill>
          <a:ln/>
        </p:spPr>
      </p:sp>
      <p:sp>
        <p:nvSpPr>
          <p:cNvPr id="13" name="Shape 11"/>
          <p:cNvSpPr/>
          <p:nvPr/>
        </p:nvSpPr>
        <p:spPr>
          <a:xfrm>
            <a:off x="4892040" y="1143000"/>
            <a:ext cx="384048" cy="38404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4892040" y="11430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</a:t>
            </a:r>
            <a:endParaRPr lang="en-US" sz="1200" dirty="0"/>
          </a:p>
        </p:txBody>
      </p:sp>
      <p:sp>
        <p:nvSpPr>
          <p:cNvPr id="15" name="Text 13"/>
          <p:cNvSpPr txBox="1"/>
          <p:nvPr/>
        </p:nvSpPr>
        <p:spPr>
          <a:xfrm>
            <a:off x="5394960" y="1170432"/>
            <a:ext cx="32004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clear()：逐行沿 right 迭代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4846320" y="1645920"/>
            <a:ext cx="3703320" cy="2331720"/>
          </a:xfrm>
          <a:prstGeom prst="roundRect">
            <a:avLst>
              <a:gd name="adj" fmla="val 3137"/>
            </a:avLst>
          </a:prstGeom>
          <a:solidFill>
            <a:srgbClr val="F1F4F2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4919472" y="1691640"/>
            <a:ext cx="3557016" cy="224028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void clear() noexcept {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for (Node*&amp; head : row_heads_) {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Node* p = head;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while (p != nullptr) {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   Node* next = p-&gt;right;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   delete p;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   p = next;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}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head = nullptr;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}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for (Node*&amp; head : col_heads_) {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head = nullptr;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}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count_ = 0;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}</a:t>
            </a:r>
            <a:endParaRPr lang="en-US" sz="850" dirty="0"/>
          </a:p>
        </p:txBody>
      </p:sp>
      <p:sp>
        <p:nvSpPr>
          <p:cNvPr id="18" name="Text 16"/>
          <p:cNvSpPr txBox="1"/>
          <p:nvPr/>
        </p:nvSpPr>
        <p:spPr>
          <a:xfrm>
            <a:off x="4892040" y="4023360"/>
            <a:ext cx="3657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每个结点恰在一条行链上 → 沿行链释放</a:t>
            </a:r>
            <a:r>
              <a:rPr lang="en-US" sz="10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每个只删一次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；列头只需清空。</a:t>
            </a:r>
            <a:endParaRPr lang="en-US" sz="105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1E3D3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309360" y="-1188720"/>
            <a:ext cx="3840480" cy="3840480"/>
          </a:xfrm>
          <a:prstGeom prst="ellipse">
            <a:avLst/>
          </a:prstGeom>
          <a:solidFill>
            <a:srgbClr val="2F5C4C"/>
          </a:solidFill>
          <a:ln/>
        </p:spPr>
      </p:sp>
      <p:sp>
        <p:nvSpPr>
          <p:cNvPr id="3" name="Shape 1"/>
          <p:cNvSpPr/>
          <p:nvPr/>
        </p:nvSpPr>
        <p:spPr>
          <a:xfrm>
            <a:off x="7223760" y="3017520"/>
            <a:ext cx="2651760" cy="2651760"/>
          </a:xfrm>
          <a:prstGeom prst="ellipse">
            <a:avLst/>
          </a:prstGeom>
          <a:solidFill>
            <a:srgbClr val="F2B134">
              <a:alpha val="45000"/>
            </a:srgbClr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640080" y="1554480"/>
            <a:ext cx="5486400" cy="32004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12.2</a:t>
            </a:r>
            <a:endParaRPr lang="en-US" sz="1300" dirty="0"/>
          </a:p>
        </p:txBody>
      </p:sp>
      <p:sp>
        <p:nvSpPr>
          <p:cNvPr id="5" name="Text 3"/>
          <p:cNvSpPr txBox="1"/>
          <p:nvPr/>
        </p:nvSpPr>
        <p:spPr>
          <a:xfrm>
            <a:off x="640080" y="1874520"/>
            <a:ext cx="6400800" cy="7315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广义表和存储管理</a:t>
            </a:r>
            <a:endParaRPr lang="en-US" sz="3400" dirty="0"/>
          </a:p>
        </p:txBody>
      </p:sp>
      <p:sp>
        <p:nvSpPr>
          <p:cNvPr id="6" name="Text 4"/>
          <p:cNvSpPr txBox="1"/>
          <p:nvPr/>
        </p:nvSpPr>
        <p:spPr>
          <a:xfrm>
            <a:off x="640080" y="2697480"/>
            <a:ext cx="5760720" cy="9144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CFE0D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元素可以是表 · 共享与环</a:t>
            </a:r>
            <a:endParaRPr lang="en-US" sz="1300" dirty="0"/>
          </a:p>
          <a:p>
            <a:pPr algn="l"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CFE0D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引用计数 · 可利用空间表 · 首次 / 最佳 / 最坏适应 · 标记–清除</a:t>
            </a:r>
            <a:endParaRPr lang="en-US" sz="13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12.2</a:t>
            </a:r>
            <a:endParaRPr lang="en-US" sz="9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12.2.1 广义表的定义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广义表：元素可以是原子，也可以是另一个广义表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19</a:t>
            </a:r>
            <a:endParaRPr lang="en-US" sz="900" dirty="0"/>
          </a:p>
        </p:txBody>
      </p:sp>
      <p:sp>
        <p:nvSpPr>
          <p:cNvPr id="7" name="Text 5"/>
          <p:cNvSpPr txBox="1"/>
          <p:nvPr/>
        </p:nvSpPr>
        <p:spPr>
          <a:xfrm>
            <a:off x="457200" y="960120"/>
            <a:ext cx="4846320" cy="11887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2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表头</a:t>
            </a:r>
            <a:r>
              <a:rPr lang="en-US" sz="12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是第一个元素，</a:t>
            </a:r>
            <a:r>
              <a:rPr lang="en-US" sz="12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表尾</a:t>
            </a:r>
            <a:r>
              <a:rPr lang="en-US" sz="12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是去掉表头后剩下的那个表；空表既没有头也没有尾。</a:t>
            </a:r>
            <a:endParaRPr lang="en-US" sz="12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2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任何非空广义表都能</a:t>
            </a:r>
            <a:r>
              <a:rPr lang="en-US" sz="12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唯一</a:t>
            </a:r>
            <a:r>
              <a:rPr lang="en-US" sz="12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拆成「头 + 尾」→ 递归算法写成「先处理头、再处理尾」就和定义对上了。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457200" y="2194560"/>
            <a:ext cx="4846320" cy="2468880"/>
          </a:xfrm>
          <a:prstGeom prst="roundRect">
            <a:avLst>
              <a:gd name="adj" fmla="val 2963"/>
            </a:avLst>
          </a:prstGeom>
          <a:solidFill>
            <a:srgbClr val="F1F4F2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640080" y="228600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对 L = (a, (b,c), d) 连续拆解</a:t>
            </a:r>
            <a:endParaRPr lang="en-US" sz="1200" dirty="0"/>
          </a:p>
        </p:txBody>
      </p:sp>
      <p:sp>
        <p:nvSpPr>
          <p:cNvPr id="10" name="Text 8"/>
          <p:cNvSpPr txBox="1"/>
          <p:nvPr/>
        </p:nvSpPr>
        <p:spPr>
          <a:xfrm>
            <a:off x="731520" y="2651760"/>
            <a:ext cx="14630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head(L)</a:t>
            </a:r>
            <a:endParaRPr lang="en-US" sz="1150" dirty="0"/>
          </a:p>
        </p:txBody>
      </p:sp>
      <p:sp>
        <p:nvSpPr>
          <p:cNvPr id="11" name="Text 9"/>
          <p:cNvSpPr txBox="1"/>
          <p:nvPr/>
        </p:nvSpPr>
        <p:spPr>
          <a:xfrm>
            <a:off x="2194560" y="2651760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 a</a:t>
            </a:r>
            <a:endParaRPr lang="en-US" sz="1150" dirty="0"/>
          </a:p>
        </p:txBody>
      </p:sp>
      <p:sp>
        <p:nvSpPr>
          <p:cNvPr id="12" name="Text 10"/>
          <p:cNvSpPr txBox="1"/>
          <p:nvPr/>
        </p:nvSpPr>
        <p:spPr>
          <a:xfrm>
            <a:off x="731520" y="2980944"/>
            <a:ext cx="14630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tail(L)</a:t>
            </a:r>
            <a:endParaRPr lang="en-US" sz="1150" dirty="0"/>
          </a:p>
        </p:txBody>
      </p:sp>
      <p:sp>
        <p:nvSpPr>
          <p:cNvPr id="13" name="Text 11"/>
          <p:cNvSpPr txBox="1"/>
          <p:nvPr/>
        </p:nvSpPr>
        <p:spPr>
          <a:xfrm>
            <a:off x="2194560" y="2980944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 ((b,c),d)</a:t>
            </a:r>
            <a:endParaRPr lang="en-US" sz="1150" dirty="0"/>
          </a:p>
        </p:txBody>
      </p:sp>
      <p:sp>
        <p:nvSpPr>
          <p:cNvPr id="14" name="Text 12"/>
          <p:cNvSpPr txBox="1"/>
          <p:nvPr/>
        </p:nvSpPr>
        <p:spPr>
          <a:xfrm>
            <a:off x="731520" y="3310128"/>
            <a:ext cx="14630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head((b,c))</a:t>
            </a:r>
            <a:endParaRPr lang="en-US" sz="1150" dirty="0"/>
          </a:p>
        </p:txBody>
      </p:sp>
      <p:sp>
        <p:nvSpPr>
          <p:cNvPr id="15" name="Text 13"/>
          <p:cNvSpPr txBox="1"/>
          <p:nvPr/>
        </p:nvSpPr>
        <p:spPr>
          <a:xfrm>
            <a:off x="2194560" y="331012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 b</a:t>
            </a:r>
            <a:endParaRPr lang="en-US" sz="1150" dirty="0"/>
          </a:p>
        </p:txBody>
      </p:sp>
      <p:sp>
        <p:nvSpPr>
          <p:cNvPr id="16" name="Text 14"/>
          <p:cNvSpPr txBox="1"/>
          <p:nvPr/>
        </p:nvSpPr>
        <p:spPr>
          <a:xfrm>
            <a:off x="731520" y="3639312"/>
            <a:ext cx="14630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tail((b,c))</a:t>
            </a:r>
            <a:endParaRPr lang="en-US" sz="1150" dirty="0"/>
          </a:p>
        </p:txBody>
      </p:sp>
      <p:sp>
        <p:nvSpPr>
          <p:cNvPr id="17" name="Text 15"/>
          <p:cNvSpPr txBox="1"/>
          <p:nvPr/>
        </p:nvSpPr>
        <p:spPr>
          <a:xfrm>
            <a:off x="2194560" y="3639312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 (c)</a:t>
            </a:r>
            <a:endParaRPr lang="en-US" sz="1150" dirty="0"/>
          </a:p>
        </p:txBody>
      </p:sp>
      <p:sp>
        <p:nvSpPr>
          <p:cNvPr id="18" name="Shape 16"/>
          <p:cNvSpPr/>
          <p:nvPr/>
        </p:nvSpPr>
        <p:spPr>
          <a:xfrm>
            <a:off x="731520" y="4023360"/>
            <a:ext cx="1325880" cy="329184"/>
          </a:xfrm>
          <a:prstGeom prst="roundRect">
            <a:avLst>
              <a:gd name="adj" fmla="val 50000"/>
            </a:avLst>
          </a:prstGeom>
          <a:solidFill>
            <a:srgbClr val="3E7C68"/>
          </a:solidFill>
          <a:ln/>
        </p:spPr>
      </p:sp>
      <p:sp>
        <p:nvSpPr>
          <p:cNvPr id="19" name="Text 17"/>
          <p:cNvSpPr txBox="1"/>
          <p:nvPr/>
        </p:nvSpPr>
        <p:spPr>
          <a:xfrm>
            <a:off x="731520" y="4023360"/>
            <a:ext cx="13258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长度 3</a:t>
            </a:r>
            <a:endParaRPr lang="en-US" sz="1100" dirty="0"/>
          </a:p>
        </p:txBody>
      </p:sp>
      <p:sp>
        <p:nvSpPr>
          <p:cNvPr id="20" name="Text 18"/>
          <p:cNvSpPr txBox="1"/>
          <p:nvPr/>
        </p:nvSpPr>
        <p:spPr>
          <a:xfrm>
            <a:off x="731520" y="4370832"/>
            <a:ext cx="13258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5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只数最外层</a:t>
            </a:r>
            <a:endParaRPr lang="en-US" sz="950" dirty="0"/>
          </a:p>
        </p:txBody>
      </p:sp>
      <p:sp>
        <p:nvSpPr>
          <p:cNvPr id="21" name="Shape 19"/>
          <p:cNvSpPr/>
          <p:nvPr/>
        </p:nvSpPr>
        <p:spPr>
          <a:xfrm>
            <a:off x="2240280" y="4023360"/>
            <a:ext cx="1325880" cy="329184"/>
          </a:xfrm>
          <a:prstGeom prst="roundRect">
            <a:avLst>
              <a:gd name="adj" fmla="val 50000"/>
            </a:avLst>
          </a:prstGeom>
          <a:solidFill>
            <a:srgbClr val="3E7C68"/>
          </a:solidFill>
          <a:ln/>
        </p:spPr>
      </p:sp>
      <p:sp>
        <p:nvSpPr>
          <p:cNvPr id="22" name="Text 20"/>
          <p:cNvSpPr txBox="1"/>
          <p:nvPr/>
        </p:nvSpPr>
        <p:spPr>
          <a:xfrm>
            <a:off x="2240280" y="4023360"/>
            <a:ext cx="13258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深度 2</a:t>
            </a:r>
            <a:endParaRPr lang="en-US" sz="1100" dirty="0"/>
          </a:p>
        </p:txBody>
      </p:sp>
      <p:sp>
        <p:nvSpPr>
          <p:cNvPr id="23" name="Text 21"/>
          <p:cNvSpPr txBox="1"/>
          <p:nvPr/>
        </p:nvSpPr>
        <p:spPr>
          <a:xfrm>
            <a:off x="2240280" y="4370832"/>
            <a:ext cx="13258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5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要进入子表</a:t>
            </a:r>
            <a:endParaRPr lang="en-US" sz="950" dirty="0"/>
          </a:p>
        </p:txBody>
      </p:sp>
      <p:sp>
        <p:nvSpPr>
          <p:cNvPr id="24" name="Shape 22"/>
          <p:cNvSpPr/>
          <p:nvPr/>
        </p:nvSpPr>
        <p:spPr>
          <a:xfrm>
            <a:off x="3749040" y="4023360"/>
            <a:ext cx="1325880" cy="329184"/>
          </a:xfrm>
          <a:prstGeom prst="roundRect">
            <a:avLst>
              <a:gd name="adj" fmla="val 50000"/>
            </a:avLst>
          </a:prstGeom>
          <a:solidFill>
            <a:srgbClr val="3E7C68"/>
          </a:solidFill>
          <a:ln/>
        </p:spPr>
      </p:sp>
      <p:sp>
        <p:nvSpPr>
          <p:cNvPr id="25" name="Text 23"/>
          <p:cNvSpPr txBox="1"/>
          <p:nvPr/>
        </p:nvSpPr>
        <p:spPr>
          <a:xfrm>
            <a:off x="3749040" y="4023360"/>
            <a:ext cx="13258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原子 4</a:t>
            </a:r>
            <a:endParaRPr lang="en-US" sz="1100" dirty="0"/>
          </a:p>
        </p:txBody>
      </p:sp>
      <p:sp>
        <p:nvSpPr>
          <p:cNvPr id="26" name="Text 24"/>
          <p:cNvSpPr txBox="1"/>
          <p:nvPr/>
        </p:nvSpPr>
        <p:spPr>
          <a:xfrm>
            <a:off x="3749040" y="4370832"/>
            <a:ext cx="13258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5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遍历所有层</a:t>
            </a:r>
            <a:endParaRPr lang="en-US" sz="950" dirty="0"/>
          </a:p>
        </p:txBody>
      </p:sp>
      <p:sp>
        <p:nvSpPr>
          <p:cNvPr id="27" name="Shape 25"/>
          <p:cNvSpPr/>
          <p:nvPr/>
        </p:nvSpPr>
        <p:spPr>
          <a:xfrm>
            <a:off x="5532120" y="960120"/>
            <a:ext cx="3154680" cy="2103120"/>
          </a:xfrm>
          <a:prstGeom prst="roundRect">
            <a:avLst>
              <a:gd name="adj" fmla="val 3478"/>
            </a:avLst>
          </a:prstGeom>
          <a:solidFill>
            <a:srgbClr val="FFF6E0"/>
          </a:solidFill>
          <a:ln/>
        </p:spPr>
      </p:sp>
      <p:sp>
        <p:nvSpPr>
          <p:cNvPr id="28" name="Text 26"/>
          <p:cNvSpPr txBox="1"/>
          <p:nvPr/>
        </p:nvSpPr>
        <p:spPr>
          <a:xfrm>
            <a:off x="5669280" y="1051560"/>
            <a:ext cx="2880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现代视角</a:t>
            </a:r>
            <a:endParaRPr lang="en-US" sz="1200" dirty="0"/>
          </a:p>
        </p:txBody>
      </p:sp>
      <p:sp>
        <p:nvSpPr>
          <p:cNvPr id="29" name="Text 27"/>
          <p:cNvSpPr txBox="1"/>
          <p:nvPr/>
        </p:nvSpPr>
        <p:spPr>
          <a:xfrm>
            <a:off x="5669280" y="1344168"/>
            <a:ext cx="288036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「广义表」是教材中的历史名称；今天通常叫</a:t>
            </a:r>
            <a:r>
              <a:rPr lang="en-US" sz="10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嵌套对象、对象图、共享 DAG 或循环对象图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——编译器 AST、JSON/XML 的嵌套值、内容寻址存储里的共享节点，都能用头尾分解、共享和环来解释。</a:t>
            </a:r>
            <a:endParaRPr lang="en-US" sz="1050" dirty="0"/>
          </a:p>
        </p:txBody>
      </p:sp>
      <p:sp>
        <p:nvSpPr>
          <p:cNvPr id="30" name="Shape 28"/>
          <p:cNvSpPr/>
          <p:nvPr/>
        </p:nvSpPr>
        <p:spPr>
          <a:xfrm>
            <a:off x="5532120" y="3200400"/>
            <a:ext cx="3154680" cy="1463040"/>
          </a:xfrm>
          <a:prstGeom prst="roundRect">
            <a:avLst>
              <a:gd name="adj" fmla="val 5000"/>
            </a:avLst>
          </a:prstGeom>
          <a:solidFill>
            <a:srgbClr val="CFE0D8"/>
          </a:solidFill>
          <a:ln/>
        </p:spPr>
      </p:sp>
      <p:sp>
        <p:nvSpPr>
          <p:cNvPr id="31" name="Text 29"/>
          <p:cNvSpPr txBox="1"/>
          <p:nvPr/>
        </p:nvSpPr>
        <p:spPr>
          <a:xfrm>
            <a:off x="5669280" y="3291840"/>
            <a:ext cx="2880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为什么这一节只有 C++</a:t>
            </a:r>
            <a:endParaRPr lang="en-US" sz="1200" dirty="0"/>
          </a:p>
        </p:txBody>
      </p:sp>
      <p:sp>
        <p:nvSpPr>
          <p:cNvPr id="32" name="Text 30"/>
          <p:cNvSpPr txBox="1"/>
          <p:nvPr/>
        </p:nvSpPr>
        <p:spPr>
          <a:xfrm>
            <a:off x="5669280" y="3584448"/>
            <a:ext cx="28803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讨论的是</a:t>
            </a:r>
            <a:r>
              <a:rPr lang="en-US" sz="10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存储图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：结点被多个表共享、释放要避免重复访问、还要处理环。Python 的引用计数 / GC 会替你维护这些，本节就没了。</a:t>
            </a:r>
            <a:endParaRPr lang="en-US" sz="105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12.2</a:t>
            </a:r>
            <a:endParaRPr lang="en-US" sz="9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12.2.1 广义表的分类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按是否共享、是否有环：线性表 → 纯表 → 再入表 → 循环表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20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457200" y="960120"/>
            <a:ext cx="1920240" cy="2148840"/>
          </a:xfrm>
          <a:prstGeom prst="roundRect">
            <a:avLst>
              <a:gd name="adj" fmla="val 3810"/>
            </a:avLst>
          </a:prstGeom>
          <a:solidFill>
            <a:srgbClr val="F1F4F2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548640" y="1005840"/>
            <a:ext cx="1737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线性表</a:t>
            </a:r>
            <a:endParaRPr lang="en-US" sz="1200" dirty="0"/>
          </a:p>
        </p:txBody>
      </p:sp>
      <p:pic>
        <p:nvPicPr>
          <p:cNvPr id="9" name="Image 0" descr="fig-12-3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580651"/>
            <a:ext cx="1737360" cy="898634"/>
          </a:xfrm>
          <a:prstGeom prst="rect">
            <a:avLst/>
          </a:prstGeom>
        </p:spPr>
      </p:pic>
      <p:sp>
        <p:nvSpPr>
          <p:cNvPr id="10" name="Text 7"/>
          <p:cNvSpPr txBox="1"/>
          <p:nvPr/>
        </p:nvSpPr>
        <p:spPr>
          <a:xfrm>
            <a:off x="548640" y="2788920"/>
            <a:ext cx="1737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5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元素全是原子</a:t>
            </a:r>
            <a:endParaRPr lang="en-US" sz="950" dirty="0"/>
          </a:p>
        </p:txBody>
      </p:sp>
      <p:sp>
        <p:nvSpPr>
          <p:cNvPr id="11" name="Shape 8"/>
          <p:cNvSpPr/>
          <p:nvPr/>
        </p:nvSpPr>
        <p:spPr>
          <a:xfrm>
            <a:off x="2560320" y="960120"/>
            <a:ext cx="1920240" cy="2148840"/>
          </a:xfrm>
          <a:prstGeom prst="roundRect">
            <a:avLst>
              <a:gd name="adj" fmla="val 3810"/>
            </a:avLst>
          </a:prstGeom>
          <a:solidFill>
            <a:srgbClr val="F1F4F2"/>
          </a:solidFill>
          <a:ln/>
        </p:spPr>
      </p:sp>
      <p:sp>
        <p:nvSpPr>
          <p:cNvPr id="12" name="Text 9"/>
          <p:cNvSpPr txBox="1"/>
          <p:nvPr/>
        </p:nvSpPr>
        <p:spPr>
          <a:xfrm>
            <a:off x="2651760" y="1005840"/>
            <a:ext cx="1737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纯表 ↔ 树</a:t>
            </a:r>
            <a:endParaRPr lang="en-US" sz="1200" dirty="0"/>
          </a:p>
        </p:txBody>
      </p:sp>
      <p:pic>
        <p:nvPicPr>
          <p:cNvPr id="13" name="Image 1" descr="fig-12-4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651760" y="1564473"/>
            <a:ext cx="1737360" cy="930990"/>
          </a:xfrm>
          <a:prstGeom prst="rect">
            <a:avLst/>
          </a:prstGeom>
        </p:spPr>
      </p:pic>
      <p:sp>
        <p:nvSpPr>
          <p:cNvPr id="14" name="Text 10"/>
          <p:cNvSpPr txBox="1"/>
          <p:nvPr/>
        </p:nvSpPr>
        <p:spPr>
          <a:xfrm>
            <a:off x="2651760" y="2788920"/>
            <a:ext cx="1737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5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每个子表只出现一次</a:t>
            </a:r>
            <a:endParaRPr lang="en-US" sz="950" dirty="0"/>
          </a:p>
        </p:txBody>
      </p:sp>
      <p:sp>
        <p:nvSpPr>
          <p:cNvPr id="15" name="Shape 11"/>
          <p:cNvSpPr/>
          <p:nvPr/>
        </p:nvSpPr>
        <p:spPr>
          <a:xfrm>
            <a:off x="4663440" y="960120"/>
            <a:ext cx="1920240" cy="2148840"/>
          </a:xfrm>
          <a:prstGeom prst="roundRect">
            <a:avLst>
              <a:gd name="adj" fmla="val 3810"/>
            </a:avLst>
          </a:prstGeom>
          <a:solidFill>
            <a:srgbClr val="F1F4F2"/>
          </a:solidFill>
          <a:ln/>
        </p:spPr>
      </p:sp>
      <p:sp>
        <p:nvSpPr>
          <p:cNvPr id="16" name="Text 12"/>
          <p:cNvSpPr txBox="1"/>
          <p:nvPr/>
        </p:nvSpPr>
        <p:spPr>
          <a:xfrm>
            <a:off x="4754880" y="1005840"/>
            <a:ext cx="1737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再入表 ↔ DAG</a:t>
            </a:r>
            <a:endParaRPr lang="en-US" sz="1200" dirty="0"/>
          </a:p>
        </p:txBody>
      </p:sp>
      <p:pic>
        <p:nvPicPr>
          <p:cNvPr id="17" name="Image 2" descr="fig-12-5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754880" y="1694606"/>
            <a:ext cx="1737360" cy="670723"/>
          </a:xfrm>
          <a:prstGeom prst="rect">
            <a:avLst/>
          </a:prstGeom>
        </p:spPr>
      </p:pic>
      <p:sp>
        <p:nvSpPr>
          <p:cNvPr id="18" name="Text 13"/>
          <p:cNvSpPr txBox="1"/>
          <p:nvPr/>
        </p:nvSpPr>
        <p:spPr>
          <a:xfrm>
            <a:off x="4754880" y="2788920"/>
            <a:ext cx="1737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5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子表可被共享</a:t>
            </a:r>
            <a:endParaRPr lang="en-US" sz="950" dirty="0"/>
          </a:p>
        </p:txBody>
      </p:sp>
      <p:sp>
        <p:nvSpPr>
          <p:cNvPr id="19" name="Shape 14"/>
          <p:cNvSpPr/>
          <p:nvPr/>
        </p:nvSpPr>
        <p:spPr>
          <a:xfrm>
            <a:off x="6766560" y="960120"/>
            <a:ext cx="1920240" cy="2148840"/>
          </a:xfrm>
          <a:prstGeom prst="roundRect">
            <a:avLst>
              <a:gd name="adj" fmla="val 3810"/>
            </a:avLst>
          </a:prstGeom>
          <a:solidFill>
            <a:srgbClr val="F1F4F2"/>
          </a:solidFill>
          <a:ln/>
        </p:spPr>
      </p:sp>
      <p:sp>
        <p:nvSpPr>
          <p:cNvPr id="20" name="Text 15"/>
          <p:cNvSpPr txBox="1"/>
          <p:nvPr/>
        </p:nvSpPr>
        <p:spPr>
          <a:xfrm>
            <a:off x="6858000" y="1005840"/>
            <a:ext cx="1737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循环表 ↔ 有环图</a:t>
            </a:r>
            <a:endParaRPr lang="en-US" sz="1200" dirty="0"/>
          </a:p>
        </p:txBody>
      </p:sp>
      <p:pic>
        <p:nvPicPr>
          <p:cNvPr id="21" name="Image 3" descr="fig-12-6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858000" y="1575297"/>
            <a:ext cx="1737360" cy="909342"/>
          </a:xfrm>
          <a:prstGeom prst="rect">
            <a:avLst/>
          </a:prstGeom>
        </p:spPr>
      </p:pic>
      <p:sp>
        <p:nvSpPr>
          <p:cNvPr id="22" name="Text 16"/>
          <p:cNvSpPr txBox="1"/>
          <p:nvPr/>
        </p:nvSpPr>
        <p:spPr>
          <a:xfrm>
            <a:off x="6858000" y="2788920"/>
            <a:ext cx="1737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5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子表可以包含自己</a:t>
            </a:r>
            <a:endParaRPr lang="en-US" sz="950" dirty="0"/>
          </a:p>
        </p:txBody>
      </p:sp>
      <p:sp>
        <p:nvSpPr>
          <p:cNvPr id="23" name="Shape 17"/>
          <p:cNvSpPr/>
          <p:nvPr/>
        </p:nvSpPr>
        <p:spPr>
          <a:xfrm>
            <a:off x="457200" y="3218688"/>
            <a:ext cx="8229600" cy="457200"/>
          </a:xfrm>
          <a:prstGeom prst="roundRect">
            <a:avLst>
              <a:gd name="adj" fmla="val 16000"/>
            </a:avLst>
          </a:prstGeom>
          <a:solidFill>
            <a:srgbClr val="1E3D34"/>
          </a:solidFill>
          <a:ln/>
        </p:spPr>
      </p:sp>
      <p:sp>
        <p:nvSpPr>
          <p:cNvPr id="24" name="Text 18"/>
          <p:cNvSpPr txBox="1"/>
          <p:nvPr/>
        </p:nvSpPr>
        <p:spPr>
          <a:xfrm>
            <a:off x="640080" y="3218688"/>
            <a:ext cx="7863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图  ⊇  再入表（循环表是带回路的特殊再入表）  ⊇  纯表  ⊇  线性表</a:t>
            </a:r>
            <a:endParaRPr lang="en-US" sz="1350" dirty="0"/>
          </a:p>
        </p:txBody>
      </p:sp>
      <p:sp>
        <p:nvSpPr>
          <p:cNvPr id="25" name="Shape 19"/>
          <p:cNvSpPr/>
          <p:nvPr/>
        </p:nvSpPr>
        <p:spPr>
          <a:xfrm>
            <a:off x="457200" y="3794760"/>
            <a:ext cx="4023360" cy="868680"/>
          </a:xfrm>
          <a:prstGeom prst="roundRect">
            <a:avLst>
              <a:gd name="adj" fmla="val 8421"/>
            </a:avLst>
          </a:prstGeom>
          <a:solidFill>
            <a:srgbClr val="FFF6E0"/>
          </a:solidFill>
          <a:ln/>
        </p:spPr>
      </p:sp>
      <p:sp>
        <p:nvSpPr>
          <p:cNvPr id="26" name="Text 20"/>
          <p:cNvSpPr txBox="1"/>
          <p:nvPr/>
        </p:nvSpPr>
        <p:spPr>
          <a:xfrm>
            <a:off x="594360" y="3886200"/>
            <a:ext cx="3749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标号</a:t>
            </a:r>
            <a:endParaRPr lang="en-US" sz="1100" dirty="0"/>
          </a:p>
        </p:txBody>
      </p:sp>
      <p:sp>
        <p:nvSpPr>
          <p:cNvPr id="27" name="Text 21"/>
          <p:cNvSpPr txBox="1"/>
          <p:nvPr/>
        </p:nvSpPr>
        <p:spPr>
          <a:xfrm>
            <a:off x="594360" y="4178808"/>
            <a:ext cx="37490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共享时允许对子表和原子标号，</a:t>
            </a:r>
            <a:r>
              <a:rPr lang="en-US" sz="10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重复出现的标号代替对应的元素</a:t>
            </a: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；写循环表的括号形式必须用标号。</a:t>
            </a:r>
            <a:endParaRPr lang="en-US" sz="1000" dirty="0"/>
          </a:p>
        </p:txBody>
      </p:sp>
      <p:sp>
        <p:nvSpPr>
          <p:cNvPr id="28" name="Shape 22"/>
          <p:cNvSpPr/>
          <p:nvPr/>
        </p:nvSpPr>
        <p:spPr>
          <a:xfrm>
            <a:off x="4663440" y="3794760"/>
            <a:ext cx="4023360" cy="868680"/>
          </a:xfrm>
          <a:prstGeom prst="roundRect">
            <a:avLst>
              <a:gd name="adj" fmla="val 8421"/>
            </a:avLst>
          </a:prstGeom>
          <a:solidFill>
            <a:srgbClr val="CFE0D8"/>
          </a:solidFill>
          <a:ln/>
        </p:spPr>
      </p:sp>
      <p:sp>
        <p:nvSpPr>
          <p:cNvPr id="29" name="Text 23"/>
          <p:cNvSpPr txBox="1"/>
          <p:nvPr/>
        </p:nvSpPr>
        <p:spPr>
          <a:xfrm>
            <a:off x="4800600" y="3886200"/>
            <a:ext cx="3749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深度 = 展开后括号的层数</a:t>
            </a:r>
            <a:endParaRPr lang="en-US" sz="1100" dirty="0"/>
          </a:p>
        </p:txBody>
      </p:sp>
      <p:sp>
        <p:nvSpPr>
          <p:cNvPr id="30" name="Text 24"/>
          <p:cNvSpPr txBox="1"/>
          <p:nvPr/>
        </p:nvSpPr>
        <p:spPr>
          <a:xfrm>
            <a:off x="4800600" y="4178808"/>
            <a:ext cx="37490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线性表深度 1；图 12.4、12.5 深度 3；</a:t>
            </a:r>
            <a:r>
              <a:rPr lang="en-US" sz="10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循环表深度为无穷大</a:t>
            </a: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</a:t>
            </a:r>
            <a:endParaRPr lang="en-US" sz="10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12.2</a:t>
            </a:r>
            <a:endParaRPr lang="en-US" sz="9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12.2.1 广义表 · code/ch12/gen_list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GenNode 与 cons：头 + 尾 → 新表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21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457200" y="960120"/>
            <a:ext cx="5760720" cy="3017520"/>
          </a:xfrm>
          <a:prstGeom prst="roundRect">
            <a:avLst>
              <a:gd name="adj" fmla="val 2424"/>
            </a:avLst>
          </a:prstGeom>
          <a:solidFill>
            <a:srgbClr val="F1F4F2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530352" y="1005840"/>
            <a:ext cx="5614416" cy="292608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struct GenNode {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enum class Tag { Atom, List };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Tag tag = Tag::Atom;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char value = '\0';   </a:t>
            </a:r>
            <a:r>
              <a:rPr lang="en-US" sz="85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tag == Atom 时有效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GenNode* head = nullptr;  </a:t>
            </a:r>
            <a:r>
              <a:rPr lang="en-US" sz="85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tag == List 时有效：表头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GenNode* tail = nullptr;  </a:t>
            </a:r>
            <a:r>
              <a:rPr lang="en-US" sz="85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tag == List 时有效：表尾，空表用 nullptr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std::size_t refs = 0;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};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r>
              <a:rPr lang="en-US" sz="85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/// 表头 + 表尾 → 新表。原书的「任何非空广义表都能唯一拆成头和尾」的逆运算。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static GenList cons(const GenList&amp; head, const GenList&amp; tail) {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if (tail.node_ != nullptr &amp;&amp; tail.node_-&gt;tag != GenNode::Tag::List) {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throw std::invalid_argument("tail must be a list");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}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auto* node = new GenNode{GenNode::Tag::List, '\0', head.node_, tail.node_, 0};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retain(node-&gt;head);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retain(node-&gt;tail);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return GenList(node);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}</a:t>
            </a:r>
            <a:endParaRPr lang="en-US" sz="850" dirty="0"/>
          </a:p>
        </p:txBody>
      </p:sp>
      <p:sp>
        <p:nvSpPr>
          <p:cNvPr id="9" name="Text 7"/>
          <p:cNvSpPr txBox="1"/>
          <p:nvPr/>
        </p:nvSpPr>
        <p:spPr>
          <a:xfrm>
            <a:off x="457200" y="4069080"/>
            <a:ext cx="5760720" cy="54864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buNone/>
            </a:pP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表用「头 + 尾」表示：</a:t>
            </a:r>
            <a:r>
              <a:rPr lang="en-US" sz="110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(a,(b,c),d)</a:t>
            </a: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就是 cons(a, cons((b,c), cons(d, ())))。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446520" y="960120"/>
            <a:ext cx="2240280" cy="2331720"/>
          </a:xfrm>
          <a:prstGeom prst="roundRect">
            <a:avLst>
              <a:gd name="adj" fmla="val 3265"/>
            </a:avLst>
          </a:prstGeom>
          <a:solidFill>
            <a:srgbClr val="FFF6E0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6583680" y="1051560"/>
            <a:ext cx="1965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计数放在结点上</a:t>
            </a:r>
            <a:endParaRPr lang="en-US" sz="1200" dirty="0"/>
          </a:p>
        </p:txBody>
      </p:sp>
      <p:sp>
        <p:nvSpPr>
          <p:cNvPr id="12" name="Text 10"/>
          <p:cNvSpPr txBox="1"/>
          <p:nvPr/>
        </p:nvSpPr>
        <p:spPr>
          <a:xfrm>
            <a:off x="6556248" y="1344168"/>
            <a:ext cx="2020824" cy="18745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marL="177800" indent="-177800">
              <a:spcAft>
                <a:spcPts val="400"/>
              </a:spcAft>
              <a:buSzPct val="100000"/>
              <a:buChar char="•"/>
            </a:pPr>
            <a:r>
              <a:rPr lang="en-US" sz="10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refs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：有几处引用这个结点。</a:t>
            </a:r>
            <a:endParaRPr lang="en-US" sz="1050" dirty="0"/>
          </a:p>
          <a:p>
            <a:pPr marL="177800" indent="-177800">
              <a:spcAft>
                <a:spcPts val="400"/>
              </a:spcAft>
              <a:buSzPct val="100000"/>
              <a:buChar char="•"/>
            </a:pP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句柄 </a:t>
            </a:r>
            <a:r>
              <a:rPr lang="en-US" sz="10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GenList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负责加减：拷贝 </a:t>
            </a:r>
            <a:r>
              <a:rPr lang="en-US" sz="10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retain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，析构 </a:t>
            </a:r>
            <a:r>
              <a:rPr lang="en-US" sz="10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release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</a:t>
            </a:r>
            <a:endParaRPr lang="en-US" sz="1050" dirty="0"/>
          </a:p>
          <a:p>
            <a:pPr marL="177800" indent="-177800">
              <a:spcAft>
                <a:spcPts val="400"/>
              </a:spcAft>
              <a:buSzPct val="100000"/>
              <a:buChar char="•"/>
            </a:pPr>
            <a:r>
              <a:rPr lang="en-US" sz="10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cons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对头、尾各 </a:t>
            </a:r>
            <a:r>
              <a:rPr lang="en-US" sz="10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retain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一次——</a:t>
            </a:r>
            <a:r>
              <a:rPr lang="en-US" sz="10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共享而不是拷贝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</a:t>
            </a:r>
            <a:endParaRPr lang="en-US" sz="1050" dirty="0"/>
          </a:p>
        </p:txBody>
      </p:sp>
      <p:sp>
        <p:nvSpPr>
          <p:cNvPr id="13" name="Shape 11"/>
          <p:cNvSpPr/>
          <p:nvPr/>
        </p:nvSpPr>
        <p:spPr>
          <a:xfrm>
            <a:off x="6446520" y="3429000"/>
            <a:ext cx="2240280" cy="1234440"/>
          </a:xfrm>
          <a:prstGeom prst="roundRect">
            <a:avLst>
              <a:gd name="adj" fmla="val 5926"/>
            </a:avLst>
          </a:prstGeom>
          <a:solidFill>
            <a:srgbClr val="CFE0D8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6583680" y="3520440"/>
            <a:ext cx="1965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表尾必须是表</a:t>
            </a:r>
            <a:endParaRPr lang="en-US" sz="1200" dirty="0"/>
          </a:p>
        </p:txBody>
      </p:sp>
      <p:sp>
        <p:nvSpPr>
          <p:cNvPr id="15" name="Text 13"/>
          <p:cNvSpPr txBox="1"/>
          <p:nvPr/>
        </p:nvSpPr>
        <p:spPr>
          <a:xfrm>
            <a:off x="6583680" y="3813048"/>
            <a:ext cx="1965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0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tail</a:t>
            </a: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是原子属于</a:t>
            </a:r>
            <a:r>
              <a:rPr lang="en-US" sz="10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用错接口</a:t>
            </a: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，抛异常；空表的 </a:t>
            </a:r>
            <a:r>
              <a:rPr lang="en-US" sz="100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head()</a:t>
            </a: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/ </a:t>
            </a:r>
            <a:r>
              <a:rPr lang="en-US" sz="100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tail()</a:t>
            </a: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则返回 </a:t>
            </a:r>
            <a:r>
              <a:rPr lang="en-US" sz="100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nullopt</a:t>
            </a: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</a:t>
            </a:r>
            <a:endParaRPr lang="en-US" sz="10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12.2</a:t>
            </a:r>
            <a:endParaRPr lang="en-US" sz="9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12.2.1 广义表 · code/ch12/gen_list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共享一旦发生，回收就不能再按树递归 delete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22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457200" y="960120"/>
            <a:ext cx="5394960" cy="2743200"/>
          </a:xfrm>
          <a:prstGeom prst="roundRect">
            <a:avLst>
              <a:gd name="adj" fmla="val 2667"/>
            </a:avLst>
          </a:prstGeom>
          <a:solidFill>
            <a:srgbClr val="F1F4F2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530352" y="1005840"/>
            <a:ext cx="5248656" cy="265176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static void retain(GenNode* node) noexcept {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if (node != nullptr) {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++node-&gt;refs;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}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static void release(GenNode* node) noexcept {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r>
              <a:rPr lang="en-US" sz="90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计数归零才真正删除；共享的子表因此只会被删一次。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while (node != nullptr &amp;&amp; --node-&gt;refs == 0) {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GenNode* const head = node-&gt;head;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GenNode* const tail = node-&gt;tail;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delete node;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</a:t>
            </a:r>
            <a:r>
              <a:rPr lang="en-US" sz="90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表尾用循环走，长表不会把栈压穿；表头递归，深度由嵌套层数决定。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release(head);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node = tail;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}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457200" y="3794760"/>
            <a:ext cx="5394960" cy="868680"/>
          </a:xfrm>
          <a:prstGeom prst="roundRect">
            <a:avLst>
              <a:gd name="adj" fmla="val 8421"/>
            </a:avLst>
          </a:prstGeom>
          <a:solidFill>
            <a:srgbClr val="F1F4F2"/>
          </a:solidFill>
          <a:ln/>
        </p:spPr>
      </p:sp>
      <p:pic>
        <p:nvPicPr>
          <p:cNvPr id="10" name="Image 0" descr="fig-12-5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266474" y="3886200"/>
            <a:ext cx="1776413" cy="685800"/>
          </a:xfrm>
          <a:prstGeom prst="rect">
            <a:avLst/>
          </a:prstGeom>
        </p:spPr>
      </p:pic>
      <p:sp>
        <p:nvSpPr>
          <p:cNvPr id="11" name="Shape 8"/>
          <p:cNvSpPr/>
          <p:nvPr/>
        </p:nvSpPr>
        <p:spPr>
          <a:xfrm>
            <a:off x="6080760" y="960120"/>
            <a:ext cx="2606040" cy="2468880"/>
          </a:xfrm>
          <a:prstGeom prst="roundRect">
            <a:avLst>
              <a:gd name="adj" fmla="val 2963"/>
            </a:avLst>
          </a:prstGeom>
          <a:solidFill>
            <a:srgbClr val="FFF6E0"/>
          </a:solidFill>
          <a:ln/>
        </p:spPr>
      </p:sp>
      <p:sp>
        <p:nvSpPr>
          <p:cNvPr id="12" name="Text 9"/>
          <p:cNvSpPr txBox="1"/>
          <p:nvPr/>
        </p:nvSpPr>
        <p:spPr>
          <a:xfrm>
            <a:off x="6217920" y="1051560"/>
            <a:ext cx="2331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要点</a:t>
            </a:r>
            <a:endParaRPr lang="en-US" sz="1200" dirty="0"/>
          </a:p>
        </p:txBody>
      </p:sp>
      <p:sp>
        <p:nvSpPr>
          <p:cNvPr id="13" name="Text 10"/>
          <p:cNvSpPr txBox="1"/>
          <p:nvPr/>
        </p:nvSpPr>
        <p:spPr>
          <a:xfrm>
            <a:off x="6190488" y="1344168"/>
            <a:ext cx="2386584" cy="201168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marL="177800" indent="-177800">
              <a:spcAft>
                <a:spcPts val="400"/>
              </a:spcAft>
              <a:buSzPct val="100000"/>
              <a:buChar char="•"/>
            </a:pP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按树递归 </a:t>
            </a:r>
            <a:r>
              <a:rPr lang="en-US" sz="10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delete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会把共享的 </a:t>
            </a:r>
            <a:r>
              <a:rPr lang="en-US" sz="10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(b,c)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</a:t>
            </a:r>
            <a:r>
              <a:rPr lang="en-US" sz="10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删两次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</a:t>
            </a:r>
            <a:endParaRPr lang="en-US" sz="1050" dirty="0"/>
          </a:p>
          <a:p>
            <a:pPr marL="177800" indent="-177800">
              <a:spcAft>
                <a:spcPts val="400"/>
              </a:spcAft>
              <a:buSzPct val="100000"/>
              <a:buChar char="•"/>
            </a:pP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沿表尾</a:t>
            </a:r>
            <a:r>
              <a:rPr lang="en-US" sz="10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迭代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、只对表头递归：三万个元素的长表析构不压栈，栈深只跟</a:t>
            </a:r>
            <a:r>
              <a:rPr lang="en-US" sz="10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嵌套层数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走。</a:t>
            </a:r>
            <a:endParaRPr lang="en-US" sz="1050" dirty="0"/>
          </a:p>
          <a:p>
            <a:pPr marL="177800" indent="-177800">
              <a:spcAft>
                <a:spcPts val="400"/>
              </a:spcAft>
              <a:buSzPct val="100000"/>
              <a:buChar char="•"/>
            </a:pP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不用 </a:t>
            </a:r>
            <a:r>
              <a:rPr lang="en-US" sz="10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shared_ptr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：本节要教的就是「谁来回收共享结点」。</a:t>
            </a:r>
            <a:endParaRPr lang="en-US" sz="1050" dirty="0"/>
          </a:p>
        </p:txBody>
      </p:sp>
      <p:sp>
        <p:nvSpPr>
          <p:cNvPr id="14" name="Shape 11"/>
          <p:cNvSpPr/>
          <p:nvPr/>
        </p:nvSpPr>
        <p:spPr>
          <a:xfrm>
            <a:off x="6080760" y="3566160"/>
            <a:ext cx="2606040" cy="1097280"/>
          </a:xfrm>
          <a:prstGeom prst="roundRect">
            <a:avLst>
              <a:gd name="adj" fmla="val 6667"/>
            </a:avLst>
          </a:prstGeom>
          <a:solidFill>
            <a:srgbClr val="FDF0EE"/>
          </a:solidFill>
          <a:ln/>
        </p:spPr>
      </p:sp>
      <p:sp>
        <p:nvSpPr>
          <p:cNvPr id="15" name="Text 12"/>
          <p:cNvSpPr txBox="1"/>
          <p:nvPr/>
        </p:nvSpPr>
        <p:spPr>
          <a:xfrm>
            <a:off x="6217920" y="3657600"/>
            <a:ext cx="2331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C039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引用计数收不回环</a:t>
            </a:r>
            <a:endParaRPr lang="en-US" sz="1200" dirty="0"/>
          </a:p>
        </p:txBody>
      </p:sp>
      <p:sp>
        <p:nvSpPr>
          <p:cNvPr id="16" name="Text 13"/>
          <p:cNvSpPr txBox="1"/>
          <p:nvPr/>
        </p:nvSpPr>
        <p:spPr>
          <a:xfrm>
            <a:off x="6217920" y="3950208"/>
            <a:ext cx="2331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本书接口自底向上建表，</a:t>
            </a:r>
            <a:r>
              <a:rPr lang="en-US" sz="10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造不出循环表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。环交给 12.2.4 的标记–清除。</a:t>
            </a:r>
            <a:endParaRPr lang="en-US" sz="105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12.2</a:t>
            </a:r>
            <a:endParaRPr lang="en-US" sz="9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12.2.2 可利用空间表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等长结点的复用：从全局 avail 链到显式句柄池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23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457200" y="960120"/>
            <a:ext cx="4572000" cy="2103120"/>
          </a:xfrm>
          <a:prstGeom prst="roundRect">
            <a:avLst>
              <a:gd name="adj" fmla="val 3478"/>
            </a:avLst>
          </a:prstGeom>
          <a:solidFill>
            <a:srgbClr val="F1F4F2"/>
          </a:solidFill>
          <a:ln/>
        </p:spPr>
      </p:sp>
      <p:pic>
        <p:nvPicPr>
          <p:cNvPr id="8" name="Image 0" descr="fig-12-10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13426" y="1051560"/>
            <a:ext cx="4259548" cy="1627632"/>
          </a:xfrm>
          <a:prstGeom prst="rect">
            <a:avLst/>
          </a:prstGeom>
        </p:spPr>
      </p:pic>
      <p:sp>
        <p:nvSpPr>
          <p:cNvPr id="9" name="Text 6"/>
          <p:cNvSpPr txBox="1"/>
          <p:nvPr/>
        </p:nvSpPr>
        <p:spPr>
          <a:xfrm>
            <a:off x="502920" y="2734056"/>
            <a:ext cx="4480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5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图 12.10  等长结点的可利用空间表</a:t>
            </a:r>
            <a:endParaRPr lang="en-US" sz="950" dirty="0"/>
          </a:p>
        </p:txBody>
      </p:sp>
      <p:sp>
        <p:nvSpPr>
          <p:cNvPr id="10" name="Shape 7"/>
          <p:cNvSpPr/>
          <p:nvPr/>
        </p:nvSpPr>
        <p:spPr>
          <a:xfrm>
            <a:off x="457200" y="3200400"/>
            <a:ext cx="2194560" cy="1463040"/>
          </a:xfrm>
          <a:prstGeom prst="roundRect">
            <a:avLst>
              <a:gd name="adj" fmla="val 5000"/>
            </a:avLst>
          </a:prstGeom>
          <a:solidFill>
            <a:srgbClr val="FDF0EE"/>
          </a:solidFill>
          <a:ln/>
        </p:spPr>
      </p:sp>
      <p:sp>
        <p:nvSpPr>
          <p:cNvPr id="11" name="Text 8"/>
          <p:cNvSpPr txBox="1"/>
          <p:nvPr/>
        </p:nvSpPr>
        <p:spPr>
          <a:xfrm>
            <a:off x="594360" y="3273552"/>
            <a:ext cx="1920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C039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原书</a:t>
            </a:r>
            <a:endParaRPr lang="en-US" sz="1200" dirty="0"/>
          </a:p>
        </p:txBody>
      </p:sp>
      <p:sp>
        <p:nvSpPr>
          <p:cNvPr id="12" name="Text 9"/>
          <p:cNvSpPr txBox="1"/>
          <p:nvPr/>
        </p:nvSpPr>
        <p:spPr>
          <a:xfrm>
            <a:off x="594360" y="3566160"/>
            <a:ext cx="196596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重载 </a:t>
            </a:r>
            <a:r>
              <a:rPr lang="en-US" sz="9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operator new/delete</a:t>
            </a:r>
            <a:r>
              <a:rPr lang="en-US" sz="9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+ 一条</a:t>
            </a:r>
            <a:r>
              <a:rPr lang="en-US" sz="9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全局</a:t>
            </a:r>
            <a:r>
              <a:rPr lang="en-US" sz="9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</a:t>
            </a:r>
            <a:r>
              <a:rPr lang="en-US" sz="9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avail</a:t>
            </a:r>
            <a:r>
              <a:rPr lang="en-US" sz="9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链；所有对象共享隐式全局状态，结束时还要 </a:t>
            </a:r>
            <a:r>
              <a:rPr lang="en-US" sz="9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::delete</a:t>
            </a:r>
            <a:r>
              <a:rPr lang="en-US" sz="9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整条链。</a:t>
            </a:r>
            <a:endParaRPr lang="en-US" sz="950" dirty="0"/>
          </a:p>
        </p:txBody>
      </p:sp>
      <p:sp>
        <p:nvSpPr>
          <p:cNvPr id="13" name="Shape 10"/>
          <p:cNvSpPr/>
          <p:nvPr/>
        </p:nvSpPr>
        <p:spPr>
          <a:xfrm>
            <a:off x="2834640" y="3200400"/>
            <a:ext cx="2194560" cy="1463040"/>
          </a:xfrm>
          <a:prstGeom prst="roundRect">
            <a:avLst>
              <a:gd name="adj" fmla="val 5000"/>
            </a:avLst>
          </a:prstGeom>
          <a:solidFill>
            <a:srgbClr val="EAF4EF"/>
          </a:solidFill>
          <a:ln/>
        </p:spPr>
      </p:sp>
      <p:sp>
        <p:nvSpPr>
          <p:cNvPr id="14" name="Text 11"/>
          <p:cNvSpPr txBox="1"/>
          <p:nvPr/>
        </p:nvSpPr>
        <p:spPr>
          <a:xfrm>
            <a:off x="2971800" y="3273552"/>
            <a:ext cx="1920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2E9E6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现代实现</a:t>
            </a:r>
            <a:endParaRPr lang="en-US" sz="1200" dirty="0"/>
          </a:p>
        </p:txBody>
      </p:sp>
      <p:sp>
        <p:nvSpPr>
          <p:cNvPr id="15" name="Text 12"/>
          <p:cNvSpPr txBox="1"/>
          <p:nvPr/>
        </p:nvSpPr>
        <p:spPr>
          <a:xfrm>
            <a:off x="2971800" y="3566160"/>
            <a:ext cx="196596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显式索引句柄池</a:t>
            </a:r>
            <a:r>
              <a:rPr lang="en-US" sz="9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：</a:t>
            </a:r>
            <a:r>
              <a:rPr lang="en-US" sz="9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acquire</a:t>
            </a:r>
            <a:r>
              <a:rPr lang="en-US" sz="9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从空闲栈弹下标，</a:t>
            </a:r>
            <a:r>
              <a:rPr lang="en-US" sz="9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release</a:t>
            </a:r>
            <a:r>
              <a:rPr lang="en-US" sz="9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推回；耗尽返回 </a:t>
            </a:r>
            <a:r>
              <a:rPr lang="en-US" sz="9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nullopt</a:t>
            </a:r>
            <a:r>
              <a:rPr lang="en-US" sz="9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，重复 / 越界归还返回 </a:t>
            </a:r>
            <a:r>
              <a:rPr lang="en-US" sz="9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false</a:t>
            </a:r>
            <a:r>
              <a:rPr lang="en-US" sz="9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</a:t>
            </a:r>
            <a:endParaRPr lang="en-US" sz="950" dirty="0"/>
          </a:p>
        </p:txBody>
      </p:sp>
      <p:sp>
        <p:nvSpPr>
          <p:cNvPr id="16" name="Text 13"/>
          <p:cNvSpPr txBox="1"/>
          <p:nvPr/>
        </p:nvSpPr>
        <p:spPr>
          <a:xfrm>
            <a:off x="5257800" y="960120"/>
            <a:ext cx="3429000" cy="36576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marL="177800" indent="-177800">
              <a:spcAft>
                <a:spcPts val="900"/>
              </a:spcAft>
              <a:buSzPct val="100000"/>
              <a:buChar char="•"/>
            </a:pP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「可利用空间表」（free list）是</a:t>
            </a:r>
            <a:r>
              <a:rPr lang="en-US" sz="11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固定大小对象池</a:t>
            </a: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的历史叫法。</a:t>
            </a:r>
            <a:endParaRPr lang="en-US" sz="1150" dirty="0"/>
          </a:p>
          <a:p>
            <a:pPr marL="177800" indent="-177800">
              <a:spcAft>
                <a:spcPts val="900"/>
              </a:spcAft>
              <a:buSzPct val="100000"/>
              <a:buChar char="•"/>
            </a:pP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工程中按对象大小用 </a:t>
            </a:r>
            <a:r>
              <a:rPr lang="en-US" sz="11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arena、pool、slab</a:t>
            </a: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allocator——都把分配路径和所有权边界显式化。</a:t>
            </a:r>
            <a:endParaRPr lang="en-US" sz="1150" dirty="0"/>
          </a:p>
          <a:p>
            <a:pPr marL="177800" indent="-177800">
              <a:spcAft>
                <a:spcPts val="900"/>
              </a:spcAft>
              <a:buSzPct val="100000"/>
              <a:buChar char="•"/>
            </a:pP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释放后的下标失效，</a:t>
            </a:r>
            <a:r>
              <a:rPr lang="en-US" sz="11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get</a:t>
            </a: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得到</a:t>
            </a:r>
            <a:r>
              <a:rPr lang="en-US" sz="11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空指针</a:t>
            </a: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</a:t>
            </a:r>
            <a:endParaRPr lang="en-US" sz="1150" dirty="0"/>
          </a:p>
          <a:p>
            <a:pPr marL="177800" indent="-177800">
              <a:spcAft>
                <a:spcPts val="900"/>
              </a:spcAft>
              <a:buSzPct val="100000"/>
              <a:buChar char="•"/>
            </a:pP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本章的句柄池把「失败」做成返回 </a:t>
            </a:r>
            <a:r>
              <a:rPr lang="en-US" sz="11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nullopt</a:t>
            </a: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，</a:t>
            </a:r>
            <a:r>
              <a:rPr lang="en-US" sz="11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不劫持全局</a:t>
            </a: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</a:t>
            </a:r>
            <a:r>
              <a:rPr lang="en-US" sz="11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new</a:t>
            </a: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</a:t>
            </a:r>
            <a:endParaRPr lang="en-US" sz="115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12.2</a:t>
            </a:r>
            <a:endParaRPr lang="en-US" sz="9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12.2.2 可利用空间表 · 例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容量为 3 的句柄池：一张账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24</a:t>
            </a:r>
            <a:endParaRPr lang="en-US" sz="900" dirty="0"/>
          </a:p>
        </p:txBody>
      </p:sp>
      <p:graphicFrame>
        <p:nvGraphicFramePr>
          <p:cNvPr id="2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005840"/>
          <a:ext cx="4754880" cy="914400"/>
        </p:xfrm>
        <a:graphic>
          <a:graphicData uri="http://schemas.openxmlformats.org/drawingml/2006/table">
            <a:tbl>
              <a:tblPr/>
              <a:tblGrid>
                <a:gridCol w="1280160"/>
                <a:gridCol w="822960"/>
                <a:gridCol w="822960"/>
                <a:gridCol w="822960"/>
                <a:gridCol w="1005840"/>
              </a:tblGrid>
              <a:tr h="4114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动作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槽 0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槽 1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槽 2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下一可用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初始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6B7B74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空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6B7B74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空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6B7B74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空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0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acquire(A)</a:t>
                      </a:r>
                      <a:endParaRPr lang="en-US" sz="12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A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6B7B74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空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6B7B74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空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1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acquire(B)</a:t>
                      </a:r>
                      <a:endParaRPr lang="en-US" sz="12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A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B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6B7B74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空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2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release(0)</a:t>
                      </a:r>
                      <a:endParaRPr lang="en-US" sz="12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C039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空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B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6B7B74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空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0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acquire(C)</a:t>
                      </a:r>
                      <a:endParaRPr lang="en-US" sz="12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2E9E6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C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B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6B7B74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空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2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Text 5"/>
          <p:cNvSpPr txBox="1"/>
          <p:nvPr/>
        </p:nvSpPr>
        <p:spPr>
          <a:xfrm>
            <a:off x="457200" y="3566160"/>
            <a:ext cx="4754880" cy="54864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buNone/>
            </a:pP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初始空闲栈顶依次是 0, 1, 2；归还 0 后空闲栈是 0, 2；再申请 C </a:t>
            </a:r>
            <a:r>
              <a:rPr lang="en-US" sz="11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复用 0</a:t>
            </a: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</a:t>
            </a:r>
            <a:endParaRPr lang="en-US" sz="1150" dirty="0"/>
          </a:p>
        </p:txBody>
      </p:sp>
      <p:sp>
        <p:nvSpPr>
          <p:cNvPr id="9" name="Shape 6"/>
          <p:cNvSpPr/>
          <p:nvPr/>
        </p:nvSpPr>
        <p:spPr>
          <a:xfrm>
            <a:off x="5440680" y="1005840"/>
            <a:ext cx="3246120" cy="2011680"/>
          </a:xfrm>
          <a:prstGeom prst="roundRect">
            <a:avLst>
              <a:gd name="adj" fmla="val 3636"/>
            </a:avLst>
          </a:prstGeom>
          <a:solidFill>
            <a:srgbClr val="FFF6E0"/>
          </a:solidFill>
          <a:ln/>
        </p:spPr>
      </p:sp>
      <p:sp>
        <p:nvSpPr>
          <p:cNvPr id="10" name="Text 7"/>
          <p:cNvSpPr txBox="1"/>
          <p:nvPr/>
        </p:nvSpPr>
        <p:spPr>
          <a:xfrm>
            <a:off x="5577840" y="1097280"/>
            <a:ext cx="2971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旧句柄 0 已经失效</a:t>
            </a:r>
            <a:endParaRPr lang="en-US" sz="1200" dirty="0"/>
          </a:p>
        </p:txBody>
      </p:sp>
      <p:sp>
        <p:nvSpPr>
          <p:cNvPr id="11" name="Text 8"/>
          <p:cNvSpPr txBox="1"/>
          <p:nvPr/>
        </p:nvSpPr>
        <p:spPr>
          <a:xfrm>
            <a:off x="5577840" y="1389888"/>
            <a:ext cx="297180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数值 0 后来又出现，却代表</a:t>
            </a:r>
            <a:r>
              <a:rPr lang="en-US" sz="10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新的占用期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。真实系统要识别「拿旧句柄误访问新对象」，还会在句柄里加</a:t>
            </a:r>
            <a:r>
              <a:rPr lang="en-US" sz="10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代数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（generation）；本节的简化池只保证空闲槽不可读、重复释放会失败。</a:t>
            </a:r>
            <a:endParaRPr lang="en-US" sz="1050" dirty="0"/>
          </a:p>
        </p:txBody>
      </p:sp>
      <p:sp>
        <p:nvSpPr>
          <p:cNvPr id="12" name="Shape 9"/>
          <p:cNvSpPr/>
          <p:nvPr/>
        </p:nvSpPr>
        <p:spPr>
          <a:xfrm>
            <a:off x="5440680" y="3154680"/>
            <a:ext cx="3246120" cy="1508760"/>
          </a:xfrm>
          <a:prstGeom prst="roundRect">
            <a:avLst>
              <a:gd name="adj" fmla="val 4848"/>
            </a:avLst>
          </a:prstGeom>
          <a:solidFill>
            <a:srgbClr val="FDF0EE"/>
          </a:solidFill>
          <a:ln/>
        </p:spPr>
      </p:sp>
      <p:sp>
        <p:nvSpPr>
          <p:cNvPr id="13" name="Text 10"/>
          <p:cNvSpPr txBox="1"/>
          <p:nvPr/>
        </p:nvSpPr>
        <p:spPr>
          <a:xfrm>
            <a:off x="5577840" y="3246120"/>
            <a:ext cx="2971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C039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release 为什么要先查占用</a:t>
            </a:r>
            <a:endParaRPr lang="en-US" sz="1200" dirty="0"/>
          </a:p>
        </p:txBody>
      </p:sp>
      <p:sp>
        <p:nvSpPr>
          <p:cNvPr id="14" name="Text 11"/>
          <p:cNvSpPr txBox="1"/>
          <p:nvPr/>
        </p:nvSpPr>
        <p:spPr>
          <a:xfrm>
            <a:off x="5577840" y="3538728"/>
            <a:ext cx="297180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若不确认槽位处于占用状态，</a:t>
            </a:r>
            <a:r>
              <a:rPr lang="en-US" sz="10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重复归还 0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会让空闲栈出现两个 0，接下来的两次申请就会拿到</a:t>
            </a:r>
            <a:r>
              <a:rPr lang="en-US" sz="10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同一个槽 0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</a:t>
            </a:r>
            <a:endParaRPr lang="en-US" sz="105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12.2</a:t>
            </a:r>
            <a:endParaRPr lang="en-US" sz="9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12.2.2 可利用空间表 · code/ch12/optimal_bst（上）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ReusableNodePool：构造与 acquire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25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457200" y="960120"/>
            <a:ext cx="5669280" cy="3017520"/>
          </a:xfrm>
          <a:prstGeom prst="roundRect">
            <a:avLst>
              <a:gd name="adj" fmla="val 2424"/>
            </a:avLst>
          </a:prstGeom>
          <a:solidFill>
            <a:srgbClr val="F1F4F2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530352" y="1005840"/>
            <a:ext cx="5522976" cy="292608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template &lt;typename T&gt;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class ReusableNodePool {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public: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explicit ReusableNodePool(std::size_t capacity) : slots_(capacity) {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for (std::size_t index = 0; index &lt; capacity; ++index) {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free_.push_back(capacity - index - 1);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}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}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[[nodiscard]] std::optional&lt;std::size_t&gt; acquire(const T&amp; value) {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if (free_.empty()) {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return std::nullopt;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}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const std::size_t index = free_.back();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free_.pop_back();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slots_[index] = value;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return index;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}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r>
              <a:rPr lang="en-US" sz="90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...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6355080" y="960120"/>
            <a:ext cx="2331720" cy="1600200"/>
          </a:xfrm>
          <a:prstGeom prst="roundRect">
            <a:avLst>
              <a:gd name="adj" fmla="val 4571"/>
            </a:avLst>
          </a:prstGeom>
          <a:solidFill>
            <a:srgbClr val="F1F4F2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6492240" y="1024128"/>
            <a:ext cx="2103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两个数据成员</a:t>
            </a:r>
            <a:endParaRPr lang="en-US" sz="1200" dirty="0"/>
          </a:p>
        </p:txBody>
      </p:sp>
      <p:sp>
        <p:nvSpPr>
          <p:cNvPr id="11" name="Text 9"/>
          <p:cNvSpPr txBox="1"/>
          <p:nvPr/>
        </p:nvSpPr>
        <p:spPr>
          <a:xfrm>
            <a:off x="6492240" y="1325880"/>
            <a:ext cx="21488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vector&lt;optional&lt;T&gt;&gt; slots_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槽位：有值 = 占用</a:t>
            </a:r>
            <a:endParaRPr lang="en-US" sz="950" dirty="0"/>
          </a:p>
          <a:p>
            <a:pPr indent="0" marL="0">
              <a:buNone/>
            </a:pPr>
            <a:r>
              <a:rPr lang="en-US" sz="9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vector&lt;size_t&gt; free_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空闲栈：存空槽下标</a:t>
            </a:r>
            <a:endParaRPr lang="en-US" sz="950" dirty="0"/>
          </a:p>
        </p:txBody>
      </p:sp>
      <p:sp>
        <p:nvSpPr>
          <p:cNvPr id="12" name="Shape 10"/>
          <p:cNvSpPr/>
          <p:nvPr/>
        </p:nvSpPr>
        <p:spPr>
          <a:xfrm>
            <a:off x="6355080" y="2697480"/>
            <a:ext cx="2331720" cy="1965960"/>
          </a:xfrm>
          <a:prstGeom prst="roundRect">
            <a:avLst>
              <a:gd name="adj" fmla="val 3721"/>
            </a:avLst>
          </a:prstGeom>
          <a:solidFill>
            <a:srgbClr val="FFF6E0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6492240" y="2788920"/>
            <a:ext cx="2057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下标从大到小入栈</a:t>
            </a:r>
            <a:endParaRPr lang="en-US" sz="1200" dirty="0"/>
          </a:p>
        </p:txBody>
      </p:sp>
      <p:sp>
        <p:nvSpPr>
          <p:cNvPr id="14" name="Text 12"/>
          <p:cNvSpPr txBox="1"/>
          <p:nvPr/>
        </p:nvSpPr>
        <p:spPr>
          <a:xfrm>
            <a:off x="6492240" y="3081528"/>
            <a:ext cx="2057400" cy="1508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构造时压入 </a:t>
            </a:r>
            <a:r>
              <a:rPr lang="en-US" sz="10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capacity-1, …, 1, 0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，栈顶是 0 → </a:t>
            </a:r>
            <a:r>
              <a:rPr lang="en-US" sz="10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第一次 acquire 拿到 0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，与演示输出「申请到槽 0 和 1」一致。</a:t>
            </a:r>
            <a:endParaRPr lang="en-US" sz="1050" dirty="0"/>
          </a:p>
        </p:txBody>
      </p:sp>
      <p:sp>
        <p:nvSpPr>
          <p:cNvPr id="15" name="Text 13"/>
          <p:cNvSpPr txBox="1"/>
          <p:nvPr/>
        </p:nvSpPr>
        <p:spPr>
          <a:xfrm>
            <a:off x="457200" y="4114800"/>
            <a:ext cx="5669280" cy="36576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buNone/>
            </a:pP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耗尽返回 </a:t>
            </a:r>
            <a:r>
              <a:rPr lang="en-US" sz="11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nullopt</a:t>
            </a: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——</a:t>
            </a:r>
            <a:r>
              <a:rPr lang="en-US" sz="11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可预期的状态</a:t>
            </a: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，不是异常。</a:t>
            </a:r>
            <a:endParaRPr lang="en-US" sz="115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12.2</a:t>
            </a:r>
            <a:endParaRPr lang="en-US" sz="9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12.2.2 可利用空间表 · code/ch12/optimal_bst（下）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release / get：先确认占用，再归还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26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457200" y="960120"/>
            <a:ext cx="5852160" cy="3703320"/>
          </a:xfrm>
          <a:prstGeom prst="roundRect">
            <a:avLst>
              <a:gd name="adj" fmla="val 1975"/>
            </a:avLst>
          </a:prstGeom>
          <a:solidFill>
            <a:srgbClr val="F1F4F2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530352" y="1005840"/>
            <a:ext cx="5705856" cy="361188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8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r>
              <a:rPr lang="en-US" sz="80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...</a:t>
            </a:r>
            <a:endParaRPr lang="en-US" sz="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bool release(std::size_t index) {</a:t>
            </a:r>
            <a:endParaRPr lang="en-US" sz="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if (index &gt;= slots_.size() || !slots_[index]) {</a:t>
            </a:r>
            <a:endParaRPr lang="en-US" sz="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return false;</a:t>
            </a:r>
            <a:endParaRPr lang="en-US" sz="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}</a:t>
            </a:r>
            <a:endParaRPr lang="en-US" sz="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slots_[index].reset();</a:t>
            </a:r>
            <a:endParaRPr lang="en-US" sz="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free_.push_back(index);</a:t>
            </a:r>
            <a:endParaRPr lang="en-US" sz="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return true;</a:t>
            </a:r>
            <a:endParaRPr lang="en-US" sz="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}</a:t>
            </a:r>
            <a:endParaRPr lang="en-US" sz="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endParaRPr lang="en-US" sz="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[[nodiscard]] const T* get(std::size_t index) const noexcept {</a:t>
            </a:r>
            <a:endParaRPr lang="en-US" sz="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if (index &gt;= slots_.size() || !slots_[index]) {</a:t>
            </a:r>
            <a:endParaRPr lang="en-US" sz="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return nullptr;</a:t>
            </a:r>
            <a:endParaRPr lang="en-US" sz="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}</a:t>
            </a:r>
            <a:endParaRPr lang="en-US" sz="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return &amp;*slots_[index];</a:t>
            </a:r>
            <a:endParaRPr lang="en-US" sz="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}</a:t>
            </a:r>
            <a:endParaRPr lang="en-US" sz="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endParaRPr lang="en-US" sz="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[[nodiscard]] std::size_t available() const noexcept { return free_.size(); }</a:t>
            </a:r>
            <a:endParaRPr lang="en-US" sz="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endParaRPr lang="en-US" sz="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private:</a:t>
            </a:r>
            <a:endParaRPr lang="en-US" sz="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std::vector&lt;std::optional&lt;T&gt;&gt; slots_;</a:t>
            </a:r>
            <a:endParaRPr lang="en-US" sz="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std::vector&lt;std::size_t&gt; free_;</a:t>
            </a:r>
            <a:endParaRPr lang="en-US" sz="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};</a:t>
            </a:r>
            <a:endParaRPr lang="en-US" sz="800" dirty="0"/>
          </a:p>
        </p:txBody>
      </p:sp>
      <p:sp>
        <p:nvSpPr>
          <p:cNvPr id="9" name="Shape 7"/>
          <p:cNvSpPr/>
          <p:nvPr/>
        </p:nvSpPr>
        <p:spPr>
          <a:xfrm>
            <a:off x="6492240" y="960120"/>
            <a:ext cx="2194560" cy="2194560"/>
          </a:xfrm>
          <a:prstGeom prst="roundRect">
            <a:avLst>
              <a:gd name="adj" fmla="val 3333"/>
            </a:avLst>
          </a:prstGeom>
          <a:solidFill>
            <a:srgbClr val="FFF6E0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6629400" y="1051560"/>
            <a:ext cx="1920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release 的两道闸</a:t>
            </a:r>
            <a:endParaRPr lang="en-US" sz="1200" dirty="0"/>
          </a:p>
        </p:txBody>
      </p:sp>
      <p:sp>
        <p:nvSpPr>
          <p:cNvPr id="11" name="Text 9"/>
          <p:cNvSpPr txBox="1"/>
          <p:nvPr/>
        </p:nvSpPr>
        <p:spPr>
          <a:xfrm>
            <a:off x="6601968" y="1344168"/>
            <a:ext cx="1975104" cy="173736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marL="177800" indent="-177800">
              <a:spcAft>
                <a:spcPts val="400"/>
              </a:spcAft>
              <a:buSzPct val="100000"/>
              <a:buChar char="•"/>
            </a:pPr>
            <a:r>
              <a:rPr lang="en-US" sz="10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越界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：</a:t>
            </a:r>
            <a:r>
              <a:rPr lang="en-US" sz="10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index &gt;= slots_.size()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→ </a:t>
            </a:r>
            <a:r>
              <a:rPr lang="en-US" sz="10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false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</a:t>
            </a:r>
            <a:endParaRPr lang="en-US" sz="1050" dirty="0"/>
          </a:p>
          <a:p>
            <a:pPr marL="177800" indent="-177800">
              <a:spcAft>
                <a:spcPts val="400"/>
              </a:spcAft>
              <a:buSzPct val="100000"/>
              <a:buChar char="•"/>
            </a:pPr>
            <a:r>
              <a:rPr lang="en-US" sz="10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重复归还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：槽已空 </a:t>
            </a:r>
            <a:r>
              <a:rPr lang="en-US" sz="10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!slots_[index]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→ </a:t>
            </a:r>
            <a:r>
              <a:rPr lang="en-US" sz="10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false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</a:t>
            </a:r>
            <a:endParaRPr lang="en-US" sz="1050" dirty="0"/>
          </a:p>
          <a:p>
            <a:pPr marL="177800" indent="-177800">
              <a:spcAft>
                <a:spcPts val="400"/>
              </a:spcAft>
              <a:buSzPct val="100000"/>
              <a:buChar char="•"/>
            </a:pP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通过后 </a:t>
            </a:r>
            <a:r>
              <a:rPr lang="en-US" sz="10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reset()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清空槽，再推回空闲栈。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6492240" y="3291840"/>
            <a:ext cx="2194560" cy="1371600"/>
          </a:xfrm>
          <a:prstGeom prst="roundRect">
            <a:avLst>
              <a:gd name="adj" fmla="val 5333"/>
            </a:avLst>
          </a:prstGeom>
          <a:solidFill>
            <a:srgbClr val="CFE0D8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6629400" y="3383280"/>
            <a:ext cx="1920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get 对空槽给空指针</a:t>
            </a:r>
            <a:endParaRPr lang="en-US" sz="1200" dirty="0"/>
          </a:p>
        </p:txBody>
      </p:sp>
      <p:sp>
        <p:nvSpPr>
          <p:cNvPr id="14" name="Text 12"/>
          <p:cNvSpPr txBox="1"/>
          <p:nvPr/>
        </p:nvSpPr>
        <p:spPr>
          <a:xfrm>
            <a:off x="6629400" y="3675888"/>
            <a:ext cx="19202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释放后的下标</a:t>
            </a:r>
            <a:r>
              <a:rPr lang="en-US" sz="10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不可读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：</a:t>
            </a:r>
            <a:r>
              <a:rPr lang="en-US" sz="10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get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返回 </a:t>
            </a:r>
            <a:r>
              <a:rPr lang="en-US" sz="10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nullptr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，而不是读到上一轮留下的旧值。</a:t>
            </a:r>
            <a:endParaRPr lang="en-US" sz="105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12.2</a:t>
            </a:r>
            <a:endParaRPr lang="en-US" sz="9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12.2.3 顺序适配（sequential fit）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首先 / 最佳 / 最差适配：只在「挑哪一块」这一步不同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27</a:t>
            </a:r>
            <a:endParaRPr lang="en-US" sz="900" dirty="0"/>
          </a:p>
        </p:txBody>
      </p:sp>
      <p:sp>
        <p:nvSpPr>
          <p:cNvPr id="7" name="Text 5"/>
          <p:cNvSpPr txBox="1"/>
          <p:nvPr/>
        </p:nvSpPr>
        <p:spPr>
          <a:xfrm>
            <a:off x="457200" y="914400"/>
            <a:ext cx="8229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变长空闲块自带</a:t>
            </a:r>
            <a:r>
              <a:rPr lang="en-US" sz="10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标记位、块长度、双链指针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，空闲表不再是栈。分配 N 时找一块 K ≥ N：整块给出，多余的浪费在块内（</a:t>
            </a:r>
            <a:r>
              <a:rPr lang="en-US" sz="10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内部碎片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）；切出 N、剩 K − N 另成空闲块，长期运行留下一堆用不上的小块（</a:t>
            </a:r>
            <a:r>
              <a:rPr lang="en-US" sz="10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外部碎片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）。</a:t>
            </a:r>
            <a:endParaRPr lang="en-US" sz="1050" dirty="0"/>
          </a:p>
        </p:txBody>
      </p:sp>
      <p:sp>
        <p:nvSpPr>
          <p:cNvPr id="8" name="Shape 6"/>
          <p:cNvSpPr/>
          <p:nvPr/>
        </p:nvSpPr>
        <p:spPr>
          <a:xfrm>
            <a:off x="457200" y="1554480"/>
            <a:ext cx="2606040" cy="3108960"/>
          </a:xfrm>
          <a:prstGeom prst="roundRect">
            <a:avLst>
              <a:gd name="adj" fmla="val 2807"/>
            </a:avLst>
          </a:prstGeom>
          <a:solidFill>
            <a:srgbClr val="F1F4F2"/>
          </a:solidFill>
          <a:ln/>
        </p:spPr>
      </p:sp>
      <p:sp>
        <p:nvSpPr>
          <p:cNvPr id="9" name="Shape 7"/>
          <p:cNvSpPr/>
          <p:nvPr/>
        </p:nvSpPr>
        <p:spPr>
          <a:xfrm>
            <a:off x="594360" y="1645920"/>
            <a:ext cx="365760" cy="365760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594360" y="164592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</a:t>
            </a:r>
            <a:endParaRPr lang="en-US" sz="1200" dirty="0"/>
          </a:p>
        </p:txBody>
      </p:sp>
      <p:sp>
        <p:nvSpPr>
          <p:cNvPr id="11" name="Text 9"/>
          <p:cNvSpPr txBox="1"/>
          <p:nvPr/>
        </p:nvSpPr>
        <p:spPr>
          <a:xfrm>
            <a:off x="1051560" y="1645920"/>
            <a:ext cx="1965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首先适配 First fit</a:t>
            </a:r>
            <a:endParaRPr lang="en-US" sz="1250" dirty="0"/>
          </a:p>
        </p:txBody>
      </p:sp>
      <p:sp>
        <p:nvSpPr>
          <p:cNvPr id="12" name="Text 10"/>
          <p:cNvSpPr txBox="1"/>
          <p:nvPr/>
        </p:nvSpPr>
        <p:spPr>
          <a:xfrm>
            <a:off x="621792" y="2103120"/>
            <a:ext cx="22860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从表头顺次搜索，</a:t>
            </a:r>
            <a:r>
              <a:rPr lang="en-US" sz="11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第一块</a:t>
            </a: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≥ 请求的就分配。</a:t>
            </a:r>
            <a:endParaRPr lang="en-US" sz="1150" dirty="0"/>
          </a:p>
        </p:txBody>
      </p:sp>
      <p:sp>
        <p:nvSpPr>
          <p:cNvPr id="13" name="Text 11"/>
          <p:cNvSpPr txBox="1"/>
          <p:nvPr/>
        </p:nvSpPr>
        <p:spPr>
          <a:xfrm>
            <a:off x="621792" y="2743200"/>
            <a:ext cx="228600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改进：记住上次搜到的位置，从那里接着搜，到表尾再绕回表头（今天叫 </a:t>
            </a:r>
            <a:r>
              <a:rPr lang="en-US" sz="1000" b="1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next fit</a:t>
            </a:r>
            <a:r>
              <a:rPr lang="en-US" sz="10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）。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566928" y="3749040"/>
            <a:ext cx="2386584" cy="822960"/>
          </a:xfrm>
          <a:prstGeom prst="roundRect">
            <a:avLst>
              <a:gd name="adj" fmla="val 8889"/>
            </a:avLst>
          </a:prstGeom>
          <a:solidFill>
            <a:srgbClr val="FFF6E0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658368" y="3776472"/>
            <a:ext cx="2212848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速度快；但可能把大块拆小，后来难以满足大请求。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3246120" y="1554480"/>
            <a:ext cx="2606040" cy="3108960"/>
          </a:xfrm>
          <a:prstGeom prst="roundRect">
            <a:avLst>
              <a:gd name="adj" fmla="val 2807"/>
            </a:avLst>
          </a:prstGeom>
          <a:solidFill>
            <a:srgbClr val="F1F4F2"/>
          </a:solidFill>
          <a:ln/>
        </p:spPr>
      </p:sp>
      <p:sp>
        <p:nvSpPr>
          <p:cNvPr id="17" name="Shape 15"/>
          <p:cNvSpPr/>
          <p:nvPr/>
        </p:nvSpPr>
        <p:spPr>
          <a:xfrm>
            <a:off x="3383280" y="1645920"/>
            <a:ext cx="365760" cy="365760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18" name="Text 16"/>
          <p:cNvSpPr txBox="1"/>
          <p:nvPr/>
        </p:nvSpPr>
        <p:spPr>
          <a:xfrm>
            <a:off x="3383280" y="164592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</a:t>
            </a:r>
            <a:endParaRPr lang="en-US" sz="1200" dirty="0"/>
          </a:p>
        </p:txBody>
      </p:sp>
      <p:sp>
        <p:nvSpPr>
          <p:cNvPr id="19" name="Text 17"/>
          <p:cNvSpPr txBox="1"/>
          <p:nvPr/>
        </p:nvSpPr>
        <p:spPr>
          <a:xfrm>
            <a:off x="3840480" y="1645920"/>
            <a:ext cx="1965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最佳适配 Best fit</a:t>
            </a:r>
            <a:endParaRPr lang="en-US" sz="1250" dirty="0"/>
          </a:p>
        </p:txBody>
      </p:sp>
      <p:sp>
        <p:nvSpPr>
          <p:cNvPr id="20" name="Text 18"/>
          <p:cNvSpPr txBox="1"/>
          <p:nvPr/>
        </p:nvSpPr>
        <p:spPr>
          <a:xfrm>
            <a:off x="3410712" y="2103120"/>
            <a:ext cx="22860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在所有 ≥ 请求的块中挑</a:t>
            </a:r>
            <a:r>
              <a:rPr lang="en-US" sz="11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最小</a:t>
            </a: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的一块。</a:t>
            </a:r>
            <a:endParaRPr lang="en-US" sz="1150" dirty="0"/>
          </a:p>
        </p:txBody>
      </p:sp>
      <p:sp>
        <p:nvSpPr>
          <p:cNvPr id="21" name="Text 19"/>
          <p:cNvSpPr txBox="1"/>
          <p:nvPr/>
        </p:nvSpPr>
        <p:spPr>
          <a:xfrm>
            <a:off x="3410712" y="2743200"/>
            <a:ext cx="228600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实现：扫整个无序表；或把空闲块</a:t>
            </a:r>
            <a:r>
              <a:rPr lang="en-US" sz="1000" b="1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从小到大</a:t>
            </a:r>
            <a:r>
              <a:rPr lang="en-US" sz="10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排成优先队列，只需从表头往后看。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3355848" y="3749040"/>
            <a:ext cx="2386584" cy="822960"/>
          </a:xfrm>
          <a:prstGeom prst="roundRect">
            <a:avLst>
              <a:gd name="adj" fmla="val 8889"/>
            </a:avLst>
          </a:prstGeom>
          <a:solidFill>
            <a:srgbClr val="FFF6E0"/>
          </a:solidFill>
          <a:ln/>
        </p:spPr>
      </p:sp>
      <p:sp>
        <p:nvSpPr>
          <p:cNvPr id="23" name="Text 21"/>
          <p:cNvSpPr txBox="1"/>
          <p:nvPr/>
        </p:nvSpPr>
        <p:spPr>
          <a:xfrm>
            <a:off x="3447288" y="3776472"/>
            <a:ext cx="2212848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大请求无法满足的可能性最低；但剩下的碎片</a:t>
            </a:r>
            <a:r>
              <a:rPr lang="en-US" sz="10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非常小</a:t>
            </a: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，外部碎片可能很严重。</a:t>
            </a:r>
            <a:endParaRPr lang="en-US" sz="1000" dirty="0"/>
          </a:p>
        </p:txBody>
      </p:sp>
      <p:sp>
        <p:nvSpPr>
          <p:cNvPr id="24" name="Shape 22"/>
          <p:cNvSpPr/>
          <p:nvPr/>
        </p:nvSpPr>
        <p:spPr>
          <a:xfrm>
            <a:off x="6035040" y="1554480"/>
            <a:ext cx="2606040" cy="3108960"/>
          </a:xfrm>
          <a:prstGeom prst="roundRect">
            <a:avLst>
              <a:gd name="adj" fmla="val 2807"/>
            </a:avLst>
          </a:prstGeom>
          <a:solidFill>
            <a:srgbClr val="F1F4F2"/>
          </a:solidFill>
          <a:ln/>
        </p:spPr>
      </p:sp>
      <p:sp>
        <p:nvSpPr>
          <p:cNvPr id="25" name="Shape 23"/>
          <p:cNvSpPr/>
          <p:nvPr/>
        </p:nvSpPr>
        <p:spPr>
          <a:xfrm>
            <a:off x="6172200" y="1645920"/>
            <a:ext cx="365760" cy="365760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26" name="Text 24"/>
          <p:cNvSpPr txBox="1"/>
          <p:nvPr/>
        </p:nvSpPr>
        <p:spPr>
          <a:xfrm>
            <a:off x="6172200" y="164592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</a:t>
            </a:r>
            <a:endParaRPr lang="en-US" sz="1200" dirty="0"/>
          </a:p>
        </p:txBody>
      </p:sp>
      <p:sp>
        <p:nvSpPr>
          <p:cNvPr id="27" name="Text 25"/>
          <p:cNvSpPr txBox="1"/>
          <p:nvPr/>
        </p:nvSpPr>
        <p:spPr>
          <a:xfrm>
            <a:off x="6629400" y="1645920"/>
            <a:ext cx="1965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最差适配 Worst fit</a:t>
            </a:r>
            <a:endParaRPr lang="en-US" sz="1250" dirty="0"/>
          </a:p>
        </p:txBody>
      </p:sp>
      <p:sp>
        <p:nvSpPr>
          <p:cNvPr id="28" name="Text 26"/>
          <p:cNvSpPr txBox="1"/>
          <p:nvPr/>
        </p:nvSpPr>
        <p:spPr>
          <a:xfrm>
            <a:off x="6199632" y="2103120"/>
            <a:ext cx="22860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每次分配当前</a:t>
            </a:r>
            <a:r>
              <a:rPr lang="en-US" sz="11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最大</a:t>
            </a: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的块。</a:t>
            </a:r>
            <a:endParaRPr lang="en-US" sz="1150" dirty="0"/>
          </a:p>
        </p:txBody>
      </p:sp>
      <p:sp>
        <p:nvSpPr>
          <p:cNvPr id="29" name="Text 27"/>
          <p:cNvSpPr txBox="1"/>
          <p:nvPr/>
        </p:nvSpPr>
        <p:spPr>
          <a:xfrm>
            <a:off x="6199632" y="2743200"/>
            <a:ext cx="228600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指望剩下的部分还大到能再用一次。</a:t>
            </a:r>
            <a:endParaRPr lang="en-US" sz="1000" dirty="0"/>
          </a:p>
        </p:txBody>
      </p:sp>
      <p:sp>
        <p:nvSpPr>
          <p:cNvPr id="30" name="Shape 28"/>
          <p:cNvSpPr/>
          <p:nvPr/>
        </p:nvSpPr>
        <p:spPr>
          <a:xfrm>
            <a:off x="6144768" y="3749040"/>
            <a:ext cx="2386584" cy="822960"/>
          </a:xfrm>
          <a:prstGeom prst="roundRect">
            <a:avLst>
              <a:gd name="adj" fmla="val 8889"/>
            </a:avLst>
          </a:prstGeom>
          <a:solidFill>
            <a:srgbClr val="FFF6E0"/>
          </a:solidFill>
          <a:ln/>
        </p:spPr>
      </p:sp>
      <p:sp>
        <p:nvSpPr>
          <p:cNvPr id="31" name="Text 29"/>
          <p:cNvSpPr txBox="1"/>
          <p:nvPr/>
        </p:nvSpPr>
        <p:spPr>
          <a:xfrm>
            <a:off x="6236208" y="3776472"/>
            <a:ext cx="2212848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剩下的还能再分；但大块很快被拆光。</a:t>
            </a:r>
            <a:endParaRPr lang="en-US" sz="100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12.2</a:t>
            </a:r>
            <a:endParaRPr lang="en-US" sz="9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12.2.3 顺序适配 · 例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空闲区 500、200、300、600，请求 212 字节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28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731520" y="1234440"/>
            <a:ext cx="1097280" cy="457200"/>
          </a:xfrm>
          <a:prstGeom prst="rect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731520" y="1234440"/>
            <a:ext cx="1097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500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1828800" y="1234440"/>
            <a:ext cx="274320" cy="457200"/>
          </a:xfrm>
          <a:prstGeom prst="rect">
            <a:avLst/>
          </a:prstGeom>
          <a:solidFill>
            <a:srgbClr val="9AAAA3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2103120" y="1234440"/>
            <a:ext cx="548640" cy="457200"/>
          </a:xfrm>
          <a:prstGeom prst="rect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2103120" y="1234440"/>
            <a:ext cx="548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200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2651760" y="1234440"/>
            <a:ext cx="274320" cy="457200"/>
          </a:xfrm>
          <a:prstGeom prst="rect">
            <a:avLst/>
          </a:prstGeom>
          <a:solidFill>
            <a:srgbClr val="9AAAA3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2926080" y="1234440"/>
            <a:ext cx="731520" cy="457200"/>
          </a:xfrm>
          <a:prstGeom prst="rect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2926080" y="1234440"/>
            <a:ext cx="731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300</a:t>
            </a:r>
            <a:endParaRPr lang="en-US" sz="1300" dirty="0"/>
          </a:p>
        </p:txBody>
      </p:sp>
      <p:sp>
        <p:nvSpPr>
          <p:cNvPr id="15" name="Shape 13"/>
          <p:cNvSpPr/>
          <p:nvPr/>
        </p:nvSpPr>
        <p:spPr>
          <a:xfrm>
            <a:off x="3657600" y="1234440"/>
            <a:ext cx="274320" cy="457200"/>
          </a:xfrm>
          <a:prstGeom prst="rect">
            <a:avLst/>
          </a:prstGeom>
          <a:solidFill>
            <a:srgbClr val="9AAAA3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3931920" y="1234440"/>
            <a:ext cx="1280160" cy="457200"/>
          </a:xfrm>
          <a:prstGeom prst="rect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3931920" y="1234440"/>
            <a:ext cx="1280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600</a:t>
            </a:r>
            <a:endParaRPr lang="en-US" sz="1300" dirty="0"/>
          </a:p>
        </p:txBody>
      </p:sp>
      <p:sp>
        <p:nvSpPr>
          <p:cNvPr id="18" name="Text 16"/>
          <p:cNvSpPr txBox="1"/>
          <p:nvPr/>
        </p:nvSpPr>
        <p:spPr>
          <a:xfrm>
            <a:off x="5394960" y="1280160"/>
            <a:ext cx="3291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灰色是已分配块，把空闲区隔开，所以不会合并</a:t>
            </a:r>
            <a:endParaRPr lang="en-US" sz="1000" dirty="0"/>
          </a:p>
        </p:txBody>
      </p:sp>
      <p:sp>
        <p:nvSpPr>
          <p:cNvPr id="19" name="Text 17"/>
          <p:cNvSpPr txBox="1"/>
          <p:nvPr/>
        </p:nvSpPr>
        <p:spPr>
          <a:xfrm>
            <a:off x="822960" y="850392"/>
            <a:ext cx="914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首次</a:t>
            </a:r>
            <a:endParaRPr lang="en-US" sz="900" dirty="0"/>
          </a:p>
        </p:txBody>
      </p:sp>
      <p:sp>
        <p:nvSpPr>
          <p:cNvPr id="20" name="Shape 18"/>
          <p:cNvSpPr/>
          <p:nvPr/>
        </p:nvSpPr>
        <p:spPr>
          <a:xfrm>
            <a:off x="1280160" y="1051560"/>
            <a:ext cx="0" cy="164592"/>
          </a:xfrm>
          <a:prstGeom prst="line">
            <a:avLst/>
          </a:prstGeom>
          <a:noFill/>
          <a:ln w="19050">
            <a:solidFill>
              <a:srgbClr val="3E7C68"/>
            </a:solidFill>
            <a:prstDash val="solid"/>
            <a:tailEnd type="triangle"/>
          </a:ln>
        </p:spPr>
      </p:sp>
      <p:sp>
        <p:nvSpPr>
          <p:cNvPr id="21" name="Text 19"/>
          <p:cNvSpPr txBox="1"/>
          <p:nvPr/>
        </p:nvSpPr>
        <p:spPr>
          <a:xfrm>
            <a:off x="2834640" y="850392"/>
            <a:ext cx="914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最佳</a:t>
            </a:r>
            <a:endParaRPr lang="en-US" sz="900" dirty="0"/>
          </a:p>
        </p:txBody>
      </p:sp>
      <p:sp>
        <p:nvSpPr>
          <p:cNvPr id="22" name="Shape 20"/>
          <p:cNvSpPr/>
          <p:nvPr/>
        </p:nvSpPr>
        <p:spPr>
          <a:xfrm>
            <a:off x="3291840" y="1051560"/>
            <a:ext cx="0" cy="164592"/>
          </a:xfrm>
          <a:prstGeom prst="line">
            <a:avLst/>
          </a:prstGeom>
          <a:noFill/>
          <a:ln w="19050">
            <a:solidFill>
              <a:srgbClr val="A06A00"/>
            </a:solidFill>
            <a:prstDash val="solid"/>
            <a:tailEnd type="triangle"/>
          </a:ln>
        </p:spPr>
      </p:sp>
      <p:sp>
        <p:nvSpPr>
          <p:cNvPr id="23" name="Text 21"/>
          <p:cNvSpPr txBox="1"/>
          <p:nvPr/>
        </p:nvSpPr>
        <p:spPr>
          <a:xfrm>
            <a:off x="4114800" y="850392"/>
            <a:ext cx="914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C039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最坏</a:t>
            </a:r>
            <a:endParaRPr lang="en-US" sz="900" dirty="0"/>
          </a:p>
        </p:txBody>
      </p:sp>
      <p:sp>
        <p:nvSpPr>
          <p:cNvPr id="24" name="Shape 22"/>
          <p:cNvSpPr/>
          <p:nvPr/>
        </p:nvSpPr>
        <p:spPr>
          <a:xfrm>
            <a:off x="4572000" y="1051560"/>
            <a:ext cx="0" cy="164592"/>
          </a:xfrm>
          <a:prstGeom prst="line">
            <a:avLst/>
          </a:prstGeom>
          <a:noFill/>
          <a:ln w="19050">
            <a:solidFill>
              <a:srgbClr val="C0392B"/>
            </a:solidFill>
            <a:prstDash val="solid"/>
            <a:tailEnd type="triangle"/>
          </a:ln>
        </p:spPr>
      </p:sp>
      <p:graphicFrame>
        <p:nvGraphicFramePr>
          <p:cNvPr id="2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965960"/>
          <a:ext cx="8229600" cy="914400"/>
        </p:xfrm>
        <a:graphic>
          <a:graphicData uri="http://schemas.openxmlformats.org/drawingml/2006/table">
            <a:tbl>
              <a:tblPr/>
              <a:tblGrid>
                <a:gridCol w="1188720"/>
                <a:gridCol w="1097280"/>
                <a:gridCol w="1188720"/>
                <a:gridCol w="4754880"/>
              </a:tblGrid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策略</a:t>
                      </a:r>
                      <a:endParaRPr lang="en-US" sz="11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挑中</a:t>
                      </a:r>
                      <a:endParaRPr lang="en-US" sz="11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剩下的碎片</a:t>
                      </a:r>
                      <a:endParaRPr lang="en-US" sz="11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代价</a:t>
                      </a:r>
                      <a:endParaRPr lang="en-US" sz="11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b="1" dirty="0">
                          <a:solidFill>
                            <a:srgbClr val="3E7C68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首次适应</a:t>
                      </a:r>
                      <a:endParaRPr lang="en-US" sz="11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500 那块</a:t>
                      </a:r>
                      <a:endParaRPr lang="en-US" sz="11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288</a:t>
                      </a:r>
                      <a:endParaRPr lang="en-US" sz="11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找到就停，扫得最少；小碎片在低地址堆积</a:t>
                      </a:r>
                      <a:endParaRPr lang="en-US" sz="11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b="1" dirty="0">
                          <a:solidFill>
                            <a:srgbClr val="A06A00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最佳适应</a:t>
                      </a:r>
                      <a:endParaRPr lang="en-US" sz="11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300 那块</a:t>
                      </a:r>
                      <a:endParaRPr lang="en-US" sz="11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88</a:t>
                      </a:r>
                      <a:endParaRPr lang="en-US" sz="11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大块留住了，但剩下的碎片最碎、最难再用</a:t>
                      </a:r>
                      <a:endParaRPr lang="en-US" sz="11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b="1" dirty="0">
                          <a:solidFill>
                            <a:srgbClr val="C039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最坏适应</a:t>
                      </a:r>
                      <a:endParaRPr lang="en-US" sz="11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600 那块</a:t>
                      </a:r>
                      <a:endParaRPr lang="en-US" sz="11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388</a:t>
                      </a:r>
                      <a:endParaRPr lang="en-US" sz="11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剩下的还大到能再分一次；大块很快被拆光</a:t>
                      </a:r>
                      <a:endParaRPr lang="en-US" sz="11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6" name="Shape 23"/>
          <p:cNvSpPr/>
          <p:nvPr/>
        </p:nvSpPr>
        <p:spPr>
          <a:xfrm>
            <a:off x="457200" y="3657600"/>
            <a:ext cx="8229600" cy="1005840"/>
          </a:xfrm>
          <a:prstGeom prst="roundRect">
            <a:avLst>
              <a:gd name="adj" fmla="val 7273"/>
            </a:avLst>
          </a:prstGeom>
          <a:solidFill>
            <a:srgbClr val="FDF0EE"/>
          </a:solidFill>
          <a:ln/>
        </p:spPr>
      </p:sp>
      <p:sp>
        <p:nvSpPr>
          <p:cNvPr id="27" name="Text 24"/>
          <p:cNvSpPr txBox="1"/>
          <p:nvPr/>
        </p:nvSpPr>
        <p:spPr>
          <a:xfrm>
            <a:off x="594360" y="3749040"/>
            <a:ext cx="7955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C039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测试要用多块、大小不同的空闲区</a:t>
            </a:r>
            <a:endParaRPr lang="en-US" sz="1200" dirty="0"/>
          </a:p>
        </p:txBody>
      </p:sp>
      <p:sp>
        <p:nvSpPr>
          <p:cNvPr id="28" name="Text 25"/>
          <p:cNvSpPr txBox="1"/>
          <p:nvPr/>
        </p:nvSpPr>
        <p:spPr>
          <a:xfrm>
            <a:off x="594360" y="4041648"/>
            <a:ext cx="7955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只在</a:t>
            </a:r>
            <a:r>
              <a:rPr lang="en-US" sz="11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一块</a:t>
            </a: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空闲区上测，三种策略必然挑中同一块——把最佳适应和最坏适应的判据对调，测试照样全绿。</a:t>
            </a:r>
            <a:r>
              <a:rPr lang="en-US" sz="110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code/ch12/memory_allocator</a:t>
            </a: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的测试用的正是上面这组数字。</a:t>
            </a:r>
            <a:endParaRPr lang="en-US" sz="110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12.2</a:t>
            </a:r>
            <a:endParaRPr lang="en-US" sz="9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12.2.3 顺序适配 · code/ch12/memory_allocator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select：三种策略的唯一分歧点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29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457200" y="960120"/>
            <a:ext cx="5989320" cy="3703320"/>
          </a:xfrm>
          <a:prstGeom prst="roundRect">
            <a:avLst>
              <a:gd name="adj" fmla="val 1975"/>
            </a:avLst>
          </a:prstGeom>
          <a:solidFill>
            <a:srgbClr val="F1F4F2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530352" y="1005840"/>
            <a:ext cx="5843016" cy="361188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enum class Fit { First, Best, Worst };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r>
              <a:rPr lang="en-US" sz="85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/// 三种策略的唯一分歧点。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[[nodiscard]] std::optional&lt;std::size_t&gt; select(std::size_t bytes, Fit fit) {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scanned_ = 0;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std::optional&lt;std::size_t&gt; chosen;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for (std::size_t i = 0; i &lt; blocks_.size(); ++i) {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++scanned_;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if (!blocks_[i].free || blocks_[i].size &lt; bytes) {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   continue;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}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if (fit == Fit::First) {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   return i;  </a:t>
            </a:r>
            <a:r>
              <a:rPr lang="en-US" sz="85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第一块够大的就走，不再往后看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}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if (!chosen) {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   chosen = i;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} else if (fit == Fit::Best &amp;&amp; blocks_[i].size &lt; blocks_[*chosen].size) {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   chosen = i;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} else if (fit == Fit::Worst &amp;&amp; blocks_[i].size &gt; blocks_[*chosen].size) {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   chosen = i;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}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}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return chosen;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}</a:t>
            </a:r>
            <a:endParaRPr lang="en-US" sz="850" dirty="0"/>
          </a:p>
        </p:txBody>
      </p:sp>
      <p:sp>
        <p:nvSpPr>
          <p:cNvPr id="9" name="Shape 7"/>
          <p:cNvSpPr/>
          <p:nvPr/>
        </p:nvSpPr>
        <p:spPr>
          <a:xfrm>
            <a:off x="6675120" y="960120"/>
            <a:ext cx="2011680" cy="2514600"/>
          </a:xfrm>
          <a:prstGeom prst="roundRect">
            <a:avLst>
              <a:gd name="adj" fmla="val 3636"/>
            </a:avLst>
          </a:prstGeom>
          <a:solidFill>
            <a:srgbClr val="FFF6E0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6812280" y="1051560"/>
            <a:ext cx="1737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读法</a:t>
            </a:r>
            <a:endParaRPr lang="en-US" sz="1200" dirty="0"/>
          </a:p>
        </p:txBody>
      </p:sp>
      <p:sp>
        <p:nvSpPr>
          <p:cNvPr id="11" name="Text 9"/>
          <p:cNvSpPr txBox="1"/>
          <p:nvPr/>
        </p:nvSpPr>
        <p:spPr>
          <a:xfrm>
            <a:off x="6784848" y="1344168"/>
            <a:ext cx="1792224" cy="20574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marL="177800" indent="-177800">
              <a:spcAft>
                <a:spcPts val="400"/>
              </a:spcAft>
              <a:buSzPct val="100000"/>
              <a:buChar char="•"/>
            </a:pPr>
            <a:r>
              <a:rPr lang="en-US" sz="10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First</a:t>
            </a: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：命中即 </a:t>
            </a:r>
            <a:r>
              <a:rPr lang="en-US" sz="100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return</a:t>
            </a: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，后面的块不看。</a:t>
            </a:r>
            <a:endParaRPr lang="en-US" sz="1000" dirty="0"/>
          </a:p>
          <a:p>
            <a:pPr marL="177800" indent="-177800">
              <a:spcAft>
                <a:spcPts val="400"/>
              </a:spcAft>
              <a:buSzPct val="100000"/>
              <a:buChar char="•"/>
            </a:pPr>
            <a:r>
              <a:rPr lang="en-US" sz="10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Best / Worst</a:t>
            </a: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：扫完全表，比 </a:t>
            </a:r>
            <a:r>
              <a:rPr lang="en-US" sz="100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&lt;</a:t>
            </a: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还是 </a:t>
            </a:r>
            <a:r>
              <a:rPr lang="en-US" sz="100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&gt;</a:t>
            </a: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</a:t>
            </a:r>
            <a:endParaRPr lang="en-US" sz="1000" dirty="0"/>
          </a:p>
          <a:p>
            <a:pPr marL="177800" indent="-177800">
              <a:spcAft>
                <a:spcPts val="400"/>
              </a:spcAft>
              <a:buSzPct val="100000"/>
              <a:buChar char="•"/>
            </a:pPr>
            <a:r>
              <a:rPr lang="en-US" sz="100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scanned_</a:t>
            </a: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记扫过几块：首次适应通常最小——这是它「快」的全部含义。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6675120" y="3611880"/>
            <a:ext cx="2011680" cy="1051560"/>
          </a:xfrm>
          <a:prstGeom prst="roundRect">
            <a:avLst>
              <a:gd name="adj" fmla="val 6957"/>
            </a:avLst>
          </a:prstGeom>
          <a:solidFill>
            <a:srgbClr val="CFE0D8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6812280" y="3703320"/>
            <a:ext cx="1737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块表</a:t>
            </a:r>
            <a:endParaRPr lang="en-US" sz="1200" dirty="0"/>
          </a:p>
        </p:txBody>
      </p:sp>
      <p:sp>
        <p:nvSpPr>
          <p:cNvPr id="14" name="Text 12"/>
          <p:cNvSpPr txBox="1"/>
          <p:nvPr/>
        </p:nvSpPr>
        <p:spPr>
          <a:xfrm>
            <a:off x="6812280" y="3995928"/>
            <a:ext cx="17373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0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blocks_</a:t>
            </a: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按</a:t>
            </a:r>
            <a:r>
              <a:rPr lang="en-US" sz="10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偏移升序</a:t>
            </a: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，覆盖整段空间、无空洞。</a:t>
            </a:r>
            <a:endParaRPr lang="en-US" sz="100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12.2</a:t>
            </a:r>
            <a:endParaRPr lang="en-US" sz="9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12.2.3 回收与合并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释放块 M：与相邻空闲块合并的四种位置关系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30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457200" y="960120"/>
            <a:ext cx="1920240" cy="1508760"/>
          </a:xfrm>
          <a:prstGeom prst="roundRect">
            <a:avLst>
              <a:gd name="adj" fmla="val 4848"/>
            </a:avLst>
          </a:prstGeom>
          <a:solidFill>
            <a:srgbClr val="F1F4F2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548640" y="1005840"/>
            <a:ext cx="1737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左右都忙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731520" y="1371600"/>
            <a:ext cx="457200" cy="384048"/>
          </a:xfrm>
          <a:prstGeom prst="rect">
            <a:avLst/>
          </a:prstGeom>
          <a:solidFill>
            <a:srgbClr val="9AAAA3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731520" y="1371600"/>
            <a:ext cx="4572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忙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1188720" y="1371600"/>
            <a:ext cx="457200" cy="384048"/>
          </a:xfrm>
          <a:prstGeom prst="rect">
            <a:avLst/>
          </a:prstGeom>
          <a:solidFill>
            <a:srgbClr val="F2B134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1188720" y="1371600"/>
            <a:ext cx="4572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M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1645920" y="1371600"/>
            <a:ext cx="457200" cy="384048"/>
          </a:xfrm>
          <a:prstGeom prst="rect">
            <a:avLst/>
          </a:prstGeom>
          <a:solidFill>
            <a:srgbClr val="9AAAA3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1645920" y="1371600"/>
            <a:ext cx="4572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忙</a:t>
            </a:r>
            <a:endParaRPr lang="en-US" sz="1100" dirty="0"/>
          </a:p>
        </p:txBody>
      </p:sp>
      <p:sp>
        <p:nvSpPr>
          <p:cNvPr id="15" name="Text 13"/>
          <p:cNvSpPr txBox="1"/>
          <p:nvPr/>
        </p:nvSpPr>
        <p:spPr>
          <a:xfrm>
            <a:off x="548640" y="1920240"/>
            <a:ext cx="1737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M 单独入空闲表</a:t>
            </a:r>
            <a:endParaRPr lang="en-US" sz="1050" dirty="0"/>
          </a:p>
        </p:txBody>
      </p:sp>
      <p:sp>
        <p:nvSpPr>
          <p:cNvPr id="16" name="Shape 14"/>
          <p:cNvSpPr/>
          <p:nvPr/>
        </p:nvSpPr>
        <p:spPr>
          <a:xfrm>
            <a:off x="2560320" y="960120"/>
            <a:ext cx="1920240" cy="1508760"/>
          </a:xfrm>
          <a:prstGeom prst="roundRect">
            <a:avLst>
              <a:gd name="adj" fmla="val 4848"/>
            </a:avLst>
          </a:prstGeom>
          <a:solidFill>
            <a:srgbClr val="F1F4F2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2651760" y="1005840"/>
            <a:ext cx="1737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只有左边空闲</a:t>
            </a:r>
            <a:endParaRPr lang="en-US" sz="1150" dirty="0"/>
          </a:p>
        </p:txBody>
      </p:sp>
      <p:sp>
        <p:nvSpPr>
          <p:cNvPr id="18" name="Shape 16"/>
          <p:cNvSpPr/>
          <p:nvPr/>
        </p:nvSpPr>
        <p:spPr>
          <a:xfrm>
            <a:off x="2834640" y="1371600"/>
            <a:ext cx="457200" cy="384048"/>
          </a:xfrm>
          <a:prstGeom prst="rect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2834640" y="1371600"/>
            <a:ext cx="4572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空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3291840" y="1371600"/>
            <a:ext cx="457200" cy="384048"/>
          </a:xfrm>
          <a:prstGeom prst="rect">
            <a:avLst/>
          </a:prstGeom>
          <a:solidFill>
            <a:srgbClr val="F2B134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3291840" y="1371600"/>
            <a:ext cx="4572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M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749040" y="1371600"/>
            <a:ext cx="457200" cy="384048"/>
          </a:xfrm>
          <a:prstGeom prst="rect">
            <a:avLst/>
          </a:prstGeom>
          <a:solidFill>
            <a:srgbClr val="9AAAA3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3749040" y="1371600"/>
            <a:ext cx="4572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忙</a:t>
            </a:r>
            <a:endParaRPr lang="en-US" sz="1100" dirty="0"/>
          </a:p>
        </p:txBody>
      </p:sp>
      <p:sp>
        <p:nvSpPr>
          <p:cNvPr id="24" name="Text 22"/>
          <p:cNvSpPr txBox="1"/>
          <p:nvPr/>
        </p:nvSpPr>
        <p:spPr>
          <a:xfrm>
            <a:off x="2651760" y="1920240"/>
            <a:ext cx="1737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扩大左块</a:t>
            </a:r>
            <a:endParaRPr lang="en-US" sz="1050" dirty="0"/>
          </a:p>
        </p:txBody>
      </p:sp>
      <p:sp>
        <p:nvSpPr>
          <p:cNvPr id="25" name="Shape 23"/>
          <p:cNvSpPr/>
          <p:nvPr/>
        </p:nvSpPr>
        <p:spPr>
          <a:xfrm>
            <a:off x="4663440" y="960120"/>
            <a:ext cx="1920240" cy="1508760"/>
          </a:xfrm>
          <a:prstGeom prst="roundRect">
            <a:avLst>
              <a:gd name="adj" fmla="val 4848"/>
            </a:avLst>
          </a:prstGeom>
          <a:solidFill>
            <a:srgbClr val="F1F4F2"/>
          </a:solidFill>
          <a:ln/>
        </p:spPr>
      </p:sp>
      <p:sp>
        <p:nvSpPr>
          <p:cNvPr id="26" name="Text 24"/>
          <p:cNvSpPr txBox="1"/>
          <p:nvPr/>
        </p:nvSpPr>
        <p:spPr>
          <a:xfrm>
            <a:off x="4754880" y="1005840"/>
            <a:ext cx="1737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只有右边空闲</a:t>
            </a:r>
            <a:endParaRPr lang="en-US" sz="1150" dirty="0"/>
          </a:p>
        </p:txBody>
      </p:sp>
      <p:sp>
        <p:nvSpPr>
          <p:cNvPr id="27" name="Shape 25"/>
          <p:cNvSpPr/>
          <p:nvPr/>
        </p:nvSpPr>
        <p:spPr>
          <a:xfrm>
            <a:off x="4937760" y="1371600"/>
            <a:ext cx="457200" cy="384048"/>
          </a:xfrm>
          <a:prstGeom prst="rect">
            <a:avLst/>
          </a:prstGeom>
          <a:solidFill>
            <a:srgbClr val="9AAAA3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28" name="Text 26"/>
          <p:cNvSpPr txBox="1"/>
          <p:nvPr/>
        </p:nvSpPr>
        <p:spPr>
          <a:xfrm>
            <a:off x="4937760" y="1371600"/>
            <a:ext cx="4572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忙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5394960" y="1371600"/>
            <a:ext cx="457200" cy="384048"/>
          </a:xfrm>
          <a:prstGeom prst="rect">
            <a:avLst/>
          </a:prstGeom>
          <a:solidFill>
            <a:srgbClr val="F2B134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30" name="Text 28"/>
          <p:cNvSpPr txBox="1"/>
          <p:nvPr/>
        </p:nvSpPr>
        <p:spPr>
          <a:xfrm>
            <a:off x="5394960" y="1371600"/>
            <a:ext cx="4572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M</a:t>
            </a:r>
            <a:endParaRPr lang="en-US" sz="1100" dirty="0"/>
          </a:p>
        </p:txBody>
      </p:sp>
      <p:sp>
        <p:nvSpPr>
          <p:cNvPr id="31" name="Shape 29"/>
          <p:cNvSpPr/>
          <p:nvPr/>
        </p:nvSpPr>
        <p:spPr>
          <a:xfrm>
            <a:off x="5852160" y="1371600"/>
            <a:ext cx="457200" cy="384048"/>
          </a:xfrm>
          <a:prstGeom prst="rect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32" name="Text 30"/>
          <p:cNvSpPr txBox="1"/>
          <p:nvPr/>
        </p:nvSpPr>
        <p:spPr>
          <a:xfrm>
            <a:off x="5852160" y="1371600"/>
            <a:ext cx="4572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空</a:t>
            </a:r>
            <a:endParaRPr lang="en-US" sz="1100" dirty="0"/>
          </a:p>
        </p:txBody>
      </p:sp>
      <p:sp>
        <p:nvSpPr>
          <p:cNvPr id="33" name="Text 31"/>
          <p:cNvSpPr txBox="1"/>
          <p:nvPr/>
        </p:nvSpPr>
        <p:spPr>
          <a:xfrm>
            <a:off x="4754880" y="1920240"/>
            <a:ext cx="1737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右块起点移到 M</a:t>
            </a:r>
            <a:endParaRPr lang="en-US" sz="1050" dirty="0"/>
          </a:p>
        </p:txBody>
      </p:sp>
      <p:sp>
        <p:nvSpPr>
          <p:cNvPr id="34" name="Shape 32"/>
          <p:cNvSpPr/>
          <p:nvPr/>
        </p:nvSpPr>
        <p:spPr>
          <a:xfrm>
            <a:off x="6766560" y="960120"/>
            <a:ext cx="1920240" cy="1508760"/>
          </a:xfrm>
          <a:prstGeom prst="roundRect">
            <a:avLst>
              <a:gd name="adj" fmla="val 4848"/>
            </a:avLst>
          </a:prstGeom>
          <a:solidFill>
            <a:srgbClr val="F1F4F2"/>
          </a:solidFill>
          <a:ln/>
        </p:spPr>
      </p:sp>
      <p:sp>
        <p:nvSpPr>
          <p:cNvPr id="35" name="Text 33"/>
          <p:cNvSpPr txBox="1"/>
          <p:nvPr/>
        </p:nvSpPr>
        <p:spPr>
          <a:xfrm>
            <a:off x="6858000" y="1005840"/>
            <a:ext cx="1737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左右都空闲</a:t>
            </a:r>
            <a:endParaRPr lang="en-US" sz="1150" dirty="0"/>
          </a:p>
        </p:txBody>
      </p:sp>
      <p:sp>
        <p:nvSpPr>
          <p:cNvPr id="36" name="Shape 34"/>
          <p:cNvSpPr/>
          <p:nvPr/>
        </p:nvSpPr>
        <p:spPr>
          <a:xfrm>
            <a:off x="7040880" y="1371600"/>
            <a:ext cx="457200" cy="384048"/>
          </a:xfrm>
          <a:prstGeom prst="rect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37" name="Text 35"/>
          <p:cNvSpPr txBox="1"/>
          <p:nvPr/>
        </p:nvSpPr>
        <p:spPr>
          <a:xfrm>
            <a:off x="7040880" y="1371600"/>
            <a:ext cx="4572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空</a:t>
            </a:r>
            <a:endParaRPr lang="en-US" sz="1100" dirty="0"/>
          </a:p>
        </p:txBody>
      </p:sp>
      <p:sp>
        <p:nvSpPr>
          <p:cNvPr id="38" name="Shape 36"/>
          <p:cNvSpPr/>
          <p:nvPr/>
        </p:nvSpPr>
        <p:spPr>
          <a:xfrm>
            <a:off x="7498080" y="1371600"/>
            <a:ext cx="457200" cy="384048"/>
          </a:xfrm>
          <a:prstGeom prst="rect">
            <a:avLst/>
          </a:prstGeom>
          <a:solidFill>
            <a:srgbClr val="F2B134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39" name="Text 37"/>
          <p:cNvSpPr txBox="1"/>
          <p:nvPr/>
        </p:nvSpPr>
        <p:spPr>
          <a:xfrm>
            <a:off x="7498080" y="1371600"/>
            <a:ext cx="4572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M</a:t>
            </a:r>
            <a:endParaRPr lang="en-US" sz="1100" dirty="0"/>
          </a:p>
        </p:txBody>
      </p:sp>
      <p:sp>
        <p:nvSpPr>
          <p:cNvPr id="40" name="Shape 38"/>
          <p:cNvSpPr/>
          <p:nvPr/>
        </p:nvSpPr>
        <p:spPr>
          <a:xfrm>
            <a:off x="7955280" y="1371600"/>
            <a:ext cx="457200" cy="384048"/>
          </a:xfrm>
          <a:prstGeom prst="rect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41" name="Text 39"/>
          <p:cNvSpPr txBox="1"/>
          <p:nvPr/>
        </p:nvSpPr>
        <p:spPr>
          <a:xfrm>
            <a:off x="7955280" y="1371600"/>
            <a:ext cx="4572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空</a:t>
            </a:r>
            <a:endParaRPr lang="en-US" sz="1100" dirty="0"/>
          </a:p>
        </p:txBody>
      </p:sp>
      <p:sp>
        <p:nvSpPr>
          <p:cNvPr id="42" name="Text 40"/>
          <p:cNvSpPr txBox="1"/>
          <p:nvPr/>
        </p:nvSpPr>
        <p:spPr>
          <a:xfrm>
            <a:off x="6858000" y="1920240"/>
            <a:ext cx="1737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三块合成一块</a:t>
            </a:r>
            <a:endParaRPr lang="en-US" sz="1050" dirty="0"/>
          </a:p>
        </p:txBody>
      </p:sp>
      <p:sp>
        <p:nvSpPr>
          <p:cNvPr id="43" name="Shape 41"/>
          <p:cNvSpPr/>
          <p:nvPr/>
        </p:nvSpPr>
        <p:spPr>
          <a:xfrm>
            <a:off x="457200" y="2606040"/>
            <a:ext cx="3977640" cy="1371600"/>
          </a:xfrm>
          <a:prstGeom prst="roundRect">
            <a:avLst>
              <a:gd name="adj" fmla="val 5333"/>
            </a:avLst>
          </a:prstGeom>
          <a:solidFill>
            <a:srgbClr val="F1F4F2"/>
          </a:solidFill>
          <a:ln/>
        </p:spPr>
      </p:sp>
      <p:pic>
        <p:nvPicPr>
          <p:cNvPr id="44" name="Image 0" descr="fig-12-13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70357" y="2697480"/>
            <a:ext cx="2951325" cy="896112"/>
          </a:xfrm>
          <a:prstGeom prst="rect">
            <a:avLst/>
          </a:prstGeom>
        </p:spPr>
      </p:pic>
      <p:sp>
        <p:nvSpPr>
          <p:cNvPr id="45" name="Text 42"/>
          <p:cNvSpPr txBox="1"/>
          <p:nvPr/>
        </p:nvSpPr>
        <p:spPr>
          <a:xfrm>
            <a:off x="502920" y="3648456"/>
            <a:ext cx="3886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图 12.13  释放 M 时与相邻空闲块合并</a:t>
            </a:r>
            <a:endParaRPr lang="en-US" sz="900" dirty="0"/>
          </a:p>
        </p:txBody>
      </p:sp>
      <p:sp>
        <p:nvSpPr>
          <p:cNvPr id="46" name="Text 43"/>
          <p:cNvSpPr txBox="1"/>
          <p:nvPr/>
        </p:nvSpPr>
        <p:spPr>
          <a:xfrm>
            <a:off x="457200" y="4023360"/>
            <a:ext cx="39776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5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顺序表实现检查前后项；</a:t>
            </a:r>
            <a:r>
              <a:rPr lang="en-US" sz="950" b="1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边界标记</a:t>
            </a:r>
            <a:r>
              <a:rPr lang="en-US" sz="95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（块头块尾各记一份大小与忙闲）从 M 的块头、块尾 </a:t>
            </a:r>
            <a:r>
              <a:rPr lang="en-US" sz="950" b="1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O(1)</a:t>
            </a:r>
            <a:r>
              <a:rPr lang="en-US" sz="95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找到物理邻居。本书按偏移升序存块表，相邻块就是表里相邻的项——同一个想法，代价是定位要扫表。</a:t>
            </a:r>
            <a:endParaRPr lang="en-US" sz="950" dirty="0"/>
          </a:p>
        </p:txBody>
      </p:sp>
      <p:sp>
        <p:nvSpPr>
          <p:cNvPr id="47" name="Shape 44"/>
          <p:cNvSpPr/>
          <p:nvPr/>
        </p:nvSpPr>
        <p:spPr>
          <a:xfrm>
            <a:off x="4663440" y="2606040"/>
            <a:ext cx="4023360" cy="2057400"/>
          </a:xfrm>
          <a:prstGeom prst="roundRect">
            <a:avLst>
              <a:gd name="adj" fmla="val 3556"/>
            </a:avLst>
          </a:prstGeom>
          <a:solidFill>
            <a:srgbClr val="FFF6E0"/>
          </a:solidFill>
          <a:ln/>
        </p:spPr>
      </p:sp>
      <p:sp>
        <p:nvSpPr>
          <p:cNvPr id="48" name="Text 45"/>
          <p:cNvSpPr txBox="1"/>
          <p:nvPr/>
        </p:nvSpPr>
        <p:spPr>
          <a:xfrm>
            <a:off x="4800600" y="2697480"/>
            <a:ext cx="3749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外部碎片可以量出来</a:t>
            </a:r>
            <a:endParaRPr lang="en-US" sz="1200" dirty="0"/>
          </a:p>
        </p:txBody>
      </p:sp>
      <p:sp>
        <p:nvSpPr>
          <p:cNvPr id="49" name="Text 46"/>
          <p:cNvSpPr txBox="1"/>
          <p:nvPr/>
        </p:nvSpPr>
        <p:spPr>
          <a:xfrm>
            <a:off x="4773168" y="2990088"/>
            <a:ext cx="3803904" cy="16002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marL="177800" indent="-177800">
              <a:spcAft>
                <a:spcPts val="400"/>
              </a:spcAft>
              <a:buSzPct val="100000"/>
              <a:buChar char="•"/>
            </a:pP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释放出两个</a:t>
            </a:r>
            <a:r>
              <a:rPr lang="en-US" sz="10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不相邻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的 30 字节空洞：空闲总量 60，最大一块只有 30 → </a:t>
            </a:r>
            <a:r>
              <a:rPr lang="en-US" sz="10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45 字节的请求失败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</a:t>
            </a:r>
            <a:endParaRPr lang="en-US" sz="1050" dirty="0"/>
          </a:p>
          <a:p>
            <a:pPr marL="177800" indent="-177800">
              <a:spcAft>
                <a:spcPts val="400"/>
              </a:spcAft>
              <a:buSzPct val="100000"/>
              <a:buChar char="•"/>
            </a:pP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把中间那块也释放、三块并成一整块 → 同样的请求</a:t>
            </a:r>
            <a:r>
              <a:rPr lang="en-US" sz="10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立刻能满足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</a:t>
            </a:r>
            <a:endParaRPr lang="en-US" sz="1050" dirty="0"/>
          </a:p>
          <a:p>
            <a:pPr marL="177800" indent="-177800">
              <a:spcAft>
                <a:spcPts val="400"/>
              </a:spcAft>
              <a:buSzPct val="100000"/>
              <a:buChar char="•"/>
            </a:pP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装不下一个请求时，看的是 </a:t>
            </a:r>
            <a:r>
              <a:rPr lang="en-US" sz="10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largest_free_block()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，不是空闲总量。</a:t>
            </a:r>
            <a:endParaRPr lang="en-US" sz="1050" dirty="0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12.2</a:t>
            </a:r>
            <a:endParaRPr lang="en-US" sz="9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12.2.3 回收与合并 · code/ch12/memory_allocator（上）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allocate：挑块，够大就分裂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31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457200" y="960120"/>
            <a:ext cx="6126480" cy="2743200"/>
          </a:xfrm>
          <a:prstGeom prst="roundRect">
            <a:avLst>
              <a:gd name="adj" fmla="val 2667"/>
            </a:avLst>
          </a:prstGeom>
          <a:solidFill>
            <a:srgbClr val="F1F4F2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530352" y="1005840"/>
            <a:ext cx="5980176" cy="265176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8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[[nodiscard]] std::optional&lt;std::size_t&gt; allocate(std::size_t bytes, Fit fit) {</a:t>
            </a:r>
            <a:endParaRPr lang="en-US" sz="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if (bytes == 0) {</a:t>
            </a:r>
            <a:endParaRPr lang="en-US" sz="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throw std::invalid_argument("BoundaryAllocator: size must be positive");</a:t>
            </a:r>
            <a:endParaRPr lang="en-US" sz="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}</a:t>
            </a:r>
            <a:endParaRPr lang="en-US" sz="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const std::optional&lt;std::size_t&gt; chosen = select(bytes, fit);</a:t>
            </a:r>
            <a:endParaRPr lang="en-US" sz="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if (!chosen) {</a:t>
            </a:r>
            <a:endParaRPr lang="en-US" sz="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return std::nullopt;</a:t>
            </a:r>
            <a:endParaRPr lang="en-US" sz="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}</a:t>
            </a:r>
            <a:endParaRPr lang="en-US" sz="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Block&amp; block = blocks_[*chosen];</a:t>
            </a:r>
            <a:endParaRPr lang="en-US" sz="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if (block.size &gt; bytes) {</a:t>
            </a:r>
            <a:endParaRPr lang="en-US" sz="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</a:t>
            </a:r>
            <a:r>
              <a:rPr lang="en-US" sz="80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分裂：剩下的那截仍然空闲，作为下一项插进块表。</a:t>
            </a:r>
            <a:endParaRPr lang="en-US" sz="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const Block rest{block.offset + bytes, block.size - bytes, true};</a:t>
            </a:r>
            <a:endParaRPr lang="en-US" sz="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block.size = bytes;</a:t>
            </a:r>
            <a:endParaRPr lang="en-US" sz="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blocks_.insert(blocks_.begin() + static_cast&lt;std::ptrdiff_t&gt;(*chosen) + 1, rest);</a:t>
            </a:r>
            <a:endParaRPr lang="en-US" sz="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}</a:t>
            </a:r>
            <a:endParaRPr lang="en-US" sz="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blocks_[*chosen].free = false;</a:t>
            </a:r>
            <a:endParaRPr lang="en-US" sz="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return blocks_[*chosen].offset;</a:t>
            </a:r>
            <a:endParaRPr lang="en-US" sz="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}</a:t>
            </a:r>
            <a:endParaRPr lang="en-US" sz="800" dirty="0"/>
          </a:p>
        </p:txBody>
      </p:sp>
      <p:sp>
        <p:nvSpPr>
          <p:cNvPr id="9" name="Text 7"/>
          <p:cNvSpPr txBox="1"/>
          <p:nvPr/>
        </p:nvSpPr>
        <p:spPr>
          <a:xfrm>
            <a:off x="457200" y="3840480"/>
            <a:ext cx="6126480" cy="7315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buNone/>
            </a:pP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两种失败，两种口径：请求 0 字节是</a:t>
            </a:r>
            <a:r>
              <a:rPr lang="en-US" sz="11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调用方用错</a:t>
            </a: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，抛异常；空间不足是</a:t>
            </a:r>
            <a:r>
              <a:rPr lang="en-US" sz="11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预期结果</a:t>
            </a: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，返回 </a:t>
            </a:r>
            <a:r>
              <a:rPr lang="en-US" sz="11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nullopt</a:t>
            </a: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6812280" y="960120"/>
            <a:ext cx="1874520" cy="3703320"/>
          </a:xfrm>
          <a:prstGeom prst="roundRect">
            <a:avLst>
              <a:gd name="adj" fmla="val 3902"/>
            </a:avLst>
          </a:prstGeom>
          <a:solidFill>
            <a:srgbClr val="FFF6E0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6949440" y="1051560"/>
            <a:ext cx="1600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分裂</a:t>
            </a:r>
            <a:endParaRPr lang="en-US" sz="1200" dirty="0"/>
          </a:p>
        </p:txBody>
      </p:sp>
      <p:sp>
        <p:nvSpPr>
          <p:cNvPr id="12" name="Text 10"/>
          <p:cNvSpPr txBox="1"/>
          <p:nvPr/>
        </p:nvSpPr>
        <p:spPr>
          <a:xfrm>
            <a:off x="6922008" y="1344168"/>
            <a:ext cx="1655064" cy="32461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marL="177800" indent="-177800">
              <a:spcAft>
                <a:spcPts val="500"/>
              </a:spcAft>
              <a:buSzPct val="100000"/>
              <a:buChar char="•"/>
            </a:pP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块比请求大：前半截给请求者，</a:t>
            </a:r>
            <a:r>
              <a:rPr lang="en-US" sz="10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后半截</a:t>
            </a: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</a:t>
            </a:r>
            <a:r>
              <a:rPr lang="en-US" sz="100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rest</a:t>
            </a: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仍空闲，插在块表下一项。</a:t>
            </a:r>
            <a:endParaRPr lang="en-US" sz="1000" dirty="0"/>
          </a:p>
          <a:p>
            <a:pPr marL="177800" indent="-177800">
              <a:spcAft>
                <a:spcPts val="500"/>
              </a:spcAft>
              <a:buSzPct val="100000"/>
              <a:buChar char="•"/>
            </a:pP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块表始终</a:t>
            </a:r>
            <a:r>
              <a:rPr lang="en-US" sz="10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按偏移升序、覆盖整段、无空洞</a:t>
            </a: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</a:t>
            </a:r>
            <a:endParaRPr lang="en-US" sz="1000" dirty="0"/>
          </a:p>
          <a:p>
            <a:pPr marL="177800" indent="-177800">
              <a:spcAft>
                <a:spcPts val="500"/>
              </a:spcAft>
              <a:buSzPct val="100000"/>
              <a:buChar char="•"/>
            </a:pP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返回的是块的</a:t>
            </a:r>
            <a:r>
              <a:rPr lang="en-US" sz="10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偏移</a:t>
            </a: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，释放时凭它找回块。</a:t>
            </a:r>
            <a:endParaRPr lang="en-US" sz="1000" dirty="0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12.2</a:t>
            </a:r>
            <a:endParaRPr lang="en-US" sz="9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12.2.3 回收与合并 · code/ch12/memory_allocator（下）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release + coalesce：先合右，再合左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32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457200" y="960120"/>
            <a:ext cx="6126480" cy="3291840"/>
          </a:xfrm>
          <a:prstGeom prst="roundRect">
            <a:avLst>
              <a:gd name="adj" fmla="val 2222"/>
            </a:avLst>
          </a:prstGeom>
          <a:solidFill>
            <a:srgbClr val="F1F4F2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530352" y="1005840"/>
            <a:ext cx="5980176" cy="320040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8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bool release(std::size_t offset) {</a:t>
            </a:r>
            <a:endParaRPr lang="en-US" sz="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const std::optional&lt;std::size_t&gt; index = index_of(offset);</a:t>
            </a:r>
            <a:endParaRPr lang="en-US" sz="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if (!index || blocks_[*index].free) {</a:t>
            </a:r>
            <a:endParaRPr lang="en-US" sz="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return false;</a:t>
            </a:r>
            <a:endParaRPr lang="en-US" sz="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}</a:t>
            </a:r>
            <a:endParaRPr lang="en-US" sz="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blocks_[*index].free = true;</a:t>
            </a:r>
            <a:endParaRPr lang="en-US" sz="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coalesce(*index);</a:t>
            </a:r>
            <a:endParaRPr lang="en-US" sz="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return true;</a:t>
            </a:r>
            <a:endParaRPr lang="en-US" sz="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}</a:t>
            </a:r>
            <a:endParaRPr lang="en-US" sz="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r>
              <a:rPr lang="en-US" sz="80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...</a:t>
            </a:r>
            <a:endParaRPr lang="en-US" sz="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r>
              <a:rPr lang="en-US" sz="80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/// 与左右两侧的空闲块合并。**先合右再合左**：先处理右边，左边的下标才不会失效。</a:t>
            </a:r>
            <a:endParaRPr lang="en-US" sz="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r>
              <a:rPr lang="en-US" sz="80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/// 不合并的话，外部碎片只会越积越多——这是本节的正题。</a:t>
            </a:r>
            <a:endParaRPr lang="en-US" sz="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void coalesce(std::size_t index) {</a:t>
            </a:r>
            <a:endParaRPr lang="en-US" sz="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if (index + 1 &lt; blocks_.size() &amp;&amp; blocks_[index + 1].free) {</a:t>
            </a:r>
            <a:endParaRPr lang="en-US" sz="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blocks_[index].size += blocks_[index + 1].size;</a:t>
            </a:r>
            <a:endParaRPr lang="en-US" sz="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blocks_.erase(blocks_.begin() + static_cast&lt;std::ptrdiff_t&gt;(index) + 1);</a:t>
            </a:r>
            <a:endParaRPr lang="en-US" sz="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}</a:t>
            </a:r>
            <a:endParaRPr lang="en-US" sz="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if (index &gt; 0 &amp;&amp; blocks_[index - 1].free) {</a:t>
            </a:r>
            <a:endParaRPr lang="en-US" sz="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blocks_[index - 1].size += blocks_[index].size;</a:t>
            </a:r>
            <a:endParaRPr lang="en-US" sz="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blocks_.erase(blocks_.begin() + static_cast&lt;std::ptrdiff_t&gt;(index));</a:t>
            </a:r>
            <a:endParaRPr lang="en-US" sz="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}</a:t>
            </a:r>
            <a:endParaRPr lang="en-US" sz="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}</a:t>
            </a:r>
            <a:endParaRPr lang="en-US" sz="800" dirty="0"/>
          </a:p>
        </p:txBody>
      </p:sp>
      <p:sp>
        <p:nvSpPr>
          <p:cNvPr id="9" name="Shape 7"/>
          <p:cNvSpPr/>
          <p:nvPr/>
        </p:nvSpPr>
        <p:spPr>
          <a:xfrm>
            <a:off x="6812280" y="960120"/>
            <a:ext cx="1874520" cy="2103120"/>
          </a:xfrm>
          <a:prstGeom prst="roundRect">
            <a:avLst>
              <a:gd name="adj" fmla="val 3902"/>
            </a:avLst>
          </a:prstGeom>
          <a:solidFill>
            <a:srgbClr val="FFF6E0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6949440" y="1051560"/>
            <a:ext cx="1600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为什么先合右</a:t>
            </a:r>
            <a:endParaRPr lang="en-US" sz="1200" dirty="0"/>
          </a:p>
        </p:txBody>
      </p:sp>
      <p:sp>
        <p:nvSpPr>
          <p:cNvPr id="11" name="Text 9"/>
          <p:cNvSpPr txBox="1"/>
          <p:nvPr/>
        </p:nvSpPr>
        <p:spPr>
          <a:xfrm>
            <a:off x="6949440" y="1344168"/>
            <a:ext cx="160020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合右删的是 </a:t>
            </a:r>
            <a:r>
              <a:rPr lang="en-US" sz="100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index + 1</a:t>
            </a: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，</a:t>
            </a:r>
            <a:r>
              <a:rPr lang="en-US" sz="100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index</a:t>
            </a: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本身不动；若先合左，</a:t>
            </a:r>
            <a:r>
              <a:rPr lang="en-US" sz="100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index</a:t>
            </a: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那一项被 </a:t>
            </a:r>
            <a:r>
              <a:rPr lang="en-US" sz="100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erase</a:t>
            </a: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，再去看右边就用错了下标。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6812280" y="3200400"/>
            <a:ext cx="1874520" cy="1051560"/>
          </a:xfrm>
          <a:prstGeom prst="roundRect">
            <a:avLst>
              <a:gd name="adj" fmla="val 6957"/>
            </a:avLst>
          </a:prstGeom>
          <a:solidFill>
            <a:srgbClr val="CFE0D8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6949440" y="3291840"/>
            <a:ext cx="1600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重复释放</a:t>
            </a:r>
            <a:endParaRPr lang="en-US" sz="1200" dirty="0"/>
          </a:p>
        </p:txBody>
      </p:sp>
      <p:sp>
        <p:nvSpPr>
          <p:cNvPr id="14" name="Text 12"/>
          <p:cNvSpPr txBox="1"/>
          <p:nvPr/>
        </p:nvSpPr>
        <p:spPr>
          <a:xfrm>
            <a:off x="6949440" y="3584448"/>
            <a:ext cx="16002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偏移上没有块，或块已空闲 → </a:t>
            </a:r>
            <a:r>
              <a:rPr lang="en-US" sz="100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false</a:t>
            </a: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</a:t>
            </a:r>
            <a:endParaRPr lang="en-US" sz="1000" dirty="0"/>
          </a:p>
        </p:txBody>
      </p:sp>
      <p:sp>
        <p:nvSpPr>
          <p:cNvPr id="15" name="Text 13"/>
          <p:cNvSpPr txBox="1"/>
          <p:nvPr/>
        </p:nvSpPr>
        <p:spPr>
          <a:xfrm>
            <a:off x="457200" y="4315968"/>
            <a:ext cx="8229600" cy="36576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buNone/>
            </a:pP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四种位置关系在这里只剩两个 </a:t>
            </a:r>
            <a:r>
              <a:rPr lang="en-US" sz="110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if</a:t>
            </a: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：右邻空闲就吞掉右邻，左邻空闲就被左邻吞掉。</a:t>
            </a:r>
            <a:endParaRPr lang="en-US" sz="1100" dirty="0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12.2</a:t>
            </a:r>
            <a:endParaRPr lang="en-US" sz="9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12.2.4 失败处理策略和无用单元回收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分配失败时：拒绝、压缩，或回收够不着的块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33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457200" y="960120"/>
            <a:ext cx="2606040" cy="384048"/>
          </a:xfrm>
          <a:prstGeom prst="roundRect">
            <a:avLst>
              <a:gd name="adj" fmla="val 50000"/>
            </a:avLst>
          </a:prstGeom>
          <a:solidFill>
            <a:srgbClr val="6B7B74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457200" y="960120"/>
            <a:ext cx="26060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直接拒绝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3246120" y="960120"/>
            <a:ext cx="2606040" cy="384048"/>
          </a:xfrm>
          <a:prstGeom prst="roundRect">
            <a:avLst>
              <a:gd name="adj" fmla="val 50000"/>
            </a:avLst>
          </a:prstGeom>
          <a:solidFill>
            <a:srgbClr val="3E7C68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3246120" y="960120"/>
            <a:ext cx="26060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压缩：把已分配块搬到一起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6035040" y="960120"/>
            <a:ext cx="2606040" cy="384048"/>
          </a:xfrm>
          <a:prstGeom prst="roundRect">
            <a:avLst>
              <a:gd name="adj" fmla="val 50000"/>
            </a:avLst>
          </a:prstGeom>
          <a:solidFill>
            <a:srgbClr val="1E3D34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6035040" y="960120"/>
            <a:ext cx="26060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垃圾回收：收回够不着却占着的块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457200" y="1508760"/>
            <a:ext cx="3977640" cy="2194560"/>
          </a:xfrm>
          <a:prstGeom prst="roundRect">
            <a:avLst>
              <a:gd name="adj" fmla="val 3333"/>
            </a:avLst>
          </a:prstGeom>
          <a:solidFill>
            <a:srgbClr val="FDF0EE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640080" y="1600200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C039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引用计数</a:t>
            </a:r>
            <a:endParaRPr lang="en-US" sz="1400" dirty="0"/>
          </a:p>
        </p:txBody>
      </p:sp>
      <p:sp>
        <p:nvSpPr>
          <p:cNvPr id="15" name="Text 13"/>
          <p:cNvSpPr txBox="1"/>
          <p:nvPr/>
        </p:nvSpPr>
        <p:spPr>
          <a:xfrm>
            <a:off x="594360" y="1965960"/>
            <a:ext cx="3749040" cy="169164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每个对象记有多少指针指着它，减到零就释放。</a:t>
            </a:r>
            <a:endParaRPr lang="en-US" sz="115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实现简单；但对象</a:t>
            </a:r>
            <a:r>
              <a:rPr lang="en-US" sz="11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互相指形成环</a:t>
            </a: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时，计数永远掉不到零 → </a:t>
            </a:r>
            <a:r>
              <a:rPr lang="en-US" sz="11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内存泄漏</a:t>
            </a: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</a:t>
            </a:r>
            <a:endParaRPr lang="en-US" sz="1150" dirty="0"/>
          </a:p>
        </p:txBody>
      </p:sp>
      <p:sp>
        <p:nvSpPr>
          <p:cNvPr id="16" name="Shape 14"/>
          <p:cNvSpPr/>
          <p:nvPr/>
        </p:nvSpPr>
        <p:spPr>
          <a:xfrm>
            <a:off x="4709160" y="1508760"/>
            <a:ext cx="3977640" cy="2194560"/>
          </a:xfrm>
          <a:prstGeom prst="roundRect">
            <a:avLst>
              <a:gd name="adj" fmla="val 3333"/>
            </a:avLst>
          </a:prstGeom>
          <a:solidFill>
            <a:srgbClr val="EAF4EF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4892040" y="1600200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2E9E6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标记–清除</a:t>
            </a:r>
            <a:endParaRPr lang="en-US" sz="1400" dirty="0"/>
          </a:p>
        </p:txBody>
      </p:sp>
      <p:sp>
        <p:nvSpPr>
          <p:cNvPr id="18" name="Text 16"/>
          <p:cNvSpPr txBox="1"/>
          <p:nvPr/>
        </p:nvSpPr>
        <p:spPr>
          <a:xfrm>
            <a:off x="4846320" y="1965960"/>
            <a:ext cx="3749040" cy="169164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从一组</a:t>
            </a:r>
            <a:r>
              <a:rPr lang="en-US" sz="11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根</a:t>
            </a: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（栈上的指针、全局变量）出发，走遍能碰到的对象并</a:t>
            </a:r>
            <a:r>
              <a:rPr lang="en-US" sz="11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标记</a:t>
            </a: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；再扫一遍堆，</a:t>
            </a:r>
            <a:r>
              <a:rPr lang="en-US" sz="11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没标记的统统回收</a:t>
            </a: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</a:t>
            </a:r>
            <a:endParaRPr lang="en-US" sz="115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能处理环；但要能从根集走到每个活对象，还要区分「指针」和「像地址的整数」。</a:t>
            </a:r>
            <a:endParaRPr lang="en-US" sz="1150" dirty="0"/>
          </a:p>
        </p:txBody>
      </p:sp>
      <p:sp>
        <p:nvSpPr>
          <p:cNvPr id="19" name="Shape 17"/>
          <p:cNvSpPr/>
          <p:nvPr/>
        </p:nvSpPr>
        <p:spPr>
          <a:xfrm>
            <a:off x="457200" y="3840480"/>
            <a:ext cx="2743200" cy="822960"/>
          </a:xfrm>
          <a:prstGeom prst="roundRect">
            <a:avLst>
              <a:gd name="adj" fmla="val 8889"/>
            </a:avLst>
          </a:prstGeom>
          <a:solidFill>
            <a:srgbClr val="F1F4F2"/>
          </a:solidFill>
          <a:ln/>
        </p:spPr>
      </p:sp>
      <p:pic>
        <p:nvPicPr>
          <p:cNvPr id="20" name="Image 0" descr="fig-12-14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31028" y="3931920"/>
            <a:ext cx="1995544" cy="640080"/>
          </a:xfrm>
          <a:prstGeom prst="rect">
            <a:avLst/>
          </a:prstGeom>
        </p:spPr>
      </p:pic>
      <p:sp>
        <p:nvSpPr>
          <p:cNvPr id="21" name="Text 18"/>
          <p:cNvSpPr txBox="1"/>
          <p:nvPr/>
        </p:nvSpPr>
        <p:spPr>
          <a:xfrm>
            <a:off x="3383280" y="3840480"/>
            <a:ext cx="53035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图 12.14  无根循环引用不会自行消失。</a:t>
            </a:r>
            <a:r>
              <a:rPr lang="en-US" sz="11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判生死的是可达性，不是入度或引用数</a:t>
            </a: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——这正是循环引用能被整组收回的原因。</a:t>
            </a:r>
            <a:endParaRPr lang="en-US" sz="1100" dirty="0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12.2</a:t>
            </a:r>
            <a:endParaRPr lang="en-US" sz="9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12.2.4 无用单元回收 · 例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标记–清除走一遍：根集只有 R → A → B，另有 C ⇄ D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34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457200" y="960120"/>
            <a:ext cx="3291840" cy="2377440"/>
          </a:xfrm>
          <a:prstGeom prst="roundRect">
            <a:avLst>
              <a:gd name="adj" fmla="val 3077"/>
            </a:avLst>
          </a:prstGeom>
          <a:solidFill>
            <a:srgbClr val="F1F4F2"/>
          </a:solidFill>
          <a:ln/>
        </p:spPr>
      </p:sp>
      <p:sp>
        <p:nvSpPr>
          <p:cNvPr id="8" name="Shape 6"/>
          <p:cNvSpPr/>
          <p:nvPr/>
        </p:nvSpPr>
        <p:spPr>
          <a:xfrm>
            <a:off x="640080" y="1234440"/>
            <a:ext cx="914400" cy="365760"/>
          </a:xfrm>
          <a:prstGeom prst="roundRect">
            <a:avLst>
              <a:gd name="adj" fmla="val 50000"/>
            </a:avLst>
          </a:prstGeom>
          <a:solidFill>
            <a:srgbClr val="1E3D34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640080" y="1234440"/>
            <a:ext cx="914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R（根）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1851660" y="1211580"/>
            <a:ext cx="411480" cy="411480"/>
          </a:xfrm>
          <a:prstGeom prst="ellipse">
            <a:avLst/>
          </a:prstGeom>
          <a:solidFill>
            <a:srgbClr val="CDEBD9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1851660" y="1211580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A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2903220" y="1211580"/>
            <a:ext cx="411480" cy="411480"/>
          </a:xfrm>
          <a:prstGeom prst="ellipse">
            <a:avLst/>
          </a:prstGeom>
          <a:solidFill>
            <a:srgbClr val="CDEBD9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2903220" y="1211580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B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1554480" y="1417320"/>
            <a:ext cx="292608" cy="0"/>
          </a:xfrm>
          <a:prstGeom prst="line">
            <a:avLst/>
          </a:prstGeom>
          <a:noFill/>
          <a:ln w="19050">
            <a:solidFill>
              <a:srgbClr val="1E3D34"/>
            </a:solidFill>
            <a:prstDash val="solid"/>
            <a:tailEnd type="triangle"/>
          </a:ln>
        </p:spPr>
      </p:sp>
      <p:sp>
        <p:nvSpPr>
          <p:cNvPr id="15" name="Shape 13"/>
          <p:cNvSpPr/>
          <p:nvPr/>
        </p:nvSpPr>
        <p:spPr>
          <a:xfrm>
            <a:off x="2267712" y="1417320"/>
            <a:ext cx="630936" cy="0"/>
          </a:xfrm>
          <a:prstGeom prst="line">
            <a:avLst/>
          </a:prstGeom>
          <a:noFill/>
          <a:ln w="19050">
            <a:solidFill>
              <a:srgbClr val="1E3D34"/>
            </a:solidFill>
            <a:prstDash val="solid"/>
            <a:tailEnd type="triangle"/>
          </a:ln>
        </p:spPr>
      </p:sp>
      <p:sp>
        <p:nvSpPr>
          <p:cNvPr id="16" name="Shape 14"/>
          <p:cNvSpPr/>
          <p:nvPr/>
        </p:nvSpPr>
        <p:spPr>
          <a:xfrm>
            <a:off x="1257300" y="2308860"/>
            <a:ext cx="411480" cy="411480"/>
          </a:xfrm>
          <a:prstGeom prst="ellipse">
            <a:avLst/>
          </a:prstGeom>
          <a:solidFill>
            <a:srgbClr val="F4B9B0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1257300" y="2308860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C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2537460" y="2308860"/>
            <a:ext cx="411480" cy="411480"/>
          </a:xfrm>
          <a:prstGeom prst="ellipse">
            <a:avLst/>
          </a:prstGeom>
          <a:solidFill>
            <a:srgbClr val="F4B9B0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2537460" y="2308860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D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673352" y="2423160"/>
            <a:ext cx="859536" cy="0"/>
          </a:xfrm>
          <a:prstGeom prst="line">
            <a:avLst/>
          </a:prstGeom>
          <a:noFill/>
          <a:ln w="19050">
            <a:solidFill>
              <a:srgbClr val="C0392B"/>
            </a:solidFill>
            <a:prstDash val="solid"/>
            <a:tailEnd type="triangle"/>
          </a:ln>
        </p:spPr>
      </p:sp>
      <p:sp>
        <p:nvSpPr>
          <p:cNvPr id="21" name="Shape 19"/>
          <p:cNvSpPr/>
          <p:nvPr/>
        </p:nvSpPr>
        <p:spPr>
          <a:xfrm flipH="1">
            <a:off x="1673352" y="2606040"/>
            <a:ext cx="859536" cy="0"/>
          </a:xfrm>
          <a:prstGeom prst="line">
            <a:avLst/>
          </a:prstGeom>
          <a:noFill/>
          <a:ln w="19050">
            <a:solidFill>
              <a:srgbClr val="C0392B"/>
            </a:solidFill>
            <a:prstDash val="solid"/>
            <a:tailEnd type="triangle"/>
          </a:ln>
        </p:spPr>
      </p:sp>
      <p:sp>
        <p:nvSpPr>
          <p:cNvPr id="22" name="Text 20"/>
          <p:cNvSpPr txBox="1"/>
          <p:nvPr/>
        </p:nvSpPr>
        <p:spPr>
          <a:xfrm>
            <a:off x="548640" y="2880360"/>
            <a:ext cx="31089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50" dirty="0">
                <a:solidFill>
                  <a:srgbClr val="C039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C、D 各有一个入边，却从任何根都走不到</a:t>
            </a:r>
            <a:endParaRPr lang="en-US" sz="950" dirty="0"/>
          </a:p>
        </p:txBody>
      </p:sp>
      <p:graphicFrame>
        <p:nvGraphicFramePr>
          <p:cNvPr id="3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977640" y="960120"/>
          <a:ext cx="4709160" cy="914400"/>
        </p:xfrm>
        <a:graphic>
          <a:graphicData uri="http://schemas.openxmlformats.org/drawingml/2006/table">
            <a:tbl>
              <a:tblPr/>
              <a:tblGrid>
                <a:gridCol w="868680"/>
                <a:gridCol w="960120"/>
                <a:gridCol w="822960"/>
                <a:gridCol w="2057400"/>
              </a:tblGrid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阶段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待处理栈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已标记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动作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放入根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A</a:t>
                      </a:r>
                      <a:endParaRPr lang="en-US" sz="11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A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根先标记再入栈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弹出 A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B</a:t>
                      </a:r>
                      <a:endParaRPr lang="en-US" sz="11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A、B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沿 A → B 发现 B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弹出 B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空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A、B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标记阶段结束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清扫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空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A、B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C039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保留 A、B；</a:t>
                      </a:r>
                      <a:r>
                        <a:rPr lang="en-US" sz="1100" b="1" dirty="0">
                          <a:solidFill>
                            <a:srgbClr val="C039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回收 C、D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</a:tr>
            </a:tbl>
          </a:graphicData>
        </a:graphic>
      </p:graphicFrame>
      <p:sp>
        <p:nvSpPr>
          <p:cNvPr id="24" name="Shape 21"/>
          <p:cNvSpPr/>
          <p:nvPr/>
        </p:nvSpPr>
        <p:spPr>
          <a:xfrm>
            <a:off x="3977640" y="3063240"/>
            <a:ext cx="4709160" cy="1005840"/>
          </a:xfrm>
          <a:prstGeom prst="roundRect">
            <a:avLst>
              <a:gd name="adj" fmla="val 7273"/>
            </a:avLst>
          </a:prstGeom>
          <a:solidFill>
            <a:srgbClr val="FDF0EE"/>
          </a:solidFill>
          <a:ln/>
        </p:spPr>
      </p:sp>
      <p:sp>
        <p:nvSpPr>
          <p:cNvPr id="25" name="Text 22"/>
          <p:cNvSpPr txBox="1"/>
          <p:nvPr/>
        </p:nvSpPr>
        <p:spPr>
          <a:xfrm>
            <a:off x="4114800" y="3154680"/>
            <a:ext cx="4434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C039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一定要「先标记、再入栈」</a:t>
            </a:r>
            <a:endParaRPr lang="en-US" sz="1200" dirty="0"/>
          </a:p>
        </p:txBody>
      </p:sp>
      <p:sp>
        <p:nvSpPr>
          <p:cNvPr id="26" name="Text 23"/>
          <p:cNvSpPr txBox="1"/>
          <p:nvPr/>
        </p:nvSpPr>
        <p:spPr>
          <a:xfrm>
            <a:off x="4114800" y="3447288"/>
            <a:ext cx="44348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若等到弹出时才标，环或菱形共享会把同一结点</a:t>
            </a:r>
            <a:r>
              <a:rPr lang="en-US" sz="10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反复压栈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；结果也许仍对，空间和时间却可能失控。</a:t>
            </a:r>
            <a:endParaRPr lang="en-US" sz="1050" dirty="0"/>
          </a:p>
        </p:txBody>
      </p:sp>
      <p:sp>
        <p:nvSpPr>
          <p:cNvPr id="27" name="Shape 24"/>
          <p:cNvSpPr/>
          <p:nvPr/>
        </p:nvSpPr>
        <p:spPr>
          <a:xfrm>
            <a:off x="457200" y="3474720"/>
            <a:ext cx="3291840" cy="1188720"/>
          </a:xfrm>
          <a:prstGeom prst="roundRect">
            <a:avLst>
              <a:gd name="adj" fmla="val 6154"/>
            </a:avLst>
          </a:prstGeom>
          <a:solidFill>
            <a:srgbClr val="CFE0D8"/>
          </a:solidFill>
          <a:ln/>
        </p:spPr>
      </p:sp>
      <p:sp>
        <p:nvSpPr>
          <p:cNvPr id="28" name="Text 25"/>
          <p:cNvSpPr txBox="1"/>
          <p:nvPr/>
        </p:nvSpPr>
        <p:spPr>
          <a:xfrm>
            <a:off x="594360" y="3566160"/>
            <a:ext cx="3017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一个被三处引用的对象</a:t>
            </a:r>
            <a:endParaRPr lang="en-US" sz="1200" dirty="0"/>
          </a:p>
        </p:txBody>
      </p:sp>
      <p:sp>
        <p:nvSpPr>
          <p:cNvPr id="29" name="Text 26"/>
          <p:cNvSpPr txBox="1"/>
          <p:nvPr/>
        </p:nvSpPr>
        <p:spPr>
          <a:xfrm>
            <a:off x="594360" y="3858768"/>
            <a:ext cx="3017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谁都够不着根 → 引用计数收不回，标记–清除</a:t>
            </a:r>
            <a:r>
              <a:rPr lang="en-US" sz="10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照收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</a:t>
            </a:r>
            <a:endParaRPr lang="en-US" sz="1050" dirty="0"/>
          </a:p>
        </p:txBody>
      </p:sp>
      <p:sp>
        <p:nvSpPr>
          <p:cNvPr id="30" name="Text 27"/>
          <p:cNvSpPr txBox="1"/>
          <p:nvPr/>
        </p:nvSpPr>
        <p:spPr>
          <a:xfrm>
            <a:off x="3977640" y="4160520"/>
            <a:ext cx="47091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清除阶段顺着堆里所有对象串成的链走一遍：没标记的删掉，有标记的把标记清零，为下一轮复位。</a:t>
            </a:r>
            <a:endParaRPr lang="en-US" sz="1000" dirty="0"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12.2</a:t>
            </a:r>
            <a:endParaRPr lang="en-US" sz="9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12.2.4 无用单元回收 · code/ch12/storage_recovery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collect = mark + sweep；标记用显式栈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35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457200" y="960120"/>
            <a:ext cx="5669280" cy="3703320"/>
          </a:xfrm>
          <a:prstGeom prst="roundRect">
            <a:avLst>
              <a:gd name="adj" fmla="val 1975"/>
            </a:avLst>
          </a:prstGeom>
          <a:solidFill>
            <a:srgbClr val="F1F4F2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530352" y="1005840"/>
            <a:ext cx="5522976" cy="361188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std::size_t collect(const std::vector&lt;Node*&gt;&amp; roots) {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mark(roots);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return sweep();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}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r>
              <a:rPr lang="en-US" sz="85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...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void mark(const std::vector&lt;Node*&gt;&amp; roots) {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std::vector&lt;Node*&gt; pending;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for (Node* root : roots) {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if (root != nullptr &amp;&amp; !root-&gt;marked) {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   root-&gt;marked = true;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   pending.push_back(root);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}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}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while (!pending.empty()) {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Node* node = pending.back();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pending.pop_back();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for (Node* next : node-&gt;edges) {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   if (next != nullptr &amp;&amp; !next-&gt;marked) {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       next-&gt;marked = true;   </a:t>
            </a:r>
            <a:r>
              <a:rPr lang="en-US" sz="85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先标记再入栈：环不会让这里转不出来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       pending.push_back(next);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   }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}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}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}</a:t>
            </a:r>
            <a:endParaRPr lang="en-US" sz="850" dirty="0"/>
          </a:p>
        </p:txBody>
      </p:sp>
      <p:sp>
        <p:nvSpPr>
          <p:cNvPr id="9" name="Shape 7"/>
          <p:cNvSpPr/>
          <p:nvPr/>
        </p:nvSpPr>
        <p:spPr>
          <a:xfrm>
            <a:off x="6355080" y="960120"/>
            <a:ext cx="2331720" cy="1783080"/>
          </a:xfrm>
          <a:prstGeom prst="roundRect">
            <a:avLst>
              <a:gd name="adj" fmla="val 4103"/>
            </a:avLst>
          </a:prstGeom>
          <a:solidFill>
            <a:srgbClr val="FFF6E0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6492240" y="1051560"/>
            <a:ext cx="2057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为什么不递归</a:t>
            </a:r>
            <a:endParaRPr lang="en-US" sz="1200" dirty="0"/>
          </a:p>
        </p:txBody>
      </p:sp>
      <p:sp>
        <p:nvSpPr>
          <p:cNvPr id="11" name="Text 9"/>
          <p:cNvSpPr txBox="1"/>
          <p:nvPr/>
        </p:nvSpPr>
        <p:spPr>
          <a:xfrm>
            <a:off x="6492240" y="1344168"/>
            <a:ext cx="205740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GC 恰恰是在</a:t>
            </a:r>
            <a:r>
              <a:rPr lang="en-US" sz="10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内存吃紧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时跑的，那时最不该再去吃调用栈。测试里有 </a:t>
            </a:r>
            <a:r>
              <a:rPr lang="en-US" sz="10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20 万个对象的深链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，递归标记必然压穿栈。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6355080" y="2880360"/>
            <a:ext cx="2331720" cy="1783080"/>
          </a:xfrm>
          <a:prstGeom prst="roundRect">
            <a:avLst>
              <a:gd name="adj" fmla="val 4103"/>
            </a:avLst>
          </a:prstGeom>
          <a:solidFill>
            <a:srgbClr val="CFE0D8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6492240" y="2971800"/>
            <a:ext cx="2057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它仍是教学模型</a:t>
            </a:r>
            <a:endParaRPr lang="en-US" sz="1200" dirty="0"/>
          </a:p>
        </p:txBody>
      </p:sp>
      <p:sp>
        <p:nvSpPr>
          <p:cNvPr id="14" name="Text 12"/>
          <p:cNvSpPr txBox="1"/>
          <p:nvPr/>
        </p:nvSpPr>
        <p:spPr>
          <a:xfrm>
            <a:off x="6464808" y="3264408"/>
            <a:ext cx="2112264" cy="132588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marL="177800" indent="-177800">
              <a:spcAft>
                <a:spcPts val="400"/>
              </a:spcAft>
              <a:buSzPct val="100000"/>
              <a:buChar char="•"/>
            </a:pP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出边是一张表，</a:t>
            </a:r>
            <a:r>
              <a:rPr lang="en-US" sz="100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collect()</a:t>
            </a: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接受</a:t>
            </a:r>
            <a:r>
              <a:rPr lang="en-US" sz="10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一组</a:t>
            </a: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根。</a:t>
            </a:r>
            <a:endParaRPr lang="en-US" sz="1000" dirty="0"/>
          </a:p>
          <a:p>
            <a:pPr marL="177800" indent="-177800">
              <a:spcAft>
                <a:spcPts val="400"/>
              </a:spcAft>
              <a:buSzPct val="100000"/>
              <a:buChar char="•"/>
            </a:pP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没有栈扫描、写屏障、分代，也不区分指针与整数——那恰恰是真实 GC </a:t>
            </a:r>
            <a:r>
              <a:rPr lang="en-US" sz="10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最难</a:t>
            </a: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的部分。</a:t>
            </a:r>
            <a:endParaRPr lang="en-US" sz="1000" dirty="0"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solidFill>
          <a:srgbClr val="1E3D3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309360" y="-1188720"/>
            <a:ext cx="3840480" cy="3840480"/>
          </a:xfrm>
          <a:prstGeom prst="ellipse">
            <a:avLst/>
          </a:prstGeom>
          <a:solidFill>
            <a:srgbClr val="2F5C4C"/>
          </a:solidFill>
          <a:ln/>
        </p:spPr>
      </p:sp>
      <p:sp>
        <p:nvSpPr>
          <p:cNvPr id="3" name="Shape 1"/>
          <p:cNvSpPr/>
          <p:nvPr/>
        </p:nvSpPr>
        <p:spPr>
          <a:xfrm>
            <a:off x="7223760" y="3017520"/>
            <a:ext cx="2651760" cy="2651760"/>
          </a:xfrm>
          <a:prstGeom prst="ellipse">
            <a:avLst/>
          </a:prstGeom>
          <a:solidFill>
            <a:srgbClr val="F2B134">
              <a:alpha val="45000"/>
            </a:srgbClr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640080" y="1554480"/>
            <a:ext cx="5486400" cy="32004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12.3</a:t>
            </a:r>
            <a:endParaRPr lang="en-US" sz="1300" dirty="0"/>
          </a:p>
        </p:txBody>
      </p:sp>
      <p:sp>
        <p:nvSpPr>
          <p:cNvPr id="5" name="Text 3"/>
          <p:cNvSpPr txBox="1"/>
          <p:nvPr/>
        </p:nvSpPr>
        <p:spPr>
          <a:xfrm>
            <a:off x="640080" y="1874520"/>
            <a:ext cx="6400800" cy="7315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Trie 结构和 Patricia 树</a:t>
            </a:r>
            <a:endParaRPr lang="en-US" sz="3400" dirty="0"/>
          </a:p>
        </p:txBody>
      </p:sp>
      <p:sp>
        <p:nvSpPr>
          <p:cNvPr id="6" name="Text 4"/>
          <p:cNvSpPr txBox="1"/>
          <p:nvPr/>
        </p:nvSpPr>
        <p:spPr>
          <a:xfrm>
            <a:off x="640080" y="2697480"/>
            <a:ext cx="5760720" cy="9144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CFE0D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换一种「分解」：按关键码的字符或位分层</a:t>
            </a:r>
            <a:endParaRPr lang="en-US" sz="1300" dirty="0"/>
          </a:p>
          <a:p>
            <a:pPr algn="l"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CFE0D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二叉 Trie · 字母 Trie · 最长前缀匹配 · Patricia</a:t>
            </a:r>
            <a:endParaRPr lang="en-US" sz="1300" dirty="0"/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12.3</a:t>
            </a:r>
            <a:endParaRPr lang="en-US" sz="9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12.3 Trie 结构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BST 与 Trie 分属两种「分解」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37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457200" y="960120"/>
            <a:ext cx="3977640" cy="2331720"/>
          </a:xfrm>
          <a:prstGeom prst="roundRect">
            <a:avLst>
              <a:gd name="adj" fmla="val 3137"/>
            </a:avLst>
          </a:prstGeom>
          <a:solidFill>
            <a:srgbClr val="F1F4F2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640080" y="1033272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对象空间分解（BST）</a:t>
            </a:r>
            <a:endParaRPr lang="en-US" sz="1400" dirty="0"/>
          </a:p>
        </p:txBody>
      </p:sp>
      <p:sp>
        <p:nvSpPr>
          <p:cNvPr id="9" name="Text 7"/>
          <p:cNvSpPr txBox="1"/>
          <p:nvPr/>
        </p:nvSpPr>
        <p:spPr>
          <a:xfrm>
            <a:off x="594360" y="1417320"/>
            <a:ext cx="3749040" cy="18288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关键码范围怎么划分，由</a:t>
            </a:r>
            <a:r>
              <a:rPr lang="en-US" sz="11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存进树里的关键码</a:t>
            </a: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决定。</a:t>
            </a:r>
            <a:endParaRPr lang="en-US" sz="115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树形与输入顺序关系很大：升序输入退化成线性表，查找 </a:t>
            </a:r>
            <a:r>
              <a:rPr lang="en-US" sz="11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O(n)</a:t>
            </a: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4709160" y="960120"/>
            <a:ext cx="3977640" cy="2331720"/>
          </a:xfrm>
          <a:prstGeom prst="roundRect">
            <a:avLst>
              <a:gd name="adj" fmla="val 3137"/>
            </a:avLst>
          </a:prstGeom>
          <a:solidFill>
            <a:srgbClr val="EAF4EF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4892040" y="1033272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2E9E6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关键码空间分解（Trie）</a:t>
            </a:r>
            <a:endParaRPr lang="en-US" sz="1400" dirty="0"/>
          </a:p>
        </p:txBody>
      </p:sp>
      <p:sp>
        <p:nvSpPr>
          <p:cNvPr id="12" name="Text 10"/>
          <p:cNvSpPr txBox="1"/>
          <p:nvPr/>
        </p:nvSpPr>
        <p:spPr>
          <a:xfrm>
            <a:off x="4846320" y="1417320"/>
            <a:ext cx="3749040" cy="18288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对每个结点</a:t>
            </a:r>
            <a:r>
              <a:rPr lang="en-US" sz="11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预定义划分位置</a:t>
            </a: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，均分关键码范围。</a:t>
            </a:r>
            <a:endParaRPr lang="en-US" sz="115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树形</a:t>
            </a:r>
            <a:r>
              <a:rPr lang="en-US" sz="11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不依赖插入顺序</a:t>
            </a: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，深度只受</a:t>
            </a:r>
            <a:r>
              <a:rPr lang="en-US" sz="11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关键码精度</a:t>
            </a: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影响：0～255 的整数精度 8 位，只在最低位不同的两个关键码到第 8 次划分才分开。</a:t>
            </a:r>
            <a:endParaRPr lang="en-US" sz="115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3429000"/>
            <a:ext cx="5394960" cy="128016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marL="177800" indent="-177800">
              <a:spcAft>
                <a:spcPts val="500"/>
              </a:spcAft>
              <a:buSzPct val="100000"/>
              <a:buChar char="•"/>
            </a:pP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「trie」来自 re</a:t>
            </a:r>
            <a:r>
              <a:rPr lang="en-US" sz="11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trie</a:t>
            </a: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val：信息检索；常用于存英文词典。</a:t>
            </a:r>
            <a:endParaRPr lang="en-US" sz="1100" dirty="0"/>
          </a:p>
          <a:p>
            <a:pPr marL="177800" indent="-177800">
              <a:spcAft>
                <a:spcPts val="500"/>
              </a:spcAft>
              <a:buSzPct val="100000"/>
              <a:buChar char="•"/>
            </a:pP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Trie 基于两个原则：</a:t>
            </a:r>
            <a:r>
              <a:rPr lang="en-US" sz="11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关键码集合固定；能对结点分层标记</a:t>
            </a: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（如 0～9 的数字，根分出 10 个子结点）。</a:t>
            </a:r>
            <a:endParaRPr lang="en-US" sz="1100" dirty="0"/>
          </a:p>
          <a:p>
            <a:pPr marL="177800" indent="-177800">
              <a:spcAft>
                <a:spcPts val="500"/>
              </a:spcAft>
              <a:buSzPct val="100000"/>
              <a:buChar char="•"/>
            </a:pP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与 B+ 树一样，内部结点只作</a:t>
            </a:r>
            <a:r>
              <a:rPr lang="en-US" sz="11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占位符</a:t>
            </a: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引导检索，数据记录只存在叶结点。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6035040" y="3429000"/>
            <a:ext cx="2651760" cy="1234440"/>
          </a:xfrm>
          <a:prstGeom prst="roundRect">
            <a:avLst>
              <a:gd name="adj" fmla="val 5926"/>
            </a:avLst>
          </a:prstGeom>
          <a:solidFill>
            <a:srgbClr val="FDF0EE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6172200" y="3520440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C039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但不保证平衡</a:t>
            </a:r>
            <a:endParaRPr lang="en-US" sz="1200" dirty="0"/>
          </a:p>
        </p:txBody>
      </p:sp>
      <p:sp>
        <p:nvSpPr>
          <p:cNvPr id="16" name="Text 14"/>
          <p:cNvSpPr txBox="1"/>
          <p:nvPr/>
        </p:nvSpPr>
        <p:spPr>
          <a:xfrm>
            <a:off x="6172200" y="3813048"/>
            <a:ext cx="2377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关键码分布不均时，比如都小于根的划分点，右子树就一个元素也没有。</a:t>
            </a:r>
            <a:endParaRPr lang="en-US" sz="1050" dirty="0"/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12.3</a:t>
            </a:r>
            <a:endParaRPr lang="en-US" sz="9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12.3 Trie 结构 · 二叉 Trie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二叉 Trie：按数值区间对半分，左枝 0、右枝 1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38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457200" y="960120"/>
            <a:ext cx="4846320" cy="3703320"/>
          </a:xfrm>
          <a:prstGeom prst="roundRect">
            <a:avLst>
              <a:gd name="adj" fmla="val 1975"/>
            </a:avLst>
          </a:prstGeom>
          <a:solidFill>
            <a:srgbClr val="F1F4F2"/>
          </a:solidFill>
          <a:ln/>
        </p:spPr>
      </p:sp>
      <p:pic>
        <p:nvPicPr>
          <p:cNvPr id="8" name="Image 0" descr="fig-12-16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244584"/>
            <a:ext cx="4663440" cy="2841784"/>
          </a:xfrm>
          <a:prstGeom prst="rect">
            <a:avLst/>
          </a:prstGeom>
        </p:spPr>
      </p:pic>
      <p:sp>
        <p:nvSpPr>
          <p:cNvPr id="9" name="Text 6"/>
          <p:cNvSpPr txBox="1"/>
          <p:nvPr/>
        </p:nvSpPr>
        <p:spPr>
          <a:xfrm>
            <a:off x="502920" y="4334256"/>
            <a:ext cx="4754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5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图 12.16  二叉 Trie 树（元素 2、5、9、17、41、45、63）</a:t>
            </a:r>
            <a:endParaRPr lang="en-US" sz="950" dirty="0"/>
          </a:p>
        </p:txBody>
      </p:sp>
      <p:sp>
        <p:nvSpPr>
          <p:cNvPr id="10" name="Text 7"/>
          <p:cNvSpPr txBox="1"/>
          <p:nvPr/>
        </p:nvSpPr>
        <p:spPr>
          <a:xfrm>
            <a:off x="5532120" y="960120"/>
            <a:ext cx="3154680" cy="265176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marL="177800" indent="-177800">
              <a:spcAft>
                <a:spcPts val="700"/>
              </a:spcAft>
              <a:buSzPct val="100000"/>
              <a:buChar char="•"/>
            </a:pP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最大元素 63 → 关键码范围取 </a:t>
            </a:r>
            <a:r>
              <a:rPr lang="en-US" sz="11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[0, 64)</a:t>
            </a: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</a:t>
            </a:r>
            <a:endParaRPr lang="en-US" sz="1150" dirty="0"/>
          </a:p>
          <a:p>
            <a:pPr marL="177800" indent="-177800">
              <a:spcAft>
                <a:spcPts val="700"/>
              </a:spcAft>
              <a:buSzPct val="100000"/>
              <a:buChar char="•"/>
            </a:pP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根把范围劈成 [0, 32) 和 [32, 64)：2、5、9、17 进左子树，41、45、63 进右子树。</a:t>
            </a:r>
            <a:endParaRPr lang="en-US" sz="1150" dirty="0"/>
          </a:p>
          <a:p>
            <a:pPr marL="177800" indent="-177800">
              <a:spcAft>
                <a:spcPts val="700"/>
              </a:spcAft>
              <a:buSzPct val="100000"/>
              <a:buChar char="•"/>
            </a:pP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再往下继续对半分，直到每个元素</a:t>
            </a:r>
            <a:r>
              <a:rPr lang="en-US" sz="11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单独落在一个叶上</a:t>
            </a: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</a:t>
            </a:r>
            <a:endParaRPr lang="en-US" sz="1150" dirty="0"/>
          </a:p>
          <a:p>
            <a:pPr marL="177800" indent="-177800">
              <a:spcAft>
                <a:spcPts val="700"/>
              </a:spcAft>
              <a:buSzPct val="100000"/>
              <a:buChar char="•"/>
            </a:pP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同一棵子树下的关键码</a:t>
            </a:r>
            <a:r>
              <a:rPr lang="en-US" sz="11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共享父结点代表的前缀</a:t>
            </a: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</a:t>
            </a:r>
            <a:endParaRPr lang="en-US" sz="1150" dirty="0"/>
          </a:p>
        </p:txBody>
      </p:sp>
      <p:sp>
        <p:nvSpPr>
          <p:cNvPr id="11" name="Shape 8"/>
          <p:cNvSpPr/>
          <p:nvPr/>
        </p:nvSpPr>
        <p:spPr>
          <a:xfrm>
            <a:off x="5532120" y="3657600"/>
            <a:ext cx="3154680" cy="1005840"/>
          </a:xfrm>
          <a:prstGeom prst="roundRect">
            <a:avLst>
              <a:gd name="adj" fmla="val 7273"/>
            </a:avLst>
          </a:prstGeom>
          <a:solidFill>
            <a:srgbClr val="CFE0D8"/>
          </a:solidFill>
          <a:ln/>
        </p:spPr>
      </p:sp>
      <p:sp>
        <p:nvSpPr>
          <p:cNvPr id="12" name="Text 9"/>
          <p:cNvSpPr txBox="1"/>
          <p:nvPr/>
        </p:nvSpPr>
        <p:spPr>
          <a:xfrm>
            <a:off x="5669280" y="3749040"/>
            <a:ext cx="2880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老朋友</a:t>
            </a:r>
            <a:endParaRPr lang="en-US" sz="1200" dirty="0"/>
          </a:p>
        </p:txBody>
      </p:sp>
      <p:sp>
        <p:nvSpPr>
          <p:cNvPr id="13" name="Text 10"/>
          <p:cNvSpPr txBox="1"/>
          <p:nvPr/>
        </p:nvSpPr>
        <p:spPr>
          <a:xfrm>
            <a:off x="5669280" y="4041648"/>
            <a:ext cx="2880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第 5 章的 Huffman 编码树也有「共享前缀」这个性质——</a:t>
            </a:r>
            <a:r>
              <a:rPr lang="en-US" sz="10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Huffman 树就是一种二叉 Trie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</a:t>
            </a:r>
            <a:endParaRPr lang="en-US" sz="1050" dirty="0"/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12.3</a:t>
            </a:r>
            <a:endParaRPr lang="en-US" sz="9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12.3 Trie 结构 · 字母 Trie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can、car、cat、do 插进字母 Trie：公共前缀 ca 只存一次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39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457200" y="960120"/>
            <a:ext cx="2377440" cy="2011680"/>
          </a:xfrm>
          <a:prstGeom prst="roundRect">
            <a:avLst>
              <a:gd name="adj" fmla="val 3636"/>
            </a:avLst>
          </a:prstGeom>
          <a:solidFill>
            <a:srgbClr val="F1F4F2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530352" y="1005840"/>
            <a:ext cx="2231136" cy="192024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2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·</a:t>
            </a:r>
            <a:endParaRPr lang="en-US" sz="12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2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/ \</a:t>
            </a:r>
            <a:endParaRPr lang="en-US" sz="12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2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c   d</a:t>
            </a:r>
            <a:endParaRPr lang="en-US" sz="12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2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|   |</a:t>
            </a:r>
            <a:endParaRPr lang="en-US" sz="12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2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a   o*</a:t>
            </a:r>
            <a:endParaRPr lang="en-US" sz="12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2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/|\</a:t>
            </a:r>
            <a:endParaRPr lang="en-US" sz="12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2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n* r* t*</a:t>
            </a:r>
            <a:endParaRPr lang="en-US" sz="1200" dirty="0"/>
          </a:p>
        </p:txBody>
      </p:sp>
      <p:sp>
        <p:nvSpPr>
          <p:cNvPr id="9" name="Text 7"/>
          <p:cNvSpPr txBox="1"/>
          <p:nvPr/>
        </p:nvSpPr>
        <p:spPr>
          <a:xfrm>
            <a:off x="457200" y="3017520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带 * 的是词尾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3063240" y="960120"/>
            <a:ext cx="5623560" cy="2331720"/>
          </a:xfrm>
          <a:prstGeom prst="roundRect">
            <a:avLst>
              <a:gd name="adj" fmla="val 3137"/>
            </a:avLst>
          </a:prstGeom>
          <a:solidFill>
            <a:srgbClr val="F1F4F2"/>
          </a:solidFill>
          <a:ln/>
        </p:spPr>
      </p:sp>
      <p:pic>
        <p:nvPicPr>
          <p:cNvPr id="11" name="Image 0" descr="fig-12-17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544062" y="1051560"/>
            <a:ext cx="4661916" cy="1856232"/>
          </a:xfrm>
          <a:prstGeom prst="rect">
            <a:avLst/>
          </a:prstGeom>
        </p:spPr>
      </p:pic>
      <p:sp>
        <p:nvSpPr>
          <p:cNvPr id="12" name="Text 9"/>
          <p:cNvSpPr txBox="1"/>
          <p:nvPr/>
        </p:nvSpPr>
        <p:spPr>
          <a:xfrm>
            <a:off x="3108960" y="2962656"/>
            <a:ext cx="5532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图 12.17  按字符分支存放单词的 Trie（原书例）</a:t>
            </a:r>
            <a:endParaRPr lang="en-US" sz="900" dirty="0"/>
          </a:p>
        </p:txBody>
      </p:sp>
      <p:sp>
        <p:nvSpPr>
          <p:cNvPr id="13" name="Text 10"/>
          <p:cNvSpPr txBox="1"/>
          <p:nvPr/>
        </p:nvSpPr>
        <p:spPr>
          <a:xfrm>
            <a:off x="457200" y="3429000"/>
            <a:ext cx="5120640" cy="128016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marL="177800" indent="-177800">
              <a:spcAft>
                <a:spcPts val="500"/>
              </a:spcAft>
              <a:buSzPct val="100000"/>
              <a:buChar char="•"/>
            </a:pP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第 i 层对应第 i 个字符；查找沿字符走，时间与</a:t>
            </a:r>
            <a:r>
              <a:rPr lang="en-US" sz="11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关键码长度</a:t>
            </a: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成正比，与表里有多少个词关系不大。</a:t>
            </a:r>
            <a:endParaRPr lang="en-US" sz="1100" dirty="0"/>
          </a:p>
          <a:p>
            <a:pPr marL="177800" indent="-177800">
              <a:spcAft>
                <a:spcPts val="500"/>
              </a:spcAft>
              <a:buSzPct val="100000"/>
              <a:buChar char="•"/>
            </a:pP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查 </a:t>
            </a:r>
            <a:r>
              <a:rPr lang="en-US" sz="110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car</a:t>
            </a: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：c–a–r，三步；查 </a:t>
            </a:r>
            <a:r>
              <a:rPr lang="en-US" sz="110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cab</a:t>
            </a: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：在 b 处没有分支，</a:t>
            </a:r>
            <a:r>
              <a:rPr lang="en-US" sz="11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失败</a:t>
            </a: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</a:t>
            </a:r>
            <a:endParaRPr lang="en-US" sz="1100" dirty="0"/>
          </a:p>
          <a:p>
            <a:pPr marL="177800" indent="-177800">
              <a:spcAft>
                <a:spcPts val="500"/>
              </a:spcAft>
              <a:buSzPct val="100000"/>
              <a:buChar char="•"/>
            </a:pPr>
            <a:r>
              <a:rPr lang="en-US" sz="11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最长前缀匹配</a:t>
            </a: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（路由）：走到不能再走为止，回退到最近的词尾。</a:t>
            </a:r>
            <a:endParaRPr lang="en-US" sz="1100" dirty="0"/>
          </a:p>
        </p:txBody>
      </p:sp>
      <p:sp>
        <p:nvSpPr>
          <p:cNvPr id="14" name="Shape 11"/>
          <p:cNvSpPr/>
          <p:nvPr/>
        </p:nvSpPr>
        <p:spPr>
          <a:xfrm>
            <a:off x="5806440" y="3429000"/>
            <a:ext cx="2880360" cy="1234440"/>
          </a:xfrm>
          <a:prstGeom prst="roundRect">
            <a:avLst>
              <a:gd name="adj" fmla="val 5926"/>
            </a:avLst>
          </a:prstGeom>
          <a:solidFill>
            <a:srgbClr val="1E3D34"/>
          </a:solidFill>
          <a:ln/>
        </p:spPr>
      </p:sp>
      <p:sp>
        <p:nvSpPr>
          <p:cNvPr id="15" name="Text 12"/>
          <p:cNvSpPr txBox="1"/>
          <p:nvPr/>
        </p:nvSpPr>
        <p:spPr>
          <a:xfrm>
            <a:off x="5943600" y="3520440"/>
            <a:ext cx="2651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11 个字符 → 7 个结点</a:t>
            </a:r>
            <a:endParaRPr lang="en-US" sz="1500" dirty="0"/>
          </a:p>
        </p:txBody>
      </p:sp>
      <p:sp>
        <p:nvSpPr>
          <p:cNvPr id="16" name="Text 13"/>
          <p:cNvSpPr txBox="1"/>
          <p:nvPr/>
        </p:nvSpPr>
        <p:spPr>
          <a:xfrm>
            <a:off x="5943600" y="3904488"/>
            <a:ext cx="26517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95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c、a、n、r、t、d、o：</a:t>
            </a:r>
            <a:r>
              <a:rPr lang="en-US" sz="9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ca</a:t>
            </a:r>
            <a:r>
              <a:rPr lang="en-US" sz="95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只存了一次。字典、IP 路由这类「按前缀分类」的问题特别合适。</a:t>
            </a:r>
            <a:endParaRPr lang="en-US" sz="950" dirty="0"/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12.3</a:t>
            </a:r>
            <a:endParaRPr lang="en-US" sz="9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12.3 Trie 结构 · code/ch12/trie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Trie::insert：沿途建结点，并维护 passing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40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457200" y="960120"/>
            <a:ext cx="5394960" cy="3703320"/>
          </a:xfrm>
          <a:prstGeom prst="roundRect">
            <a:avLst>
              <a:gd name="adj" fmla="val 1975"/>
            </a:avLst>
          </a:prstGeom>
          <a:solidFill>
            <a:srgbClr val="F1F4F2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530352" y="1005840"/>
            <a:ext cx="5248656" cy="361188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bool insert(std::string_view word) {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validate(word);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Node* node = &amp;root_;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for (const char letter : word) {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const std::size_t slot = index_of(letter);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if (!node-&gt;children[slot]) {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   node-&gt;children[slot] = std::make_unique&lt;Node&gt;();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   ++nodes_;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}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node = node-&gt;children[slot].get();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++node-&gt;passing;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}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if (node-&gt;terminal) {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</a:t>
            </a:r>
            <a:r>
              <a:rPr lang="en-US" sz="90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词已存在：把刚才一路加上的 passing 退回去。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unwind(word);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return false;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}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node-&gt;terminal = true;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++size_;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return true;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}</a:t>
            </a:r>
            <a:endParaRPr lang="en-US" sz="900" dirty="0"/>
          </a:p>
        </p:txBody>
      </p:sp>
      <p:sp>
        <p:nvSpPr>
          <p:cNvPr id="9" name="Text 7"/>
          <p:cNvSpPr txBox="1"/>
          <p:nvPr/>
        </p:nvSpPr>
        <p:spPr>
          <a:xfrm>
            <a:off x="6080760" y="960120"/>
            <a:ext cx="2560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结点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6080760" y="1261872"/>
            <a:ext cx="2606040" cy="1188720"/>
          </a:xfrm>
          <a:prstGeom prst="roundRect">
            <a:avLst>
              <a:gd name="adj" fmla="val 6154"/>
            </a:avLst>
          </a:prstGeom>
          <a:solidFill>
            <a:srgbClr val="F1F4F2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6153912" y="1307592"/>
            <a:ext cx="2459736" cy="109728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struct Node {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std::array&lt;std::unique_ptr&lt;Node&gt;,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  kAlphabet&gt; children{};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bool terminal = false;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std::size_t passing = 0;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};</a:t>
            </a:r>
            <a:endParaRPr lang="en-US" sz="850" dirty="0"/>
          </a:p>
        </p:txBody>
      </p:sp>
      <p:sp>
        <p:nvSpPr>
          <p:cNvPr id="12" name="Shape 10"/>
          <p:cNvSpPr/>
          <p:nvPr/>
        </p:nvSpPr>
        <p:spPr>
          <a:xfrm>
            <a:off x="6080760" y="2606040"/>
            <a:ext cx="2606040" cy="2057400"/>
          </a:xfrm>
          <a:prstGeom prst="roundRect">
            <a:avLst>
              <a:gd name="adj" fmla="val 3556"/>
            </a:avLst>
          </a:prstGeom>
          <a:solidFill>
            <a:srgbClr val="FFF6E0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6217920" y="2697480"/>
            <a:ext cx="2331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passing 与 terminal</a:t>
            </a:r>
            <a:endParaRPr lang="en-US" sz="1200" dirty="0"/>
          </a:p>
        </p:txBody>
      </p:sp>
      <p:sp>
        <p:nvSpPr>
          <p:cNvPr id="14" name="Text 12"/>
          <p:cNvSpPr txBox="1"/>
          <p:nvPr/>
        </p:nvSpPr>
        <p:spPr>
          <a:xfrm>
            <a:off x="6190488" y="2990088"/>
            <a:ext cx="2386584" cy="16002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marL="177800" indent="-177800">
              <a:spcAft>
                <a:spcPts val="400"/>
              </a:spcAft>
              <a:buSzPct val="100000"/>
              <a:buChar char="•"/>
            </a:pPr>
            <a:r>
              <a:rPr lang="en-US" sz="100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passing</a:t>
            </a: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：有多少个词</a:t>
            </a:r>
            <a:r>
              <a:rPr lang="en-US" sz="10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经过</a:t>
            </a: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这里 → </a:t>
            </a:r>
            <a:r>
              <a:rPr lang="en-US" sz="100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count_with_prefix</a:t>
            </a: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一次问答，不必把子树数一遍。</a:t>
            </a:r>
            <a:endParaRPr lang="en-US" sz="1000" dirty="0"/>
          </a:p>
          <a:p>
            <a:pPr marL="177800" indent="-177800">
              <a:spcAft>
                <a:spcPts val="400"/>
              </a:spcAft>
              <a:buSzPct val="100000"/>
              <a:buChar char="•"/>
            </a:pPr>
            <a:r>
              <a:rPr lang="en-US" sz="100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terminal</a:t>
            </a: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：这里是不是</a:t>
            </a:r>
            <a:r>
              <a:rPr lang="en-US" sz="10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词尾</a:t>
            </a: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</a:t>
            </a:r>
            <a:endParaRPr lang="en-US" sz="1000" dirty="0"/>
          </a:p>
          <a:p>
            <a:pPr marL="177800" indent="-177800">
              <a:spcAft>
                <a:spcPts val="400"/>
              </a:spcAft>
              <a:buSzPct val="100000"/>
              <a:buChar char="•"/>
            </a:pP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字母表限 </a:t>
            </a:r>
            <a:r>
              <a:rPr lang="en-US" sz="100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a..z</a:t>
            </a: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，越界字符抛异常。</a:t>
            </a:r>
            <a:endParaRPr lang="en-US" sz="1000" dirty="0"/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12.3</a:t>
            </a:r>
            <a:endParaRPr lang="en-US" sz="9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12.3 Trie 结构 · code/ch12/trie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最长前缀匹配：一路往下走，随手记住最近的词尾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41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457200" y="960120"/>
            <a:ext cx="5486400" cy="3017520"/>
          </a:xfrm>
          <a:prstGeom prst="roundRect">
            <a:avLst>
              <a:gd name="adj" fmla="val 2424"/>
            </a:avLst>
          </a:prstGeom>
          <a:solidFill>
            <a:srgbClr val="F1F4F2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530352" y="1005840"/>
            <a:ext cx="5340096" cy="292608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/// 最长前缀匹配：走到走不动为止，回退到最近的词尾。IP 路由查表就是这个动作。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[[nodiscard]] std::string longest_prefix_of(std::string_view text) const {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const Node* node = &amp;root_;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std::size_t best = 0;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for (std::size_t i = 0; i &lt; text.size(); ++i) {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if (!is_letter(text[i])) {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break;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}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const Node* next = node-&gt;children[index_of(text[i])].get();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if (next == nullptr) {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break;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}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node = next;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if (node-&gt;terminal) {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best = i + 1;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}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}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return std::string(text.substr(0, best));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850" dirty="0"/>
          </a:p>
        </p:txBody>
      </p:sp>
      <p:sp>
        <p:nvSpPr>
          <p:cNvPr id="9" name="Text 7"/>
          <p:cNvSpPr txBox="1"/>
          <p:nvPr/>
        </p:nvSpPr>
        <p:spPr>
          <a:xfrm>
            <a:off x="457200" y="4069080"/>
            <a:ext cx="5486400" cy="4572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dozen</a:t>
            </a: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：d → o（词尾，best = 2）→ z 无分支，停 → 返回 </a:t>
            </a:r>
            <a:r>
              <a:rPr lang="en-US" sz="11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do</a:t>
            </a: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6172200" y="960120"/>
            <a:ext cx="2514600" cy="1783080"/>
          </a:xfrm>
          <a:prstGeom prst="roundRect">
            <a:avLst>
              <a:gd name="adj" fmla="val 4103"/>
            </a:avLst>
          </a:prstGeom>
          <a:solidFill>
            <a:srgbClr val="F1F4F2"/>
          </a:solidFill>
          <a:ln/>
        </p:spPr>
      </p:sp>
      <p:pic>
        <p:nvPicPr>
          <p:cNvPr id="11" name="Image 0" descr="fig-12-18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61142" y="1051560"/>
            <a:ext cx="1936716" cy="1307592"/>
          </a:xfrm>
          <a:prstGeom prst="rect">
            <a:avLst/>
          </a:prstGeom>
        </p:spPr>
      </p:pic>
      <p:sp>
        <p:nvSpPr>
          <p:cNvPr id="12" name="Text 9"/>
          <p:cNvSpPr txBox="1"/>
          <p:nvPr/>
        </p:nvSpPr>
        <p:spPr>
          <a:xfrm>
            <a:off x="6217920" y="2414016"/>
            <a:ext cx="2423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图 12.18  对 Trie 树的改进</a:t>
            </a:r>
            <a:endParaRPr lang="en-US" sz="900" dirty="0"/>
          </a:p>
        </p:txBody>
      </p:sp>
      <p:sp>
        <p:nvSpPr>
          <p:cNvPr id="13" name="Shape 10"/>
          <p:cNvSpPr/>
          <p:nvPr/>
        </p:nvSpPr>
        <p:spPr>
          <a:xfrm>
            <a:off x="6172200" y="2880360"/>
            <a:ext cx="2514600" cy="1783080"/>
          </a:xfrm>
          <a:prstGeom prst="roundRect">
            <a:avLst>
              <a:gd name="adj" fmla="val 4103"/>
            </a:avLst>
          </a:prstGeom>
          <a:solidFill>
            <a:srgbClr val="FFF6E0"/>
          </a:solidFill>
          <a:ln/>
        </p:spPr>
      </p:sp>
      <p:sp>
        <p:nvSpPr>
          <p:cNvPr id="14" name="Text 11"/>
          <p:cNvSpPr txBox="1"/>
          <p:nvPr/>
        </p:nvSpPr>
        <p:spPr>
          <a:xfrm>
            <a:off x="6309360" y="2971800"/>
            <a:ext cx="2240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空间是 Trie 的主要代价</a:t>
            </a:r>
            <a:endParaRPr lang="en-US" sz="1200" dirty="0"/>
          </a:p>
        </p:txBody>
      </p:sp>
      <p:sp>
        <p:nvSpPr>
          <p:cNvPr id="15" name="Text 12"/>
          <p:cNvSpPr txBox="1"/>
          <p:nvPr/>
        </p:nvSpPr>
        <p:spPr>
          <a:xfrm>
            <a:off x="6309360" y="3264408"/>
            <a:ext cx="224028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字母 Trie 每个内部结点原则上留 </a:t>
            </a:r>
            <a:r>
              <a:rPr lang="en-US" sz="10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26 条分支</a:t>
            </a: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，大部分是空的。改进：只保存实际用到的分支，代价是查一层要在表里</a:t>
            </a:r>
            <a:r>
              <a:rPr lang="en-US" sz="10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找一次</a:t>
            </a: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，不再是直接下标。</a:t>
            </a:r>
            <a:endParaRPr lang="en-US" sz="1000" dirty="0"/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12.3</a:t>
            </a:r>
            <a:endParaRPr lang="en-US" sz="9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12.3 Patricia 树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Patricia：把「只有一个孩子」的结点压缩掉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42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457200" y="960120"/>
            <a:ext cx="3977640" cy="2514600"/>
          </a:xfrm>
          <a:prstGeom prst="roundRect">
            <a:avLst>
              <a:gd name="adj" fmla="val 2909"/>
            </a:avLst>
          </a:prstGeom>
          <a:solidFill>
            <a:srgbClr val="F1F4F2"/>
          </a:solidFill>
          <a:ln/>
        </p:spPr>
      </p:sp>
      <p:pic>
        <p:nvPicPr>
          <p:cNvPr id="8" name="Image 0" descr="fig-12-19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45984" y="1051560"/>
            <a:ext cx="3000073" cy="2039112"/>
          </a:xfrm>
          <a:prstGeom prst="rect">
            <a:avLst/>
          </a:prstGeom>
        </p:spPr>
      </p:pic>
      <p:sp>
        <p:nvSpPr>
          <p:cNvPr id="9" name="Text 6"/>
          <p:cNvSpPr txBox="1"/>
          <p:nvPr/>
        </p:nvSpPr>
        <p:spPr>
          <a:xfrm>
            <a:off x="502920" y="3145536"/>
            <a:ext cx="3886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图 12.19  x 表示那一位取 0 或 1 都落在同一枝</a:t>
            </a:r>
            <a:endParaRPr lang="en-US" sz="900" dirty="0"/>
          </a:p>
        </p:txBody>
      </p:sp>
      <p:sp>
        <p:nvSpPr>
          <p:cNvPr id="10" name="Shape 7"/>
          <p:cNvSpPr/>
          <p:nvPr/>
        </p:nvSpPr>
        <p:spPr>
          <a:xfrm>
            <a:off x="4709160" y="960120"/>
            <a:ext cx="3977640" cy="2514600"/>
          </a:xfrm>
          <a:prstGeom prst="roundRect">
            <a:avLst>
              <a:gd name="adj" fmla="val 2909"/>
            </a:avLst>
          </a:prstGeom>
          <a:solidFill>
            <a:srgbClr val="F1F4F2"/>
          </a:solidFill>
          <a:ln/>
        </p:spPr>
      </p:sp>
      <p:pic>
        <p:nvPicPr>
          <p:cNvPr id="11" name="Image 1" descr="fig-12-20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77949" y="1051560"/>
            <a:ext cx="3240061" cy="2039112"/>
          </a:xfrm>
          <a:prstGeom prst="rect">
            <a:avLst/>
          </a:prstGeom>
        </p:spPr>
      </p:pic>
      <p:sp>
        <p:nvSpPr>
          <p:cNvPr id="12" name="Text 8"/>
          <p:cNvSpPr txBox="1"/>
          <p:nvPr/>
        </p:nvSpPr>
        <p:spPr>
          <a:xfrm>
            <a:off x="4754880" y="3145536"/>
            <a:ext cx="3886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图 12.20  压缩后的 PATRICIA Trie</a:t>
            </a:r>
            <a:endParaRPr lang="en-US" sz="900" dirty="0"/>
          </a:p>
        </p:txBody>
      </p:sp>
      <p:sp>
        <p:nvSpPr>
          <p:cNvPr id="13" name="Text 9"/>
          <p:cNvSpPr txBox="1"/>
          <p:nvPr/>
        </p:nvSpPr>
        <p:spPr>
          <a:xfrm>
            <a:off x="457200" y="3611880"/>
            <a:ext cx="5394960" cy="109728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marL="177800" indent="-177800">
              <a:spcAft>
                <a:spcPts val="500"/>
              </a:spcAft>
              <a:buSzPct val="100000"/>
              <a:buChar char="•"/>
            </a:pP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纯 Trie 在单孩子内部结点上仍然分支，路径偏长。</a:t>
            </a:r>
            <a:r>
              <a:rPr lang="en-US" sz="110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x</a:t>
            </a: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那一位</a:t>
            </a:r>
            <a:r>
              <a:rPr lang="en-US" sz="11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不需要用来分支</a:t>
            </a: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——把这样的层去掉就是 Patricia。</a:t>
            </a:r>
            <a:endParaRPr lang="en-US" sz="1100" dirty="0"/>
          </a:p>
          <a:p>
            <a:pPr marL="177800" indent="-177800">
              <a:spcAft>
                <a:spcPts val="500"/>
              </a:spcAft>
              <a:buSzPct val="100000"/>
              <a:buChar char="•"/>
            </a:pP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内部结点不再逐位下降，而是各自记住「</a:t>
            </a:r>
            <a:r>
              <a:rPr lang="en-US" sz="11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该比第几位</a:t>
            </a: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」；查找按记下的位取关键码的那一位，决定走左还是走右。</a:t>
            </a:r>
            <a:endParaRPr lang="en-US" sz="1100" dirty="0"/>
          </a:p>
        </p:txBody>
      </p:sp>
      <p:sp>
        <p:nvSpPr>
          <p:cNvPr id="14" name="Shape 10"/>
          <p:cNvSpPr/>
          <p:nvPr/>
        </p:nvSpPr>
        <p:spPr>
          <a:xfrm>
            <a:off x="6035040" y="3611880"/>
            <a:ext cx="2651760" cy="1051560"/>
          </a:xfrm>
          <a:prstGeom prst="roundRect">
            <a:avLst>
              <a:gd name="adj" fmla="val 6957"/>
            </a:avLst>
          </a:prstGeom>
          <a:solidFill>
            <a:srgbClr val="CFE0D8"/>
          </a:solidFill>
          <a:ln/>
        </p:spPr>
      </p:sp>
      <p:sp>
        <p:nvSpPr>
          <p:cNvPr id="15" name="Text 11"/>
          <p:cNvSpPr txBox="1"/>
          <p:nvPr/>
        </p:nvSpPr>
        <p:spPr>
          <a:xfrm>
            <a:off x="6172200" y="3703320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效果</a:t>
            </a:r>
            <a:endParaRPr lang="en-US" sz="1200" dirty="0"/>
          </a:p>
        </p:txBody>
      </p:sp>
      <p:sp>
        <p:nvSpPr>
          <p:cNvPr id="16" name="Text 12"/>
          <p:cNvSpPr txBox="1"/>
          <p:nvPr/>
        </p:nvSpPr>
        <p:spPr>
          <a:xfrm>
            <a:off x="6172200" y="3995928"/>
            <a:ext cx="23774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路径更短、结点更少，仍保持前缀共享——同样四个词，Patricia 只要 </a:t>
            </a:r>
            <a:r>
              <a:rPr lang="en-US" sz="10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 个内部结点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</a:t>
            </a:r>
            <a:endParaRPr lang="en-US" sz="1050" dirty="0"/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12.3</a:t>
            </a:r>
            <a:endParaRPr lang="en-US" sz="9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12.3 Patricia 树 · code/ch12/trie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两块基石：按位取值、第一次不同在第几位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43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457200" y="960120"/>
            <a:ext cx="5760720" cy="3017520"/>
          </a:xfrm>
          <a:prstGeom prst="roundRect">
            <a:avLst>
              <a:gd name="adj" fmla="val 2424"/>
            </a:avLst>
          </a:prstGeom>
          <a:solidFill>
            <a:srgbClr val="F1F4F2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530352" y="1005840"/>
            <a:ext cx="5614416" cy="292608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static bool bit_of(std::string_view key, std::size_t index) noexcept {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const std::size_t byte = index / 8;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if (byte &gt;= key.size()) {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return false;  </a:t>
            </a:r>
            <a:r>
              <a:rPr lang="en-US" sz="85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越过关键码长度，一律读 0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}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const auto value = static_cast&lt;unsigned char&gt;(key[byte]);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return ((value &gt;&gt; (7 - index % 8)) &amp; 1U) != 0;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static optional_bit first_differing_bit(std::string_view a, std::string_view b) {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const std::size_t longest = a.size() &gt; b.size() ? a.size() : b.size();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const std::size_t bits = (longest + 1) * 8;  </a:t>
            </a:r>
            <a:r>
              <a:rPr lang="en-US" sz="85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+1 让「一个是另一个的前缀」也能分开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for (std::size_t i = 0; i &lt; bits; ++i) {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if (bit_of(a, i) != bit_of(b, i)) {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return {true, i};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}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}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return {};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850" dirty="0"/>
          </a:p>
        </p:txBody>
      </p:sp>
      <p:sp>
        <p:nvSpPr>
          <p:cNvPr id="9" name="Text 7"/>
          <p:cNvSpPr txBox="1"/>
          <p:nvPr/>
        </p:nvSpPr>
        <p:spPr>
          <a:xfrm>
            <a:off x="457200" y="4069080"/>
            <a:ext cx="5760720" cy="59436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buNone/>
            </a:pP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关键码按字节的位串看待，</a:t>
            </a:r>
            <a:r>
              <a:rPr lang="en-US" sz="11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最高位在前</a:t>
            </a: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：第 index 位在第 index / 8 个字节里，右移 7 − index % 8 位。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446520" y="960120"/>
            <a:ext cx="2240280" cy="1645920"/>
          </a:xfrm>
          <a:prstGeom prst="roundRect">
            <a:avLst>
              <a:gd name="adj" fmla="val 4444"/>
            </a:avLst>
          </a:prstGeom>
          <a:solidFill>
            <a:srgbClr val="FFF6E0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6583680" y="1051560"/>
            <a:ext cx="1965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越界读 0</a:t>
            </a:r>
            <a:endParaRPr lang="en-US" sz="1200" dirty="0"/>
          </a:p>
        </p:txBody>
      </p:sp>
      <p:sp>
        <p:nvSpPr>
          <p:cNvPr id="12" name="Text 10"/>
          <p:cNvSpPr txBox="1"/>
          <p:nvPr/>
        </p:nvSpPr>
        <p:spPr>
          <a:xfrm>
            <a:off x="6583680" y="1344168"/>
            <a:ext cx="196596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与 </a:t>
            </a:r>
            <a:r>
              <a:rPr lang="en-US" sz="10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ab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这种「一个是另一个的前缀」也能分开；代价是关键码里</a:t>
            </a:r>
            <a:r>
              <a:rPr lang="en-US" sz="10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不能出现 '\0'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</a:t>
            </a:r>
            <a:endParaRPr lang="en-US" sz="1050" dirty="0"/>
          </a:p>
        </p:txBody>
      </p:sp>
      <p:sp>
        <p:nvSpPr>
          <p:cNvPr id="13" name="Shape 11"/>
          <p:cNvSpPr/>
          <p:nvPr/>
        </p:nvSpPr>
        <p:spPr>
          <a:xfrm>
            <a:off x="6446520" y="2743200"/>
            <a:ext cx="2240280" cy="1920240"/>
          </a:xfrm>
          <a:prstGeom prst="roundRect">
            <a:avLst>
              <a:gd name="adj" fmla="val 3810"/>
            </a:avLst>
          </a:prstGeom>
          <a:solidFill>
            <a:srgbClr val="FDF0EE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6583680" y="2834640"/>
            <a:ext cx="1965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C039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叶上必须再比一次</a:t>
            </a:r>
            <a:endParaRPr lang="en-US" sz="1200" dirty="0"/>
          </a:p>
        </p:txBody>
      </p:sp>
      <p:sp>
        <p:nvSpPr>
          <p:cNvPr id="15" name="Text 13"/>
          <p:cNvSpPr txBox="1"/>
          <p:nvPr/>
        </p:nvSpPr>
        <p:spPr>
          <a:xfrm>
            <a:off x="6583680" y="3127248"/>
            <a:ext cx="196596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沿位下降到叶后，</a:t>
            </a:r>
            <a:r>
              <a:rPr lang="en-US" sz="10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必须和叶上的完整关键码再比一次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——路上只看了少数几位，不比就会把 </a:t>
            </a:r>
            <a:r>
              <a:rPr lang="en-US" sz="10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ca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、</a:t>
            </a:r>
            <a:r>
              <a:rPr lang="en-US" sz="10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cars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判成命中。</a:t>
            </a:r>
            <a:endParaRPr lang="en-US" sz="1050" dirty="0"/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12.3</a:t>
            </a:r>
            <a:endParaRPr lang="en-US" sz="9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12.3 Patricia 树 · 例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'a' 与 'c'：第一次不同在第 6 位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44</a:t>
            </a:r>
            <a:endParaRPr lang="en-US" sz="900" dirty="0"/>
          </a:p>
        </p:txBody>
      </p:sp>
      <p:sp>
        <p:nvSpPr>
          <p:cNvPr id="7" name="Text 5"/>
          <p:cNvSpPr txBox="1"/>
          <p:nvPr/>
        </p:nvSpPr>
        <p:spPr>
          <a:xfrm>
            <a:off x="457200" y="1188720"/>
            <a:ext cx="1371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1E3D3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'a' = 0x61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1920240" y="1188720"/>
            <a:ext cx="457200" cy="411480"/>
          </a:xfrm>
          <a:prstGeom prst="rect">
            <a:avLst/>
          </a:prstGeom>
          <a:solidFill>
            <a:srgbClr val="E3E8E6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1920240" y="1188720"/>
            <a:ext cx="457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2377440" y="1188720"/>
            <a:ext cx="457200" cy="411480"/>
          </a:xfrm>
          <a:prstGeom prst="rect">
            <a:avLst/>
          </a:prstGeom>
          <a:solidFill>
            <a:srgbClr val="E3E8E6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2377440" y="1188720"/>
            <a:ext cx="457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</a:t>
            </a:r>
            <a:endParaRPr lang="en-US" sz="1400" dirty="0"/>
          </a:p>
        </p:txBody>
      </p:sp>
      <p:sp>
        <p:nvSpPr>
          <p:cNvPr id="12" name="Shape 10"/>
          <p:cNvSpPr/>
          <p:nvPr/>
        </p:nvSpPr>
        <p:spPr>
          <a:xfrm>
            <a:off x="2834640" y="1188720"/>
            <a:ext cx="457200" cy="411480"/>
          </a:xfrm>
          <a:prstGeom prst="rect">
            <a:avLst/>
          </a:prstGeom>
          <a:solidFill>
            <a:srgbClr val="E3E8E6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2834640" y="1188720"/>
            <a:ext cx="457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</a:t>
            </a:r>
            <a:endParaRPr lang="en-US" sz="1400" dirty="0"/>
          </a:p>
        </p:txBody>
      </p:sp>
      <p:sp>
        <p:nvSpPr>
          <p:cNvPr id="14" name="Shape 12"/>
          <p:cNvSpPr/>
          <p:nvPr/>
        </p:nvSpPr>
        <p:spPr>
          <a:xfrm>
            <a:off x="3291840" y="1188720"/>
            <a:ext cx="457200" cy="411480"/>
          </a:xfrm>
          <a:prstGeom prst="rect">
            <a:avLst/>
          </a:prstGeom>
          <a:solidFill>
            <a:srgbClr val="E3E8E6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3291840" y="1188720"/>
            <a:ext cx="457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3749040" y="1188720"/>
            <a:ext cx="457200" cy="411480"/>
          </a:xfrm>
          <a:prstGeom prst="rect">
            <a:avLst/>
          </a:prstGeom>
          <a:solidFill>
            <a:srgbClr val="E3E8E6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3749040" y="1188720"/>
            <a:ext cx="457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</a:t>
            </a:r>
            <a:endParaRPr lang="en-US" sz="1400" dirty="0"/>
          </a:p>
        </p:txBody>
      </p:sp>
      <p:sp>
        <p:nvSpPr>
          <p:cNvPr id="18" name="Shape 16"/>
          <p:cNvSpPr/>
          <p:nvPr/>
        </p:nvSpPr>
        <p:spPr>
          <a:xfrm>
            <a:off x="4206240" y="1188720"/>
            <a:ext cx="457200" cy="411480"/>
          </a:xfrm>
          <a:prstGeom prst="rect">
            <a:avLst/>
          </a:prstGeom>
          <a:solidFill>
            <a:srgbClr val="E3E8E6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4206240" y="1188720"/>
            <a:ext cx="457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</a:t>
            </a:r>
            <a:endParaRPr lang="en-US" sz="1400" dirty="0"/>
          </a:p>
        </p:txBody>
      </p:sp>
      <p:sp>
        <p:nvSpPr>
          <p:cNvPr id="20" name="Shape 18"/>
          <p:cNvSpPr/>
          <p:nvPr/>
        </p:nvSpPr>
        <p:spPr>
          <a:xfrm>
            <a:off x="4663440" y="1188720"/>
            <a:ext cx="457200" cy="411480"/>
          </a:xfrm>
          <a:prstGeom prst="rect">
            <a:avLst/>
          </a:prstGeom>
          <a:solidFill>
            <a:srgbClr val="F4B9B0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4663440" y="1188720"/>
            <a:ext cx="457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</a:t>
            </a:r>
            <a:endParaRPr lang="en-US" sz="1400" dirty="0"/>
          </a:p>
        </p:txBody>
      </p:sp>
      <p:sp>
        <p:nvSpPr>
          <p:cNvPr id="22" name="Shape 20"/>
          <p:cNvSpPr/>
          <p:nvPr/>
        </p:nvSpPr>
        <p:spPr>
          <a:xfrm>
            <a:off x="5120640" y="1188720"/>
            <a:ext cx="457200" cy="411480"/>
          </a:xfrm>
          <a:prstGeom prst="rect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5120640" y="1188720"/>
            <a:ext cx="457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</a:t>
            </a:r>
            <a:endParaRPr lang="en-US" sz="1400" dirty="0"/>
          </a:p>
        </p:txBody>
      </p:sp>
      <p:sp>
        <p:nvSpPr>
          <p:cNvPr id="24" name="Text 22"/>
          <p:cNvSpPr txBox="1"/>
          <p:nvPr/>
        </p:nvSpPr>
        <p:spPr>
          <a:xfrm>
            <a:off x="457200" y="1783080"/>
            <a:ext cx="1371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1E3D3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'c' = 0x63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1920240" y="1783080"/>
            <a:ext cx="457200" cy="411480"/>
          </a:xfrm>
          <a:prstGeom prst="rect">
            <a:avLst/>
          </a:prstGeom>
          <a:solidFill>
            <a:srgbClr val="E3E8E6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26" name="Text 24"/>
          <p:cNvSpPr txBox="1"/>
          <p:nvPr/>
        </p:nvSpPr>
        <p:spPr>
          <a:xfrm>
            <a:off x="1920240" y="1783080"/>
            <a:ext cx="457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</a:t>
            </a:r>
            <a:endParaRPr lang="en-US" sz="1400" dirty="0"/>
          </a:p>
        </p:txBody>
      </p:sp>
      <p:sp>
        <p:nvSpPr>
          <p:cNvPr id="27" name="Text 25"/>
          <p:cNvSpPr txBox="1"/>
          <p:nvPr/>
        </p:nvSpPr>
        <p:spPr>
          <a:xfrm>
            <a:off x="1920240" y="2194560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</a:t>
            </a:r>
            <a:endParaRPr lang="en-US" sz="800" dirty="0"/>
          </a:p>
        </p:txBody>
      </p:sp>
      <p:sp>
        <p:nvSpPr>
          <p:cNvPr id="28" name="Shape 26"/>
          <p:cNvSpPr/>
          <p:nvPr/>
        </p:nvSpPr>
        <p:spPr>
          <a:xfrm>
            <a:off x="2377440" y="1783080"/>
            <a:ext cx="457200" cy="411480"/>
          </a:xfrm>
          <a:prstGeom prst="rect">
            <a:avLst/>
          </a:prstGeom>
          <a:solidFill>
            <a:srgbClr val="E3E8E6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29" name="Text 27"/>
          <p:cNvSpPr txBox="1"/>
          <p:nvPr/>
        </p:nvSpPr>
        <p:spPr>
          <a:xfrm>
            <a:off x="2377440" y="1783080"/>
            <a:ext cx="457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</a:t>
            </a:r>
            <a:endParaRPr lang="en-US" sz="1400" dirty="0"/>
          </a:p>
        </p:txBody>
      </p:sp>
      <p:sp>
        <p:nvSpPr>
          <p:cNvPr id="30" name="Text 28"/>
          <p:cNvSpPr txBox="1"/>
          <p:nvPr/>
        </p:nvSpPr>
        <p:spPr>
          <a:xfrm>
            <a:off x="2377440" y="2194560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</a:t>
            </a:r>
            <a:endParaRPr lang="en-US" sz="800" dirty="0"/>
          </a:p>
        </p:txBody>
      </p:sp>
      <p:sp>
        <p:nvSpPr>
          <p:cNvPr id="31" name="Shape 29"/>
          <p:cNvSpPr/>
          <p:nvPr/>
        </p:nvSpPr>
        <p:spPr>
          <a:xfrm>
            <a:off x="2834640" y="1783080"/>
            <a:ext cx="457200" cy="411480"/>
          </a:xfrm>
          <a:prstGeom prst="rect">
            <a:avLst/>
          </a:prstGeom>
          <a:solidFill>
            <a:srgbClr val="E3E8E6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32" name="Text 30"/>
          <p:cNvSpPr txBox="1"/>
          <p:nvPr/>
        </p:nvSpPr>
        <p:spPr>
          <a:xfrm>
            <a:off x="2834640" y="1783080"/>
            <a:ext cx="457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</a:t>
            </a:r>
            <a:endParaRPr lang="en-US" sz="1400" dirty="0"/>
          </a:p>
        </p:txBody>
      </p:sp>
      <p:sp>
        <p:nvSpPr>
          <p:cNvPr id="33" name="Text 31"/>
          <p:cNvSpPr txBox="1"/>
          <p:nvPr/>
        </p:nvSpPr>
        <p:spPr>
          <a:xfrm>
            <a:off x="2834640" y="2194560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</a:t>
            </a:r>
            <a:endParaRPr lang="en-US" sz="800" dirty="0"/>
          </a:p>
        </p:txBody>
      </p:sp>
      <p:sp>
        <p:nvSpPr>
          <p:cNvPr id="34" name="Shape 32"/>
          <p:cNvSpPr/>
          <p:nvPr/>
        </p:nvSpPr>
        <p:spPr>
          <a:xfrm>
            <a:off x="3291840" y="1783080"/>
            <a:ext cx="457200" cy="411480"/>
          </a:xfrm>
          <a:prstGeom prst="rect">
            <a:avLst/>
          </a:prstGeom>
          <a:solidFill>
            <a:srgbClr val="E3E8E6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35" name="Text 33"/>
          <p:cNvSpPr txBox="1"/>
          <p:nvPr/>
        </p:nvSpPr>
        <p:spPr>
          <a:xfrm>
            <a:off x="3291840" y="1783080"/>
            <a:ext cx="457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</a:t>
            </a:r>
            <a:endParaRPr lang="en-US" sz="1400" dirty="0"/>
          </a:p>
        </p:txBody>
      </p:sp>
      <p:sp>
        <p:nvSpPr>
          <p:cNvPr id="36" name="Text 34"/>
          <p:cNvSpPr txBox="1"/>
          <p:nvPr/>
        </p:nvSpPr>
        <p:spPr>
          <a:xfrm>
            <a:off x="3291840" y="2194560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</a:t>
            </a:r>
            <a:endParaRPr lang="en-US" sz="800" dirty="0"/>
          </a:p>
        </p:txBody>
      </p:sp>
      <p:sp>
        <p:nvSpPr>
          <p:cNvPr id="37" name="Shape 35"/>
          <p:cNvSpPr/>
          <p:nvPr/>
        </p:nvSpPr>
        <p:spPr>
          <a:xfrm>
            <a:off x="3749040" y="1783080"/>
            <a:ext cx="457200" cy="411480"/>
          </a:xfrm>
          <a:prstGeom prst="rect">
            <a:avLst/>
          </a:prstGeom>
          <a:solidFill>
            <a:srgbClr val="E3E8E6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38" name="Text 36"/>
          <p:cNvSpPr txBox="1"/>
          <p:nvPr/>
        </p:nvSpPr>
        <p:spPr>
          <a:xfrm>
            <a:off x="3749040" y="1783080"/>
            <a:ext cx="457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</a:t>
            </a:r>
            <a:endParaRPr lang="en-US" sz="1400" dirty="0"/>
          </a:p>
        </p:txBody>
      </p:sp>
      <p:sp>
        <p:nvSpPr>
          <p:cNvPr id="39" name="Text 37"/>
          <p:cNvSpPr txBox="1"/>
          <p:nvPr/>
        </p:nvSpPr>
        <p:spPr>
          <a:xfrm>
            <a:off x="3749040" y="2194560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4</a:t>
            </a:r>
            <a:endParaRPr lang="en-US" sz="800" dirty="0"/>
          </a:p>
        </p:txBody>
      </p:sp>
      <p:sp>
        <p:nvSpPr>
          <p:cNvPr id="40" name="Shape 38"/>
          <p:cNvSpPr/>
          <p:nvPr/>
        </p:nvSpPr>
        <p:spPr>
          <a:xfrm>
            <a:off x="4206240" y="1783080"/>
            <a:ext cx="457200" cy="411480"/>
          </a:xfrm>
          <a:prstGeom prst="rect">
            <a:avLst/>
          </a:prstGeom>
          <a:solidFill>
            <a:srgbClr val="E3E8E6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41" name="Text 39"/>
          <p:cNvSpPr txBox="1"/>
          <p:nvPr/>
        </p:nvSpPr>
        <p:spPr>
          <a:xfrm>
            <a:off x="4206240" y="1783080"/>
            <a:ext cx="457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</a:t>
            </a:r>
            <a:endParaRPr lang="en-US" sz="1400" dirty="0"/>
          </a:p>
        </p:txBody>
      </p:sp>
      <p:sp>
        <p:nvSpPr>
          <p:cNvPr id="42" name="Text 40"/>
          <p:cNvSpPr txBox="1"/>
          <p:nvPr/>
        </p:nvSpPr>
        <p:spPr>
          <a:xfrm>
            <a:off x="4206240" y="2194560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5</a:t>
            </a:r>
            <a:endParaRPr lang="en-US" sz="800" dirty="0"/>
          </a:p>
        </p:txBody>
      </p:sp>
      <p:sp>
        <p:nvSpPr>
          <p:cNvPr id="43" name="Shape 41"/>
          <p:cNvSpPr/>
          <p:nvPr/>
        </p:nvSpPr>
        <p:spPr>
          <a:xfrm>
            <a:off x="4663440" y="1783080"/>
            <a:ext cx="457200" cy="411480"/>
          </a:xfrm>
          <a:prstGeom prst="rect">
            <a:avLst/>
          </a:prstGeom>
          <a:solidFill>
            <a:srgbClr val="F4B9B0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44" name="Text 42"/>
          <p:cNvSpPr txBox="1"/>
          <p:nvPr/>
        </p:nvSpPr>
        <p:spPr>
          <a:xfrm>
            <a:off x="4663440" y="1783080"/>
            <a:ext cx="457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</a:t>
            </a:r>
            <a:endParaRPr lang="en-US" sz="1400" dirty="0"/>
          </a:p>
        </p:txBody>
      </p:sp>
      <p:sp>
        <p:nvSpPr>
          <p:cNvPr id="45" name="Text 43"/>
          <p:cNvSpPr txBox="1"/>
          <p:nvPr/>
        </p:nvSpPr>
        <p:spPr>
          <a:xfrm>
            <a:off x="4663440" y="2194560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6</a:t>
            </a:r>
            <a:endParaRPr lang="en-US" sz="800" dirty="0"/>
          </a:p>
        </p:txBody>
      </p:sp>
      <p:sp>
        <p:nvSpPr>
          <p:cNvPr id="46" name="Shape 44"/>
          <p:cNvSpPr/>
          <p:nvPr/>
        </p:nvSpPr>
        <p:spPr>
          <a:xfrm>
            <a:off x="5120640" y="1783080"/>
            <a:ext cx="457200" cy="411480"/>
          </a:xfrm>
          <a:prstGeom prst="rect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47" name="Text 45"/>
          <p:cNvSpPr txBox="1"/>
          <p:nvPr/>
        </p:nvSpPr>
        <p:spPr>
          <a:xfrm>
            <a:off x="5120640" y="1783080"/>
            <a:ext cx="457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</a:t>
            </a:r>
            <a:endParaRPr lang="en-US" sz="1400" dirty="0"/>
          </a:p>
        </p:txBody>
      </p:sp>
      <p:sp>
        <p:nvSpPr>
          <p:cNvPr id="48" name="Text 46"/>
          <p:cNvSpPr txBox="1"/>
          <p:nvPr/>
        </p:nvSpPr>
        <p:spPr>
          <a:xfrm>
            <a:off x="5120640" y="2194560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7</a:t>
            </a:r>
            <a:endParaRPr lang="en-US" sz="800" dirty="0"/>
          </a:p>
        </p:txBody>
      </p:sp>
      <p:sp>
        <p:nvSpPr>
          <p:cNvPr id="49" name="Text 47"/>
          <p:cNvSpPr txBox="1"/>
          <p:nvPr/>
        </p:nvSpPr>
        <p:spPr>
          <a:xfrm>
            <a:off x="4434840" y="804672"/>
            <a:ext cx="914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C039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第 6 位</a:t>
            </a:r>
            <a:endParaRPr lang="en-US" sz="900" dirty="0"/>
          </a:p>
        </p:txBody>
      </p:sp>
      <p:sp>
        <p:nvSpPr>
          <p:cNvPr id="50" name="Shape 48"/>
          <p:cNvSpPr/>
          <p:nvPr/>
        </p:nvSpPr>
        <p:spPr>
          <a:xfrm>
            <a:off x="4892040" y="1005840"/>
            <a:ext cx="0" cy="164592"/>
          </a:xfrm>
          <a:prstGeom prst="line">
            <a:avLst/>
          </a:prstGeom>
          <a:noFill/>
          <a:ln w="19050">
            <a:solidFill>
              <a:srgbClr val="C0392B"/>
            </a:solidFill>
            <a:prstDash val="solid"/>
            <a:tailEnd type="triangle"/>
          </a:ln>
        </p:spPr>
      </p:sp>
      <p:sp>
        <p:nvSpPr>
          <p:cNvPr id="51" name="Text 49"/>
          <p:cNvSpPr txBox="1"/>
          <p:nvPr/>
        </p:nvSpPr>
        <p:spPr>
          <a:xfrm>
            <a:off x="1920240" y="2423160"/>
            <a:ext cx="3657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5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位号（从 0 起，最高位在前）</a:t>
            </a:r>
            <a:endParaRPr lang="en-US" sz="950" dirty="0"/>
          </a:p>
        </p:txBody>
      </p:sp>
      <p:sp>
        <p:nvSpPr>
          <p:cNvPr id="52" name="Shape 50"/>
          <p:cNvSpPr/>
          <p:nvPr/>
        </p:nvSpPr>
        <p:spPr>
          <a:xfrm>
            <a:off x="5852160" y="960120"/>
            <a:ext cx="2834640" cy="1691640"/>
          </a:xfrm>
          <a:prstGeom prst="roundRect">
            <a:avLst>
              <a:gd name="adj" fmla="val 4324"/>
            </a:avLst>
          </a:prstGeom>
          <a:solidFill>
            <a:srgbClr val="F1F4F2"/>
          </a:solidFill>
          <a:ln/>
        </p:spPr>
      </p:sp>
      <p:sp>
        <p:nvSpPr>
          <p:cNvPr id="53" name="Text 51"/>
          <p:cNvSpPr txBox="1"/>
          <p:nvPr/>
        </p:nvSpPr>
        <p:spPr>
          <a:xfrm>
            <a:off x="5989320" y="1024128"/>
            <a:ext cx="2560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内部结点只记分歧位</a:t>
            </a:r>
            <a:endParaRPr lang="en-US" sz="1200" dirty="0"/>
          </a:p>
        </p:txBody>
      </p:sp>
      <p:sp>
        <p:nvSpPr>
          <p:cNvPr id="54" name="Shape 52"/>
          <p:cNvSpPr/>
          <p:nvPr/>
        </p:nvSpPr>
        <p:spPr>
          <a:xfrm>
            <a:off x="7063740" y="1394460"/>
            <a:ext cx="411480" cy="411480"/>
          </a:xfrm>
          <a:prstGeom prst="ellipse">
            <a:avLst/>
          </a:prstGeom>
          <a:solidFill>
            <a:srgbClr val="F2B134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55" name="Text 53"/>
          <p:cNvSpPr txBox="1"/>
          <p:nvPr/>
        </p:nvSpPr>
        <p:spPr>
          <a:xfrm>
            <a:off x="7063740" y="1394460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6</a:t>
            </a:r>
            <a:endParaRPr lang="en-US" sz="1100" dirty="0"/>
          </a:p>
        </p:txBody>
      </p:sp>
      <p:sp>
        <p:nvSpPr>
          <p:cNvPr id="56" name="Shape 54"/>
          <p:cNvSpPr/>
          <p:nvPr/>
        </p:nvSpPr>
        <p:spPr>
          <a:xfrm flipH="1">
            <a:off x="6675120" y="1783080"/>
            <a:ext cx="457200" cy="411480"/>
          </a:xfrm>
          <a:prstGeom prst="line">
            <a:avLst/>
          </a:prstGeom>
          <a:noFill/>
          <a:ln w="19050">
            <a:solidFill>
              <a:srgbClr val="3E7C68"/>
            </a:solidFill>
            <a:prstDash val="solid"/>
          </a:ln>
        </p:spPr>
      </p:sp>
      <p:sp>
        <p:nvSpPr>
          <p:cNvPr id="57" name="Shape 55"/>
          <p:cNvSpPr/>
          <p:nvPr/>
        </p:nvSpPr>
        <p:spPr>
          <a:xfrm>
            <a:off x="7406640" y="1783080"/>
            <a:ext cx="457200" cy="411480"/>
          </a:xfrm>
          <a:prstGeom prst="line">
            <a:avLst/>
          </a:prstGeom>
          <a:noFill/>
          <a:ln w="19050">
            <a:solidFill>
              <a:srgbClr val="3E7C68"/>
            </a:solidFill>
            <a:prstDash val="solid"/>
          </a:ln>
        </p:spPr>
      </p:sp>
      <p:sp>
        <p:nvSpPr>
          <p:cNvPr id="58" name="Shape 56"/>
          <p:cNvSpPr/>
          <p:nvPr/>
        </p:nvSpPr>
        <p:spPr>
          <a:xfrm>
            <a:off x="6355080" y="2194560"/>
            <a:ext cx="640080" cy="310896"/>
          </a:xfrm>
          <a:prstGeom prst="roundRect">
            <a:avLst>
              <a:gd name="adj" fmla="val 50000"/>
            </a:avLst>
          </a:prstGeom>
          <a:solidFill>
            <a:srgbClr val="3E7C68"/>
          </a:solidFill>
          <a:ln/>
        </p:spPr>
      </p:sp>
      <p:sp>
        <p:nvSpPr>
          <p:cNvPr id="59" name="Text 57"/>
          <p:cNvSpPr txBox="1"/>
          <p:nvPr/>
        </p:nvSpPr>
        <p:spPr>
          <a:xfrm>
            <a:off x="6355080" y="2194560"/>
            <a:ext cx="6400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a</a:t>
            </a:r>
            <a:endParaRPr lang="en-US" sz="1100" dirty="0"/>
          </a:p>
        </p:txBody>
      </p:sp>
      <p:sp>
        <p:nvSpPr>
          <p:cNvPr id="60" name="Shape 58"/>
          <p:cNvSpPr/>
          <p:nvPr/>
        </p:nvSpPr>
        <p:spPr>
          <a:xfrm>
            <a:off x="7543800" y="2194560"/>
            <a:ext cx="640080" cy="310896"/>
          </a:xfrm>
          <a:prstGeom prst="roundRect">
            <a:avLst>
              <a:gd name="adj" fmla="val 50000"/>
            </a:avLst>
          </a:prstGeom>
          <a:solidFill>
            <a:srgbClr val="3E7C68"/>
          </a:solidFill>
          <a:ln/>
        </p:spPr>
      </p:sp>
      <p:sp>
        <p:nvSpPr>
          <p:cNvPr id="61" name="Text 59"/>
          <p:cNvSpPr txBox="1"/>
          <p:nvPr/>
        </p:nvSpPr>
        <p:spPr>
          <a:xfrm>
            <a:off x="7543800" y="2194560"/>
            <a:ext cx="6400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c</a:t>
            </a:r>
            <a:endParaRPr lang="en-US" sz="1100" dirty="0"/>
          </a:p>
        </p:txBody>
      </p:sp>
      <p:sp>
        <p:nvSpPr>
          <p:cNvPr id="62" name="Text 60"/>
          <p:cNvSpPr txBox="1"/>
          <p:nvPr/>
        </p:nvSpPr>
        <p:spPr>
          <a:xfrm>
            <a:off x="6629400" y="1783080"/>
            <a:ext cx="2743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</a:t>
            </a:r>
            <a:endParaRPr lang="en-US" sz="900" dirty="0"/>
          </a:p>
        </p:txBody>
      </p:sp>
      <p:sp>
        <p:nvSpPr>
          <p:cNvPr id="63" name="Text 61"/>
          <p:cNvSpPr txBox="1"/>
          <p:nvPr/>
        </p:nvSpPr>
        <p:spPr>
          <a:xfrm>
            <a:off x="7726680" y="1783080"/>
            <a:ext cx="2743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</a:t>
            </a:r>
            <a:endParaRPr lang="en-US" sz="900" dirty="0"/>
          </a:p>
        </p:txBody>
      </p:sp>
      <p:sp>
        <p:nvSpPr>
          <p:cNvPr id="64" name="Text 62"/>
          <p:cNvSpPr txBox="1"/>
          <p:nvPr/>
        </p:nvSpPr>
        <p:spPr>
          <a:xfrm>
            <a:off x="457200" y="2834640"/>
            <a:ext cx="8229600" cy="18288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2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ASCII 分别是 </a:t>
            </a:r>
            <a:r>
              <a:rPr lang="en-US" sz="120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01100001</a:t>
            </a:r>
            <a:r>
              <a:rPr lang="en-US" sz="12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和 </a:t>
            </a:r>
            <a:r>
              <a:rPr lang="en-US" sz="120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01100011</a:t>
            </a:r>
            <a:r>
              <a:rPr lang="en-US" sz="12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，前六位相同，</a:t>
            </a:r>
            <a:r>
              <a:rPr lang="en-US" sz="12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第一次不同在从 0 起算的第 6 位</a:t>
            </a:r>
            <a:r>
              <a:rPr lang="en-US" sz="12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</a:t>
            </a:r>
            <a:endParaRPr lang="en-US" sz="12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2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Patricia 内部结点只记这个分歧位：该位为 0 走一边，为 1 走另一边；</a:t>
            </a:r>
            <a:r>
              <a:rPr lang="en-US" sz="12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前面六个相同位不再各占一层</a:t>
            </a:r>
            <a:r>
              <a:rPr lang="en-US" sz="12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</a:t>
            </a:r>
            <a:endParaRPr lang="en-US" sz="12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2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插入新键：先走到叶、找出首个不同位，再把新分支插到</a:t>
            </a:r>
            <a:r>
              <a:rPr lang="en-US" sz="12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位号仍保持递增</a:t>
            </a:r>
            <a:r>
              <a:rPr lang="en-US" sz="12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的位置——否则查找路径会跳过应比较的位。</a:t>
            </a:r>
            <a:endParaRPr lang="en-US" sz="1200" dirty="0"/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12.3</a:t>
            </a:r>
            <a:endParaRPr lang="en-US" sz="9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12.3 Patricia 树 · code/ch12/trie（上）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insert 前半：沿位下降到叶，求首个不同位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45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457200" y="960120"/>
            <a:ext cx="5852160" cy="3703320"/>
          </a:xfrm>
          <a:prstGeom prst="roundRect">
            <a:avLst>
              <a:gd name="adj" fmla="val 1975"/>
            </a:avLst>
          </a:prstGeom>
          <a:solidFill>
            <a:srgbClr val="F1F4F2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530352" y="1005840"/>
            <a:ext cx="5705856" cy="361188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bool insert(std::string_view key) {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validate(key);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if (root_ == nullptr) {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root_ = make_leaf(key);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++size_;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return true;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}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const Node* leaf = descend(key);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const optional_bit differing = first_differing_bit(leaf-&gt;key, key);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if (!differing.found) {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return false;  </a:t>
            </a:r>
            <a:r>
              <a:rPr lang="en-US" sz="85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已经在树里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}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</a:t>
            </a:r>
            <a:r>
              <a:rPr lang="en-US" sz="85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...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[[nodiscard]] const Node* descend(std::string_view key) const {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const Node* node = root_.get();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while (node-&gt;is_internal()) {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node = bit_of(key, node-&gt;bit) ? node-&gt;right.get() : node-&gt;left.get();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}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return node;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}</a:t>
            </a:r>
            <a:endParaRPr lang="en-US" sz="850" dirty="0"/>
          </a:p>
        </p:txBody>
      </p:sp>
      <p:sp>
        <p:nvSpPr>
          <p:cNvPr id="9" name="Shape 7"/>
          <p:cNvSpPr/>
          <p:nvPr/>
        </p:nvSpPr>
        <p:spPr>
          <a:xfrm>
            <a:off x="6537960" y="960120"/>
            <a:ext cx="2148840" cy="1737360"/>
          </a:xfrm>
          <a:prstGeom prst="roundRect">
            <a:avLst>
              <a:gd name="adj" fmla="val 4211"/>
            </a:avLst>
          </a:prstGeom>
          <a:solidFill>
            <a:srgbClr val="FFF6E0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6675120" y="1051560"/>
            <a:ext cx="1874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descend</a:t>
            </a:r>
            <a:endParaRPr lang="en-US" sz="1200" dirty="0"/>
          </a:p>
        </p:txBody>
      </p:sp>
      <p:sp>
        <p:nvSpPr>
          <p:cNvPr id="11" name="Text 9"/>
          <p:cNvSpPr txBox="1"/>
          <p:nvPr/>
        </p:nvSpPr>
        <p:spPr>
          <a:xfrm>
            <a:off x="6675120" y="1344168"/>
            <a:ext cx="187452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内部结点记着 </a:t>
            </a:r>
            <a:r>
              <a:rPr lang="en-US" sz="100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bit</a:t>
            </a: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：按关键码的那一位走左（0）或右（1），直到叶。路上</a:t>
            </a:r>
            <a:r>
              <a:rPr lang="en-US" sz="10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只看了少数几位</a:t>
            </a: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6537960" y="2834640"/>
            <a:ext cx="2148840" cy="1828800"/>
          </a:xfrm>
          <a:prstGeom prst="roundRect">
            <a:avLst>
              <a:gd name="adj" fmla="val 4000"/>
            </a:avLst>
          </a:prstGeom>
          <a:solidFill>
            <a:srgbClr val="CFE0D8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6675120" y="2926080"/>
            <a:ext cx="1874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和叶比完整关键码</a:t>
            </a:r>
            <a:endParaRPr lang="en-US" sz="1200" dirty="0"/>
          </a:p>
        </p:txBody>
      </p:sp>
      <p:sp>
        <p:nvSpPr>
          <p:cNvPr id="14" name="Text 12"/>
          <p:cNvSpPr txBox="1"/>
          <p:nvPr/>
        </p:nvSpPr>
        <p:spPr>
          <a:xfrm>
            <a:off x="6675120" y="3218688"/>
            <a:ext cx="187452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没有不同位 → 已在树里；有 → 分歧位就是新内部结点要记的位。</a:t>
            </a:r>
            <a:r>
              <a:rPr lang="en-US" sz="100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contains</a:t>
            </a: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同理：</a:t>
            </a:r>
            <a:r>
              <a:rPr lang="en-US" sz="100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descend</a:t>
            </a: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后比 </a:t>
            </a:r>
            <a:r>
              <a:rPr lang="en-US" sz="100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leaf-&gt;key == key</a:t>
            </a: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</a:t>
            </a:r>
            <a:endParaRPr lang="en-US" sz="1000" dirty="0"/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12.3</a:t>
            </a:r>
            <a:endParaRPr lang="en-US" sz="9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12.3 Patricia 树 · code/ch12/trie（下）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insert 后半：从根重走，插到位号递增的位置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46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457200" y="960120"/>
            <a:ext cx="5852160" cy="3703320"/>
          </a:xfrm>
          <a:prstGeom prst="roundRect">
            <a:avLst>
              <a:gd name="adj" fmla="val 1975"/>
            </a:avLst>
          </a:prstGeom>
          <a:solidFill>
            <a:srgbClr val="F1F4F2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530352" y="1005840"/>
            <a:ext cx="5705856" cy="361188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</a:t>
            </a:r>
            <a:r>
              <a:rPr lang="en-US" sz="85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...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</a:t>
            </a:r>
            <a:r>
              <a:rPr lang="en-US" sz="85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在第 differing.index 位上插入一个新的内部结点。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std::unique_ptr&lt;Node&gt;* slot = &amp;root_;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while ((*slot)-&gt;is_internal() &amp;&amp; (*slot)-&gt;bit &lt; differing.index) {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slot = bit_of(key, (*slot)-&gt;bit) ? &amp;(*slot)-&gt;right : &amp;(*slot)-&gt;left;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}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auto node = std::make_unique&lt;Node&gt;();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node-&gt;bit = differing.index;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auto leaf_node = make_leaf(key);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if (bit_of(key, differing.index)) {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node-&gt;left = std::move(*slot);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node-&gt;right = std::move(leaf_node);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} else {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node-&gt;right = std::move(*slot);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node-&gt;left = std::move(leaf_node);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}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*slot = std::move(node);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++size_;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++internal_;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return true;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}</a:t>
            </a:r>
            <a:endParaRPr lang="en-US" sz="850" dirty="0"/>
          </a:p>
        </p:txBody>
      </p:sp>
      <p:sp>
        <p:nvSpPr>
          <p:cNvPr id="9" name="Shape 7"/>
          <p:cNvSpPr/>
          <p:nvPr/>
        </p:nvSpPr>
        <p:spPr>
          <a:xfrm>
            <a:off x="6537960" y="960120"/>
            <a:ext cx="2148840" cy="2606040"/>
          </a:xfrm>
          <a:prstGeom prst="roundRect">
            <a:avLst>
              <a:gd name="adj" fmla="val 3404"/>
            </a:avLst>
          </a:prstGeom>
          <a:solidFill>
            <a:srgbClr val="FFF6E0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6675120" y="1051560"/>
            <a:ext cx="1874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停在哪</a:t>
            </a:r>
            <a:endParaRPr lang="en-US" sz="1200" dirty="0"/>
          </a:p>
        </p:txBody>
      </p:sp>
      <p:sp>
        <p:nvSpPr>
          <p:cNvPr id="11" name="Text 9"/>
          <p:cNvSpPr txBox="1"/>
          <p:nvPr/>
        </p:nvSpPr>
        <p:spPr>
          <a:xfrm>
            <a:off x="6647688" y="1344168"/>
            <a:ext cx="1929384" cy="214884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marL="177800" indent="-177800">
              <a:spcAft>
                <a:spcPts val="400"/>
              </a:spcAft>
              <a:buSzPct val="100000"/>
              <a:buChar char="•"/>
            </a:pP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从根重走，停在第一个位号 </a:t>
            </a:r>
            <a:r>
              <a:rPr lang="en-US" sz="10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≥ 分歧位</a:t>
            </a: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的地方（或叶）。</a:t>
            </a:r>
            <a:endParaRPr lang="en-US" sz="1000" dirty="0"/>
          </a:p>
          <a:p>
            <a:pPr marL="177800" indent="-177800">
              <a:spcAft>
                <a:spcPts val="400"/>
              </a:spcAft>
              <a:buSzPct val="100000"/>
              <a:buChar char="•"/>
            </a:pP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新内部结点记分歧位：新键该位为 1 → 新叶在右，原子树在左；反之亦然。</a:t>
            </a:r>
            <a:endParaRPr lang="en-US" sz="1000" dirty="0"/>
          </a:p>
          <a:p>
            <a:pPr marL="177800" indent="-177800">
              <a:spcAft>
                <a:spcPts val="400"/>
              </a:spcAft>
              <a:buSzPct val="100000"/>
              <a:buChar char="•"/>
            </a:pP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位号沿路径</a:t>
            </a:r>
            <a:r>
              <a:rPr lang="en-US" sz="10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保持递增</a:t>
            </a: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，查找才不会跳过应比较的位。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6537960" y="3703320"/>
            <a:ext cx="2148840" cy="960120"/>
          </a:xfrm>
          <a:prstGeom prst="roundRect">
            <a:avLst>
              <a:gd name="adj" fmla="val 7619"/>
            </a:avLst>
          </a:prstGeom>
          <a:solidFill>
            <a:srgbClr val="CFE0D8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6675120" y="3794760"/>
            <a:ext cx="1874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每插一个键</a:t>
            </a:r>
            <a:endParaRPr lang="en-US" sz="1200" dirty="0"/>
          </a:p>
        </p:txBody>
      </p:sp>
      <p:sp>
        <p:nvSpPr>
          <p:cNvPr id="14" name="Text 12"/>
          <p:cNvSpPr txBox="1"/>
          <p:nvPr/>
        </p:nvSpPr>
        <p:spPr>
          <a:xfrm>
            <a:off x="6675120" y="4087368"/>
            <a:ext cx="1874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恰好多</a:t>
            </a:r>
            <a:r>
              <a:rPr lang="en-US" sz="10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一个内部结点</a:t>
            </a: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、一个叶：4 个词 → 3 个内部结点。</a:t>
            </a:r>
            <a:endParaRPr lang="en-US" sz="1000" dirty="0"/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7">
    <p:bg>
      <p:bgPr>
        <a:solidFill>
          <a:srgbClr val="1E3D3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309360" y="-1188720"/>
            <a:ext cx="3840480" cy="3840480"/>
          </a:xfrm>
          <a:prstGeom prst="ellipse">
            <a:avLst/>
          </a:prstGeom>
          <a:solidFill>
            <a:srgbClr val="2F5C4C"/>
          </a:solidFill>
          <a:ln/>
        </p:spPr>
      </p:sp>
      <p:sp>
        <p:nvSpPr>
          <p:cNvPr id="3" name="Shape 1"/>
          <p:cNvSpPr/>
          <p:nvPr/>
        </p:nvSpPr>
        <p:spPr>
          <a:xfrm>
            <a:off x="7223760" y="3017520"/>
            <a:ext cx="2651760" cy="2651760"/>
          </a:xfrm>
          <a:prstGeom prst="ellipse">
            <a:avLst/>
          </a:prstGeom>
          <a:solidFill>
            <a:srgbClr val="F2B134">
              <a:alpha val="45000"/>
            </a:srgbClr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640080" y="1554480"/>
            <a:ext cx="5486400" cy="32004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12.4</a:t>
            </a:r>
            <a:endParaRPr lang="en-US" sz="1300" dirty="0"/>
          </a:p>
        </p:txBody>
      </p:sp>
      <p:sp>
        <p:nvSpPr>
          <p:cNvPr id="5" name="Text 3"/>
          <p:cNvSpPr txBox="1"/>
          <p:nvPr/>
        </p:nvSpPr>
        <p:spPr>
          <a:xfrm>
            <a:off x="640080" y="1874520"/>
            <a:ext cx="6400800" cy="7315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改进的二叉搜索树</a:t>
            </a:r>
            <a:endParaRPr lang="en-US" sz="3400" dirty="0"/>
          </a:p>
        </p:txBody>
      </p:sp>
      <p:sp>
        <p:nvSpPr>
          <p:cNvPr id="6" name="Text 4"/>
          <p:cNvSpPr txBox="1"/>
          <p:nvPr/>
        </p:nvSpPr>
        <p:spPr>
          <a:xfrm>
            <a:off x="640080" y="2697480"/>
            <a:ext cx="5760720" cy="9144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CFE0D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按访问权重、严格高度平衡、访问局部性改进查找</a:t>
            </a:r>
            <a:endParaRPr lang="en-US" sz="1300" dirty="0"/>
          </a:p>
          <a:p>
            <a:pPr algn="l"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CFE0D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最佳 BST（动态规划） · AVL 树 · 伸展树</a:t>
            </a:r>
            <a:endParaRPr lang="en-US" sz="1300" dirty="0"/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12.4</a:t>
            </a:r>
            <a:endParaRPr lang="en-US" sz="9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12.4.1 最佳二叉搜索树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同一批关键码，插入次序不同，长出的 BST 就不同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48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457200" y="960120"/>
            <a:ext cx="3977640" cy="2011680"/>
          </a:xfrm>
          <a:prstGeom prst="roundRect">
            <a:avLst>
              <a:gd name="adj" fmla="val 3636"/>
            </a:avLst>
          </a:prstGeom>
          <a:solidFill>
            <a:srgbClr val="F1F4F2"/>
          </a:solidFill>
          <a:ln/>
        </p:spPr>
      </p:sp>
      <p:pic>
        <p:nvPicPr>
          <p:cNvPr id="8" name="Image 0" descr="fig-12-21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62117" y="1051560"/>
            <a:ext cx="3367806" cy="1536192"/>
          </a:xfrm>
          <a:prstGeom prst="rect">
            <a:avLst/>
          </a:prstGeom>
        </p:spPr>
      </p:pic>
      <p:sp>
        <p:nvSpPr>
          <p:cNvPr id="9" name="Text 6"/>
          <p:cNvSpPr txBox="1"/>
          <p:nvPr/>
        </p:nvSpPr>
        <p:spPr>
          <a:xfrm>
            <a:off x="502920" y="2642616"/>
            <a:ext cx="3886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图 12.21  按给定次序插入</a:t>
            </a:r>
            <a:endParaRPr lang="en-US" sz="900" dirty="0"/>
          </a:p>
        </p:txBody>
      </p:sp>
      <p:sp>
        <p:nvSpPr>
          <p:cNvPr id="10" name="Shape 7"/>
          <p:cNvSpPr/>
          <p:nvPr/>
        </p:nvSpPr>
        <p:spPr>
          <a:xfrm>
            <a:off x="4709160" y="960120"/>
            <a:ext cx="3977640" cy="2011680"/>
          </a:xfrm>
          <a:prstGeom prst="roundRect">
            <a:avLst>
              <a:gd name="adj" fmla="val 3636"/>
            </a:avLst>
          </a:prstGeom>
          <a:solidFill>
            <a:srgbClr val="F1F4F2"/>
          </a:solidFill>
          <a:ln/>
        </p:spPr>
      </p:sp>
      <p:pic>
        <p:nvPicPr>
          <p:cNvPr id="11" name="Image 1" descr="fig-12-22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549922" y="1051560"/>
            <a:ext cx="2296117" cy="1536192"/>
          </a:xfrm>
          <a:prstGeom prst="rect">
            <a:avLst/>
          </a:prstGeom>
        </p:spPr>
      </p:pic>
      <p:sp>
        <p:nvSpPr>
          <p:cNvPr id="12" name="Text 8"/>
          <p:cNvSpPr txBox="1"/>
          <p:nvPr/>
        </p:nvSpPr>
        <p:spPr>
          <a:xfrm>
            <a:off x="4754880" y="2642616"/>
            <a:ext cx="3886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图 12.22  同一批关键码倒着插入</a:t>
            </a:r>
            <a:endParaRPr lang="en-US" sz="900" dirty="0"/>
          </a:p>
        </p:txBody>
      </p:sp>
      <p:sp>
        <p:nvSpPr>
          <p:cNvPr id="13" name="Text 9"/>
          <p:cNvSpPr txBox="1"/>
          <p:nvPr/>
        </p:nvSpPr>
        <p:spPr>
          <a:xfrm>
            <a:off x="457200" y="3108960"/>
            <a:ext cx="5577840" cy="16002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marL="177800" indent="-177800">
              <a:spcAft>
                <a:spcPts val="500"/>
              </a:spcAft>
              <a:buSzPct val="100000"/>
              <a:buChar char="•"/>
            </a:pP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原书 K = { xal, wan, wil, zol, yo, xul, yum, wen, wim, zi, yon, xem, wul, zom }。</a:t>
            </a:r>
            <a:endParaRPr lang="en-US" sz="1100" dirty="0"/>
          </a:p>
          <a:p>
            <a:pPr marL="177800" indent="-177800">
              <a:spcAft>
                <a:spcPts val="500"/>
              </a:spcAft>
              <a:buSzPct val="100000"/>
              <a:buChar char="•"/>
            </a:pP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n 个关键码有 </a:t>
            </a:r>
            <a:r>
              <a:rPr lang="en-US" sz="11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n!</a:t>
            </a: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种插入次序，但不同次序可能长出同一棵树；真正不同的形状只有 </a:t>
            </a:r>
            <a:r>
              <a:rPr lang="en-US" sz="11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C(2n, n) / (n+1)</a:t>
            </a: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棵（</a:t>
            </a:r>
            <a:r>
              <a:rPr lang="en-US" sz="11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Catalan 数</a:t>
            </a: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）。</a:t>
            </a:r>
            <a:endParaRPr lang="en-US" sz="1100" dirty="0"/>
          </a:p>
          <a:p>
            <a:pPr marL="177800" indent="-177800">
              <a:spcAft>
                <a:spcPts val="500"/>
              </a:spcAft>
              <a:buSzPct val="100000"/>
              <a:buChar char="•"/>
            </a:pP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等价问法：中序是 {1, 2, …, n} 时有多少种前序排列——例如 </a:t>
            </a:r>
            <a:r>
              <a:rPr lang="en-US" sz="11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{2, 3, 1} 不是任何 BST 的前序排列</a:t>
            </a: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</a:t>
            </a:r>
            <a:endParaRPr lang="en-US" sz="1100" dirty="0"/>
          </a:p>
        </p:txBody>
      </p:sp>
      <p:sp>
        <p:nvSpPr>
          <p:cNvPr id="14" name="Shape 10"/>
          <p:cNvSpPr/>
          <p:nvPr/>
        </p:nvSpPr>
        <p:spPr>
          <a:xfrm>
            <a:off x="6263640" y="3108960"/>
            <a:ext cx="2423160" cy="1554480"/>
          </a:xfrm>
          <a:prstGeom prst="roundRect">
            <a:avLst>
              <a:gd name="adj" fmla="val 4706"/>
            </a:avLst>
          </a:prstGeom>
          <a:solidFill>
            <a:srgbClr val="FFF6E0"/>
          </a:solidFill>
          <a:ln/>
        </p:spPr>
      </p:sp>
      <p:sp>
        <p:nvSpPr>
          <p:cNvPr id="15" name="Text 11"/>
          <p:cNvSpPr txBox="1"/>
          <p:nvPr/>
        </p:nvSpPr>
        <p:spPr>
          <a:xfrm>
            <a:off x="6400800" y="3200400"/>
            <a:ext cx="2148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于是问题变成</a:t>
            </a:r>
            <a:endParaRPr lang="en-US" sz="1200" dirty="0"/>
          </a:p>
        </p:txBody>
      </p:sp>
      <p:sp>
        <p:nvSpPr>
          <p:cNvPr id="16" name="Text 12"/>
          <p:cNvSpPr txBox="1"/>
          <p:nvPr/>
        </p:nvSpPr>
        <p:spPr>
          <a:xfrm>
            <a:off x="6400800" y="3493008"/>
            <a:ext cx="21488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这 C(2n, n)/(n+1) 棵树里，</a:t>
            </a:r>
            <a:r>
              <a:rPr lang="en-US" sz="11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哪一棵检索效率最好</a:t>
            </a: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？</a:t>
            </a:r>
            <a:endParaRPr lang="en-US" sz="1150" dirty="0"/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12.4</a:t>
            </a:r>
            <a:endParaRPr lang="en-US" sz="9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12.4.1 最佳二叉搜索树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扩充二叉树：成功代价落在内部结点，失败代价落在外部结点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49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457200" y="960120"/>
            <a:ext cx="4206240" cy="2286000"/>
          </a:xfrm>
          <a:prstGeom prst="roundRect">
            <a:avLst>
              <a:gd name="adj" fmla="val 3200"/>
            </a:avLst>
          </a:prstGeom>
          <a:solidFill>
            <a:srgbClr val="F1F4F2"/>
          </a:solidFill>
          <a:ln/>
        </p:spPr>
      </p:sp>
      <p:pic>
        <p:nvPicPr>
          <p:cNvPr id="8" name="Image 0" descr="fig-12-23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23911" y="1051560"/>
            <a:ext cx="3872817" cy="1810512"/>
          </a:xfrm>
          <a:prstGeom prst="rect">
            <a:avLst/>
          </a:prstGeom>
        </p:spPr>
      </p:pic>
      <p:sp>
        <p:nvSpPr>
          <p:cNvPr id="9" name="Text 6"/>
          <p:cNvSpPr txBox="1"/>
          <p:nvPr/>
        </p:nvSpPr>
        <p:spPr>
          <a:xfrm>
            <a:off x="502920" y="2916936"/>
            <a:ext cx="4114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图 12.23  扩充二叉树（小方框是外部结点）</a:t>
            </a:r>
            <a:endParaRPr lang="en-US" sz="900" dirty="0"/>
          </a:p>
        </p:txBody>
      </p:sp>
      <p:sp>
        <p:nvSpPr>
          <p:cNvPr id="10" name="Text 7"/>
          <p:cNvSpPr txBox="1"/>
          <p:nvPr/>
        </p:nvSpPr>
        <p:spPr>
          <a:xfrm>
            <a:off x="4892040" y="960120"/>
            <a:ext cx="3794760" cy="23317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空子树补成</a:t>
            </a:r>
            <a:r>
              <a:rPr lang="en-US" sz="11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外部结点</a:t>
            </a: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，每个外部结点代表</a:t>
            </a:r>
            <a:r>
              <a:rPr lang="en-US" sz="11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一类检索失败</a:t>
            </a: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——如 A 代表落在 wim 与 wul 之间的关键码。</a:t>
            </a:r>
            <a:endParaRPr lang="en-US" sz="110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外部路径长度 E、内部路径长度 I 满足 </a:t>
            </a:r>
            <a:r>
              <a:rPr lang="en-US" sz="11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E = I + 2n</a:t>
            </a: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</a:t>
            </a:r>
            <a:endParaRPr lang="en-US" sz="110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根为第 0 层：成功检索比较 </a:t>
            </a:r>
            <a:r>
              <a:rPr lang="en-US" sz="11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lᵢ + 1</a:t>
            </a: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次；失败检索比较 </a:t>
            </a:r>
            <a:r>
              <a:rPr lang="en-US" sz="11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l′ᵢ</a:t>
            </a: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次（外部结点的层数）。</a:t>
            </a:r>
            <a:endParaRPr lang="en-US" sz="1100" dirty="0"/>
          </a:p>
        </p:txBody>
      </p:sp>
      <p:sp>
        <p:nvSpPr>
          <p:cNvPr id="11" name="Shape 8"/>
          <p:cNvSpPr/>
          <p:nvPr/>
        </p:nvSpPr>
        <p:spPr>
          <a:xfrm>
            <a:off x="457200" y="3383280"/>
            <a:ext cx="8229600" cy="1280160"/>
          </a:xfrm>
          <a:prstGeom prst="roundRect">
            <a:avLst>
              <a:gd name="adj" fmla="val 5714"/>
            </a:avLst>
          </a:prstGeom>
          <a:solidFill>
            <a:srgbClr val="1E3D34"/>
          </a:solidFill>
          <a:ln/>
        </p:spPr>
      </p:sp>
      <p:sp>
        <p:nvSpPr>
          <p:cNvPr id="12" name="Text 9"/>
          <p:cNvSpPr txBox="1"/>
          <p:nvPr/>
        </p:nvSpPr>
        <p:spPr>
          <a:xfrm>
            <a:off x="685800" y="345643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平均比较次数（带权）</a:t>
            </a:r>
            <a:endParaRPr lang="en-US" sz="1100" dirty="0"/>
          </a:p>
        </p:txBody>
      </p:sp>
      <p:sp>
        <p:nvSpPr>
          <p:cNvPr id="13" name="Text 10"/>
          <p:cNvSpPr txBox="1"/>
          <p:nvPr/>
        </p:nvSpPr>
        <p:spPr>
          <a:xfrm>
            <a:off x="685800" y="3749040"/>
            <a:ext cx="78638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ASL(n) = [ Σᵢ₌₁ⁿ pᵢ (lᵢ + 1) + Σᵢ₌₀ⁿ qᵢ l′ᵢ ] / W ，  W = Σ pᵢ + Σ qᵢ</a:t>
            </a:r>
            <a:endParaRPr lang="en-US" sz="1600" dirty="0"/>
          </a:p>
        </p:txBody>
      </p:sp>
      <p:sp>
        <p:nvSpPr>
          <p:cNvPr id="14" name="Text 11"/>
          <p:cNvSpPr txBox="1"/>
          <p:nvPr/>
        </p:nvSpPr>
        <p:spPr>
          <a:xfrm>
            <a:off x="685800" y="4160520"/>
            <a:ext cx="7863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50" dirty="0">
                <a:solidFill>
                  <a:srgbClr val="CFE0D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pᵢ：检索第 i 个关键码的频率；qᵢ：落在第 i 与第 i+1 个关键码之间的频率。二者叫</a:t>
            </a:r>
            <a:r>
              <a:rPr lang="en-US" sz="1050" b="1" dirty="0">
                <a:solidFill>
                  <a:srgbClr val="CFE0D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权</a:t>
            </a:r>
            <a:r>
              <a:rPr lang="en-US" sz="1050" dirty="0">
                <a:solidFill>
                  <a:srgbClr val="CFE0D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。ASL 最小的那棵叫</a:t>
            </a:r>
            <a:r>
              <a:rPr lang="en-US" sz="1050" b="1" dirty="0">
                <a:solidFill>
                  <a:srgbClr val="CFE0D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最佳二叉搜索树</a:t>
            </a:r>
            <a:r>
              <a:rPr lang="en-US" sz="1050" dirty="0">
                <a:solidFill>
                  <a:srgbClr val="CFE0D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</a:t>
            </a:r>
            <a:endParaRPr lang="en-US" sz="1050" dirty="0"/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12.4</a:t>
            </a:r>
            <a:endParaRPr lang="en-US" sz="9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12.4.1 最佳二叉搜索树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等权时：让内部路径长度 I 最小，即形状尽量平衡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50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457200" y="960120"/>
            <a:ext cx="3977640" cy="1463040"/>
          </a:xfrm>
          <a:prstGeom prst="roundRect">
            <a:avLst>
              <a:gd name="adj" fmla="val 5000"/>
            </a:avLst>
          </a:prstGeom>
          <a:solidFill>
            <a:srgbClr val="F1F4F2"/>
          </a:solidFill>
          <a:ln/>
        </p:spPr>
      </p:sp>
      <p:pic>
        <p:nvPicPr>
          <p:cNvPr id="8" name="Image 0" descr="fig-12-24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07253" y="1051560"/>
            <a:ext cx="3477534" cy="987552"/>
          </a:xfrm>
          <a:prstGeom prst="rect">
            <a:avLst/>
          </a:prstGeom>
        </p:spPr>
      </p:pic>
      <p:sp>
        <p:nvSpPr>
          <p:cNvPr id="9" name="Text 6"/>
          <p:cNvSpPr txBox="1"/>
          <p:nvPr/>
        </p:nvSpPr>
        <p:spPr>
          <a:xfrm>
            <a:off x="502920" y="2093976"/>
            <a:ext cx="3886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图 12.24  等权时的最佳 BST</a:t>
            </a:r>
            <a:endParaRPr lang="en-US" sz="900" dirty="0"/>
          </a:p>
        </p:txBody>
      </p:sp>
      <p:sp>
        <p:nvSpPr>
          <p:cNvPr id="10" name="Shape 7"/>
          <p:cNvSpPr/>
          <p:nvPr/>
        </p:nvSpPr>
        <p:spPr>
          <a:xfrm>
            <a:off x="457200" y="2560320"/>
            <a:ext cx="3977640" cy="2103120"/>
          </a:xfrm>
          <a:prstGeom prst="roundRect">
            <a:avLst>
              <a:gd name="adj" fmla="val 3478"/>
            </a:avLst>
          </a:prstGeom>
          <a:solidFill>
            <a:srgbClr val="F1F4F2"/>
          </a:solidFill>
          <a:ln/>
        </p:spPr>
      </p:sp>
      <p:pic>
        <p:nvPicPr>
          <p:cNvPr id="11" name="Image 1" descr="fig-12-25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42004" y="2651760"/>
            <a:ext cx="2808032" cy="1627632"/>
          </a:xfrm>
          <a:prstGeom prst="rect">
            <a:avLst/>
          </a:prstGeom>
        </p:spPr>
      </p:pic>
      <p:sp>
        <p:nvSpPr>
          <p:cNvPr id="12" name="Text 8"/>
          <p:cNvSpPr txBox="1"/>
          <p:nvPr/>
        </p:nvSpPr>
        <p:spPr>
          <a:xfrm>
            <a:off x="502920" y="4334256"/>
            <a:ext cx="3886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图 12.25  最坏：退化成链，O(n)</a:t>
            </a:r>
            <a:endParaRPr lang="en-US" sz="900" dirty="0"/>
          </a:p>
        </p:txBody>
      </p:sp>
      <p:sp>
        <p:nvSpPr>
          <p:cNvPr id="13" name="Text 9"/>
          <p:cNvSpPr txBox="1"/>
          <p:nvPr/>
        </p:nvSpPr>
        <p:spPr>
          <a:xfrm>
            <a:off x="4663440" y="960120"/>
            <a:ext cx="4023360" cy="260604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pᵢ / W = qᵢ / W = 1 / (2n+1)，用 E = I + 2n 化简得 </a:t>
            </a:r>
            <a:r>
              <a:rPr lang="en-US" sz="11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ASL(n) = (2I + 3n) / (2n + 1)</a:t>
            </a: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</a:t>
            </a:r>
            <a:endParaRPr lang="en-US" sz="110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路径长度为 0 的结点只有 1 个，为 1 的至多 2 个，为 2 的至多 4 个…… → I 至少是 0, 1, 1, 2, 2, 2, 2, 3, … 的前 n 项和 </a:t>
            </a:r>
            <a:r>
              <a:rPr lang="en-US" sz="11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Σ⌊log₂k⌋</a:t>
            </a: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</a:t>
            </a:r>
            <a:endParaRPr lang="en-US" sz="110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1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只有最下面两层结点的度数可以小于 2</a:t>
            </a: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时达到，ASL 为 </a:t>
            </a:r>
            <a:r>
              <a:rPr lang="en-US" sz="11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Θ(log n)</a:t>
            </a: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。构造：排序后用二分法依次插入。</a:t>
            </a:r>
            <a:endParaRPr lang="en-US" sz="1100" dirty="0"/>
          </a:p>
        </p:txBody>
      </p:sp>
      <p:sp>
        <p:nvSpPr>
          <p:cNvPr id="14" name="Shape 10"/>
          <p:cNvSpPr/>
          <p:nvPr/>
        </p:nvSpPr>
        <p:spPr>
          <a:xfrm>
            <a:off x="4663440" y="3611880"/>
            <a:ext cx="4023360" cy="1051560"/>
          </a:xfrm>
          <a:prstGeom prst="roundRect">
            <a:avLst>
              <a:gd name="adj" fmla="val 6957"/>
            </a:avLst>
          </a:prstGeom>
          <a:solidFill>
            <a:srgbClr val="CFE0D8"/>
          </a:solidFill>
          <a:ln/>
        </p:spPr>
      </p:sp>
      <p:sp>
        <p:nvSpPr>
          <p:cNvPr id="15" name="Text 11"/>
          <p:cNvSpPr txBox="1"/>
          <p:nvPr/>
        </p:nvSpPr>
        <p:spPr>
          <a:xfrm>
            <a:off x="4800600" y="3703320"/>
            <a:ext cx="3749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随便插入会怎样</a:t>
            </a:r>
            <a:endParaRPr lang="en-US" sz="1200" dirty="0"/>
          </a:p>
        </p:txBody>
      </p:sp>
      <p:sp>
        <p:nvSpPr>
          <p:cNvPr id="16" name="Text 12"/>
          <p:cNvSpPr txBox="1"/>
          <p:nvPr/>
        </p:nvSpPr>
        <p:spPr>
          <a:xfrm>
            <a:off x="4800600" y="3995928"/>
            <a:ext cx="37490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9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对 </a:t>
            </a:r>
            <a:r>
              <a:rPr lang="en-US" sz="9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n! 种插入次序</a:t>
            </a:r>
            <a:r>
              <a:rPr lang="en-US" sz="9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等概率平均，比较次数约 2 ln n ≈ 1.39 log₂ n，仍是 </a:t>
            </a:r>
            <a:r>
              <a:rPr lang="en-US" sz="9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O(log₂ n)</a:t>
            </a:r>
            <a:r>
              <a:rPr lang="en-US" sz="9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。原书写成对 C(2n, n)/(n+1) 种</a:t>
            </a:r>
            <a:r>
              <a:rPr lang="en-US" sz="9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形状</a:t>
            </a:r>
            <a:r>
              <a:rPr lang="en-US" sz="9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平均——那样平均深度是 Θ(√n)，平均对象说错了。</a:t>
            </a:r>
            <a:endParaRPr lang="en-US" sz="950" dirty="0"/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12.4</a:t>
            </a:r>
            <a:endParaRPr lang="en-US" sz="9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12.4.1 最佳二叉搜索树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不等权时：最佳的形状未必最平衡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51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457200" y="960120"/>
            <a:ext cx="4572000" cy="2651760"/>
          </a:xfrm>
          <a:prstGeom prst="roundRect">
            <a:avLst>
              <a:gd name="adj" fmla="val 2759"/>
            </a:avLst>
          </a:prstGeom>
          <a:solidFill>
            <a:srgbClr val="F1F4F2"/>
          </a:solidFill>
          <a:ln/>
        </p:spPr>
      </p:sp>
      <p:pic>
        <p:nvPicPr>
          <p:cNvPr id="8" name="Image 0" descr="fig-12-26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17372" y="1051560"/>
            <a:ext cx="3851656" cy="2176272"/>
          </a:xfrm>
          <a:prstGeom prst="rect">
            <a:avLst/>
          </a:prstGeom>
        </p:spPr>
      </p:pic>
      <p:sp>
        <p:nvSpPr>
          <p:cNvPr id="9" name="Text 6"/>
          <p:cNvSpPr txBox="1"/>
          <p:nvPr/>
        </p:nvSpPr>
        <p:spPr>
          <a:xfrm>
            <a:off x="502920" y="3282696"/>
            <a:ext cx="4480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图 12.26  具有不等权结点的二叉搜索树</a:t>
            </a:r>
            <a:endParaRPr lang="en-US" sz="900" dirty="0"/>
          </a:p>
        </p:txBody>
      </p:sp>
      <p:graphicFrame>
        <p:nvGraphicFramePr>
          <p:cNvPr id="5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3730752"/>
          <a:ext cx="4572000" cy="914400"/>
        </p:xfrm>
        <a:graphic>
          <a:graphicData uri="http://schemas.openxmlformats.org/drawingml/2006/table">
            <a:tbl>
              <a:tblPr/>
              <a:tblGrid>
                <a:gridCol w="1005840"/>
                <a:gridCol w="1371600"/>
                <a:gridCol w="1280160"/>
                <a:gridCol w="914400"/>
              </a:tblGrid>
              <a:tr h="31089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 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成功 Σp(l+1)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失败 Σq·l′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ASL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左：B 为根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1 + 10 + 4 = 15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9 × 2 = 18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33 / 17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右：A 为根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5 + 2 + 6 = 13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4 + 6 + 6 = 16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E9E6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29 / 17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</a:tr>
            </a:tbl>
          </a:graphicData>
        </a:graphic>
      </p:graphicFrame>
      <p:sp>
        <p:nvSpPr>
          <p:cNvPr id="11" name="Text 7"/>
          <p:cNvSpPr txBox="1"/>
          <p:nvPr/>
        </p:nvSpPr>
        <p:spPr>
          <a:xfrm>
            <a:off x="5257800" y="960120"/>
            <a:ext cx="3429000" cy="237744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权：A = 5、B = 1、C = 2；四个外部结点 4、3、1、1；</a:t>
            </a:r>
            <a:r>
              <a:rPr lang="en-US" sz="11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W = 17</a:t>
            </a: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</a:t>
            </a:r>
            <a:endParaRPr lang="en-US" sz="115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成功查找按 </a:t>
            </a:r>
            <a:r>
              <a:rPr lang="en-US" sz="11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层数 + 1</a:t>
            </a: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计，失败查找按外部结点的</a:t>
            </a:r>
            <a:r>
              <a:rPr lang="en-US" sz="11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层数</a:t>
            </a: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计。</a:t>
            </a:r>
            <a:endParaRPr lang="en-US" sz="115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权大的 A（5）往根靠，哪怕整棵树因此歪一些，ASL 反而更小。</a:t>
            </a:r>
            <a:endParaRPr lang="en-US" sz="1150" dirty="0"/>
          </a:p>
        </p:txBody>
      </p:sp>
      <p:sp>
        <p:nvSpPr>
          <p:cNvPr id="12" name="Shape 8"/>
          <p:cNvSpPr/>
          <p:nvPr/>
        </p:nvSpPr>
        <p:spPr>
          <a:xfrm>
            <a:off x="5257800" y="3474720"/>
            <a:ext cx="3429000" cy="1188720"/>
          </a:xfrm>
          <a:prstGeom prst="roundRect">
            <a:avLst>
              <a:gd name="adj" fmla="val 6154"/>
            </a:avLst>
          </a:prstGeom>
          <a:solidFill>
            <a:srgbClr val="FFF6E0"/>
          </a:solidFill>
          <a:ln/>
        </p:spPr>
      </p:sp>
      <p:sp>
        <p:nvSpPr>
          <p:cNvPr id="13" name="Text 9"/>
          <p:cNvSpPr txBox="1"/>
          <p:nvPr/>
        </p:nvSpPr>
        <p:spPr>
          <a:xfrm>
            <a:off x="5394960" y="3566160"/>
            <a:ext cx="3154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所以要动态规划</a:t>
            </a:r>
            <a:endParaRPr lang="en-US" sz="1200" dirty="0"/>
          </a:p>
        </p:txBody>
      </p:sp>
      <p:sp>
        <p:nvSpPr>
          <p:cNvPr id="14" name="Text 10"/>
          <p:cNvSpPr txBox="1"/>
          <p:nvPr/>
        </p:nvSpPr>
        <p:spPr>
          <a:xfrm>
            <a:off x="5394960" y="3858768"/>
            <a:ext cx="31546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不能简单「取中位数当根」——要在每个区间里</a:t>
            </a:r>
            <a:r>
              <a:rPr lang="en-US" sz="11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枚举根</a:t>
            </a: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</a:t>
            </a:r>
            <a:endParaRPr lang="en-US" sz="1150" dirty="0"/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12.4</a:t>
            </a:r>
            <a:endParaRPr lang="en-US" sz="9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12.4.1 最佳二叉搜索树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动态规划：最佳 BST 的任何子树也是最佳 BST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52</a:t>
            </a:r>
            <a:endParaRPr lang="en-US" sz="900" dirty="0"/>
          </a:p>
        </p:txBody>
      </p:sp>
      <p:sp>
        <p:nvSpPr>
          <p:cNvPr id="7" name="Text 5"/>
          <p:cNvSpPr txBox="1"/>
          <p:nvPr/>
        </p:nvSpPr>
        <p:spPr>
          <a:xfrm>
            <a:off x="457200" y="960120"/>
            <a:ext cx="5303520" cy="21031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t(i, j)：以 key₍ᵢ₊₁₎ … keyⱼ 为内部结点、权为 (qᵢ, pᵢ₊₁, qᵢ₊₁, …, pⱼ, qⱼ) 的最佳 BST；根 r(i, j)，开销 C(i, j)。</a:t>
            </a:r>
            <a:endParaRPr lang="en-US" sz="110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W(i, j) = pᵢ₊₁ + ⋯ + pⱼ + qᵢ + ⋯ + qⱼ。</a:t>
            </a:r>
            <a:endParaRPr lang="en-US" sz="110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先构造 1 个结点的 t(0,1), t(1,2), …；再 2 个结点的 t(0,2), t(1,3), …；直到 t(0, n)。</a:t>
            </a:r>
            <a:r>
              <a:rPr lang="en-US" sz="11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大树用前面构造的小树当子树。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57200" y="3108960"/>
            <a:ext cx="5303520" cy="777240"/>
          </a:xfrm>
          <a:prstGeom prst="roundRect">
            <a:avLst>
              <a:gd name="adj" fmla="val 9412"/>
            </a:avLst>
          </a:prstGeom>
          <a:solidFill>
            <a:srgbClr val="1E3D34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594360" y="3108960"/>
            <a:ext cx="50292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C(i, j) = W(i, j) + min₍ᵢ&lt;ₖ≤ⱼ₎ ( C(i, k−1) + C(k, j) )</a:t>
            </a:r>
            <a:endParaRPr lang="en-US" sz="16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3977640"/>
            <a:ext cx="5303520" cy="7315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buNone/>
            </a:pP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以 keyₖ 为根：左子树 t(i, k−1)、右子树 t(k, j) 都已求出。</a:t>
            </a:r>
            <a:r>
              <a:rPr lang="en-US" sz="10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每换一个根都要再加一次 W(i, j)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——挂到新根下面后，区间内每种查找的深度都加 1。</a:t>
            </a:r>
            <a:r>
              <a:rPr lang="en-US" sz="10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root[i][j]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是重建树时的路线图。</a:t>
            </a:r>
            <a:endParaRPr lang="en-US" sz="1050" dirty="0"/>
          </a:p>
        </p:txBody>
      </p:sp>
      <p:sp>
        <p:nvSpPr>
          <p:cNvPr id="11" name="Shape 9"/>
          <p:cNvSpPr/>
          <p:nvPr/>
        </p:nvSpPr>
        <p:spPr>
          <a:xfrm>
            <a:off x="5989320" y="960120"/>
            <a:ext cx="2697480" cy="3703320"/>
          </a:xfrm>
          <a:prstGeom prst="roundRect">
            <a:avLst>
              <a:gd name="adj" fmla="val 2712"/>
            </a:avLst>
          </a:prstGeom>
          <a:solidFill>
            <a:srgbClr val="F1F4F2"/>
          </a:solidFill>
          <a:ln/>
        </p:spPr>
      </p:sp>
      <p:pic>
        <p:nvPicPr>
          <p:cNvPr id="12" name="Image 0" descr="fig-12-27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086497" y="1051560"/>
            <a:ext cx="2503126" cy="3227832"/>
          </a:xfrm>
          <a:prstGeom prst="rect">
            <a:avLst/>
          </a:prstGeom>
        </p:spPr>
      </p:pic>
      <p:sp>
        <p:nvSpPr>
          <p:cNvPr id="13" name="Text 10"/>
          <p:cNvSpPr txBox="1"/>
          <p:nvPr/>
        </p:nvSpPr>
        <p:spPr>
          <a:xfrm>
            <a:off x="6035040" y="4334256"/>
            <a:ext cx="2606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图 12.27  按区间由短到长构造</a:t>
            </a:r>
            <a:endParaRPr lang="en-US" sz="900" dirty="0"/>
          </a:p>
        </p:txBody>
      </p:sp>
    </p:spTree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12.4</a:t>
            </a:r>
            <a:endParaRPr lang="en-US" sz="9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12.4.1 最佳 BST · code/ch12/optimal_bst（上）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optimal_bst：校验权数，初始化空区间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53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457200" y="960120"/>
            <a:ext cx="6035040" cy="3703320"/>
          </a:xfrm>
          <a:prstGeom prst="roundRect">
            <a:avLst>
              <a:gd name="adj" fmla="val 1975"/>
            </a:avLst>
          </a:prstGeom>
          <a:solidFill>
            <a:srgbClr val="F1F4F2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530352" y="1005840"/>
            <a:ext cx="5888736" cy="361188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8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struct OptimalBstResult {</a:t>
            </a:r>
            <a:endParaRPr lang="en-US" sz="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std::vector&lt;std::vector&lt;long long&gt;&gt; cost;</a:t>
            </a:r>
            <a:endParaRPr lang="en-US" sz="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std::vector&lt;std::vector&lt;std::size_t&gt;&gt; root;</a:t>
            </a:r>
            <a:endParaRPr lang="en-US" sz="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};</a:t>
            </a:r>
            <a:endParaRPr lang="en-US" sz="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endParaRPr lang="en-US" sz="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inline OptimalBstResult optimal_bst(const std::vector&lt;int&gt;&amp; successful,</a:t>
            </a:r>
            <a:endParaRPr lang="en-US" sz="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                       const std::vector&lt;int&gt;&amp; unsuccessful) {</a:t>
            </a:r>
            <a:endParaRPr lang="en-US" sz="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if (unsuccessful.size() != successful.size() + 1) {</a:t>
            </a:r>
            <a:endParaRPr lang="en-US" sz="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throw std::invalid_argument("weight count");</a:t>
            </a:r>
            <a:endParaRPr lang="en-US" sz="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}</a:t>
            </a:r>
            <a:endParaRPr lang="en-US" sz="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const std::size_t count = successful.size();</a:t>
            </a:r>
            <a:endParaRPr lang="en-US" sz="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OptimalBstResult result{</a:t>
            </a:r>
            <a:endParaRPr lang="en-US" sz="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std::vector&lt;std::vector&lt;long long&gt;&gt;(count + 1,</a:t>
            </a:r>
            <a:endParaRPr lang="en-US" sz="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                               std::vector&lt;long long&gt;(count + 1, 0)),</a:t>
            </a:r>
            <a:endParaRPr lang="en-US" sz="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std::vector&lt;std::vector&lt;std::size_t&gt;&gt;(count + 1,</a:t>
            </a:r>
            <a:endParaRPr lang="en-US" sz="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                                 std::vector&lt;std::size_t&gt;(count + 1, 0))};</a:t>
            </a:r>
            <a:endParaRPr lang="en-US" sz="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std::vector&lt;std::vector&lt;long long&gt;&gt; weight(</a:t>
            </a:r>
            <a:endParaRPr lang="en-US" sz="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count + 1, std::vector&lt;long long&gt;(count + 1, 0));</a:t>
            </a:r>
            <a:endParaRPr lang="en-US" sz="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endParaRPr lang="en-US" sz="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for (std::size_t index = 0; index &lt;= count; ++index) {</a:t>
            </a:r>
            <a:endParaRPr lang="en-US" sz="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</a:t>
            </a:r>
            <a:r>
              <a:rPr lang="en-US" sz="80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The book's c table measures internal-key comparison cost; an empty</a:t>
            </a:r>
            <a:endParaRPr lang="en-US" sz="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</a:t>
            </a:r>
            <a:r>
              <a:rPr lang="en-US" sz="80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interval has zero c cost while its unsuccessful weight remains in w.</a:t>
            </a:r>
            <a:endParaRPr lang="en-US" sz="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result.cost[index][index] = 0;</a:t>
            </a:r>
            <a:endParaRPr lang="en-US" sz="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weight[index][index] = unsuccessful[index];</a:t>
            </a:r>
            <a:endParaRPr lang="en-US" sz="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}</a:t>
            </a:r>
            <a:endParaRPr lang="en-US" sz="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r>
              <a:rPr lang="en-US" sz="80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...</a:t>
            </a:r>
            <a:endParaRPr lang="en-US" sz="800" dirty="0"/>
          </a:p>
        </p:txBody>
      </p:sp>
      <p:sp>
        <p:nvSpPr>
          <p:cNvPr id="9" name="Shape 7"/>
          <p:cNvSpPr/>
          <p:nvPr/>
        </p:nvSpPr>
        <p:spPr>
          <a:xfrm>
            <a:off x="6720840" y="960120"/>
            <a:ext cx="1965960" cy="3703320"/>
          </a:xfrm>
          <a:prstGeom prst="roundRect">
            <a:avLst>
              <a:gd name="adj" fmla="val 3721"/>
            </a:avLst>
          </a:prstGeom>
          <a:solidFill>
            <a:srgbClr val="FFF6E0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6858000" y="1051560"/>
            <a:ext cx="1691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输入与边界</a:t>
            </a:r>
            <a:endParaRPr lang="en-US" sz="1200" dirty="0"/>
          </a:p>
        </p:txBody>
      </p:sp>
      <p:sp>
        <p:nvSpPr>
          <p:cNvPr id="11" name="Text 9"/>
          <p:cNvSpPr txBox="1"/>
          <p:nvPr/>
        </p:nvSpPr>
        <p:spPr>
          <a:xfrm>
            <a:off x="6830568" y="1344168"/>
            <a:ext cx="1746504" cy="32461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成功权 </a:t>
            </a:r>
            <a:r>
              <a:rPr lang="en-US" sz="100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p[1..n]</a:t>
            </a: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，失败权 </a:t>
            </a:r>
            <a:r>
              <a:rPr lang="en-US" sz="100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q[0..n]</a:t>
            </a: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→ 必须 </a:t>
            </a:r>
            <a:r>
              <a:rPr lang="en-US" sz="100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q.size() == p.size() + 1</a:t>
            </a: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</a:t>
            </a:r>
            <a:endParaRPr lang="en-US" sz="100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空区间：</a:t>
            </a:r>
            <a:r>
              <a:rPr lang="en-US" sz="100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cost[i][i] = 0</a:t>
            </a: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，</a:t>
            </a:r>
            <a:r>
              <a:rPr lang="en-US" sz="100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weight[i][i] = q[i]</a:t>
            </a: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</a:t>
            </a:r>
            <a:endParaRPr lang="en-US" sz="100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空树：</a:t>
            </a:r>
            <a:r>
              <a:rPr lang="en-US" sz="100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 = {}</a:t>
            </a: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、</a:t>
            </a:r>
            <a:r>
              <a:rPr lang="en-US" sz="100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q = {某个失败权}</a:t>
            </a: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，代价 0。</a:t>
            </a:r>
            <a:endParaRPr lang="en-US" sz="1000" dirty="0"/>
          </a:p>
        </p:txBody>
      </p:sp>
    </p:spTree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12.4</a:t>
            </a:r>
            <a:endParaRPr lang="en-US" sz="9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12.4.1 最佳 BST · code/ch12/optimal_bst（下）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按区间长度递增，枚举每个根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54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457200" y="960120"/>
            <a:ext cx="6035040" cy="2926080"/>
          </a:xfrm>
          <a:prstGeom prst="roundRect">
            <a:avLst>
              <a:gd name="adj" fmla="val 2500"/>
            </a:avLst>
          </a:prstGeom>
          <a:solidFill>
            <a:srgbClr val="F1F4F2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530352" y="1005840"/>
            <a:ext cx="5888736" cy="283464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8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r>
              <a:rPr lang="en-US" sz="80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...</a:t>
            </a:r>
            <a:endParaRPr lang="en-US" sz="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for (std::size_t length = 1; length &lt;= count; ++length) {</a:t>
            </a:r>
            <a:endParaRPr lang="en-US" sz="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for (std::size_t first = 0; first + length &lt;= count; ++first) {</a:t>
            </a:r>
            <a:endParaRPr lang="en-US" sz="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const std::size_t last = first + length;</a:t>
            </a:r>
            <a:endParaRPr lang="en-US" sz="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weight[first][last] = weight[first][last - 1] + successful[last - 1] +</a:t>
            </a:r>
            <a:endParaRPr lang="en-US" sz="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                     unsuccessful[last];</a:t>
            </a:r>
            <a:endParaRPr lang="en-US" sz="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result.cost[first][last] = std::numeric_limits&lt;long long&gt;::max() / 4;</a:t>
            </a:r>
            <a:endParaRPr lang="en-US" sz="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for (std::size_t root = first + 1; root &lt;= last; ++root) {</a:t>
            </a:r>
            <a:endParaRPr lang="en-US" sz="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   const long long candidate = result.cost[first][root - 1] +</a:t>
            </a:r>
            <a:endParaRPr lang="en-US" sz="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                               result.cost[root][last] + weight[first][last];</a:t>
            </a:r>
            <a:endParaRPr lang="en-US" sz="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   if (candidate &lt; result.cost[first][last]) {</a:t>
            </a:r>
            <a:endParaRPr lang="en-US" sz="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       result.cost[first][last] = candidate;</a:t>
            </a:r>
            <a:endParaRPr lang="en-US" sz="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       result.root[first][last] = root;</a:t>
            </a:r>
            <a:endParaRPr lang="en-US" sz="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   }</a:t>
            </a:r>
            <a:endParaRPr lang="en-US" sz="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}</a:t>
            </a:r>
            <a:endParaRPr lang="en-US" sz="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}</a:t>
            </a:r>
            <a:endParaRPr lang="en-US" sz="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}</a:t>
            </a:r>
            <a:endParaRPr lang="en-US" sz="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return result;</a:t>
            </a:r>
            <a:endParaRPr lang="en-US" sz="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800" dirty="0"/>
          </a:p>
        </p:txBody>
      </p:sp>
      <p:sp>
        <p:nvSpPr>
          <p:cNvPr id="9" name="Text 7"/>
          <p:cNvSpPr txBox="1"/>
          <p:nvPr/>
        </p:nvSpPr>
        <p:spPr>
          <a:xfrm>
            <a:off x="457200" y="3977640"/>
            <a:ext cx="6035040" cy="36576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三重循环：区间长度 × 起点 × 根 → 朴素实现 </a:t>
            </a:r>
            <a:r>
              <a:rPr lang="en-US" sz="12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O(n³)</a:t>
            </a:r>
            <a:r>
              <a:rPr lang="en-US" sz="12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6720840" y="960120"/>
            <a:ext cx="1965960" cy="2286000"/>
          </a:xfrm>
          <a:prstGeom prst="roundRect">
            <a:avLst>
              <a:gd name="adj" fmla="val 3721"/>
            </a:avLst>
          </a:prstGeom>
          <a:solidFill>
            <a:srgbClr val="FFF6E0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6858000" y="1051560"/>
            <a:ext cx="1691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为什么按长度递增</a:t>
            </a:r>
            <a:endParaRPr lang="en-US" sz="1200" dirty="0"/>
          </a:p>
        </p:txBody>
      </p:sp>
      <p:sp>
        <p:nvSpPr>
          <p:cNvPr id="12" name="Text 10"/>
          <p:cNvSpPr txBox="1"/>
          <p:nvPr/>
        </p:nvSpPr>
        <p:spPr>
          <a:xfrm>
            <a:off x="6858000" y="1344168"/>
            <a:ext cx="169164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算 </a:t>
            </a:r>
            <a:r>
              <a:rPr lang="en-US" sz="100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[i, j]</a:t>
            </a: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选根 r 时，必须已经知道 </a:t>
            </a:r>
            <a:r>
              <a:rPr lang="en-US" sz="100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[i, r−1]</a:t>
            </a: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和 </a:t>
            </a:r>
            <a:r>
              <a:rPr lang="en-US" sz="100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[r, j]</a:t>
            </a: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的最优代价——它们</a:t>
            </a:r>
            <a:r>
              <a:rPr lang="en-US" sz="10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都比当前区间短</a:t>
            </a: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6720840" y="3383280"/>
            <a:ext cx="1965960" cy="1280160"/>
          </a:xfrm>
          <a:prstGeom prst="roundRect">
            <a:avLst>
              <a:gd name="adj" fmla="val 5714"/>
            </a:avLst>
          </a:prstGeom>
          <a:solidFill>
            <a:srgbClr val="CFE0D8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6858000" y="3474720"/>
            <a:ext cx="1691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weight 递推</a:t>
            </a:r>
            <a:endParaRPr lang="en-US" sz="1200" dirty="0"/>
          </a:p>
        </p:txBody>
      </p:sp>
      <p:sp>
        <p:nvSpPr>
          <p:cNvPr id="15" name="Text 13"/>
          <p:cNvSpPr txBox="1"/>
          <p:nvPr/>
        </p:nvSpPr>
        <p:spPr>
          <a:xfrm>
            <a:off x="6858000" y="3767328"/>
            <a:ext cx="16916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0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w[i][j] = w[i][j−1] + p[j] + q[j]</a:t>
            </a: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：每格 O(1)。</a:t>
            </a:r>
            <a:endParaRPr lang="en-US" sz="1000" dirty="0"/>
          </a:p>
        </p:txBody>
      </p:sp>
    </p:spTree>
  </p:cSld>
  <p:clrMapOvr>
    <a:masterClrMapping/>
  </p:clrMapOvr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12.4</a:t>
            </a:r>
            <a:endParaRPr lang="en-US" sz="9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12.4.1 最佳 BST · 逐层核算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p = {1,5,4,3}，q = {5,4,3,2,1}：最后一格怎样得到 57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55</a:t>
            </a:r>
            <a:endParaRPr lang="en-US" sz="900" dirty="0"/>
          </a:p>
        </p:txBody>
      </p:sp>
      <p:graphicFrame>
        <p:nvGraphicFramePr>
          <p:cNvPr id="5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932688"/>
          <a:ext cx="3657600" cy="914400"/>
        </p:xfrm>
        <a:graphic>
          <a:graphicData uri="http://schemas.openxmlformats.org/drawingml/2006/table">
            <a:tbl>
              <a:tblPr/>
              <a:tblGrid>
                <a:gridCol w="914400"/>
                <a:gridCol w="914400"/>
                <a:gridCol w="1005840"/>
                <a:gridCol w="822960"/>
              </a:tblGrid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区间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总权 w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最优代价 c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根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[0,1]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10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10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1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[1,2]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12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12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2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[2,3]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9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9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3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[3,4]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6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6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4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[0,2]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18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28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2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[1,3]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18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27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2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[2,4]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13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19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3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[0,3]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24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43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2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[1,4]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22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40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3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[0,4]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9C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28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9C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57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9C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2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9C0"/>
                    </a:solidFill>
                  </a:tcPr>
                </a:tc>
              </a:tr>
            </a:tbl>
          </a:graphicData>
        </a:graphic>
      </p:graphicFrame>
      <p:sp>
        <p:nvSpPr>
          <p:cNvPr id="8" name="Shape 5"/>
          <p:cNvSpPr/>
          <p:nvPr/>
        </p:nvSpPr>
        <p:spPr>
          <a:xfrm>
            <a:off x="4343400" y="932688"/>
            <a:ext cx="4343400" cy="1783080"/>
          </a:xfrm>
          <a:prstGeom prst="roundRect">
            <a:avLst>
              <a:gd name="adj" fmla="val 4103"/>
            </a:avLst>
          </a:prstGeom>
          <a:solidFill>
            <a:srgbClr val="F1F4F2"/>
          </a:solidFill>
          <a:ln/>
        </p:spPr>
      </p:sp>
      <p:sp>
        <p:nvSpPr>
          <p:cNvPr id="9" name="Text 6"/>
          <p:cNvSpPr txBox="1"/>
          <p:nvPr/>
        </p:nvSpPr>
        <p:spPr>
          <a:xfrm>
            <a:off x="4480560" y="1005840"/>
            <a:ext cx="4114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[0,4] 的四个候选：c[0][k−1] + c[k][4] + 28</a:t>
            </a:r>
            <a:endParaRPr lang="en-US" sz="1100" dirty="0"/>
          </a:p>
        </p:txBody>
      </p:sp>
      <p:sp>
        <p:nvSpPr>
          <p:cNvPr id="10" name="Text 7"/>
          <p:cNvSpPr txBox="1"/>
          <p:nvPr/>
        </p:nvSpPr>
        <p:spPr>
          <a:xfrm>
            <a:off x="4526280" y="1325880"/>
            <a:ext cx="8229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k = 1</a:t>
            </a:r>
            <a:endParaRPr lang="en-US" sz="1100" dirty="0"/>
          </a:p>
        </p:txBody>
      </p:sp>
      <p:sp>
        <p:nvSpPr>
          <p:cNvPr id="11" name="Text 8"/>
          <p:cNvSpPr txBox="1"/>
          <p:nvPr/>
        </p:nvSpPr>
        <p:spPr>
          <a:xfrm>
            <a:off x="5394960" y="1325880"/>
            <a:ext cx="31089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 + 40 + 28 = 68</a:t>
            </a:r>
            <a:endParaRPr lang="en-US" sz="1100" dirty="0"/>
          </a:p>
        </p:txBody>
      </p:sp>
      <p:sp>
        <p:nvSpPr>
          <p:cNvPr id="12" name="Text 9"/>
          <p:cNvSpPr txBox="1"/>
          <p:nvPr/>
        </p:nvSpPr>
        <p:spPr>
          <a:xfrm>
            <a:off x="4526280" y="1655064"/>
            <a:ext cx="8229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2E9E6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k = 2</a:t>
            </a:r>
            <a:endParaRPr lang="en-US" sz="1100" dirty="0"/>
          </a:p>
        </p:txBody>
      </p:sp>
      <p:sp>
        <p:nvSpPr>
          <p:cNvPr id="13" name="Text 10"/>
          <p:cNvSpPr txBox="1"/>
          <p:nvPr/>
        </p:nvSpPr>
        <p:spPr>
          <a:xfrm>
            <a:off x="5394960" y="1655064"/>
            <a:ext cx="31089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2E9E6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10 + 19 + 28 = 57</a:t>
            </a:r>
            <a:endParaRPr lang="en-US" sz="1100" dirty="0"/>
          </a:p>
        </p:txBody>
      </p:sp>
      <p:sp>
        <p:nvSpPr>
          <p:cNvPr id="14" name="Text 11"/>
          <p:cNvSpPr txBox="1"/>
          <p:nvPr/>
        </p:nvSpPr>
        <p:spPr>
          <a:xfrm>
            <a:off x="4526280" y="1984248"/>
            <a:ext cx="8229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k = 3</a:t>
            </a:r>
            <a:endParaRPr lang="en-US" sz="1100" dirty="0"/>
          </a:p>
        </p:txBody>
      </p:sp>
      <p:sp>
        <p:nvSpPr>
          <p:cNvPr id="15" name="Text 12"/>
          <p:cNvSpPr txBox="1"/>
          <p:nvPr/>
        </p:nvSpPr>
        <p:spPr>
          <a:xfrm>
            <a:off x="5394960" y="1984248"/>
            <a:ext cx="31089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28 + 6 + 28 = 62</a:t>
            </a:r>
            <a:endParaRPr lang="en-US" sz="1100" dirty="0"/>
          </a:p>
        </p:txBody>
      </p:sp>
      <p:sp>
        <p:nvSpPr>
          <p:cNvPr id="16" name="Text 13"/>
          <p:cNvSpPr txBox="1"/>
          <p:nvPr/>
        </p:nvSpPr>
        <p:spPr>
          <a:xfrm>
            <a:off x="4526280" y="2313432"/>
            <a:ext cx="8229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k = 4</a:t>
            </a:r>
            <a:endParaRPr lang="en-US" sz="1100" dirty="0"/>
          </a:p>
        </p:txBody>
      </p:sp>
      <p:sp>
        <p:nvSpPr>
          <p:cNvPr id="17" name="Text 14"/>
          <p:cNvSpPr txBox="1"/>
          <p:nvPr/>
        </p:nvSpPr>
        <p:spPr>
          <a:xfrm>
            <a:off x="5394960" y="2313432"/>
            <a:ext cx="31089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43 + 0 + 28 = 71</a:t>
            </a:r>
            <a:endParaRPr lang="en-US" sz="1100" dirty="0"/>
          </a:p>
        </p:txBody>
      </p:sp>
      <p:sp>
        <p:nvSpPr>
          <p:cNvPr id="18" name="Shape 15"/>
          <p:cNvSpPr/>
          <p:nvPr/>
        </p:nvSpPr>
        <p:spPr>
          <a:xfrm>
            <a:off x="4343400" y="2834640"/>
            <a:ext cx="2103120" cy="1828800"/>
          </a:xfrm>
          <a:prstGeom prst="roundRect">
            <a:avLst>
              <a:gd name="adj" fmla="val 4000"/>
            </a:avLst>
          </a:prstGeom>
          <a:solidFill>
            <a:srgbClr val="F1F4F2"/>
          </a:solidFill>
          <a:ln/>
        </p:spPr>
      </p:sp>
      <p:sp>
        <p:nvSpPr>
          <p:cNvPr id="19" name="Text 16"/>
          <p:cNvSpPr txBox="1"/>
          <p:nvPr/>
        </p:nvSpPr>
        <p:spPr>
          <a:xfrm>
            <a:off x="4434840" y="2880360"/>
            <a:ext cx="1920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按根表重建</a:t>
            </a:r>
            <a:endParaRPr lang="en-US" sz="1050" dirty="0"/>
          </a:p>
        </p:txBody>
      </p:sp>
      <p:sp>
        <p:nvSpPr>
          <p:cNvPr id="20" name="Shape 17"/>
          <p:cNvSpPr/>
          <p:nvPr/>
        </p:nvSpPr>
        <p:spPr>
          <a:xfrm flipH="1">
            <a:off x="4892040" y="3383280"/>
            <a:ext cx="502920" cy="457200"/>
          </a:xfrm>
          <a:prstGeom prst="line">
            <a:avLst/>
          </a:prstGeom>
          <a:noFill/>
          <a:ln w="19050">
            <a:solidFill>
              <a:srgbClr val="3E7C68"/>
            </a:solidFill>
            <a:prstDash val="solid"/>
          </a:ln>
        </p:spPr>
      </p:sp>
      <p:sp>
        <p:nvSpPr>
          <p:cNvPr id="21" name="Shape 18"/>
          <p:cNvSpPr/>
          <p:nvPr/>
        </p:nvSpPr>
        <p:spPr>
          <a:xfrm>
            <a:off x="5394960" y="3383280"/>
            <a:ext cx="502920" cy="457200"/>
          </a:xfrm>
          <a:prstGeom prst="line">
            <a:avLst/>
          </a:prstGeom>
          <a:noFill/>
          <a:ln w="19050">
            <a:solidFill>
              <a:srgbClr val="3E7C68"/>
            </a:solidFill>
            <a:prstDash val="solid"/>
          </a:ln>
        </p:spPr>
      </p:sp>
      <p:sp>
        <p:nvSpPr>
          <p:cNvPr id="22" name="Shape 19"/>
          <p:cNvSpPr/>
          <p:nvPr/>
        </p:nvSpPr>
        <p:spPr>
          <a:xfrm>
            <a:off x="5897880" y="3840480"/>
            <a:ext cx="320040" cy="457200"/>
          </a:xfrm>
          <a:prstGeom prst="line">
            <a:avLst/>
          </a:prstGeom>
          <a:noFill/>
          <a:ln w="19050">
            <a:solidFill>
              <a:srgbClr val="3E7C68"/>
            </a:solidFill>
            <a:prstDash val="solid"/>
          </a:ln>
        </p:spPr>
      </p:sp>
      <p:sp>
        <p:nvSpPr>
          <p:cNvPr id="23" name="Shape 20"/>
          <p:cNvSpPr/>
          <p:nvPr/>
        </p:nvSpPr>
        <p:spPr>
          <a:xfrm>
            <a:off x="5221224" y="3209544"/>
            <a:ext cx="347472" cy="347472"/>
          </a:xfrm>
          <a:prstGeom prst="ellipse">
            <a:avLst/>
          </a:prstGeom>
          <a:solidFill>
            <a:srgbClr val="F2B134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24" name="Text 21"/>
          <p:cNvSpPr txBox="1"/>
          <p:nvPr/>
        </p:nvSpPr>
        <p:spPr>
          <a:xfrm>
            <a:off x="5221224" y="3209544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</a:t>
            </a:r>
            <a:endParaRPr lang="en-US" sz="1100" dirty="0"/>
          </a:p>
        </p:txBody>
      </p:sp>
      <p:sp>
        <p:nvSpPr>
          <p:cNvPr id="25" name="Shape 22"/>
          <p:cNvSpPr/>
          <p:nvPr/>
        </p:nvSpPr>
        <p:spPr>
          <a:xfrm>
            <a:off x="4718304" y="3666744"/>
            <a:ext cx="347472" cy="347472"/>
          </a:xfrm>
          <a:prstGeom prst="ellipse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26" name="Text 23"/>
          <p:cNvSpPr txBox="1"/>
          <p:nvPr/>
        </p:nvSpPr>
        <p:spPr>
          <a:xfrm>
            <a:off x="4718304" y="3666744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</a:t>
            </a:r>
            <a:endParaRPr lang="en-US" sz="1100" dirty="0"/>
          </a:p>
        </p:txBody>
      </p:sp>
      <p:sp>
        <p:nvSpPr>
          <p:cNvPr id="27" name="Shape 24"/>
          <p:cNvSpPr/>
          <p:nvPr/>
        </p:nvSpPr>
        <p:spPr>
          <a:xfrm>
            <a:off x="5724144" y="3666744"/>
            <a:ext cx="347472" cy="347472"/>
          </a:xfrm>
          <a:prstGeom prst="ellipse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28" name="Text 25"/>
          <p:cNvSpPr txBox="1"/>
          <p:nvPr/>
        </p:nvSpPr>
        <p:spPr>
          <a:xfrm>
            <a:off x="5724144" y="3666744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</a:t>
            </a:r>
            <a:endParaRPr lang="en-US" sz="1100" dirty="0"/>
          </a:p>
        </p:txBody>
      </p:sp>
      <p:sp>
        <p:nvSpPr>
          <p:cNvPr id="29" name="Shape 26"/>
          <p:cNvSpPr/>
          <p:nvPr/>
        </p:nvSpPr>
        <p:spPr>
          <a:xfrm>
            <a:off x="6044184" y="4123944"/>
            <a:ext cx="347472" cy="347472"/>
          </a:xfrm>
          <a:prstGeom prst="ellipse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30" name="Text 27"/>
          <p:cNvSpPr txBox="1"/>
          <p:nvPr/>
        </p:nvSpPr>
        <p:spPr>
          <a:xfrm>
            <a:off x="6044184" y="4123944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4</a:t>
            </a:r>
            <a:endParaRPr lang="en-US" sz="1100" dirty="0"/>
          </a:p>
        </p:txBody>
      </p:sp>
      <p:sp>
        <p:nvSpPr>
          <p:cNvPr id="31" name="Shape 28"/>
          <p:cNvSpPr/>
          <p:nvPr/>
        </p:nvSpPr>
        <p:spPr>
          <a:xfrm>
            <a:off x="6583680" y="2834640"/>
            <a:ext cx="2103120" cy="1828800"/>
          </a:xfrm>
          <a:prstGeom prst="roundRect">
            <a:avLst>
              <a:gd name="adj" fmla="val 4000"/>
            </a:avLst>
          </a:prstGeom>
          <a:solidFill>
            <a:srgbClr val="FFF6E0"/>
          </a:solidFill>
          <a:ln/>
        </p:spPr>
      </p:sp>
      <p:sp>
        <p:nvSpPr>
          <p:cNvPr id="32" name="Text 29"/>
          <p:cNvSpPr txBox="1"/>
          <p:nvPr/>
        </p:nvSpPr>
        <p:spPr>
          <a:xfrm>
            <a:off x="6720840" y="292608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这张表能抓什么错</a:t>
            </a:r>
            <a:endParaRPr lang="en-US" sz="1200" dirty="0"/>
          </a:p>
        </p:txBody>
      </p:sp>
      <p:sp>
        <p:nvSpPr>
          <p:cNvPr id="33" name="Text 30"/>
          <p:cNvSpPr txBox="1"/>
          <p:nvPr/>
        </p:nvSpPr>
        <p:spPr>
          <a:xfrm>
            <a:off x="6720840" y="3218688"/>
            <a:ext cx="182880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复算了演示输出；也能抓住把 </a:t>
            </a:r>
            <a:r>
              <a:rPr lang="en-US" sz="100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weight</a:t>
            </a: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</a:t>
            </a:r>
            <a:r>
              <a:rPr lang="en-US" sz="10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漏加或多加一次</a:t>
            </a: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的实现错误。</a:t>
            </a:r>
            <a:endParaRPr lang="en-US" sz="1000" dirty="0"/>
          </a:p>
        </p:txBody>
      </p:sp>
      <p:sp>
        <p:nvSpPr>
          <p:cNvPr id="34" name="Text 31"/>
          <p:cNvSpPr txBox="1"/>
          <p:nvPr/>
        </p:nvSpPr>
        <p:spPr>
          <a:xfrm>
            <a:off x="457200" y="4069080"/>
            <a:ext cx="37490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root[0][4] = 2 → 左 [0,1] 根 1；右 [2,4] 根 3 → 其右 [3,4] 根 4。</a:t>
            </a:r>
            <a:endParaRPr lang="en-US" sz="1000" dirty="0"/>
          </a:p>
        </p:txBody>
      </p:sp>
    </p:spTree>
  </p:cSld>
  <p:clrMapOvr>
    <a:masterClrMapping/>
  </p:clrMapOvr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12.4</a:t>
            </a:r>
            <a:endParaRPr lang="en-US" sz="9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12.4.2 平衡的二叉搜索树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AVL 树：任何结点的左右子树高度最多相差 1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56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457200" y="960120"/>
            <a:ext cx="3977640" cy="2103120"/>
          </a:xfrm>
          <a:prstGeom prst="roundRect">
            <a:avLst>
              <a:gd name="adj" fmla="val 3478"/>
            </a:avLst>
          </a:prstGeom>
          <a:solidFill>
            <a:srgbClr val="F1F4F2"/>
          </a:solidFill>
          <a:ln/>
        </p:spPr>
      </p:sp>
      <p:pic>
        <p:nvPicPr>
          <p:cNvPr id="8" name="Image 0" descr="fig-12-15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93654" y="1051560"/>
            <a:ext cx="3104732" cy="1627632"/>
          </a:xfrm>
          <a:prstGeom prst="rect">
            <a:avLst/>
          </a:prstGeom>
        </p:spPr>
      </p:pic>
      <p:sp>
        <p:nvSpPr>
          <p:cNvPr id="9" name="Text 6"/>
          <p:cNvSpPr txBox="1"/>
          <p:nvPr/>
        </p:nvSpPr>
        <p:spPr>
          <a:xfrm>
            <a:off x="502920" y="2734056"/>
            <a:ext cx="3886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图 12.15  同一批关键码：接近完全 vs 一条链</a:t>
            </a:r>
            <a:endParaRPr lang="en-US" sz="900" dirty="0"/>
          </a:p>
        </p:txBody>
      </p:sp>
      <p:sp>
        <p:nvSpPr>
          <p:cNvPr id="10" name="Shape 7"/>
          <p:cNvSpPr/>
          <p:nvPr/>
        </p:nvSpPr>
        <p:spPr>
          <a:xfrm>
            <a:off x="457200" y="3200400"/>
            <a:ext cx="3977640" cy="1463040"/>
          </a:xfrm>
          <a:prstGeom prst="roundRect">
            <a:avLst>
              <a:gd name="adj" fmla="val 5000"/>
            </a:avLst>
          </a:prstGeom>
          <a:solidFill>
            <a:srgbClr val="F1F4F2"/>
          </a:solidFill>
          <a:ln/>
        </p:spPr>
      </p:sp>
      <p:pic>
        <p:nvPicPr>
          <p:cNvPr id="11" name="Image 1" descr="fig-12-28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25550" y="3291840"/>
            <a:ext cx="2040941" cy="987552"/>
          </a:xfrm>
          <a:prstGeom prst="rect">
            <a:avLst/>
          </a:prstGeom>
        </p:spPr>
      </p:pic>
      <p:sp>
        <p:nvSpPr>
          <p:cNvPr id="12" name="Text 8"/>
          <p:cNvSpPr txBox="1"/>
          <p:nvPr/>
        </p:nvSpPr>
        <p:spPr>
          <a:xfrm>
            <a:off x="502920" y="4334256"/>
            <a:ext cx="3886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图 12.28  (a) AVL 树  (b) 非 AVL 树的 BST</a:t>
            </a:r>
            <a:endParaRPr lang="en-US" sz="900" dirty="0"/>
          </a:p>
        </p:txBody>
      </p:sp>
      <p:sp>
        <p:nvSpPr>
          <p:cNvPr id="13" name="Text 9"/>
          <p:cNvSpPr txBox="1"/>
          <p:nvPr/>
        </p:nvSpPr>
        <p:spPr>
          <a:xfrm>
            <a:off x="4663440" y="960120"/>
            <a:ext cx="4023360" cy="86868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buNone/>
            </a:pP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BST 最好 O(log n)、最坏 O(n)。Adelson-Velskii 和 Landis 发明的 </a:t>
            </a:r>
            <a:r>
              <a:rPr lang="en-US" sz="11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AVL 树</a:t>
            </a: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让 BST 不受输入影响、始终保持平衡。</a:t>
            </a:r>
            <a:endParaRPr lang="en-US" sz="1150" dirty="0"/>
          </a:p>
        </p:txBody>
      </p:sp>
      <p:sp>
        <p:nvSpPr>
          <p:cNvPr id="14" name="Shape 10"/>
          <p:cNvSpPr/>
          <p:nvPr/>
        </p:nvSpPr>
        <p:spPr>
          <a:xfrm>
            <a:off x="4709160" y="1938528"/>
            <a:ext cx="329184" cy="329184"/>
          </a:xfrm>
          <a:prstGeom prst="ellipse">
            <a:avLst/>
          </a:prstGeom>
          <a:solidFill>
            <a:srgbClr val="3E7C68"/>
          </a:solidFill>
          <a:ln/>
        </p:spPr>
      </p:sp>
      <p:sp>
        <p:nvSpPr>
          <p:cNvPr id="15" name="Text 11"/>
          <p:cNvSpPr txBox="1"/>
          <p:nvPr/>
        </p:nvSpPr>
        <p:spPr>
          <a:xfrm>
            <a:off x="4709160" y="1938528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</a:t>
            </a:r>
            <a:endParaRPr lang="en-US" sz="1200" dirty="0"/>
          </a:p>
        </p:txBody>
      </p:sp>
      <p:sp>
        <p:nvSpPr>
          <p:cNvPr id="16" name="Text 12"/>
          <p:cNvSpPr txBox="1"/>
          <p:nvPr/>
        </p:nvSpPr>
        <p:spPr>
          <a:xfrm>
            <a:off x="5166360" y="1892808"/>
            <a:ext cx="35204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空二叉树是 AVL 树。</a:t>
            </a:r>
            <a:endParaRPr lang="en-US" sz="1150" dirty="0"/>
          </a:p>
        </p:txBody>
      </p:sp>
      <p:sp>
        <p:nvSpPr>
          <p:cNvPr id="17" name="Shape 13"/>
          <p:cNvSpPr/>
          <p:nvPr/>
        </p:nvSpPr>
        <p:spPr>
          <a:xfrm>
            <a:off x="4709160" y="2468880"/>
            <a:ext cx="329184" cy="329184"/>
          </a:xfrm>
          <a:prstGeom prst="ellipse">
            <a:avLst/>
          </a:prstGeom>
          <a:solidFill>
            <a:srgbClr val="3E7C68"/>
          </a:solidFill>
          <a:ln/>
        </p:spPr>
      </p:sp>
      <p:sp>
        <p:nvSpPr>
          <p:cNvPr id="18" name="Text 14"/>
          <p:cNvSpPr txBox="1"/>
          <p:nvPr/>
        </p:nvSpPr>
        <p:spPr>
          <a:xfrm>
            <a:off x="4709160" y="246888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</a:t>
            </a:r>
            <a:endParaRPr lang="en-US" sz="1200" dirty="0"/>
          </a:p>
        </p:txBody>
      </p:sp>
      <p:sp>
        <p:nvSpPr>
          <p:cNvPr id="19" name="Text 15"/>
          <p:cNvSpPr txBox="1"/>
          <p:nvPr/>
        </p:nvSpPr>
        <p:spPr>
          <a:xfrm>
            <a:off x="5166360" y="2423160"/>
            <a:ext cx="35204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n 个结点的 AVL 树高度为 </a:t>
            </a:r>
            <a:r>
              <a:rPr lang="en-US" sz="11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O(log n)</a:t>
            </a: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</a:t>
            </a:r>
            <a:endParaRPr lang="en-US" sz="1150" dirty="0"/>
          </a:p>
        </p:txBody>
      </p:sp>
      <p:sp>
        <p:nvSpPr>
          <p:cNvPr id="20" name="Shape 16"/>
          <p:cNvSpPr/>
          <p:nvPr/>
        </p:nvSpPr>
        <p:spPr>
          <a:xfrm>
            <a:off x="4709160" y="2999232"/>
            <a:ext cx="329184" cy="329184"/>
          </a:xfrm>
          <a:prstGeom prst="ellipse">
            <a:avLst/>
          </a:prstGeom>
          <a:solidFill>
            <a:srgbClr val="3E7C68"/>
          </a:solidFill>
          <a:ln/>
        </p:spPr>
      </p:sp>
      <p:sp>
        <p:nvSpPr>
          <p:cNvPr id="21" name="Text 17"/>
          <p:cNvSpPr txBox="1"/>
          <p:nvPr/>
        </p:nvSpPr>
        <p:spPr>
          <a:xfrm>
            <a:off x="4709160" y="2999232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</a:t>
            </a:r>
            <a:endParaRPr lang="en-US" sz="1200" dirty="0"/>
          </a:p>
        </p:txBody>
      </p:sp>
      <p:sp>
        <p:nvSpPr>
          <p:cNvPr id="22" name="Text 18"/>
          <p:cNvSpPr txBox="1"/>
          <p:nvPr/>
        </p:nvSpPr>
        <p:spPr>
          <a:xfrm>
            <a:off x="5166360" y="2953512"/>
            <a:ext cx="35204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左右子树 T_L、T_R 也是 AVL 树，且 </a:t>
            </a:r>
            <a:r>
              <a:rPr lang="en-US" sz="11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|h_L − h_R| ≤ 1</a:t>
            </a: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</a:t>
            </a:r>
            <a:endParaRPr lang="en-US" sz="1150" dirty="0"/>
          </a:p>
        </p:txBody>
      </p:sp>
      <p:sp>
        <p:nvSpPr>
          <p:cNvPr id="23" name="Shape 19"/>
          <p:cNvSpPr/>
          <p:nvPr/>
        </p:nvSpPr>
        <p:spPr>
          <a:xfrm>
            <a:off x="4663440" y="3520440"/>
            <a:ext cx="4023360" cy="1143000"/>
          </a:xfrm>
          <a:prstGeom prst="roundRect">
            <a:avLst>
              <a:gd name="adj" fmla="val 6400"/>
            </a:avLst>
          </a:prstGeom>
          <a:solidFill>
            <a:srgbClr val="FFF6E0"/>
          </a:solidFill>
          <a:ln/>
        </p:spPr>
      </p:sp>
      <p:sp>
        <p:nvSpPr>
          <p:cNvPr id="24" name="Text 20"/>
          <p:cNvSpPr txBox="1"/>
          <p:nvPr/>
        </p:nvSpPr>
        <p:spPr>
          <a:xfrm>
            <a:off x="4800600" y="3611880"/>
            <a:ext cx="3749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关键问题</a:t>
            </a:r>
            <a:endParaRPr lang="en-US" sz="1200" dirty="0"/>
          </a:p>
        </p:txBody>
      </p:sp>
      <p:sp>
        <p:nvSpPr>
          <p:cNvPr id="25" name="Text 21"/>
          <p:cNvSpPr txBox="1"/>
          <p:nvPr/>
        </p:nvSpPr>
        <p:spPr>
          <a:xfrm>
            <a:off x="4800600" y="3904488"/>
            <a:ext cx="37490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高度 O(log n) → 查找、插入、删除都 O(log n)。难点是：</a:t>
            </a:r>
            <a:r>
              <a:rPr lang="en-US" sz="10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任何操作之后都保持 AVL 特性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，而且维护本身也要在 O(log n) 内完成。</a:t>
            </a:r>
            <a:endParaRPr lang="en-US" sz="1050" dirty="0"/>
          </a:p>
        </p:txBody>
      </p:sp>
    </p:spTree>
  </p:cSld>
  <p:clrMapOvr>
    <a:masterClrMapping/>
  </p:clrMapOvr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12.4</a:t>
            </a:r>
            <a:endParaRPr lang="en-US" sz="9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12.4.2 AVL 树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平衡因子与四种失衡：LL、LR、RR、RL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57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457200" y="960120"/>
            <a:ext cx="2377440" cy="1920240"/>
          </a:xfrm>
          <a:prstGeom prst="roundRect">
            <a:avLst>
              <a:gd name="adj" fmla="val 3810"/>
            </a:avLst>
          </a:prstGeom>
          <a:solidFill>
            <a:srgbClr val="F1F4F2"/>
          </a:solidFill>
          <a:ln/>
        </p:spPr>
      </p:sp>
      <p:pic>
        <p:nvPicPr>
          <p:cNvPr id="8" name="Image 0" descr="fig-12-29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07769" y="1051560"/>
            <a:ext cx="1876301" cy="1444752"/>
          </a:xfrm>
          <a:prstGeom prst="rect">
            <a:avLst/>
          </a:prstGeom>
        </p:spPr>
      </p:pic>
      <p:sp>
        <p:nvSpPr>
          <p:cNvPr id="9" name="Text 6"/>
          <p:cNvSpPr txBox="1"/>
          <p:nvPr/>
        </p:nvSpPr>
        <p:spPr>
          <a:xfrm>
            <a:off x="502920" y="2551176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图 12.29  带平衡因子</a:t>
            </a:r>
            <a:endParaRPr lang="en-US" sz="900" dirty="0"/>
          </a:p>
        </p:txBody>
      </p:sp>
      <p:sp>
        <p:nvSpPr>
          <p:cNvPr id="10" name="Text 7"/>
          <p:cNvSpPr txBox="1"/>
          <p:nvPr/>
        </p:nvSpPr>
        <p:spPr>
          <a:xfrm>
            <a:off x="3017520" y="960120"/>
            <a:ext cx="5669280" cy="6858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buNone/>
            </a:pP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平衡因子 = </a:t>
            </a:r>
            <a:r>
              <a:rPr lang="en-US" sz="11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右子树高 − 左子树高</a:t>
            </a: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，只允许 −1、0、1。插入使某祖先变成 </a:t>
            </a:r>
            <a:r>
              <a:rPr lang="en-US" sz="11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±2</a:t>
            </a: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：不平衡结点一定在根到新结点的路径上。</a:t>
            </a:r>
            <a:endParaRPr lang="en-US" sz="1150" dirty="0"/>
          </a:p>
        </p:txBody>
      </p:sp>
      <p:graphicFrame>
        <p:nvGraphicFramePr>
          <p:cNvPr id="5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017520" y="1691640"/>
          <a:ext cx="5669280" cy="914400"/>
        </p:xfrm>
        <a:graphic>
          <a:graphicData uri="http://schemas.openxmlformats.org/drawingml/2006/table">
            <a:tbl>
              <a:tblPr/>
              <a:tblGrid>
                <a:gridCol w="640080"/>
                <a:gridCol w="2194560"/>
                <a:gridCol w="2834640"/>
              </a:tblGrid>
              <a:tr h="25603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情形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新结点位置（失衡结点 A）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做法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LL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A 的左孩子的左子树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在 A 上</a:t>
                      </a:r>
                      <a:r>
                        <a:rPr lang="en-US" sz="1050" b="1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右旋</a:t>
                      </a:r>
                      <a:r>
                        <a:rPr lang="en-US" sz="10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一次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RR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A 的右孩子的右子树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在 A 上</a:t>
                      </a:r>
                      <a:r>
                        <a:rPr lang="en-US" sz="1050" b="1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左旋</a:t>
                      </a:r>
                      <a:r>
                        <a:rPr lang="en-US" sz="10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一次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C039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LR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A 的左孩子的右子树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先在左孩子上左旋，再在 A 上右旋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C039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RL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A 的右孩子的左子树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先在右孩子上右旋，再在 A 上左旋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</a:tr>
            </a:tbl>
          </a:graphicData>
        </a:graphic>
      </p:graphicFrame>
      <p:sp>
        <p:nvSpPr>
          <p:cNvPr id="12" name="Shape 8"/>
          <p:cNvSpPr/>
          <p:nvPr/>
        </p:nvSpPr>
        <p:spPr>
          <a:xfrm>
            <a:off x="457200" y="3108960"/>
            <a:ext cx="5120640" cy="1554480"/>
          </a:xfrm>
          <a:prstGeom prst="roundRect">
            <a:avLst>
              <a:gd name="adj" fmla="val 4706"/>
            </a:avLst>
          </a:prstGeom>
          <a:solidFill>
            <a:srgbClr val="F1F4F2"/>
          </a:solidFill>
          <a:ln/>
        </p:spPr>
      </p:sp>
      <p:pic>
        <p:nvPicPr>
          <p:cNvPr id="13" name="Image 1" descr="fig-12-31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74955" y="3200400"/>
            <a:ext cx="2885131" cy="1078992"/>
          </a:xfrm>
          <a:prstGeom prst="rect">
            <a:avLst/>
          </a:prstGeom>
        </p:spPr>
      </p:pic>
      <p:sp>
        <p:nvSpPr>
          <p:cNvPr id="14" name="Text 9"/>
          <p:cNvSpPr txBox="1"/>
          <p:nvPr/>
        </p:nvSpPr>
        <p:spPr>
          <a:xfrm>
            <a:off x="502920" y="4334256"/>
            <a:ext cx="5029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图 12.31  (a) LL  (b) LR  (c) RR  (d) RL</a:t>
            </a:r>
            <a:endParaRPr lang="en-US" sz="900" dirty="0"/>
          </a:p>
        </p:txBody>
      </p:sp>
      <p:sp>
        <p:nvSpPr>
          <p:cNvPr id="15" name="Shape 10"/>
          <p:cNvSpPr/>
          <p:nvPr/>
        </p:nvSpPr>
        <p:spPr>
          <a:xfrm>
            <a:off x="5760720" y="3154680"/>
            <a:ext cx="2926080" cy="1508760"/>
          </a:xfrm>
          <a:prstGeom prst="roundRect">
            <a:avLst>
              <a:gd name="adj" fmla="val 4848"/>
            </a:avLst>
          </a:prstGeom>
          <a:solidFill>
            <a:srgbClr val="FFF6E0"/>
          </a:solidFill>
          <a:ln/>
        </p:spPr>
      </p:sp>
      <p:sp>
        <p:nvSpPr>
          <p:cNvPr id="16" name="Text 11"/>
          <p:cNvSpPr txBox="1"/>
          <p:nvPr/>
        </p:nvSpPr>
        <p:spPr>
          <a:xfrm>
            <a:off x="5897880" y="3246120"/>
            <a:ext cx="2651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插入时子树根的三类变化</a:t>
            </a:r>
            <a:endParaRPr lang="en-US" sz="1200" dirty="0"/>
          </a:p>
        </p:txBody>
      </p:sp>
      <p:sp>
        <p:nvSpPr>
          <p:cNvPr id="17" name="Text 12"/>
          <p:cNvSpPr txBox="1"/>
          <p:nvPr/>
        </p:nvSpPr>
        <p:spPr>
          <a:xfrm>
            <a:off x="5870448" y="3538728"/>
            <a:ext cx="2706624" cy="105156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marL="177800" indent="-177800">
              <a:spcAft>
                <a:spcPts val="200"/>
              </a:spcAft>
              <a:buSzPct val="100000"/>
              <a:buChar char="•"/>
            </a:pPr>
            <a:r>
              <a:rPr lang="en-US" sz="9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原来平衡 → 变重：父结点状态也变。</a:t>
            </a:r>
            <a:endParaRPr lang="en-US" sz="950" dirty="0"/>
          </a:p>
          <a:p>
            <a:pPr marL="177800" indent="-177800">
              <a:spcAft>
                <a:spcPts val="200"/>
              </a:spcAft>
              <a:buSzPct val="100000"/>
              <a:buChar char="•"/>
            </a:pPr>
            <a:r>
              <a:rPr lang="en-US" sz="9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原来一边重 → 变平衡：</a:t>
            </a:r>
            <a:r>
              <a:rPr lang="en-US" sz="9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子树高度未变</a:t>
            </a:r>
            <a:r>
              <a:rPr lang="en-US" sz="9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，父结点不变。</a:t>
            </a:r>
            <a:endParaRPr lang="en-US" sz="950" dirty="0"/>
          </a:p>
          <a:p>
            <a:pPr marL="177800" indent="-177800">
              <a:spcAft>
                <a:spcPts val="200"/>
              </a:spcAft>
              <a:buSzPct val="100000"/>
              <a:buChar char="•"/>
            </a:pPr>
            <a:r>
              <a:rPr lang="en-US" sz="9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原来一边重、又加到重的一边 → </a:t>
            </a:r>
            <a:r>
              <a:rPr lang="en-US" sz="9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危急结点</a:t>
            </a:r>
            <a:r>
              <a:rPr lang="en-US" sz="9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，要旋转。</a:t>
            </a:r>
            <a:endParaRPr lang="en-US" sz="950" dirty="0"/>
          </a:p>
        </p:txBody>
      </p:sp>
    </p:spTree>
  </p:cSld>
  <p:clrMapOvr>
    <a:masterClrMapping/>
  </p:clrMapOvr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12.4</a:t>
            </a:r>
            <a:endParaRPr lang="en-US" sz="9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12.4.2 AVL 树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旋转为什么一定对：把 7 个部分排成一个数组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58</a:t>
            </a:r>
            <a:endParaRPr lang="en-US" sz="900" dirty="0"/>
          </a:p>
        </p:txBody>
      </p:sp>
      <p:sp>
        <p:nvSpPr>
          <p:cNvPr id="7" name="Text 5"/>
          <p:cNvSpPr txBox="1"/>
          <p:nvPr/>
        </p:nvSpPr>
        <p:spPr>
          <a:xfrm>
            <a:off x="457200" y="932688"/>
            <a:ext cx="8229600" cy="59436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buNone/>
            </a:pP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重构：从新结点 u 往上找</a:t>
            </a:r>
            <a:r>
              <a:rPr lang="en-US" sz="11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最近的不平衡祖先 a</a:t>
            </a: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（到根都没有就返回）；a 往 u 方向的第一、二个子结点为 b、c。3 个结点 + 4 棵子树按中序放进数组：</a:t>
            </a:r>
            <a:endParaRPr lang="en-US" sz="1150" dirty="0"/>
          </a:p>
        </p:txBody>
      </p:sp>
      <p:sp>
        <p:nvSpPr>
          <p:cNvPr id="8" name="Shape 6"/>
          <p:cNvSpPr/>
          <p:nvPr/>
        </p:nvSpPr>
        <p:spPr>
          <a:xfrm>
            <a:off x="1463040" y="1645920"/>
            <a:ext cx="868680" cy="457200"/>
          </a:xfrm>
          <a:prstGeom prst="rect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1463040" y="1645920"/>
            <a:ext cx="868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T₀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2331720" y="1645920"/>
            <a:ext cx="868680" cy="457200"/>
          </a:xfrm>
          <a:prstGeom prst="rect">
            <a:avLst/>
          </a:prstGeom>
          <a:solidFill>
            <a:srgbClr val="F2B134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2331720" y="1645920"/>
            <a:ext cx="868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a</a:t>
            </a:r>
            <a:endParaRPr lang="en-US" sz="1400" dirty="0"/>
          </a:p>
        </p:txBody>
      </p:sp>
      <p:sp>
        <p:nvSpPr>
          <p:cNvPr id="12" name="Shape 10"/>
          <p:cNvSpPr/>
          <p:nvPr/>
        </p:nvSpPr>
        <p:spPr>
          <a:xfrm>
            <a:off x="3200400" y="1645920"/>
            <a:ext cx="868680" cy="457200"/>
          </a:xfrm>
          <a:prstGeom prst="rect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3200400" y="1645920"/>
            <a:ext cx="868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T₁</a:t>
            </a:r>
            <a:endParaRPr lang="en-US" sz="1400" dirty="0"/>
          </a:p>
        </p:txBody>
      </p:sp>
      <p:sp>
        <p:nvSpPr>
          <p:cNvPr id="14" name="Shape 12"/>
          <p:cNvSpPr/>
          <p:nvPr/>
        </p:nvSpPr>
        <p:spPr>
          <a:xfrm>
            <a:off x="4069080" y="1645920"/>
            <a:ext cx="868680" cy="457200"/>
          </a:xfrm>
          <a:prstGeom prst="rect">
            <a:avLst/>
          </a:prstGeom>
          <a:solidFill>
            <a:srgbClr val="F2B134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4069080" y="1645920"/>
            <a:ext cx="868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c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4937760" y="1645920"/>
            <a:ext cx="868680" cy="457200"/>
          </a:xfrm>
          <a:prstGeom prst="rect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4937760" y="1645920"/>
            <a:ext cx="868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T₂</a:t>
            </a:r>
            <a:endParaRPr lang="en-US" sz="1400" dirty="0"/>
          </a:p>
        </p:txBody>
      </p:sp>
      <p:sp>
        <p:nvSpPr>
          <p:cNvPr id="18" name="Shape 16"/>
          <p:cNvSpPr/>
          <p:nvPr/>
        </p:nvSpPr>
        <p:spPr>
          <a:xfrm>
            <a:off x="5806440" y="1645920"/>
            <a:ext cx="868680" cy="457200"/>
          </a:xfrm>
          <a:prstGeom prst="rect">
            <a:avLst/>
          </a:prstGeom>
          <a:solidFill>
            <a:srgbClr val="F2B134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5806440" y="1645920"/>
            <a:ext cx="868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b</a:t>
            </a:r>
            <a:endParaRPr lang="en-US" sz="1400" dirty="0"/>
          </a:p>
        </p:txBody>
      </p:sp>
      <p:sp>
        <p:nvSpPr>
          <p:cNvPr id="20" name="Shape 18"/>
          <p:cNvSpPr/>
          <p:nvPr/>
        </p:nvSpPr>
        <p:spPr>
          <a:xfrm>
            <a:off x="6675120" y="1645920"/>
            <a:ext cx="868680" cy="457200"/>
          </a:xfrm>
          <a:prstGeom prst="rect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6675120" y="1645920"/>
            <a:ext cx="868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T₃</a:t>
            </a:r>
            <a:endParaRPr lang="en-US" sz="1400" dirty="0"/>
          </a:p>
        </p:txBody>
      </p:sp>
      <p:sp>
        <p:nvSpPr>
          <p:cNvPr id="22" name="Text 20"/>
          <p:cNvSpPr txBox="1"/>
          <p:nvPr/>
        </p:nvSpPr>
        <p:spPr>
          <a:xfrm>
            <a:off x="1463040" y="2148840"/>
            <a:ext cx="60807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T₀ &lt; a &lt; T₁ &lt; c &lt; T₂ &lt; b &lt; T₃</a:t>
            </a:r>
            <a:endParaRPr lang="en-US" sz="1300" dirty="0"/>
          </a:p>
        </p:txBody>
      </p:sp>
      <p:sp>
        <p:nvSpPr>
          <p:cNvPr id="23" name="Shape 21"/>
          <p:cNvSpPr/>
          <p:nvPr/>
        </p:nvSpPr>
        <p:spPr>
          <a:xfrm>
            <a:off x="457200" y="2560320"/>
            <a:ext cx="3977640" cy="2103120"/>
          </a:xfrm>
          <a:prstGeom prst="roundRect">
            <a:avLst>
              <a:gd name="adj" fmla="val 3478"/>
            </a:avLst>
          </a:prstGeom>
          <a:solidFill>
            <a:srgbClr val="F1F4F2"/>
          </a:solidFill>
          <a:ln/>
        </p:spPr>
      </p:sp>
      <p:pic>
        <p:nvPicPr>
          <p:cNvPr id="24" name="Image 0" descr="fig-12-32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37540" y="2651760"/>
            <a:ext cx="3616960" cy="1627632"/>
          </a:xfrm>
          <a:prstGeom prst="rect">
            <a:avLst/>
          </a:prstGeom>
        </p:spPr>
      </p:pic>
      <p:sp>
        <p:nvSpPr>
          <p:cNvPr id="25" name="Text 22"/>
          <p:cNvSpPr txBox="1"/>
          <p:nvPr/>
        </p:nvSpPr>
        <p:spPr>
          <a:xfrm>
            <a:off x="502920" y="4334256"/>
            <a:ext cx="3886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图 12.32  LL 型：单旋转（RR 对称）</a:t>
            </a:r>
            <a:endParaRPr lang="en-US" sz="900" dirty="0"/>
          </a:p>
        </p:txBody>
      </p:sp>
      <p:sp>
        <p:nvSpPr>
          <p:cNvPr id="26" name="Shape 23"/>
          <p:cNvSpPr/>
          <p:nvPr/>
        </p:nvSpPr>
        <p:spPr>
          <a:xfrm>
            <a:off x="4709160" y="2560320"/>
            <a:ext cx="2377440" cy="2103120"/>
          </a:xfrm>
          <a:prstGeom prst="roundRect">
            <a:avLst>
              <a:gd name="adj" fmla="val 3478"/>
            </a:avLst>
          </a:prstGeom>
          <a:solidFill>
            <a:srgbClr val="F1F4F2"/>
          </a:solidFill>
          <a:ln/>
        </p:spPr>
      </p:sp>
      <p:pic>
        <p:nvPicPr>
          <p:cNvPr id="27" name="Image 1" descr="fig-12-33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00600" y="2872331"/>
            <a:ext cx="2194560" cy="1186490"/>
          </a:xfrm>
          <a:prstGeom prst="rect">
            <a:avLst/>
          </a:prstGeom>
        </p:spPr>
      </p:pic>
      <p:sp>
        <p:nvSpPr>
          <p:cNvPr id="28" name="Text 24"/>
          <p:cNvSpPr txBox="1"/>
          <p:nvPr/>
        </p:nvSpPr>
        <p:spPr>
          <a:xfrm>
            <a:off x="4754880" y="4334256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图 12.33  RL 型双旋转</a:t>
            </a:r>
            <a:endParaRPr lang="en-US" sz="900" dirty="0"/>
          </a:p>
        </p:txBody>
      </p:sp>
      <p:sp>
        <p:nvSpPr>
          <p:cNvPr id="29" name="Shape 25"/>
          <p:cNvSpPr/>
          <p:nvPr/>
        </p:nvSpPr>
        <p:spPr>
          <a:xfrm>
            <a:off x="7269480" y="2560320"/>
            <a:ext cx="1417320" cy="2103120"/>
          </a:xfrm>
          <a:prstGeom prst="roundRect">
            <a:avLst>
              <a:gd name="adj" fmla="val 5161"/>
            </a:avLst>
          </a:prstGeom>
          <a:solidFill>
            <a:srgbClr val="FFF6E0"/>
          </a:solidFill>
          <a:ln/>
        </p:spPr>
      </p:sp>
      <p:sp>
        <p:nvSpPr>
          <p:cNvPr id="30" name="Text 26"/>
          <p:cNvSpPr txBox="1"/>
          <p:nvPr/>
        </p:nvSpPr>
        <p:spPr>
          <a:xfrm>
            <a:off x="7406640" y="2651760"/>
            <a:ext cx="1143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结论</a:t>
            </a:r>
            <a:endParaRPr lang="en-US" sz="1200" dirty="0"/>
          </a:p>
        </p:txBody>
      </p:sp>
      <p:sp>
        <p:nvSpPr>
          <p:cNvPr id="31" name="Text 27"/>
          <p:cNvSpPr txBox="1"/>
          <p:nvPr/>
        </p:nvSpPr>
        <p:spPr>
          <a:xfrm>
            <a:off x="7379208" y="2944368"/>
            <a:ext cx="1197864" cy="16459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marL="177800" indent="-177800">
              <a:spcAft>
                <a:spcPts val="300"/>
              </a:spcAft>
              <a:buSzPct val="100000"/>
              <a:buChar char="•"/>
            </a:pPr>
            <a:r>
              <a:rPr lang="en-US" sz="9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旋转只是把这 7 部分</a:t>
            </a:r>
            <a:r>
              <a:rPr lang="en-US" sz="9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重新组成 AVL 结构</a:t>
            </a:r>
            <a:r>
              <a:rPr lang="en-US" sz="9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，中序次序不变。</a:t>
            </a:r>
            <a:endParaRPr lang="en-US" sz="900" dirty="0"/>
          </a:p>
          <a:p>
            <a:pPr marL="177800" indent="-177800">
              <a:spcAft>
                <a:spcPts val="300"/>
              </a:spcAft>
              <a:buSzPct val="100000"/>
              <a:buChar char="•"/>
            </a:pPr>
            <a:r>
              <a:rPr lang="en-US" sz="9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只改几个指针；新子树高 </a:t>
            </a:r>
            <a:r>
              <a:rPr lang="en-US" sz="9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h + 2</a:t>
            </a:r>
            <a:r>
              <a:rPr lang="en-US" sz="9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，与插入前相同 → 更高层不受影响。</a:t>
            </a:r>
            <a:endParaRPr lang="en-US" sz="900" dirty="0"/>
          </a:p>
        </p:txBody>
      </p:sp>
    </p:spTree>
  </p:cSld>
  <p:clrMapOvr>
    <a:masterClrMapping/>
  </p:clrMapOvr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12.4</a:t>
            </a:r>
            <a:endParaRPr lang="en-US" sz="9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12.4.2 AVL 树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四种情形的最小输入：正好当旋转单元测试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59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457200" y="960120"/>
            <a:ext cx="5120640" cy="2971800"/>
          </a:xfrm>
          <a:prstGeom prst="roundRect">
            <a:avLst>
              <a:gd name="adj" fmla="val 2462"/>
            </a:avLst>
          </a:prstGeom>
          <a:solidFill>
            <a:srgbClr val="F1F4F2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530352" y="1005840"/>
            <a:ext cx="4974336" cy="288036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8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LL（左左）：在 C 上右旋              RR（右右）：在 A 上左旋</a:t>
            </a:r>
            <a:endParaRPr lang="en-US" sz="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C                                A</a:t>
            </a:r>
            <a:endParaRPr lang="en-US" sz="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/                                  \</a:t>
            </a:r>
            <a:endParaRPr lang="en-US" sz="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B          →      B                  B        →      B</a:t>
            </a:r>
            <a:endParaRPr lang="en-US" sz="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/                 / \                  \             / \</a:t>
            </a:r>
            <a:endParaRPr lang="en-US" sz="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A                 A   C                  C           A   C</a:t>
            </a:r>
            <a:endParaRPr lang="en-US" sz="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endParaRPr lang="en-US" sz="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LR（左右）：先在 A 上左旋，再在 C 上右旋</a:t>
            </a:r>
            <a:endParaRPr lang="en-US" sz="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C                C</a:t>
            </a:r>
            <a:endParaRPr lang="en-US" sz="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/                /                B</a:t>
            </a:r>
            <a:endParaRPr lang="en-US" sz="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A        →       B         →      / \</a:t>
            </a:r>
            <a:endParaRPr lang="en-US" sz="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\              /                A   C</a:t>
            </a:r>
            <a:endParaRPr lang="en-US" sz="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B            A</a:t>
            </a:r>
            <a:endParaRPr lang="en-US" sz="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endParaRPr lang="en-US" sz="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RL（右左）：先在 C 上右旋，再在 A 上左旋</a:t>
            </a:r>
            <a:endParaRPr lang="en-US" sz="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A                A</a:t>
            </a:r>
            <a:endParaRPr lang="en-US" sz="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\                \                B</a:t>
            </a:r>
            <a:endParaRPr lang="en-US" sz="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C      →         B       →      / \</a:t>
            </a:r>
            <a:endParaRPr lang="en-US" sz="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/                  \            A   C</a:t>
            </a:r>
            <a:endParaRPr lang="en-US" sz="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B                    C</a:t>
            </a:r>
            <a:endParaRPr lang="en-US" sz="800" dirty="0"/>
          </a:p>
        </p:txBody>
      </p:sp>
      <p:sp>
        <p:nvSpPr>
          <p:cNvPr id="9" name="Text 7"/>
          <p:cNvSpPr txBox="1"/>
          <p:nvPr/>
        </p:nvSpPr>
        <p:spPr>
          <a:xfrm>
            <a:off x="457200" y="4023360"/>
            <a:ext cx="5120640" cy="54864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中序始终保持 A &lt; B &lt; C；箭头左边是失衡形状，右边是每一次旋转后的结果。</a:t>
            </a:r>
            <a:endParaRPr lang="en-US" sz="1000" dirty="0"/>
          </a:p>
        </p:txBody>
      </p:sp>
      <p:graphicFrame>
        <p:nvGraphicFramePr>
          <p:cNvPr id="6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806440" y="960120"/>
          <a:ext cx="2880360" cy="914400"/>
        </p:xfrm>
        <a:graphic>
          <a:graphicData uri="http://schemas.openxmlformats.org/drawingml/2006/table">
            <a:tbl>
              <a:tblPr/>
              <a:tblGrid>
                <a:gridCol w="777240"/>
                <a:gridCol w="502920"/>
                <a:gridCol w="1600200"/>
              </a:tblGrid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插入次序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情形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旋转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3, 2, 1</a:t>
                      </a:r>
                      <a:endParaRPr lang="en-US" sz="9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LL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在 3 上右旋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1, 2, 3</a:t>
                      </a:r>
                      <a:endParaRPr lang="en-US" sz="9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RR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在 1 上左旋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3, 1, 2</a:t>
                      </a:r>
                      <a:endParaRPr lang="en-US" sz="9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LR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先在 1 上左旋，再在 3 上右旋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1, 3, 2</a:t>
                      </a:r>
                      <a:endParaRPr lang="en-US" sz="9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RL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先在 3 上右旋，再在 1 上左旋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</a:tr>
            </a:tbl>
          </a:graphicData>
        </a:graphic>
      </p:graphicFrame>
      <p:sp>
        <p:nvSpPr>
          <p:cNvPr id="11" name="Shape 8"/>
          <p:cNvSpPr/>
          <p:nvPr/>
        </p:nvSpPr>
        <p:spPr>
          <a:xfrm>
            <a:off x="5806440" y="2743200"/>
            <a:ext cx="2880360" cy="1920240"/>
          </a:xfrm>
          <a:prstGeom prst="roundRect">
            <a:avLst>
              <a:gd name="adj" fmla="val 3810"/>
            </a:avLst>
          </a:prstGeom>
          <a:solidFill>
            <a:srgbClr val="FDF0EE"/>
          </a:solidFill>
          <a:ln/>
        </p:spPr>
      </p:sp>
      <p:sp>
        <p:nvSpPr>
          <p:cNvPr id="12" name="Text 9"/>
          <p:cNvSpPr txBox="1"/>
          <p:nvPr/>
        </p:nvSpPr>
        <p:spPr>
          <a:xfrm>
            <a:off x="5943600" y="2834640"/>
            <a:ext cx="2606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C039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只测中序不够</a:t>
            </a:r>
            <a:endParaRPr lang="en-US" sz="1200" dirty="0"/>
          </a:p>
        </p:txBody>
      </p:sp>
      <p:sp>
        <p:nvSpPr>
          <p:cNvPr id="13" name="Text 10"/>
          <p:cNvSpPr txBox="1"/>
          <p:nvPr/>
        </p:nvSpPr>
        <p:spPr>
          <a:xfrm>
            <a:off x="5943600" y="3127248"/>
            <a:ext cx="260604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结果都应</a:t>
            </a:r>
            <a:r>
              <a:rPr lang="en-US" sz="10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以 2 为根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、中序 </a:t>
            </a:r>
            <a:r>
              <a:rPr lang="en-US" sz="10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1,2,3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。一条退化链的中序也正确——还要查</a:t>
            </a:r>
            <a:r>
              <a:rPr lang="en-US" sz="10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根、高度和平衡因子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，才能证明旋转真的发生。</a:t>
            </a:r>
            <a:endParaRPr lang="en-US" sz="1050" dirty="0"/>
          </a:p>
        </p:txBody>
      </p:sp>
    </p:spTree>
  </p:cSld>
  <p:clrMapOvr>
    <a:masterClrMapping/>
  </p:clrMapOvr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12.4</a:t>
            </a:r>
            <a:endParaRPr lang="en-US" sz="9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12.4.2 AVL 树 · code/ch12/balanced_trees（上）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高度、平衡因子与两种单旋转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60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457200" y="960120"/>
            <a:ext cx="6172200" cy="3703320"/>
          </a:xfrm>
          <a:prstGeom prst="roundRect">
            <a:avLst>
              <a:gd name="adj" fmla="val 1975"/>
            </a:avLst>
          </a:prstGeom>
          <a:solidFill>
            <a:srgbClr val="F1F4F2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530352" y="1005840"/>
            <a:ext cx="6025896" cy="361188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8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static int height_of(const std::unique_ptr&lt;Node&gt;&amp; node) { return node ? node-&gt;height : 0; }</a:t>
            </a:r>
            <a:endParaRPr lang="en-US" sz="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endParaRPr lang="en-US" sz="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static void refresh(Node* node) {</a:t>
            </a:r>
            <a:endParaRPr lang="en-US" sz="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node-&gt;height = 1 + std::max(height_of(node-&gt;left), height_of(node-&gt;right));</a:t>
            </a:r>
            <a:endParaRPr lang="en-US" sz="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}</a:t>
            </a:r>
            <a:endParaRPr lang="en-US" sz="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endParaRPr lang="en-US" sz="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r>
              <a:rPr lang="en-US" sz="80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/// 平衡因子：右子树高 − 左子树高。绝对值超过 1 就要旋转。</a:t>
            </a:r>
            <a:endParaRPr lang="en-US" sz="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static int balance_factor(const std::unique_ptr&lt;Node&gt;&amp; node) {</a:t>
            </a:r>
            <a:endParaRPr lang="en-US" sz="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return node ? height_of(node-&gt;right) - height_of(node-&gt;left) : 0;</a:t>
            </a:r>
            <a:endParaRPr lang="en-US" sz="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}</a:t>
            </a:r>
            <a:endParaRPr lang="en-US" sz="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endParaRPr lang="en-US" sz="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static std::unique_ptr&lt;Node&gt; rotate_left(std::unique_ptr&lt;Node&gt; x) {</a:t>
            </a:r>
            <a:endParaRPr lang="en-US" sz="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auto y = std::move(x-&gt;right);</a:t>
            </a:r>
            <a:endParaRPr lang="en-US" sz="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x-&gt;right = std::move(y-&gt;left);</a:t>
            </a:r>
            <a:endParaRPr lang="en-US" sz="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refresh(x.get());</a:t>
            </a:r>
            <a:endParaRPr lang="en-US" sz="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y-&gt;left = std::move(x);</a:t>
            </a:r>
            <a:endParaRPr lang="en-US" sz="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refresh(y.get());</a:t>
            </a:r>
            <a:endParaRPr lang="en-US" sz="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return y;</a:t>
            </a:r>
            <a:endParaRPr lang="en-US" sz="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}</a:t>
            </a:r>
            <a:endParaRPr lang="en-US" sz="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endParaRPr lang="en-US" sz="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static std::unique_ptr&lt;Node&gt; rotate_right(std::unique_ptr&lt;Node&gt; y) {</a:t>
            </a:r>
            <a:endParaRPr lang="en-US" sz="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auto x = std::move(y-&gt;left);</a:t>
            </a:r>
            <a:endParaRPr lang="en-US" sz="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y-&gt;left = std::move(x-&gt;right);</a:t>
            </a:r>
            <a:endParaRPr lang="en-US" sz="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refresh(y.get());</a:t>
            </a:r>
            <a:endParaRPr lang="en-US" sz="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x-&gt;right = std::move(y);</a:t>
            </a:r>
            <a:endParaRPr lang="en-US" sz="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refresh(x.get());</a:t>
            </a:r>
            <a:endParaRPr lang="en-US" sz="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return x;</a:t>
            </a:r>
            <a:endParaRPr lang="en-US" sz="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}</a:t>
            </a:r>
            <a:endParaRPr lang="en-US" sz="800" dirty="0"/>
          </a:p>
        </p:txBody>
      </p:sp>
      <p:sp>
        <p:nvSpPr>
          <p:cNvPr id="9" name="Shape 7"/>
          <p:cNvSpPr/>
          <p:nvPr/>
        </p:nvSpPr>
        <p:spPr>
          <a:xfrm>
            <a:off x="6812280" y="960120"/>
            <a:ext cx="1874520" cy="1691640"/>
          </a:xfrm>
          <a:prstGeom prst="roundRect">
            <a:avLst>
              <a:gd name="adj" fmla="val 4324"/>
            </a:avLst>
          </a:prstGeom>
          <a:solidFill>
            <a:srgbClr val="FFF6E0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6949440" y="1051560"/>
            <a:ext cx="1600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结点</a:t>
            </a:r>
            <a:endParaRPr lang="en-US" sz="1200" dirty="0"/>
          </a:p>
        </p:txBody>
      </p:sp>
      <p:sp>
        <p:nvSpPr>
          <p:cNvPr id="11" name="Text 9"/>
          <p:cNvSpPr txBox="1"/>
          <p:nvPr/>
        </p:nvSpPr>
        <p:spPr>
          <a:xfrm>
            <a:off x="6949440" y="1344168"/>
            <a:ext cx="160020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9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key</a:t>
            </a:r>
            <a:r>
              <a:rPr lang="en-US" sz="9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、</a:t>
            </a:r>
            <a:r>
              <a:rPr lang="en-US" sz="9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height</a:t>
            </a:r>
            <a:r>
              <a:rPr lang="en-US" sz="9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（空树 0，叶 1）、</a:t>
            </a:r>
            <a:r>
              <a:rPr lang="en-US" sz="9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unique_ptr</a:t>
            </a:r>
            <a:r>
              <a:rPr lang="en-US" sz="9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的 </a:t>
            </a:r>
            <a:r>
              <a:rPr lang="en-US" sz="9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left</a:t>
            </a:r>
            <a:r>
              <a:rPr lang="en-US" sz="9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/ </a:t>
            </a:r>
            <a:r>
              <a:rPr lang="en-US" sz="9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right</a:t>
            </a:r>
            <a:r>
              <a:rPr lang="en-US" sz="9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。实现里存</a:t>
            </a:r>
            <a:r>
              <a:rPr lang="en-US" sz="9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高度</a:t>
            </a:r>
            <a:r>
              <a:rPr lang="en-US" sz="9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，平衡因子现算。</a:t>
            </a:r>
            <a:endParaRPr lang="en-US" sz="950" dirty="0"/>
          </a:p>
        </p:txBody>
      </p:sp>
      <p:sp>
        <p:nvSpPr>
          <p:cNvPr id="12" name="Shape 10"/>
          <p:cNvSpPr/>
          <p:nvPr/>
        </p:nvSpPr>
        <p:spPr>
          <a:xfrm>
            <a:off x="6812280" y="2788920"/>
            <a:ext cx="1874520" cy="1874520"/>
          </a:xfrm>
          <a:prstGeom prst="roundRect">
            <a:avLst>
              <a:gd name="adj" fmla="val 3902"/>
            </a:avLst>
          </a:prstGeom>
          <a:solidFill>
            <a:srgbClr val="CFE0D8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6949440" y="2880360"/>
            <a:ext cx="1600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旋转的顺序</a:t>
            </a:r>
            <a:endParaRPr lang="en-US" sz="1200" dirty="0"/>
          </a:p>
        </p:txBody>
      </p:sp>
      <p:sp>
        <p:nvSpPr>
          <p:cNvPr id="14" name="Text 12"/>
          <p:cNvSpPr txBox="1"/>
          <p:nvPr/>
        </p:nvSpPr>
        <p:spPr>
          <a:xfrm>
            <a:off x="6949440" y="3172968"/>
            <a:ext cx="1600200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9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先 </a:t>
            </a:r>
            <a:r>
              <a:rPr lang="en-US" sz="9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refresh</a:t>
            </a:r>
            <a:r>
              <a:rPr lang="en-US" sz="9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</a:t>
            </a:r>
            <a:r>
              <a:rPr lang="en-US" sz="9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下沉</a:t>
            </a:r>
            <a:r>
              <a:rPr lang="en-US" sz="9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的那个结点，再 </a:t>
            </a:r>
            <a:r>
              <a:rPr lang="en-US" sz="9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refresh</a:t>
            </a:r>
            <a:r>
              <a:rPr lang="en-US" sz="9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新根——新根的高度依赖下沉结点。</a:t>
            </a:r>
            <a:endParaRPr lang="en-US" sz="950" dirty="0"/>
          </a:p>
        </p:txBody>
      </p:sp>
    </p:spTree>
  </p:cSld>
  <p:clrMapOvr>
    <a:masterClrMapping/>
  </p:clrMapOvr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12.4</a:t>
            </a:r>
            <a:endParaRPr lang="en-US" sz="9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12.4.2 AVL 树 · code/ch12/balanced_trees（中）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insert：自底向上回溯，第一个失衡的结点按表选旋转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61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457200" y="932688"/>
            <a:ext cx="5760720" cy="3776472"/>
          </a:xfrm>
          <a:prstGeom prst="roundRect">
            <a:avLst>
              <a:gd name="adj" fmla="val 1937"/>
            </a:avLst>
          </a:prstGeom>
          <a:solidFill>
            <a:srgbClr val="F1F4F2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530352" y="978408"/>
            <a:ext cx="5614416" cy="368503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79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std::unique_ptr&lt;Node&gt; insert(std::unique_ptr&lt;Node&gt; node, int key) {</a:t>
            </a:r>
            <a:endParaRPr lang="en-US" sz="79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9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if (!node) {</a:t>
            </a:r>
            <a:endParaRPr lang="en-US" sz="79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9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++size_;</a:t>
            </a:r>
            <a:endParaRPr lang="en-US" sz="79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9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return std::make_unique&lt;Node&gt;(key);</a:t>
            </a:r>
            <a:endParaRPr lang="en-US" sz="79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9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}</a:t>
            </a:r>
            <a:endParaRPr lang="en-US" sz="79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9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if (key &lt; node-&gt;key) {</a:t>
            </a:r>
            <a:endParaRPr lang="en-US" sz="79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9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node-&gt;left = insert(std::move(node-&gt;left), key);</a:t>
            </a:r>
            <a:endParaRPr lang="en-US" sz="79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9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} else if (key &gt; node-&gt;key) {</a:t>
            </a:r>
            <a:endParaRPr lang="en-US" sz="79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9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node-&gt;right = insert(std::move(node-&gt;right), key);</a:t>
            </a:r>
            <a:endParaRPr lang="en-US" sz="79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9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} else {</a:t>
            </a:r>
            <a:endParaRPr lang="en-US" sz="79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9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return node;  </a:t>
            </a:r>
            <a:r>
              <a:rPr lang="en-US" sz="79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重复键不插入</a:t>
            </a:r>
            <a:endParaRPr lang="en-US" sz="79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9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}</a:t>
            </a:r>
            <a:endParaRPr lang="en-US" sz="79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9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refresh(node.get());</a:t>
            </a:r>
            <a:endParaRPr lang="en-US" sz="79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9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const int balance = balance_factor(node);</a:t>
            </a:r>
            <a:endParaRPr lang="en-US" sz="79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9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if (balance &gt; 1) {                       </a:t>
            </a:r>
            <a:r>
              <a:rPr lang="en-US" sz="79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右边高</a:t>
            </a:r>
            <a:endParaRPr lang="en-US" sz="79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9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if (key &lt; node-&gt;right-&gt;key) {        </a:t>
            </a:r>
            <a:r>
              <a:rPr lang="en-US" sz="79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RL：先把右孩子右旋</a:t>
            </a:r>
            <a:endParaRPr lang="en-US" sz="79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9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   node-&gt;right = rotate_right(std::move(node-&gt;right));</a:t>
            </a:r>
            <a:endParaRPr lang="en-US" sz="79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9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}</a:t>
            </a:r>
            <a:endParaRPr lang="en-US" sz="79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9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return rotate_left(std::move(node)); </a:t>
            </a:r>
            <a:r>
              <a:rPr lang="en-US" sz="79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RR / RL 的第二步</a:t>
            </a:r>
            <a:endParaRPr lang="en-US" sz="79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9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}</a:t>
            </a:r>
            <a:endParaRPr lang="en-US" sz="79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9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if (balance &lt; -1) {                      </a:t>
            </a:r>
            <a:r>
              <a:rPr lang="en-US" sz="79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左边高</a:t>
            </a:r>
            <a:endParaRPr lang="en-US" sz="79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9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if (key &gt; node-&gt;left-&gt;key) {         </a:t>
            </a:r>
            <a:r>
              <a:rPr lang="en-US" sz="79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LR：先把左孩子左旋</a:t>
            </a:r>
            <a:endParaRPr lang="en-US" sz="79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9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   node-&gt;left = rotate_left(std::move(node-&gt;left));</a:t>
            </a:r>
            <a:endParaRPr lang="en-US" sz="79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9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}</a:t>
            </a:r>
            <a:endParaRPr lang="en-US" sz="79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9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return rotate_right(std::move(node));</a:t>
            </a:r>
            <a:r>
              <a:rPr lang="en-US" sz="79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LL / LR 的第二步</a:t>
            </a:r>
            <a:endParaRPr lang="en-US" sz="79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9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}</a:t>
            </a:r>
            <a:endParaRPr lang="en-US" sz="79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9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return node;</a:t>
            </a:r>
            <a:endParaRPr lang="en-US" sz="79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9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}</a:t>
            </a:r>
            <a:endParaRPr lang="en-US" sz="790" dirty="0"/>
          </a:p>
        </p:txBody>
      </p:sp>
      <p:sp>
        <p:nvSpPr>
          <p:cNvPr id="9" name="Shape 7"/>
          <p:cNvSpPr/>
          <p:nvPr/>
        </p:nvSpPr>
        <p:spPr>
          <a:xfrm>
            <a:off x="6446520" y="960120"/>
            <a:ext cx="2240280" cy="2651760"/>
          </a:xfrm>
          <a:prstGeom prst="roundRect">
            <a:avLst>
              <a:gd name="adj" fmla="val 3265"/>
            </a:avLst>
          </a:prstGeom>
          <a:solidFill>
            <a:srgbClr val="FFF6E0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6583680" y="1051560"/>
            <a:ext cx="1965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读法</a:t>
            </a:r>
            <a:endParaRPr lang="en-US" sz="1200" dirty="0"/>
          </a:p>
        </p:txBody>
      </p:sp>
      <p:sp>
        <p:nvSpPr>
          <p:cNvPr id="11" name="Text 9"/>
          <p:cNvSpPr txBox="1"/>
          <p:nvPr/>
        </p:nvSpPr>
        <p:spPr>
          <a:xfrm>
            <a:off x="6556248" y="1344168"/>
            <a:ext cx="2020824" cy="219456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marL="177800" indent="-177800">
              <a:spcAft>
                <a:spcPts val="400"/>
              </a:spcAft>
              <a:buSzPct val="100000"/>
              <a:buChar char="•"/>
            </a:pP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递归返回时</a:t>
            </a:r>
            <a:r>
              <a:rPr lang="en-US" sz="10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逐层</a:t>
            </a: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</a:t>
            </a:r>
            <a:r>
              <a:rPr lang="en-US" sz="100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refresh</a:t>
            </a: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+ 判平衡——这就是「向上回溯」。</a:t>
            </a:r>
            <a:endParaRPr lang="en-US" sz="1000" dirty="0"/>
          </a:p>
          <a:p>
            <a:pPr marL="177800" indent="-177800">
              <a:spcAft>
                <a:spcPts val="400"/>
              </a:spcAft>
              <a:buSzPct val="100000"/>
              <a:buChar char="•"/>
            </a:pP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双旋转 = 先把孩子转一下，变成单旋转的形状，</a:t>
            </a:r>
            <a:r>
              <a:rPr lang="en-US" sz="10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第二步共用</a:t>
            </a: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</a:t>
            </a:r>
            <a:endParaRPr lang="en-US" sz="1000" dirty="0"/>
          </a:p>
          <a:p>
            <a:pPr marL="177800" indent="-177800">
              <a:spcAft>
                <a:spcPts val="400"/>
              </a:spcAft>
              <a:buSzPct val="100000"/>
              <a:buChar char="•"/>
            </a:pP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用新键和孩子的键比较，判断是</a:t>
            </a:r>
            <a:r>
              <a:rPr lang="en-US" sz="10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外侧</a:t>
            </a: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还是</a:t>
            </a:r>
            <a:r>
              <a:rPr lang="en-US" sz="10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内侧</a:t>
            </a: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6446520" y="3749040"/>
            <a:ext cx="2240280" cy="914400"/>
          </a:xfrm>
          <a:prstGeom prst="roundRect">
            <a:avLst>
              <a:gd name="adj" fmla="val 8000"/>
            </a:avLst>
          </a:prstGeom>
          <a:solidFill>
            <a:srgbClr val="CFE0D8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6583680" y="3840480"/>
            <a:ext cx="1965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插入最多转一次</a:t>
            </a:r>
            <a:endParaRPr lang="en-US" sz="1200" dirty="0"/>
          </a:p>
        </p:txBody>
      </p:sp>
      <p:sp>
        <p:nvSpPr>
          <p:cNvPr id="14" name="Text 12"/>
          <p:cNvSpPr txBox="1"/>
          <p:nvPr/>
        </p:nvSpPr>
        <p:spPr>
          <a:xfrm>
            <a:off x="6583680" y="4133088"/>
            <a:ext cx="1965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转完子树高度恢复原值，上面的祖先不再失衡。</a:t>
            </a:r>
            <a:endParaRPr lang="en-US" sz="1000" dirty="0"/>
          </a:p>
        </p:txBody>
      </p:sp>
    </p:spTree>
  </p:cSld>
  <p:clrMapOvr>
    <a:masterClrMapping/>
  </p:clrMapOvr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12.4</a:t>
            </a:r>
            <a:endParaRPr lang="en-US" sz="9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12.4.2 AVL 树 · code/ch12/balanced_trees（下）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删除：可能一路向上每层都要转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62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457200" y="960120"/>
            <a:ext cx="4937760" cy="3200400"/>
          </a:xfrm>
          <a:prstGeom prst="roundRect">
            <a:avLst>
              <a:gd name="adj" fmla="val 2286"/>
            </a:avLst>
          </a:prstGeom>
          <a:solidFill>
            <a:srgbClr val="F1F4F2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530352" y="1005840"/>
            <a:ext cx="4791456" cy="310896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8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r>
              <a:rPr lang="en-US" sz="80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...</a:t>
            </a:r>
            <a:endParaRPr lang="en-US" sz="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</a:t>
            </a:r>
            <a:r>
              <a:rPr lang="en-US" sz="80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两个孩子都在：用右子树的最小键顶上来，再去右子树删掉那个键。</a:t>
            </a:r>
            <a:endParaRPr lang="en-US" sz="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const Node* successor = node-&gt;right.get();</a:t>
            </a:r>
            <a:endParaRPr lang="en-US" sz="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while (successor-&gt;left) {</a:t>
            </a:r>
            <a:endParaRPr lang="en-US" sz="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   successor = successor-&gt;left.get();</a:t>
            </a:r>
            <a:endParaRPr lang="en-US" sz="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}</a:t>
            </a:r>
            <a:endParaRPr lang="en-US" sz="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node-&gt;key = successor-&gt;key;</a:t>
            </a:r>
            <a:endParaRPr lang="en-US" sz="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node-&gt;right = erase(std::move(node-&gt;right), node-&gt;key);</a:t>
            </a:r>
            <a:endParaRPr lang="en-US" sz="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}</a:t>
            </a:r>
            <a:endParaRPr lang="en-US" sz="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refresh(node.get());</a:t>
            </a:r>
            <a:endParaRPr lang="en-US" sz="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const int balance = balance_factor(node);</a:t>
            </a:r>
            <a:endParaRPr lang="en-US" sz="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if (balance &gt; 1) {</a:t>
            </a:r>
            <a:endParaRPr lang="en-US" sz="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if (balance_factor(node-&gt;right) &lt; 0) {</a:t>
            </a:r>
            <a:endParaRPr lang="en-US" sz="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   node-&gt;right = rotate_right(std::move(node-&gt;right));</a:t>
            </a:r>
            <a:endParaRPr lang="en-US" sz="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}</a:t>
            </a:r>
            <a:endParaRPr lang="en-US" sz="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return rotate_left(std::move(node));</a:t>
            </a:r>
            <a:endParaRPr lang="en-US" sz="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}</a:t>
            </a:r>
            <a:endParaRPr lang="en-US" sz="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if (balance &lt; -1) {</a:t>
            </a:r>
            <a:endParaRPr lang="en-US" sz="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if (balance_factor(node-&gt;left) &gt; 0) {</a:t>
            </a:r>
            <a:endParaRPr lang="en-US" sz="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   node-&gt;left = rotate_left(std::move(node-&gt;left));</a:t>
            </a:r>
            <a:endParaRPr lang="en-US" sz="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}</a:t>
            </a:r>
            <a:endParaRPr lang="en-US" sz="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return rotate_right(std::move(node));</a:t>
            </a:r>
            <a:endParaRPr lang="en-US" sz="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}</a:t>
            </a:r>
            <a:endParaRPr lang="en-US" sz="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return node;</a:t>
            </a:r>
            <a:endParaRPr lang="en-US" sz="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}</a:t>
            </a:r>
            <a:endParaRPr lang="en-US" sz="800" dirty="0"/>
          </a:p>
        </p:txBody>
      </p:sp>
      <p:sp>
        <p:nvSpPr>
          <p:cNvPr id="9" name="Shape 7"/>
          <p:cNvSpPr/>
          <p:nvPr/>
        </p:nvSpPr>
        <p:spPr>
          <a:xfrm>
            <a:off x="457200" y="4224528"/>
            <a:ext cx="4937760" cy="457200"/>
          </a:xfrm>
          <a:prstGeom prst="roundRect">
            <a:avLst>
              <a:gd name="adj" fmla="val 16000"/>
            </a:avLst>
          </a:prstGeom>
          <a:solidFill>
            <a:srgbClr val="FDF0EE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548640" y="4224528"/>
            <a:ext cx="4754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注意：图 12.36 用</a:t>
            </a:r>
            <a:r>
              <a:rPr lang="en-US" sz="9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中序前驱</a:t>
            </a:r>
            <a:r>
              <a:rPr lang="en-US" sz="9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（左子树最大）顶替，代码用</a:t>
            </a:r>
            <a:r>
              <a:rPr lang="en-US" sz="9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中序后继</a:t>
            </a:r>
            <a:r>
              <a:rPr lang="en-US" sz="9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（右子树最小）。两者互为镜像、都正确；用代码复现此图，顶替结点和失衡位置会与图不同。</a:t>
            </a:r>
            <a:endParaRPr lang="en-US" sz="900" dirty="0"/>
          </a:p>
        </p:txBody>
      </p:sp>
      <p:sp>
        <p:nvSpPr>
          <p:cNvPr id="11" name="Shape 9"/>
          <p:cNvSpPr/>
          <p:nvPr/>
        </p:nvSpPr>
        <p:spPr>
          <a:xfrm>
            <a:off x="5577840" y="960120"/>
            <a:ext cx="3108960" cy="1325880"/>
          </a:xfrm>
          <a:prstGeom prst="roundRect">
            <a:avLst>
              <a:gd name="adj" fmla="val 5517"/>
            </a:avLst>
          </a:prstGeom>
          <a:solidFill>
            <a:srgbClr val="F1F4F2"/>
          </a:solidFill>
          <a:ln/>
        </p:spPr>
      </p:sp>
      <p:pic>
        <p:nvPicPr>
          <p:cNvPr id="12" name="Image 0" descr="fig-12-36-ab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0" y="1085423"/>
            <a:ext cx="2926080" cy="1075275"/>
          </a:xfrm>
          <a:prstGeom prst="rect">
            <a:avLst/>
          </a:prstGeom>
        </p:spPr>
      </p:pic>
      <p:sp>
        <p:nvSpPr>
          <p:cNvPr id="13" name="Shape 10"/>
          <p:cNvSpPr/>
          <p:nvPr/>
        </p:nvSpPr>
        <p:spPr>
          <a:xfrm>
            <a:off x="5577840" y="2331720"/>
            <a:ext cx="3108960" cy="1554480"/>
          </a:xfrm>
          <a:prstGeom prst="roundRect">
            <a:avLst>
              <a:gd name="adj" fmla="val 4706"/>
            </a:avLst>
          </a:prstGeom>
          <a:solidFill>
            <a:srgbClr val="F1F4F2"/>
          </a:solidFill>
          <a:ln/>
        </p:spPr>
      </p:sp>
      <p:pic>
        <p:nvPicPr>
          <p:cNvPr id="14" name="Image 1" descr="fig-12-36-cde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77903" y="2423160"/>
            <a:ext cx="2108835" cy="1371600"/>
          </a:xfrm>
          <a:prstGeom prst="rect">
            <a:avLst/>
          </a:prstGeom>
        </p:spPr>
      </p:pic>
      <p:sp>
        <p:nvSpPr>
          <p:cNvPr id="15" name="Text 11"/>
          <p:cNvSpPr txBox="1"/>
          <p:nvPr/>
        </p:nvSpPr>
        <p:spPr>
          <a:xfrm>
            <a:off x="5577840" y="3931920"/>
            <a:ext cx="31089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图 12.36  删 c 用中序前驱 m 顶替 → 删 g 后 m 失衡 → 对 m 作 LL → 回溯到 a 又失衡 → 再作 LL。</a:t>
            </a:r>
            <a:endParaRPr lang="en-US" sz="900" dirty="0"/>
          </a:p>
        </p:txBody>
      </p:sp>
    </p:spTree>
  </p:cSld>
  <p:clrMapOvr>
    <a:masterClrMapping/>
  </p:clrMapOvr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12.4</a:t>
            </a:r>
            <a:endParaRPr lang="en-US" sz="9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12.4.2 AVL 树 · 高度上界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最「瘦」的 AVL 树：Fibonacci 递推给出 O(log n)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63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457200" y="960120"/>
            <a:ext cx="3474720" cy="2377440"/>
          </a:xfrm>
          <a:prstGeom prst="roundRect">
            <a:avLst>
              <a:gd name="adj" fmla="val 3077"/>
            </a:avLst>
          </a:prstGeom>
          <a:solidFill>
            <a:srgbClr val="F1F4F2"/>
          </a:solidFill>
          <a:ln/>
        </p:spPr>
      </p:sp>
      <p:pic>
        <p:nvPicPr>
          <p:cNvPr id="8" name="Image 0" descr="fig-12-37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50240" y="1051560"/>
            <a:ext cx="3088640" cy="1901952"/>
          </a:xfrm>
          <a:prstGeom prst="rect">
            <a:avLst/>
          </a:prstGeom>
        </p:spPr>
      </p:pic>
      <p:sp>
        <p:nvSpPr>
          <p:cNvPr id="9" name="Text 6"/>
          <p:cNvSpPr txBox="1"/>
          <p:nvPr/>
        </p:nvSpPr>
        <p:spPr>
          <a:xfrm>
            <a:off x="502920" y="3008376"/>
            <a:ext cx="3383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图 12.37  临界 AVL 树 T₁ … T₄ 与 Tᵢ</a:t>
            </a:r>
            <a:endParaRPr lang="en-US" sz="900" dirty="0"/>
          </a:p>
        </p:txBody>
      </p:sp>
      <p:sp>
        <p:nvSpPr>
          <p:cNvPr id="10" name="Text 7"/>
          <p:cNvSpPr txBox="1"/>
          <p:nvPr/>
        </p:nvSpPr>
        <p:spPr>
          <a:xfrm>
            <a:off x="4160520" y="960120"/>
            <a:ext cx="4526280" cy="237744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marL="177800" indent="-177800">
              <a:spcAft>
                <a:spcPts val="700"/>
              </a:spcAft>
              <a:buSzPct val="100000"/>
              <a:buChar char="•"/>
            </a:pP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Tᵢ 以 Tᵢ₋₁、Tᵢ₋₂ 为左右子树：既不破坏 AVL，又要</a:t>
            </a:r>
            <a:r>
              <a:rPr lang="en-US" sz="11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结点最少</a:t>
            </a: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→ 两棵子树高度差必然为 1。</a:t>
            </a:r>
            <a:endParaRPr lang="en-US" sz="1100" dirty="0"/>
          </a:p>
          <a:p>
            <a:pPr marL="177800" indent="-177800">
              <a:spcAft>
                <a:spcPts val="700"/>
              </a:spcAft>
              <a:buSzPct val="100000"/>
              <a:buChar char="•"/>
            </a:pP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t(1) = 2、t(2) = 4、</a:t>
            </a:r>
            <a:r>
              <a:rPr lang="en-US" sz="11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t(i) = t(i−1) + t(i−2) + 1</a:t>
            </a: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→ t(i) = F(i+3) − 1。</a:t>
            </a:r>
            <a:endParaRPr lang="en-US" sz="1100" dirty="0"/>
          </a:p>
          <a:p>
            <a:pPr marL="177800" indent="-177800">
              <a:spcAft>
                <a:spcPts val="700"/>
              </a:spcAft>
              <a:buSzPct val="100000"/>
              <a:buChar char="•"/>
            </a:pP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F(i) ≈ φⁱ / √5，φ = (1+√5)/2，log₂φ ≈ 0.694 → </a:t>
            </a:r>
            <a:r>
              <a:rPr lang="en-US" sz="11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i &lt; 1.5 log₂(t(i)+1) − 1</a:t>
            </a: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</a:t>
            </a:r>
            <a:endParaRPr lang="en-US" sz="1100" dirty="0"/>
          </a:p>
        </p:txBody>
      </p:sp>
      <p:graphicFrame>
        <p:nvGraphicFramePr>
          <p:cNvPr id="6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3474720"/>
          <a:ext cx="4572000" cy="914400"/>
        </p:xfrm>
        <a:graphic>
          <a:graphicData uri="http://schemas.openxmlformats.org/drawingml/2006/table">
            <a:tbl>
              <a:tblPr/>
              <a:tblGrid>
                <a:gridCol w="1280160"/>
                <a:gridCol w="548640"/>
                <a:gridCol w="548640"/>
                <a:gridCol w="548640"/>
                <a:gridCol w="548640"/>
                <a:gridCol w="548640"/>
                <a:gridCol w="548640"/>
              </a:tblGrid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i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1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2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3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4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5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6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t(i)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2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4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7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12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20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33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F(i+3) − 1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3−1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5−1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8−1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13−1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21−1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34−1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</a:tr>
            </a:tbl>
          </a:graphicData>
        </a:graphic>
      </p:graphicFrame>
      <p:sp>
        <p:nvSpPr>
          <p:cNvPr id="12" name="Shape 8"/>
          <p:cNvSpPr/>
          <p:nvPr/>
        </p:nvSpPr>
        <p:spPr>
          <a:xfrm>
            <a:off x="5257800" y="3474720"/>
            <a:ext cx="3429000" cy="1188720"/>
          </a:xfrm>
          <a:prstGeom prst="roundRect">
            <a:avLst>
              <a:gd name="adj" fmla="val 6154"/>
            </a:avLst>
          </a:prstGeom>
          <a:solidFill>
            <a:srgbClr val="1E3D34"/>
          </a:solidFill>
          <a:ln/>
        </p:spPr>
      </p:sp>
      <p:sp>
        <p:nvSpPr>
          <p:cNvPr id="13" name="Text 9"/>
          <p:cNvSpPr txBox="1"/>
          <p:nvPr/>
        </p:nvSpPr>
        <p:spPr>
          <a:xfrm>
            <a:off x="5394960" y="3547872"/>
            <a:ext cx="3200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n 个结点的 AVL 树高度 ≤ 1.5 log₂(n+1)</a:t>
            </a:r>
            <a:endParaRPr lang="en-US" sz="1300" dirty="0"/>
          </a:p>
        </p:txBody>
      </p:sp>
      <p:sp>
        <p:nvSpPr>
          <p:cNvPr id="14" name="Text 10"/>
          <p:cNvSpPr txBox="1"/>
          <p:nvPr/>
        </p:nvSpPr>
        <p:spPr>
          <a:xfrm>
            <a:off x="5394960" y="4096512"/>
            <a:ext cx="3200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5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平衡不是完美平衡，但足以保证 O(log n)。查找、插入、删除都是单路径局部运算。</a:t>
            </a:r>
            <a:endParaRPr lang="en-US" sz="950" dirty="0"/>
          </a:p>
        </p:txBody>
      </p:sp>
    </p:spTree>
  </p:cSld>
  <p:clrMapOvr>
    <a:masterClrMapping/>
  </p:clrMapOvr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12.4</a:t>
            </a:r>
            <a:endParaRPr lang="en-US" sz="9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12.4.3 伸展树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伸展树：不存平衡信息，每次访问后把结点展开到根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64</a:t>
            </a:r>
            <a:endParaRPr lang="en-US" sz="900" dirty="0"/>
          </a:p>
        </p:txBody>
      </p:sp>
      <p:sp>
        <p:nvSpPr>
          <p:cNvPr id="7" name="Text 5"/>
          <p:cNvSpPr txBox="1"/>
          <p:nvPr/>
        </p:nvSpPr>
        <p:spPr>
          <a:xfrm>
            <a:off x="457200" y="960120"/>
            <a:ext cx="4572000" cy="310896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marL="177800" indent="-177800">
              <a:spcAft>
                <a:spcPts val="700"/>
              </a:spcAft>
              <a:buSzPct val="100000"/>
              <a:buChar char="•"/>
            </a:pP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由 </a:t>
            </a:r>
            <a:r>
              <a:rPr lang="en-US" sz="11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Sleator 与 Tarjan</a:t>
            </a: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提出（论文 Self-Adjusting Binary Search Trees，1985；原书误作 Hopcroft 与 Tarjan），与 10.1 节的线性表调整技术同属</a:t>
            </a:r>
            <a:r>
              <a:rPr lang="en-US" sz="11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自调整数据结构</a:t>
            </a: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</a:t>
            </a:r>
            <a:endParaRPr lang="en-US" sz="1150" dirty="0"/>
          </a:p>
          <a:p>
            <a:pPr marL="177800" indent="-177800">
              <a:spcAft>
                <a:spcPts val="700"/>
              </a:spcAft>
              <a:buSzPct val="100000"/>
              <a:buChar char="•"/>
            </a:pP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一次访问</a:t>
            </a:r>
            <a:r>
              <a:rPr lang="en-US" sz="11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不一定</a:t>
            </a: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让树更平衡，也不保证树高平衡；但保证</a:t>
            </a:r>
            <a:r>
              <a:rPr lang="en-US" sz="11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访问的总代价不高</a:t>
            </a: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</a:t>
            </a:r>
            <a:endParaRPr lang="en-US" sz="1150" dirty="0"/>
          </a:p>
          <a:p>
            <a:pPr marL="177800" indent="-177800">
              <a:spcAft>
                <a:spcPts val="700"/>
              </a:spcAft>
              <a:buSzPct val="100000"/>
              <a:buChar char="•"/>
            </a:pP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它不是新结构，而是</a:t>
            </a:r>
            <a:r>
              <a:rPr lang="en-US" sz="11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改进 BST 性能的一组规则</a:t>
            </a: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</a:t>
            </a:r>
            <a:endParaRPr lang="en-US" sz="1150" dirty="0"/>
          </a:p>
          <a:p>
            <a:pPr marL="177800" indent="-177800">
              <a:spcAft>
                <a:spcPts val="700"/>
              </a:spcAft>
              <a:buSzPct val="100000"/>
              <a:buChar char="•"/>
            </a:pP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每次访问结点 x 都做一次</a:t>
            </a:r>
            <a:r>
              <a:rPr lang="en-US" sz="11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展开</a:t>
            </a: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（splaying）：插入、检索 x 时 x 为当前结点；</a:t>
            </a:r>
            <a:r>
              <a:rPr lang="en-US" sz="11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删除 x 时 x 的父结点</a:t>
            </a: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为当前结点；沿路旋转直到当前结点到根。</a:t>
            </a:r>
            <a:endParaRPr lang="en-US" sz="1150" dirty="0"/>
          </a:p>
        </p:txBody>
      </p:sp>
      <p:sp>
        <p:nvSpPr>
          <p:cNvPr id="8" name="Shape 6"/>
          <p:cNvSpPr/>
          <p:nvPr/>
        </p:nvSpPr>
        <p:spPr>
          <a:xfrm>
            <a:off x="5257800" y="960120"/>
            <a:ext cx="3429000" cy="2148840"/>
          </a:xfrm>
          <a:prstGeom prst="roundRect">
            <a:avLst>
              <a:gd name="adj" fmla="val 3404"/>
            </a:avLst>
          </a:prstGeom>
          <a:solidFill>
            <a:srgbClr val="F1F4F2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5394960" y="1024128"/>
            <a:ext cx="3108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三种旋转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5394960" y="1371600"/>
            <a:ext cx="1234440" cy="329184"/>
          </a:xfrm>
          <a:prstGeom prst="roundRect">
            <a:avLst>
              <a:gd name="adj" fmla="val 50000"/>
            </a:avLst>
          </a:prstGeom>
          <a:solidFill>
            <a:srgbClr val="3E7C68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5394960" y="1371600"/>
            <a:ext cx="12344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单旋转</a:t>
            </a:r>
            <a:endParaRPr lang="en-US" sz="1000" dirty="0"/>
          </a:p>
        </p:txBody>
      </p:sp>
      <p:sp>
        <p:nvSpPr>
          <p:cNvPr id="12" name="Text 10"/>
          <p:cNvSpPr txBox="1"/>
          <p:nvPr/>
        </p:nvSpPr>
        <p:spPr>
          <a:xfrm>
            <a:off x="6720840" y="1344168"/>
            <a:ext cx="1920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x 是根的孩子；与 AVL 单旋转相同</a:t>
            </a:r>
            <a:endParaRPr lang="en-US" sz="950" dirty="0"/>
          </a:p>
        </p:txBody>
      </p:sp>
      <p:sp>
        <p:nvSpPr>
          <p:cNvPr id="13" name="Shape 11"/>
          <p:cNvSpPr/>
          <p:nvPr/>
        </p:nvSpPr>
        <p:spPr>
          <a:xfrm>
            <a:off x="5394960" y="1920240"/>
            <a:ext cx="1234440" cy="329184"/>
          </a:xfrm>
          <a:prstGeom prst="roundRect">
            <a:avLst>
              <a:gd name="adj" fmla="val 50000"/>
            </a:avLst>
          </a:prstGeom>
          <a:solidFill>
            <a:srgbClr val="1E3D34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5394960" y="1920240"/>
            <a:ext cx="12344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一字形双旋转</a:t>
            </a:r>
            <a:endParaRPr lang="en-US" sz="1000" dirty="0"/>
          </a:p>
        </p:txBody>
      </p:sp>
      <p:sp>
        <p:nvSpPr>
          <p:cNvPr id="15" name="Text 13"/>
          <p:cNvSpPr txBox="1"/>
          <p:nvPr/>
        </p:nvSpPr>
        <p:spPr>
          <a:xfrm>
            <a:off x="6720840" y="1892808"/>
            <a:ext cx="1920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x、父、祖父同向（zig-zig）</a:t>
            </a:r>
            <a:endParaRPr lang="en-US" sz="950" dirty="0"/>
          </a:p>
        </p:txBody>
      </p:sp>
      <p:sp>
        <p:nvSpPr>
          <p:cNvPr id="16" name="Shape 14"/>
          <p:cNvSpPr/>
          <p:nvPr/>
        </p:nvSpPr>
        <p:spPr>
          <a:xfrm>
            <a:off x="5394960" y="2468880"/>
            <a:ext cx="1234440" cy="329184"/>
          </a:xfrm>
          <a:prstGeom prst="roundRect">
            <a:avLst>
              <a:gd name="adj" fmla="val 50000"/>
            </a:avLst>
          </a:prstGeom>
          <a:solidFill>
            <a:srgbClr val="1E3D34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5394960" y="2468880"/>
            <a:ext cx="12344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之字形双旋转</a:t>
            </a:r>
            <a:endParaRPr lang="en-US" sz="1000" dirty="0"/>
          </a:p>
        </p:txBody>
      </p:sp>
      <p:sp>
        <p:nvSpPr>
          <p:cNvPr id="18" name="Text 16"/>
          <p:cNvSpPr txBox="1"/>
          <p:nvPr/>
        </p:nvSpPr>
        <p:spPr>
          <a:xfrm>
            <a:off x="6720840" y="2441448"/>
            <a:ext cx="1920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x、父、祖父拐弯（zig-zag）</a:t>
            </a:r>
            <a:endParaRPr lang="en-US" sz="950" dirty="0"/>
          </a:p>
        </p:txBody>
      </p:sp>
      <p:sp>
        <p:nvSpPr>
          <p:cNvPr id="19" name="Shape 17"/>
          <p:cNvSpPr/>
          <p:nvPr/>
        </p:nvSpPr>
        <p:spPr>
          <a:xfrm>
            <a:off x="5257800" y="3246120"/>
            <a:ext cx="3429000" cy="1417320"/>
          </a:xfrm>
          <a:prstGeom prst="roundRect">
            <a:avLst>
              <a:gd name="adj" fmla="val 5161"/>
            </a:avLst>
          </a:prstGeom>
          <a:solidFill>
            <a:srgbClr val="F1F4F2"/>
          </a:solidFill>
          <a:ln/>
        </p:spPr>
      </p:sp>
      <p:pic>
        <p:nvPicPr>
          <p:cNvPr id="20" name="Image 0" descr="fig-12-38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49240" y="3491781"/>
            <a:ext cx="3246120" cy="633389"/>
          </a:xfrm>
          <a:prstGeom prst="rect">
            <a:avLst/>
          </a:prstGeom>
        </p:spPr>
      </p:pic>
      <p:sp>
        <p:nvSpPr>
          <p:cNvPr id="21" name="Text 18"/>
          <p:cNvSpPr txBox="1"/>
          <p:nvPr/>
        </p:nvSpPr>
        <p:spPr>
          <a:xfrm>
            <a:off x="5303520" y="4334256"/>
            <a:ext cx="3337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图 12.38  x 已是根的孩子：单旋转</a:t>
            </a:r>
            <a:endParaRPr lang="en-US" sz="900" dirty="0"/>
          </a:p>
        </p:txBody>
      </p:sp>
      <p:sp>
        <p:nvSpPr>
          <p:cNvPr id="22" name="Shape 19"/>
          <p:cNvSpPr/>
          <p:nvPr/>
        </p:nvSpPr>
        <p:spPr>
          <a:xfrm>
            <a:off x="457200" y="4069080"/>
            <a:ext cx="4572000" cy="594360"/>
          </a:xfrm>
          <a:prstGeom prst="roundRect">
            <a:avLst>
              <a:gd name="adj" fmla="val 12308"/>
            </a:avLst>
          </a:prstGeom>
          <a:solidFill>
            <a:srgbClr val="CFE0D8"/>
          </a:solidFill>
          <a:ln/>
        </p:spPr>
      </p:sp>
      <p:sp>
        <p:nvSpPr>
          <p:cNvPr id="23" name="Text 20"/>
          <p:cNvSpPr txBox="1"/>
          <p:nvPr/>
        </p:nvSpPr>
        <p:spPr>
          <a:xfrm>
            <a:off x="594360" y="4160520"/>
            <a:ext cx="4297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一句话</a:t>
            </a:r>
            <a:endParaRPr lang="en-US" sz="1100" dirty="0"/>
          </a:p>
        </p:txBody>
      </p:sp>
      <p:sp>
        <p:nvSpPr>
          <p:cNvPr id="24" name="Text 21"/>
          <p:cNvSpPr txBox="1"/>
          <p:nvPr/>
        </p:nvSpPr>
        <p:spPr>
          <a:xfrm>
            <a:off x="594360" y="4453128"/>
            <a:ext cx="429768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最近被用到的键下次更容易先碰到；</a:t>
            </a:r>
            <a:r>
              <a:rPr lang="en-US" sz="10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均摊 O(log n)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</a:t>
            </a:r>
            <a:endParaRPr lang="en-US" sz="1050" dirty="0"/>
          </a:p>
        </p:txBody>
      </p:sp>
    </p:spTree>
  </p:cSld>
  <p:clrMapOvr>
    <a:masterClrMapping/>
  </p:clrMapOvr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12.4</a:t>
            </a:r>
            <a:endParaRPr lang="en-US" sz="9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12.4.3 伸展树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一字形先转祖父、再转父；之字形先转父、再转祖父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65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457200" y="960120"/>
            <a:ext cx="4206240" cy="1600200"/>
          </a:xfrm>
          <a:prstGeom prst="roundRect">
            <a:avLst>
              <a:gd name="adj" fmla="val 4571"/>
            </a:avLst>
          </a:prstGeom>
          <a:solidFill>
            <a:srgbClr val="F1F4F2"/>
          </a:solidFill>
          <a:ln/>
        </p:spPr>
      </p:sp>
      <p:pic>
        <p:nvPicPr>
          <p:cNvPr id="8" name="Image 0" descr="fig-12-39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147795"/>
            <a:ext cx="4023360" cy="932242"/>
          </a:xfrm>
          <a:prstGeom prst="rect">
            <a:avLst/>
          </a:prstGeom>
        </p:spPr>
      </p:pic>
      <p:sp>
        <p:nvSpPr>
          <p:cNvPr id="9" name="Text 6"/>
          <p:cNvSpPr txBox="1"/>
          <p:nvPr/>
        </p:nvSpPr>
        <p:spPr>
          <a:xfrm>
            <a:off x="502920" y="2231136"/>
            <a:ext cx="4114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图 12.39  一字形旋转</a:t>
            </a:r>
            <a:endParaRPr lang="en-US" sz="900" dirty="0"/>
          </a:p>
        </p:txBody>
      </p:sp>
      <p:sp>
        <p:nvSpPr>
          <p:cNvPr id="10" name="Shape 7"/>
          <p:cNvSpPr/>
          <p:nvPr/>
        </p:nvSpPr>
        <p:spPr>
          <a:xfrm>
            <a:off x="4892040" y="960120"/>
            <a:ext cx="3794760" cy="1600200"/>
          </a:xfrm>
          <a:prstGeom prst="roundRect">
            <a:avLst>
              <a:gd name="adj" fmla="val 4571"/>
            </a:avLst>
          </a:prstGeom>
          <a:solidFill>
            <a:srgbClr val="F1F4F2"/>
          </a:solidFill>
          <a:ln/>
        </p:spPr>
      </p:sp>
      <p:pic>
        <p:nvPicPr>
          <p:cNvPr id="11" name="Image 1" descr="fig-12-40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54748" y="1051560"/>
            <a:ext cx="2869344" cy="1124712"/>
          </a:xfrm>
          <a:prstGeom prst="rect">
            <a:avLst/>
          </a:prstGeom>
        </p:spPr>
      </p:pic>
      <p:sp>
        <p:nvSpPr>
          <p:cNvPr id="12" name="Text 8"/>
          <p:cNvSpPr txBox="1"/>
          <p:nvPr/>
        </p:nvSpPr>
        <p:spPr>
          <a:xfrm>
            <a:off x="4937760" y="2231136"/>
            <a:ext cx="3703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图 12.40  之字形旋转</a:t>
            </a:r>
            <a:endParaRPr lang="en-US" sz="900" dirty="0"/>
          </a:p>
        </p:txBody>
      </p:sp>
      <p:sp>
        <p:nvSpPr>
          <p:cNvPr id="13" name="Text 9"/>
          <p:cNvSpPr txBox="1"/>
          <p:nvPr/>
        </p:nvSpPr>
        <p:spPr>
          <a:xfrm>
            <a:off x="457200" y="2697480"/>
            <a:ext cx="4754880" cy="196596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1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一字形</a:t>
            </a: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（连续两次同向）：单看一次一般不降树高，只把目标提两层；沿长链</a:t>
            </a:r>
            <a:r>
              <a:rPr lang="en-US" sz="11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连续</a:t>
            </a: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做一字形才把链折短（右链 1→…→7 访问 7：树高 7→5；逐层单旋仍是 7）。</a:t>
            </a:r>
            <a:endParaRPr lang="en-US" sz="110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1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之字形</a:t>
            </a: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（先左后右或先右后左）：倾向于让树更平衡——子树 B、C 上升一层，D 下降一层。</a:t>
            </a:r>
            <a:endParaRPr lang="en-US" sz="110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两种双旋都把目标</a:t>
            </a:r>
            <a:r>
              <a:rPr lang="en-US" sz="11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提升两层</a:t>
            </a: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；只差一层到根时，再做一次单旋转。</a:t>
            </a:r>
            <a:endParaRPr lang="en-US" sz="1100" dirty="0"/>
          </a:p>
        </p:txBody>
      </p:sp>
      <p:sp>
        <p:nvSpPr>
          <p:cNvPr id="14" name="Shape 10"/>
          <p:cNvSpPr/>
          <p:nvPr/>
        </p:nvSpPr>
        <p:spPr>
          <a:xfrm>
            <a:off x="5440680" y="2697480"/>
            <a:ext cx="3246120" cy="1965960"/>
          </a:xfrm>
          <a:prstGeom prst="roundRect">
            <a:avLst>
              <a:gd name="adj" fmla="val 3721"/>
            </a:avLst>
          </a:prstGeom>
          <a:solidFill>
            <a:srgbClr val="F1F4F2"/>
          </a:solidFill>
          <a:ln/>
        </p:spPr>
      </p:sp>
      <p:sp>
        <p:nvSpPr>
          <p:cNvPr id="15" name="Text 11"/>
          <p:cNvSpPr txBox="1"/>
          <p:nvPr/>
        </p:nvSpPr>
        <p:spPr>
          <a:xfrm>
            <a:off x="5577840" y="2761488"/>
            <a:ext cx="3017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例：链 10 → 20 → 30</a:t>
            </a:r>
            <a:endParaRPr lang="en-US" sz="1200" dirty="0"/>
          </a:p>
        </p:txBody>
      </p:sp>
      <p:sp>
        <p:nvSpPr>
          <p:cNvPr id="16" name="Text 12"/>
          <p:cNvSpPr txBox="1"/>
          <p:nvPr/>
        </p:nvSpPr>
        <p:spPr>
          <a:xfrm>
            <a:off x="5577840" y="3063240"/>
            <a:ext cx="30175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访问 30：右–右</a:t>
            </a:r>
            <a:r>
              <a:rPr lang="en-US" sz="10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一字形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，先围绕 10 左旋，再围绕 20 左旋，30 到根。</a:t>
            </a:r>
            <a:endParaRPr lang="en-US" sz="1050" dirty="0"/>
          </a:p>
        </p:txBody>
      </p:sp>
      <p:sp>
        <p:nvSpPr>
          <p:cNvPr id="17" name="Text 13"/>
          <p:cNvSpPr txBox="1"/>
          <p:nvPr/>
        </p:nvSpPr>
        <p:spPr>
          <a:xfrm>
            <a:off x="5577840" y="3749040"/>
            <a:ext cx="30175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若 10 的右孩子是 30、30 的左孩子是 20：访问 20 是右–左</a:t>
            </a:r>
            <a:r>
              <a:rPr lang="en-US" sz="10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之字形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，两次旋转方向相反。</a:t>
            </a:r>
            <a:endParaRPr lang="en-US" sz="1050" dirty="0"/>
          </a:p>
        </p:txBody>
      </p:sp>
    </p:spTree>
  </p:cSld>
  <p:clrMapOvr>
    <a:masterClrMapping/>
  </p:clrMapOvr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12.4</a:t>
            </a:r>
            <a:endParaRPr lang="en-US" sz="9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12.4.3 伸展树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检索之后展开到根：三次双旋 + 一次单旋，a 从第 7 层升到根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66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457200" y="960120"/>
            <a:ext cx="3657600" cy="3703320"/>
          </a:xfrm>
          <a:prstGeom prst="roundRect">
            <a:avLst>
              <a:gd name="adj" fmla="val 2000"/>
            </a:avLst>
          </a:prstGeom>
          <a:solidFill>
            <a:srgbClr val="F1F4F2"/>
          </a:solidFill>
          <a:ln/>
        </p:spPr>
      </p:sp>
      <p:pic>
        <p:nvPicPr>
          <p:cNvPr id="8" name="Image 0" descr="fig-12-41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41965" y="1051560"/>
            <a:ext cx="3088070" cy="3227832"/>
          </a:xfrm>
          <a:prstGeom prst="rect">
            <a:avLst/>
          </a:prstGeom>
        </p:spPr>
      </p:pic>
      <p:sp>
        <p:nvSpPr>
          <p:cNvPr id="9" name="Text 6"/>
          <p:cNvSpPr txBox="1"/>
          <p:nvPr/>
        </p:nvSpPr>
        <p:spPr>
          <a:xfrm>
            <a:off x="502920" y="4334256"/>
            <a:ext cx="3566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图 12.41  检索 a 之后把它展开到根</a:t>
            </a:r>
            <a:endParaRPr lang="en-US" sz="900" dirty="0"/>
          </a:p>
        </p:txBody>
      </p:sp>
      <p:sp>
        <p:nvSpPr>
          <p:cNvPr id="10" name="Text 7"/>
          <p:cNvSpPr txBox="1"/>
          <p:nvPr/>
        </p:nvSpPr>
        <p:spPr>
          <a:xfrm>
            <a:off x="4343400" y="960120"/>
            <a:ext cx="4343400" cy="128016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buNone/>
            </a:pP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先 c、b、a </a:t>
            </a:r>
            <a:r>
              <a:rPr lang="en-US" sz="11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一字形</a:t>
            </a: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，再 d、a、e </a:t>
            </a:r>
            <a:r>
              <a:rPr lang="en-US" sz="11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之字形</a:t>
            </a: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，再 f、a、g </a:t>
            </a:r>
            <a:r>
              <a:rPr lang="en-US" sz="11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之字形</a:t>
            </a: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，最后一次</a:t>
            </a:r>
            <a:r>
              <a:rPr lang="en-US" sz="11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单旋转</a:t>
            </a: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让 a 成为根。（内部结点只是索引代号，记录都在外部叶上，所以字母不必中序有序。）</a:t>
            </a:r>
            <a:endParaRPr lang="en-US" sz="1100" dirty="0"/>
          </a:p>
        </p:txBody>
      </p:sp>
      <p:sp>
        <p:nvSpPr>
          <p:cNvPr id="11" name="Shape 8"/>
          <p:cNvSpPr/>
          <p:nvPr/>
        </p:nvSpPr>
        <p:spPr>
          <a:xfrm>
            <a:off x="4343400" y="2331720"/>
            <a:ext cx="4343400" cy="1188720"/>
          </a:xfrm>
          <a:prstGeom prst="roundRect">
            <a:avLst>
              <a:gd name="adj" fmla="val 6154"/>
            </a:avLst>
          </a:prstGeom>
          <a:solidFill>
            <a:srgbClr val="FFF6E0"/>
          </a:solidFill>
          <a:ln/>
        </p:spPr>
      </p:sp>
      <p:sp>
        <p:nvSpPr>
          <p:cNvPr id="12" name="Text 9"/>
          <p:cNvSpPr txBox="1"/>
          <p:nvPr/>
        </p:nvSpPr>
        <p:spPr>
          <a:xfrm>
            <a:off x="4480560" y="2423160"/>
            <a:ext cx="4069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插入与删除怎么接上展开</a:t>
            </a:r>
            <a:endParaRPr lang="en-US" sz="1200" dirty="0"/>
          </a:p>
        </p:txBody>
      </p:sp>
      <p:sp>
        <p:nvSpPr>
          <p:cNvPr id="13" name="Text 10"/>
          <p:cNvSpPr txBox="1"/>
          <p:nvPr/>
        </p:nvSpPr>
        <p:spPr>
          <a:xfrm>
            <a:off x="4453128" y="2715768"/>
            <a:ext cx="4123944" cy="7315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marL="177800" indent="-177800">
              <a:spcAft>
                <a:spcPts val="400"/>
              </a:spcAft>
              <a:buSzPct val="100000"/>
              <a:buChar char="•"/>
            </a:pP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插入与 BST 相同，</a:t>
            </a:r>
            <a:r>
              <a:rPr lang="en-US" sz="10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插入后把新结点展开到根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</a:t>
            </a:r>
            <a:endParaRPr lang="en-US" sz="1050" dirty="0"/>
          </a:p>
          <a:p>
            <a:pPr marL="177800" indent="-177800">
              <a:spcAft>
                <a:spcPts val="400"/>
              </a:spcAft>
              <a:buSzPct val="100000"/>
              <a:buChar char="•"/>
            </a:pP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按 BST 策略删除结点后，</a:t>
            </a:r>
            <a:r>
              <a:rPr lang="en-US" sz="10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被删结点的父结点展开到根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</a:t>
            </a:r>
            <a:endParaRPr lang="en-US" sz="1050" dirty="0"/>
          </a:p>
        </p:txBody>
      </p:sp>
      <p:sp>
        <p:nvSpPr>
          <p:cNvPr id="14" name="Shape 11"/>
          <p:cNvSpPr/>
          <p:nvPr/>
        </p:nvSpPr>
        <p:spPr>
          <a:xfrm>
            <a:off x="4343400" y="3657600"/>
            <a:ext cx="4343400" cy="1005840"/>
          </a:xfrm>
          <a:prstGeom prst="roundRect">
            <a:avLst>
              <a:gd name="adj" fmla="val 7273"/>
            </a:avLst>
          </a:prstGeom>
          <a:solidFill>
            <a:srgbClr val="FDF0EE"/>
          </a:solidFill>
          <a:ln/>
        </p:spPr>
      </p:sp>
      <p:sp>
        <p:nvSpPr>
          <p:cNvPr id="15" name="Text 12"/>
          <p:cNvSpPr txBox="1"/>
          <p:nvPr/>
        </p:nvSpPr>
        <p:spPr>
          <a:xfrm>
            <a:off x="4480560" y="3749040"/>
            <a:ext cx="4069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C039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容易忽略的边界</a:t>
            </a:r>
            <a:endParaRPr lang="en-US" sz="1200" dirty="0"/>
          </a:p>
        </p:txBody>
      </p:sp>
      <p:sp>
        <p:nvSpPr>
          <p:cNvPr id="16" name="Text 13"/>
          <p:cNvSpPr txBox="1"/>
          <p:nvPr/>
        </p:nvSpPr>
        <p:spPr>
          <a:xfrm>
            <a:off x="4480560" y="4041648"/>
            <a:ext cx="4069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记录都存在外部结点、内部结点只作索引时：检索到外部结点，由它的</a:t>
            </a:r>
            <a:r>
              <a:rPr lang="en-US" sz="10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内部父结点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作为当前结点开始调整——</a:t>
            </a:r>
            <a:r>
              <a:rPr lang="en-US" sz="10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外部结点不能被旋转到根上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</a:t>
            </a:r>
            <a:endParaRPr lang="en-US" sz="1050" dirty="0"/>
          </a:p>
        </p:txBody>
      </p:sp>
    </p:spTree>
  </p:cSld>
  <p:clrMapOvr>
    <a:masterClrMapping/>
  </p:clrMapOvr>
</p:sld>
</file>

<file path=ppt/slides/slide6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12.4</a:t>
            </a:r>
            <a:endParaRPr lang="en-US" sz="9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12.4.3 伸展树 · code/ch12/balanced_trees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splay：把 key（或最接近它的键）旋到 t 的根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67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457200" y="960120"/>
            <a:ext cx="5303520" cy="3703320"/>
          </a:xfrm>
          <a:prstGeom prst="roundRect">
            <a:avLst>
              <a:gd name="adj" fmla="val 1975"/>
            </a:avLst>
          </a:prstGeom>
          <a:solidFill>
            <a:srgbClr val="F1F4F2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530352" y="1005840"/>
            <a:ext cx="5157216" cy="361188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static void splay(std::unique_ptr&lt;Node&gt;&amp; t, int key) {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if (!t || t-&gt;key == key) {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return;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}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if (key &lt; t-&gt;key) {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if (!t-&gt;left) {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   return;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}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if (key &lt; t-&gt;left-&gt;key) {          </a:t>
            </a:r>
            <a:r>
              <a:rPr lang="en-US" sz="90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左-左，一字形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   splay(t-&gt;left-&gt;left, key);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   rotate_right(t);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} else if (key &gt; t-&gt;left-&gt;key) {   </a:t>
            </a:r>
            <a:r>
              <a:rPr lang="en-US" sz="90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左-右，之字形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   splay(t-&gt;left-&gt;right, key);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   if (t-&gt;left-&gt;right) {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       rotate_left(t-&gt;left);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   }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}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if (t-&gt;left) {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   rotate_right(t);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}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} else {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</a:t>
            </a:r>
            <a:r>
              <a:rPr lang="en-US" sz="90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...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}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}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5989320" y="960120"/>
            <a:ext cx="2697480" cy="2240280"/>
          </a:xfrm>
          <a:prstGeom prst="roundRect">
            <a:avLst>
              <a:gd name="adj" fmla="val 3265"/>
            </a:avLst>
          </a:prstGeom>
          <a:solidFill>
            <a:srgbClr val="FFF6E0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6126480" y="1051560"/>
            <a:ext cx="2423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对照规则读</a:t>
            </a:r>
            <a:endParaRPr lang="en-US" sz="1200" dirty="0"/>
          </a:p>
        </p:txBody>
      </p:sp>
      <p:sp>
        <p:nvSpPr>
          <p:cNvPr id="11" name="Text 9"/>
          <p:cNvSpPr txBox="1"/>
          <p:nvPr/>
        </p:nvSpPr>
        <p:spPr>
          <a:xfrm>
            <a:off x="6099048" y="1344168"/>
            <a:ext cx="2478024" cy="178308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marL="177800" indent="-177800">
              <a:spcAft>
                <a:spcPts val="400"/>
              </a:spcAft>
              <a:buSzPct val="100000"/>
              <a:buChar char="•"/>
            </a:pPr>
            <a:r>
              <a:rPr lang="en-US" sz="10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一字形</a:t>
            </a: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：先 </a:t>
            </a:r>
            <a:r>
              <a:rPr lang="en-US" sz="100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rotate_right(t)</a:t>
            </a: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转祖父，再转一次 → 目标升两层。</a:t>
            </a:r>
            <a:endParaRPr lang="en-US" sz="1000" dirty="0"/>
          </a:p>
          <a:p>
            <a:pPr marL="177800" indent="-177800">
              <a:spcAft>
                <a:spcPts val="400"/>
              </a:spcAft>
              <a:buSzPct val="100000"/>
              <a:buChar char="•"/>
            </a:pPr>
            <a:r>
              <a:rPr lang="en-US" sz="10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之字形</a:t>
            </a: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：先 </a:t>
            </a:r>
            <a:r>
              <a:rPr lang="en-US" sz="100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rotate_left(t-&gt;left)</a:t>
            </a: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转父，再 </a:t>
            </a:r>
            <a:r>
              <a:rPr lang="en-US" sz="100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rotate_right(t)</a:t>
            </a: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转祖父。</a:t>
            </a:r>
            <a:endParaRPr lang="en-US" sz="1000" dirty="0"/>
          </a:p>
          <a:p>
            <a:pPr marL="177800" indent="-177800">
              <a:spcAft>
                <a:spcPts val="400"/>
              </a:spcAft>
              <a:buSzPct val="100000"/>
              <a:buChar char="•"/>
            </a:pPr>
            <a:r>
              <a:rPr lang="en-US" sz="100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else</a:t>
            </a: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分支是右侧的镜像。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5989320" y="3337560"/>
            <a:ext cx="2697480" cy="1325880"/>
          </a:xfrm>
          <a:prstGeom prst="roundRect">
            <a:avLst>
              <a:gd name="adj" fmla="val 5517"/>
            </a:avLst>
          </a:prstGeom>
          <a:solidFill>
            <a:srgbClr val="CFE0D8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6126480" y="3429000"/>
            <a:ext cx="2423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查找会改变树形</a:t>
            </a:r>
            <a:endParaRPr lang="en-US" sz="1200" dirty="0"/>
          </a:p>
        </p:txBody>
      </p:sp>
      <p:sp>
        <p:nvSpPr>
          <p:cNvPr id="14" name="Text 12"/>
          <p:cNvSpPr txBox="1"/>
          <p:nvPr/>
        </p:nvSpPr>
        <p:spPr>
          <a:xfrm>
            <a:off x="6126480" y="3721608"/>
            <a:ext cx="24231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0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contains</a:t>
            </a: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命中后该键被旋到根，所以它</a:t>
            </a:r>
            <a:r>
              <a:rPr lang="en-US" sz="10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不是 const</a:t>
            </a: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。无需平衡域；子树用 </a:t>
            </a:r>
            <a:r>
              <a:rPr lang="en-US" sz="100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unique_ptr</a:t>
            </a: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维护所有权。</a:t>
            </a:r>
            <a:endParaRPr lang="en-US" sz="1000" dirty="0"/>
          </a:p>
        </p:txBody>
      </p:sp>
    </p:spTree>
  </p:cSld>
  <p:clrMapOvr>
    <a:masterClrMapping/>
  </p:clrMapOvr>
</p:sld>
</file>

<file path=ppt/slides/slide6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12.4</a:t>
            </a:r>
            <a:endParaRPr lang="en-US" sz="9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12.4.3 伸展树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均摊不等于每次都快；半伸展是一种折中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68</a:t>
            </a:r>
            <a:endParaRPr lang="en-US" sz="900" dirty="0"/>
          </a:p>
        </p:txBody>
      </p:sp>
      <p:sp>
        <p:nvSpPr>
          <p:cNvPr id="7" name="Text 5"/>
          <p:cNvSpPr txBox="1"/>
          <p:nvPr/>
        </p:nvSpPr>
        <p:spPr>
          <a:xfrm>
            <a:off x="457200" y="960120"/>
            <a:ext cx="4480560" cy="27432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marL="177800" indent="-177800">
              <a:spcAft>
                <a:spcPts val="700"/>
              </a:spcAft>
              <a:buSzPct val="100000"/>
              <a:buChar char="•"/>
            </a:pP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访问深链末端的</a:t>
            </a:r>
            <a:r>
              <a:rPr lang="en-US" sz="11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单次代价仍可达 O(n)</a:t>
            </a: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；保证的是一串 m 次操作总成本 </a:t>
            </a:r>
            <a:r>
              <a:rPr lang="en-US" sz="11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O(m log n)</a:t>
            </a: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（另加初始势能）。</a:t>
            </a:r>
            <a:endParaRPr lang="en-US" sz="1100" dirty="0"/>
          </a:p>
          <a:p>
            <a:pPr marL="177800" indent="-177800">
              <a:spcAft>
                <a:spcPts val="700"/>
              </a:spcAft>
              <a:buSzPct val="100000"/>
              <a:buChar char="•"/>
            </a:pP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适合</a:t>
            </a:r>
            <a:r>
              <a:rPr lang="en-US" sz="11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热点键反复出现</a:t>
            </a: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、又不要求单次延迟上界的场景；实时系统要求每次都在确定高度内结束，更适合 AVL 或红黑树。</a:t>
            </a:r>
            <a:endParaRPr lang="en-US" sz="1100" dirty="0"/>
          </a:p>
          <a:p>
            <a:pPr marL="177800" indent="-177800">
              <a:spcAft>
                <a:spcPts val="700"/>
              </a:spcAft>
              <a:buSzPct val="100000"/>
              <a:buChar char="•"/>
            </a:pPr>
            <a:r>
              <a:rPr lang="en-US" sz="11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半伸展</a:t>
            </a: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：对一字形像 AVL 的 LL、RR 那样处理；下一轮从</a:t>
            </a:r>
            <a:r>
              <a:rPr lang="en-US" sz="11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父结点位置</a:t>
            </a: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开始——不需要把目标移到根，旋转更少。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5120640" y="960120"/>
            <a:ext cx="3566160" cy="1371600"/>
          </a:xfrm>
          <a:prstGeom prst="roundRect">
            <a:avLst>
              <a:gd name="adj" fmla="val 5333"/>
            </a:avLst>
          </a:prstGeom>
          <a:solidFill>
            <a:srgbClr val="F1F4F2"/>
          </a:solidFill>
          <a:ln/>
        </p:spPr>
      </p:sp>
      <p:pic>
        <p:nvPicPr>
          <p:cNvPr id="9" name="Image 0" descr="fig-12-42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32603" y="1051560"/>
            <a:ext cx="2942234" cy="896112"/>
          </a:xfrm>
          <a:prstGeom prst="rect">
            <a:avLst/>
          </a:prstGeom>
        </p:spPr>
      </p:pic>
      <p:sp>
        <p:nvSpPr>
          <p:cNvPr id="10" name="Text 7"/>
          <p:cNvSpPr txBox="1"/>
          <p:nvPr/>
        </p:nvSpPr>
        <p:spPr>
          <a:xfrm>
            <a:off x="5166360" y="2002536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图 12.42  半伸展与全伸展的区别</a:t>
            </a:r>
            <a:endParaRPr lang="en-US" sz="900" dirty="0"/>
          </a:p>
        </p:txBody>
      </p:sp>
      <p:sp>
        <p:nvSpPr>
          <p:cNvPr id="11" name="Shape 8"/>
          <p:cNvSpPr/>
          <p:nvPr/>
        </p:nvSpPr>
        <p:spPr>
          <a:xfrm>
            <a:off x="5120640" y="2468880"/>
            <a:ext cx="3566160" cy="2194560"/>
          </a:xfrm>
          <a:prstGeom prst="roundRect">
            <a:avLst>
              <a:gd name="adj" fmla="val 3333"/>
            </a:avLst>
          </a:prstGeom>
          <a:solidFill>
            <a:srgbClr val="F1F4F2"/>
          </a:solidFill>
          <a:ln/>
        </p:spPr>
      </p:sp>
      <p:pic>
        <p:nvPicPr>
          <p:cNvPr id="12" name="Image 1" descr="fig-12-45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96382" y="2560320"/>
            <a:ext cx="2414676" cy="1719072"/>
          </a:xfrm>
          <a:prstGeom prst="rect">
            <a:avLst/>
          </a:prstGeom>
        </p:spPr>
      </p:pic>
      <p:sp>
        <p:nvSpPr>
          <p:cNvPr id="13" name="Text 9"/>
          <p:cNvSpPr txBox="1"/>
          <p:nvPr/>
        </p:nvSpPr>
        <p:spPr>
          <a:xfrm>
            <a:off x="5166360" y="4334256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图 12.45  在图 12.44 上连续读 a、a、b、g</a:t>
            </a:r>
            <a:endParaRPr lang="en-US" sz="900" dirty="0"/>
          </a:p>
        </p:txBody>
      </p:sp>
      <p:sp>
        <p:nvSpPr>
          <p:cNvPr id="14" name="Shape 10"/>
          <p:cNvSpPr/>
          <p:nvPr/>
        </p:nvSpPr>
        <p:spPr>
          <a:xfrm>
            <a:off x="457200" y="3749040"/>
            <a:ext cx="4480560" cy="914400"/>
          </a:xfrm>
          <a:prstGeom prst="roundRect">
            <a:avLst>
              <a:gd name="adj" fmla="val 8000"/>
            </a:avLst>
          </a:prstGeom>
          <a:solidFill>
            <a:srgbClr val="CFE0D8"/>
          </a:solidFill>
          <a:ln/>
        </p:spPr>
      </p:sp>
      <p:sp>
        <p:nvSpPr>
          <p:cNvPr id="15" name="Text 11"/>
          <p:cNvSpPr txBox="1"/>
          <p:nvPr/>
        </p:nvSpPr>
        <p:spPr>
          <a:xfrm>
            <a:off x="594360" y="3840480"/>
            <a:ext cx="4206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热点会浮上来</a:t>
            </a:r>
            <a:endParaRPr lang="en-US" sz="1200" dirty="0"/>
          </a:p>
        </p:txBody>
      </p:sp>
      <p:sp>
        <p:nvSpPr>
          <p:cNvPr id="16" name="Text 12"/>
          <p:cNvSpPr txBox="1"/>
          <p:nvPr/>
        </p:nvSpPr>
        <p:spPr>
          <a:xfrm>
            <a:off x="594360" y="4133088"/>
            <a:ext cx="4206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重复访问的键会一路浮到靠近根的位置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——这正是伸展树占便宜的地方。</a:t>
            </a:r>
            <a:endParaRPr lang="en-US" sz="1050" dirty="0"/>
          </a:p>
        </p:txBody>
      </p:sp>
    </p:spTree>
  </p:cSld>
  <p:clrMapOvr>
    <a:masterClrMapping/>
  </p:clrMapOvr>
</p:sld>
</file>

<file path=ppt/slides/slide6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12.4</a:t>
            </a:r>
            <a:endParaRPr lang="en-US" sz="9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12.4 改进的二叉搜索树 · 对照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三种改进的 BST，各自改进了什么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69</a:t>
            </a:r>
            <a:endParaRPr lang="en-US" sz="900" dirty="0"/>
          </a:p>
        </p:txBody>
      </p:sp>
      <p:graphicFrame>
        <p:nvGraphicFramePr>
          <p:cNvPr id="7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960120"/>
          <a:ext cx="8229600" cy="914400"/>
        </p:xfrm>
        <a:graphic>
          <a:graphicData uri="http://schemas.openxmlformats.org/drawingml/2006/table">
            <a:tbl>
              <a:tblPr/>
              <a:tblGrid>
                <a:gridCol w="1188720"/>
                <a:gridCol w="2194560"/>
                <a:gridCol w="2514600"/>
                <a:gridCol w="2331720"/>
              </a:tblGrid>
              <a:tr h="43891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 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最佳 BST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AVL 树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伸展树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依据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访问权重 p、q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严格高度平衡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访问局部性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怎么做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动态规划按区间选根，O(n³)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平衡因子 + 四种旋转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访问后一字形 / 之字形旋至根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保证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带权 ASL 最小（静态集合）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高度 ≤ 1.5 log₂(n+1)，最坏 O(log n)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均摊 O(log n)，单次可能 O(n)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额外信息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cost / root 两张表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每结点平衡因子（或高度）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无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</a:tr>
            </a:tbl>
          </a:graphicData>
        </a:graphic>
      </p:graphicFrame>
      <p:sp>
        <p:nvSpPr>
          <p:cNvPr id="8" name="Shape 5"/>
          <p:cNvSpPr/>
          <p:nvPr/>
        </p:nvSpPr>
        <p:spPr>
          <a:xfrm>
            <a:off x="457200" y="3291840"/>
            <a:ext cx="4023360" cy="1371600"/>
          </a:xfrm>
          <a:prstGeom prst="roundRect">
            <a:avLst>
              <a:gd name="adj" fmla="val 5333"/>
            </a:avLst>
          </a:prstGeom>
          <a:solidFill>
            <a:srgbClr val="FFF6E0"/>
          </a:solidFill>
          <a:ln/>
        </p:spPr>
      </p:sp>
      <p:sp>
        <p:nvSpPr>
          <p:cNvPr id="9" name="Text 6"/>
          <p:cNvSpPr txBox="1"/>
          <p:nvPr/>
        </p:nvSpPr>
        <p:spPr>
          <a:xfrm>
            <a:off x="594360" y="3383280"/>
            <a:ext cx="3749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红黑树（第 11 章）</a:t>
            </a:r>
            <a:endParaRPr lang="en-US" sz="1200" dirty="0"/>
          </a:p>
        </p:txBody>
      </p:sp>
      <p:sp>
        <p:nvSpPr>
          <p:cNvPr id="10" name="Text 7"/>
          <p:cNvSpPr txBox="1"/>
          <p:nvPr/>
        </p:nvSpPr>
        <p:spPr>
          <a:xfrm>
            <a:off x="594360" y="3675888"/>
            <a:ext cx="37490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9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平衡要求比 AVL 更低；n 个内部结点的红黑树最大树高 </a:t>
            </a:r>
            <a:r>
              <a:rPr lang="en-US" sz="9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 log₂(n+1) + 1</a:t>
            </a:r>
            <a:r>
              <a:rPr lang="en-US" sz="9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（原书口径，数到外部空叶；只数内部结点为 2 log₂(n+1)），最坏情况比同规模 AVL 高。AVL、伸展树适合</a:t>
            </a:r>
            <a:r>
              <a:rPr lang="en-US" sz="9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检索较多</a:t>
            </a:r>
            <a:r>
              <a:rPr lang="en-US" sz="9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；插入删除频繁常用红黑树。</a:t>
            </a:r>
            <a:endParaRPr lang="en-US" sz="950" dirty="0"/>
          </a:p>
        </p:txBody>
      </p:sp>
      <p:sp>
        <p:nvSpPr>
          <p:cNvPr id="11" name="Shape 8"/>
          <p:cNvSpPr/>
          <p:nvPr/>
        </p:nvSpPr>
        <p:spPr>
          <a:xfrm>
            <a:off x="4663440" y="3291840"/>
            <a:ext cx="4023360" cy="1371600"/>
          </a:xfrm>
          <a:prstGeom prst="roundRect">
            <a:avLst>
              <a:gd name="adj" fmla="val 5333"/>
            </a:avLst>
          </a:prstGeom>
          <a:solidFill>
            <a:srgbClr val="CFE0D8"/>
          </a:solidFill>
          <a:ln/>
        </p:spPr>
      </p:sp>
      <p:sp>
        <p:nvSpPr>
          <p:cNvPr id="12" name="Text 9"/>
          <p:cNvSpPr txBox="1"/>
          <p:nvPr/>
        </p:nvSpPr>
        <p:spPr>
          <a:xfrm>
            <a:off x="4800600" y="3383280"/>
            <a:ext cx="3749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内存 vs 外存</a:t>
            </a:r>
            <a:endParaRPr lang="en-US" sz="1200" dirty="0"/>
          </a:p>
        </p:txBody>
      </p:sp>
      <p:sp>
        <p:nvSpPr>
          <p:cNvPr id="13" name="Text 10"/>
          <p:cNvSpPr txBox="1"/>
          <p:nvPr/>
        </p:nvSpPr>
        <p:spPr>
          <a:xfrm>
            <a:off x="4800600" y="3675888"/>
            <a:ext cx="37490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BST（红黑树、AVL、伸展树）适合</a:t>
            </a:r>
            <a:r>
              <a:rPr lang="en-US" sz="10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内存中小规模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的目录；外存文件若以结点为交换单位，找到关键码前平均要访问外存 log₂n 次——文件索引用 </a:t>
            </a:r>
            <a:r>
              <a:rPr lang="en-US" sz="10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B 树 / B+ 树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</a:t>
            </a:r>
            <a:endParaRPr lang="en-US" sz="1050" dirty="0"/>
          </a:p>
        </p:txBody>
      </p:sp>
    </p:spTree>
  </p:cSld>
  <p:clrMapOvr>
    <a:masterClrMapping/>
  </p:clrMapOvr>
</p:sld>
</file>

<file path=ppt/slides/slide7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✎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课后练习（节选）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几道代表性的题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70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457200" y="960120"/>
            <a:ext cx="8229600" cy="548640"/>
          </a:xfrm>
          <a:prstGeom prst="roundRect">
            <a:avLst>
              <a:gd name="adj" fmla="val 13333"/>
            </a:avLst>
          </a:prstGeom>
          <a:solidFill>
            <a:srgbClr val="F1F4F2"/>
          </a:solidFill>
          <a:ln w="12700">
            <a:solidFill>
              <a:srgbClr val="D5DDD9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566928" y="1088136"/>
            <a:ext cx="640080" cy="292608"/>
          </a:xfrm>
          <a:prstGeom prst="roundRect">
            <a:avLst>
              <a:gd name="adj" fmla="val 50000"/>
            </a:avLst>
          </a:prstGeom>
          <a:solidFill>
            <a:srgbClr val="1E3D34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566928" y="1088136"/>
            <a:ext cx="6400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12.1</a:t>
            </a:r>
            <a:endParaRPr lang="en-US" sz="1000" dirty="0"/>
          </a:p>
        </p:txBody>
      </p:sp>
      <p:sp>
        <p:nvSpPr>
          <p:cNvPr id="10" name="Text 8"/>
          <p:cNvSpPr txBox="1"/>
          <p:nvPr/>
        </p:nvSpPr>
        <p:spPr>
          <a:xfrm>
            <a:off x="1325880" y="960120"/>
            <a:ext cx="7269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写出 3 × 4 数组按行优先时 a₂,₁ 相对首地址的偏移（元素占 1 个单元）；把 4 阶下三角压成一维，给出 a₃,₁ 的下标。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457200" y="1581912"/>
            <a:ext cx="8229600" cy="548640"/>
          </a:xfrm>
          <a:prstGeom prst="roundRect">
            <a:avLst>
              <a:gd name="adj" fmla="val 13333"/>
            </a:avLst>
          </a:prstGeom>
          <a:solidFill>
            <a:srgbClr val="FFFFFF"/>
          </a:solidFill>
          <a:ln w="12700">
            <a:solidFill>
              <a:srgbClr val="D5DDD9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566928" y="1709928"/>
            <a:ext cx="640080" cy="292608"/>
          </a:xfrm>
          <a:prstGeom prst="roundRect">
            <a:avLst>
              <a:gd name="adj" fmla="val 50000"/>
            </a:avLst>
          </a:prstGeom>
          <a:solidFill>
            <a:srgbClr val="1E3D34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566928" y="1709928"/>
            <a:ext cx="6400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12.2</a:t>
            </a:r>
            <a:endParaRPr lang="en-US" sz="1000" dirty="0"/>
          </a:p>
        </p:txBody>
      </p:sp>
      <p:sp>
        <p:nvSpPr>
          <p:cNvPr id="14" name="Text 12"/>
          <p:cNvSpPr txBox="1"/>
          <p:nvPr/>
        </p:nvSpPr>
        <p:spPr>
          <a:xfrm>
            <a:off x="1325880" y="1581912"/>
            <a:ext cx="7269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说明共享广义表为什么不能简单递归释放，并设计引用计数或访问标记方案。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457200" y="2203704"/>
            <a:ext cx="8229600" cy="548640"/>
          </a:xfrm>
          <a:prstGeom prst="roundRect">
            <a:avLst>
              <a:gd name="adj" fmla="val 13333"/>
            </a:avLst>
          </a:prstGeom>
          <a:solidFill>
            <a:srgbClr val="F1F4F2"/>
          </a:solidFill>
          <a:ln w="12700">
            <a:solidFill>
              <a:srgbClr val="D5DDD9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566928" y="2331720"/>
            <a:ext cx="640080" cy="292608"/>
          </a:xfrm>
          <a:prstGeom prst="roundRect">
            <a:avLst>
              <a:gd name="adj" fmla="val 50000"/>
            </a:avLst>
          </a:prstGeom>
          <a:solidFill>
            <a:srgbClr val="1E3D34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566928" y="2331720"/>
            <a:ext cx="6400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12.2</a:t>
            </a:r>
            <a:endParaRPr lang="en-US" sz="1000" dirty="0"/>
          </a:p>
        </p:txBody>
      </p:sp>
      <p:sp>
        <p:nvSpPr>
          <p:cNvPr id="18" name="Text 16"/>
          <p:cNvSpPr txBox="1"/>
          <p:nvPr/>
        </p:nvSpPr>
        <p:spPr>
          <a:xfrm>
            <a:off x="1325880" y="2203704"/>
            <a:ext cx="7269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空闲块按地址顺序是 900、1500、700。举一个请求，使首次、最佳、最坏适应分别选中三块</a:t>
            </a:r>
            <a:r>
              <a:rPr lang="en-US" sz="11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不同</a:t>
            </a: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的空闲区；为什么「能不能满足」本身分辨不出三种策略？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457200" y="2825496"/>
            <a:ext cx="8229600" cy="548640"/>
          </a:xfrm>
          <a:prstGeom prst="roundRect">
            <a:avLst>
              <a:gd name="adj" fmla="val 13333"/>
            </a:avLst>
          </a:prstGeom>
          <a:solidFill>
            <a:srgbClr val="FFFFFF"/>
          </a:solidFill>
          <a:ln w="12700">
            <a:solidFill>
              <a:srgbClr val="D5DDD9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566928" y="2953512"/>
            <a:ext cx="640080" cy="292608"/>
          </a:xfrm>
          <a:prstGeom prst="roundRect">
            <a:avLst>
              <a:gd name="adj" fmla="val 50000"/>
            </a:avLst>
          </a:prstGeom>
          <a:solidFill>
            <a:srgbClr val="1E3D34"/>
          </a:solidFill>
          <a:ln/>
        </p:spPr>
      </p:sp>
      <p:sp>
        <p:nvSpPr>
          <p:cNvPr id="21" name="Text 19"/>
          <p:cNvSpPr txBox="1"/>
          <p:nvPr/>
        </p:nvSpPr>
        <p:spPr>
          <a:xfrm>
            <a:off x="566928" y="2953512"/>
            <a:ext cx="6400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12.3</a:t>
            </a:r>
            <a:endParaRPr lang="en-US" sz="1000" dirty="0"/>
          </a:p>
        </p:txBody>
      </p:sp>
      <p:sp>
        <p:nvSpPr>
          <p:cNvPr id="22" name="Text 20"/>
          <p:cNvSpPr txBox="1"/>
          <p:nvPr/>
        </p:nvSpPr>
        <p:spPr>
          <a:xfrm>
            <a:off x="1325880" y="2825496"/>
            <a:ext cx="7269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把 can、car、cat 插入字母 Trie，画出结果，并写出查找 cab 的失败路径。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457200" y="3447288"/>
            <a:ext cx="8229600" cy="548640"/>
          </a:xfrm>
          <a:prstGeom prst="roundRect">
            <a:avLst>
              <a:gd name="adj" fmla="val 13333"/>
            </a:avLst>
          </a:prstGeom>
          <a:solidFill>
            <a:srgbClr val="F1F4F2"/>
          </a:solidFill>
          <a:ln w="12700">
            <a:solidFill>
              <a:srgbClr val="D5DDD9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566928" y="3575304"/>
            <a:ext cx="640080" cy="292608"/>
          </a:xfrm>
          <a:prstGeom prst="roundRect">
            <a:avLst>
              <a:gd name="adj" fmla="val 50000"/>
            </a:avLst>
          </a:prstGeom>
          <a:solidFill>
            <a:srgbClr val="1E3D34"/>
          </a:solidFill>
          <a:ln/>
        </p:spPr>
      </p:sp>
      <p:sp>
        <p:nvSpPr>
          <p:cNvPr id="25" name="Text 23"/>
          <p:cNvSpPr txBox="1"/>
          <p:nvPr/>
        </p:nvSpPr>
        <p:spPr>
          <a:xfrm>
            <a:off x="566928" y="3575304"/>
            <a:ext cx="6400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12.4</a:t>
            </a:r>
            <a:endParaRPr lang="en-US" sz="1000" dirty="0"/>
          </a:p>
        </p:txBody>
      </p:sp>
      <p:sp>
        <p:nvSpPr>
          <p:cNvPr id="26" name="Text 24"/>
          <p:cNvSpPr txBox="1"/>
          <p:nvPr/>
        </p:nvSpPr>
        <p:spPr>
          <a:xfrm>
            <a:off x="1325880" y="3447288"/>
            <a:ext cx="7269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从空 AVL 依次插入 1、2、3，画出每次旋转；再插入 0，需要旋转吗？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457200" y="4069080"/>
            <a:ext cx="8229600" cy="548640"/>
          </a:xfrm>
          <a:prstGeom prst="roundRect">
            <a:avLst>
              <a:gd name="adj" fmla="val 13333"/>
            </a:avLst>
          </a:prstGeom>
          <a:solidFill>
            <a:srgbClr val="FFFFFF"/>
          </a:solidFill>
          <a:ln w="12700">
            <a:solidFill>
              <a:srgbClr val="D5DDD9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566928" y="4197096"/>
            <a:ext cx="640080" cy="292608"/>
          </a:xfrm>
          <a:prstGeom prst="roundRect">
            <a:avLst>
              <a:gd name="adj" fmla="val 50000"/>
            </a:avLst>
          </a:prstGeom>
          <a:solidFill>
            <a:srgbClr val="1E3D34"/>
          </a:solidFill>
          <a:ln/>
        </p:spPr>
      </p:sp>
      <p:sp>
        <p:nvSpPr>
          <p:cNvPr id="29" name="Text 27"/>
          <p:cNvSpPr txBox="1"/>
          <p:nvPr/>
        </p:nvSpPr>
        <p:spPr>
          <a:xfrm>
            <a:off x="566928" y="4197096"/>
            <a:ext cx="6400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12.4</a:t>
            </a:r>
            <a:endParaRPr lang="en-US" sz="1000" dirty="0"/>
          </a:p>
        </p:txBody>
      </p:sp>
      <p:sp>
        <p:nvSpPr>
          <p:cNvPr id="30" name="Text 28"/>
          <p:cNvSpPr txBox="1"/>
          <p:nvPr/>
        </p:nvSpPr>
        <p:spPr>
          <a:xfrm>
            <a:off x="1325880" y="4069080"/>
            <a:ext cx="7269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伸展树中，之字形和一字形各升几层？为什么半伸展适合连续访问同一结点？</a:t>
            </a:r>
            <a:endParaRPr lang="en-US" sz="1100" dirty="0"/>
          </a:p>
        </p:txBody>
      </p:sp>
    </p:spTree>
  </p:cSld>
  <p:clrMapOvr>
    <a:masterClrMapping/>
  </p:clrMapOvr>
</p:sld>
</file>

<file path=ppt/slides/slide7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1">
    <p:bg>
      <p:bgPr>
        <a:solidFill>
          <a:srgbClr val="1E3D3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223760" y="-2103120"/>
            <a:ext cx="3108960" cy="3108960"/>
          </a:xfrm>
          <a:prstGeom prst="ellipse">
            <a:avLst/>
          </a:prstGeom>
          <a:solidFill>
            <a:srgbClr val="2F5C4C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48640" y="365760"/>
            <a:ext cx="5486400" cy="54864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本章小结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548640" y="1097280"/>
            <a:ext cx="8046720" cy="640080"/>
          </a:xfrm>
          <a:prstGeom prst="roundRect">
            <a:avLst>
              <a:gd name="adj" fmla="val 11429"/>
            </a:avLst>
          </a:prstGeom>
          <a:solidFill>
            <a:srgbClr val="25493F"/>
          </a:solidFill>
          <a:ln/>
        </p:spPr>
      </p:sp>
      <p:sp>
        <p:nvSpPr>
          <p:cNvPr id="5" name="Shape 3"/>
          <p:cNvSpPr/>
          <p:nvPr/>
        </p:nvSpPr>
        <p:spPr>
          <a:xfrm>
            <a:off x="713232" y="1234440"/>
            <a:ext cx="365760" cy="365760"/>
          </a:xfrm>
          <a:prstGeom prst="ellipse">
            <a:avLst/>
          </a:prstGeom>
          <a:solidFill>
            <a:srgbClr val="F2B134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713232" y="123444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</a:t>
            </a:r>
            <a:endParaRPr lang="en-US" sz="1200" dirty="0"/>
          </a:p>
        </p:txBody>
      </p:sp>
      <p:sp>
        <p:nvSpPr>
          <p:cNvPr id="7" name="Text 5"/>
          <p:cNvSpPr txBox="1"/>
          <p:nvPr/>
        </p:nvSpPr>
        <p:spPr>
          <a:xfrm>
            <a:off x="1234440" y="1097280"/>
            <a:ext cx="1645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5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多维数组与矩阵</a:t>
            </a:r>
            <a:endParaRPr lang="en-US" sz="1350" dirty="0"/>
          </a:p>
        </p:txBody>
      </p:sp>
      <p:sp>
        <p:nvSpPr>
          <p:cNvPr id="8" name="Text 6"/>
          <p:cNvSpPr txBox="1"/>
          <p:nvPr/>
        </p:nvSpPr>
        <p:spPr>
          <a:xfrm>
            <a:off x="2880360" y="1097280"/>
            <a:ext cx="5577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行优先 / 列优先把多个下标换成</a:t>
            </a:r>
            <a:r>
              <a:rPr lang="en-US" sz="12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一个线性地址</a:t>
            </a:r>
            <a:r>
              <a:rPr lang="en-US" sz="12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；三角、对称矩阵压一半；稀疏矩阵用</a:t>
            </a:r>
            <a:r>
              <a:rPr lang="en-US" sz="12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十字链表</a:t>
            </a:r>
            <a:r>
              <a:rPr lang="en-US" sz="12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，一次更新维护两条链。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548640" y="1856232"/>
            <a:ext cx="8046720" cy="640080"/>
          </a:xfrm>
          <a:prstGeom prst="roundRect">
            <a:avLst>
              <a:gd name="adj" fmla="val 11429"/>
            </a:avLst>
          </a:prstGeom>
          <a:solidFill>
            <a:srgbClr val="25493F"/>
          </a:solidFill>
          <a:ln/>
        </p:spPr>
      </p:sp>
      <p:sp>
        <p:nvSpPr>
          <p:cNvPr id="10" name="Shape 8"/>
          <p:cNvSpPr/>
          <p:nvPr/>
        </p:nvSpPr>
        <p:spPr>
          <a:xfrm>
            <a:off x="713232" y="1993392"/>
            <a:ext cx="365760" cy="365760"/>
          </a:xfrm>
          <a:prstGeom prst="ellipse">
            <a:avLst/>
          </a:prstGeom>
          <a:solidFill>
            <a:srgbClr val="F2B134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713232" y="199339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</a:t>
            </a:r>
            <a:endParaRPr lang="en-US" sz="1200" dirty="0"/>
          </a:p>
        </p:txBody>
      </p:sp>
      <p:sp>
        <p:nvSpPr>
          <p:cNvPr id="12" name="Text 10"/>
          <p:cNvSpPr txBox="1"/>
          <p:nvPr/>
        </p:nvSpPr>
        <p:spPr>
          <a:xfrm>
            <a:off x="1234440" y="1856232"/>
            <a:ext cx="1645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5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广义表与回收</a:t>
            </a:r>
            <a:endParaRPr lang="en-US" sz="1350" dirty="0"/>
          </a:p>
        </p:txBody>
      </p:sp>
      <p:sp>
        <p:nvSpPr>
          <p:cNvPr id="13" name="Text 11"/>
          <p:cNvSpPr txBox="1"/>
          <p:nvPr/>
        </p:nvSpPr>
        <p:spPr>
          <a:xfrm>
            <a:off x="2880360" y="1856232"/>
            <a:ext cx="5577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头尾分解对应递归；</a:t>
            </a:r>
            <a:r>
              <a:rPr lang="en-US" sz="12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共享</a:t>
            </a:r>
            <a:r>
              <a:rPr lang="en-US" sz="12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后不能按树 delete，靠引用计数；引用计数收不回环，</a:t>
            </a:r>
            <a:r>
              <a:rPr lang="en-US" sz="12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标记–清除</a:t>
            </a:r>
            <a:r>
              <a:rPr lang="en-US" sz="12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按可达性回收。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548640" y="2615184"/>
            <a:ext cx="8046720" cy="640080"/>
          </a:xfrm>
          <a:prstGeom prst="roundRect">
            <a:avLst>
              <a:gd name="adj" fmla="val 11429"/>
            </a:avLst>
          </a:prstGeom>
          <a:solidFill>
            <a:srgbClr val="25493F"/>
          </a:solidFill>
          <a:ln/>
        </p:spPr>
      </p:sp>
      <p:sp>
        <p:nvSpPr>
          <p:cNvPr id="15" name="Shape 13"/>
          <p:cNvSpPr/>
          <p:nvPr/>
        </p:nvSpPr>
        <p:spPr>
          <a:xfrm>
            <a:off x="713232" y="2752344"/>
            <a:ext cx="365760" cy="365760"/>
          </a:xfrm>
          <a:prstGeom prst="ellipse">
            <a:avLst/>
          </a:prstGeom>
          <a:solidFill>
            <a:srgbClr val="F2B134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713232" y="2752344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</a:t>
            </a:r>
            <a:endParaRPr lang="en-US" sz="1200" dirty="0"/>
          </a:p>
        </p:txBody>
      </p:sp>
      <p:sp>
        <p:nvSpPr>
          <p:cNvPr id="17" name="Text 15"/>
          <p:cNvSpPr txBox="1"/>
          <p:nvPr/>
        </p:nvSpPr>
        <p:spPr>
          <a:xfrm>
            <a:off x="1234440" y="2615184"/>
            <a:ext cx="1645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5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存储分配</a:t>
            </a:r>
            <a:endParaRPr lang="en-US" sz="1350" dirty="0"/>
          </a:p>
        </p:txBody>
      </p:sp>
      <p:sp>
        <p:nvSpPr>
          <p:cNvPr id="18" name="Text 16"/>
          <p:cNvSpPr txBox="1"/>
          <p:nvPr/>
        </p:nvSpPr>
        <p:spPr>
          <a:xfrm>
            <a:off x="2880360" y="2615184"/>
            <a:ext cx="5577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定长结点用</a:t>
            </a:r>
            <a:r>
              <a:rPr lang="en-US" sz="12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句柄池</a:t>
            </a:r>
            <a:r>
              <a:rPr lang="en-US" sz="12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（空闲栈）；变长块用首次 / 最佳 / 最坏适应，</a:t>
            </a:r>
            <a:r>
              <a:rPr lang="en-US" sz="12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分裂与合并</a:t>
            </a:r>
            <a:r>
              <a:rPr lang="en-US" sz="12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对付碎片。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548640" y="3374136"/>
            <a:ext cx="8046720" cy="640080"/>
          </a:xfrm>
          <a:prstGeom prst="roundRect">
            <a:avLst>
              <a:gd name="adj" fmla="val 11429"/>
            </a:avLst>
          </a:prstGeom>
          <a:solidFill>
            <a:srgbClr val="25493F"/>
          </a:solidFill>
          <a:ln/>
        </p:spPr>
      </p:sp>
      <p:sp>
        <p:nvSpPr>
          <p:cNvPr id="20" name="Shape 18"/>
          <p:cNvSpPr/>
          <p:nvPr/>
        </p:nvSpPr>
        <p:spPr>
          <a:xfrm>
            <a:off x="713232" y="3511296"/>
            <a:ext cx="365760" cy="365760"/>
          </a:xfrm>
          <a:prstGeom prst="ellipse">
            <a:avLst/>
          </a:prstGeom>
          <a:solidFill>
            <a:srgbClr val="F2B134"/>
          </a:solidFill>
          <a:ln/>
        </p:spPr>
      </p:sp>
      <p:sp>
        <p:nvSpPr>
          <p:cNvPr id="21" name="Text 19"/>
          <p:cNvSpPr txBox="1"/>
          <p:nvPr/>
        </p:nvSpPr>
        <p:spPr>
          <a:xfrm>
            <a:off x="713232" y="3511296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4</a:t>
            </a:r>
            <a:endParaRPr lang="en-US" sz="1200" dirty="0"/>
          </a:p>
        </p:txBody>
      </p:sp>
      <p:sp>
        <p:nvSpPr>
          <p:cNvPr id="22" name="Text 20"/>
          <p:cNvSpPr txBox="1"/>
          <p:nvPr/>
        </p:nvSpPr>
        <p:spPr>
          <a:xfrm>
            <a:off x="1234440" y="3374136"/>
            <a:ext cx="1645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5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Trie / Patricia</a:t>
            </a:r>
            <a:endParaRPr lang="en-US" sz="1350" dirty="0"/>
          </a:p>
        </p:txBody>
      </p:sp>
      <p:sp>
        <p:nvSpPr>
          <p:cNvPr id="23" name="Text 21"/>
          <p:cNvSpPr txBox="1"/>
          <p:nvPr/>
        </p:nvSpPr>
        <p:spPr>
          <a:xfrm>
            <a:off x="2880360" y="3374136"/>
            <a:ext cx="5577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按</a:t>
            </a:r>
            <a:r>
              <a:rPr lang="en-US" sz="12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关键码空间</a:t>
            </a:r>
            <a:r>
              <a:rPr lang="en-US" sz="12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分解，公共前缀只存一次；Patricia 只记</a:t>
            </a:r>
            <a:r>
              <a:rPr lang="en-US" sz="12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分歧位</a:t>
            </a:r>
            <a:r>
              <a:rPr lang="en-US" sz="12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，叶上必须再比完整关键码。</a:t>
            </a:r>
            <a:endParaRPr lang="en-US" sz="1200" dirty="0"/>
          </a:p>
        </p:txBody>
      </p:sp>
      <p:sp>
        <p:nvSpPr>
          <p:cNvPr id="24" name="Shape 22"/>
          <p:cNvSpPr/>
          <p:nvPr/>
        </p:nvSpPr>
        <p:spPr>
          <a:xfrm>
            <a:off x="548640" y="4133088"/>
            <a:ext cx="8046720" cy="640080"/>
          </a:xfrm>
          <a:prstGeom prst="roundRect">
            <a:avLst>
              <a:gd name="adj" fmla="val 11429"/>
            </a:avLst>
          </a:prstGeom>
          <a:solidFill>
            <a:srgbClr val="25493F"/>
          </a:solidFill>
          <a:ln/>
        </p:spPr>
      </p:sp>
      <p:sp>
        <p:nvSpPr>
          <p:cNvPr id="25" name="Shape 23"/>
          <p:cNvSpPr/>
          <p:nvPr/>
        </p:nvSpPr>
        <p:spPr>
          <a:xfrm>
            <a:off x="713232" y="4270248"/>
            <a:ext cx="365760" cy="365760"/>
          </a:xfrm>
          <a:prstGeom prst="ellipse">
            <a:avLst/>
          </a:prstGeom>
          <a:solidFill>
            <a:srgbClr val="F2B134"/>
          </a:solidFill>
          <a:ln/>
        </p:spPr>
      </p:sp>
      <p:sp>
        <p:nvSpPr>
          <p:cNvPr id="26" name="Text 24"/>
          <p:cNvSpPr txBox="1"/>
          <p:nvPr/>
        </p:nvSpPr>
        <p:spPr>
          <a:xfrm>
            <a:off x="713232" y="4270248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5</a:t>
            </a:r>
            <a:endParaRPr lang="en-US" sz="1200" dirty="0"/>
          </a:p>
        </p:txBody>
      </p:sp>
      <p:sp>
        <p:nvSpPr>
          <p:cNvPr id="27" name="Text 25"/>
          <p:cNvSpPr txBox="1"/>
          <p:nvPr/>
        </p:nvSpPr>
        <p:spPr>
          <a:xfrm>
            <a:off x="1234440" y="4133088"/>
            <a:ext cx="1645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5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改进的 BST</a:t>
            </a:r>
            <a:endParaRPr lang="en-US" sz="1350" dirty="0"/>
          </a:p>
        </p:txBody>
      </p:sp>
      <p:sp>
        <p:nvSpPr>
          <p:cNvPr id="28" name="Text 26"/>
          <p:cNvSpPr txBox="1"/>
          <p:nvPr/>
        </p:nvSpPr>
        <p:spPr>
          <a:xfrm>
            <a:off x="2880360" y="4133088"/>
            <a:ext cx="5577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最佳 BST 用</a:t>
            </a:r>
            <a:r>
              <a:rPr lang="en-US" sz="12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动态规划</a:t>
            </a:r>
            <a:r>
              <a:rPr lang="en-US" sz="12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选根；AVL 用</a:t>
            </a:r>
            <a:r>
              <a:rPr lang="en-US" sz="12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四种旋转</a:t>
            </a:r>
            <a:r>
              <a:rPr lang="en-US" sz="12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保证 O(log n)；伸展树访问后上移，</a:t>
            </a:r>
            <a:r>
              <a:rPr lang="en-US" sz="12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均摊</a:t>
            </a:r>
            <a:r>
              <a:rPr lang="en-US" sz="12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O(log n)。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71</Slides>
  <Notes>71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71</vt:i4>
      </vt:variant>
    </vt:vector>
  </HeadingPairs>
  <TitlesOfParts>
    <vt:vector size="74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  <vt:lpstr>Slide 38</vt:lpstr>
      <vt:lpstr>Slide 39</vt:lpstr>
      <vt:lpstr>Slide 40</vt:lpstr>
      <vt:lpstr>Slide 41</vt:lpstr>
      <vt:lpstr>Slide 42</vt:lpstr>
      <vt:lpstr>Slide 43</vt:lpstr>
      <vt:lpstr>Slide 44</vt:lpstr>
      <vt:lpstr>Slide 45</vt:lpstr>
      <vt:lpstr>Slide 46</vt:lpstr>
      <vt:lpstr>Slide 47</vt:lpstr>
      <vt:lpstr>Slide 48</vt:lpstr>
      <vt:lpstr>Slide 49</vt:lpstr>
      <vt:lpstr>Slide 50</vt:lpstr>
      <vt:lpstr>Slide 51</vt:lpstr>
      <vt:lpstr>Slide 52</vt:lpstr>
      <vt:lpstr>Slide 53</vt:lpstr>
      <vt:lpstr>Slide 54</vt:lpstr>
      <vt:lpstr>Slide 55</vt:lpstr>
      <vt:lpstr>Slide 56</vt:lpstr>
      <vt:lpstr>Slide 57</vt:lpstr>
      <vt:lpstr>Slide 58</vt:lpstr>
      <vt:lpstr>Slide 59</vt:lpstr>
      <vt:lpstr>Slide 60</vt:lpstr>
      <vt:lpstr>Slide 61</vt:lpstr>
      <vt:lpstr>Slide 62</vt:lpstr>
      <vt:lpstr>Slide 63</vt:lpstr>
      <vt:lpstr>Slide 64</vt:lpstr>
      <vt:lpstr>Slide 65</vt:lpstr>
      <vt:lpstr>Slide 66</vt:lpstr>
      <vt:lpstr>Slide 67</vt:lpstr>
      <vt:lpstr>Slide 68</vt:lpstr>
      <vt:lpstr>Slide 69</vt:lpstr>
      <vt:lpstr>Slide 70</vt:lpstr>
      <vt:lpstr>Slide 71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DSA 第12章 高级数据结构</dc:title>
  <dc:subject>PptxGenJS Presentation</dc:subject>
  <dc:creator>Hongfei Yan</dc:creator>
  <cp:lastModifiedBy>Hongfei Yan</cp:lastModifiedBy>
  <cp:revision>1</cp:revision>
  <dcterms:created xsi:type="dcterms:W3CDTF">2026-10-08T08:02:45Z</dcterms:created>
  <dcterms:modified xsi:type="dcterms:W3CDTF">2026-10-08T08:02:45Z</dcterms:modified>
</cp:coreProperties>
</file>