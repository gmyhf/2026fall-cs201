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</p:sldIdLst>
  <p:notesMasterIdLst>
    <p:notesMasterId r:id="rId8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notesMaster" Target="notesMasters/notesMaster1.xml"/><Relationship Id="rId81" Type="http://schemas.openxmlformats.org/officeDocument/2006/relationships/presProps" Target="presProps.xml"/><Relationship Id="rId82" Type="http://schemas.openxmlformats.org/officeDocument/2006/relationships/viewProps" Target="viewProps.xml"/><Relationship Id="rId83" Type="http://schemas.openxmlformats.org/officeDocument/2006/relationships/theme" Target="theme/theme1.xml"/><Relationship Id="rId8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数据结构与算法 · 2026 Fall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第12章  高级数据结构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00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把「存储、查找、回收」推到更复杂的对象上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60350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多维数组的地址公式 · 三角 / 对称矩阵压缩 · 稀疏矩阵十字链表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广义表与共享 · 引用计数 · 可利用空间表 · 三种顺序适配 · 标记–清除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Trie 与 Patricia：按字符 / 按位分支，公共前缀只存一次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 BST 的动态规划 · AVL 四种旋转 · 伸展树的均摊平衡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补充：前缀和 · 树状数组 · 线段树与 Lazy 标记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Compiled by Hongfei Yan · Updated 2026-10-28 · github.com/GMyhf/dsa-modernization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每一节都追问三个问题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一个逻辑对象落在哪些物理位置？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多维下标换算成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一个线性地址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；一个非零元同时挂在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行链和列链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上；一个子表可以被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多处共享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一次更新要同时维护哪些不变量？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十字链表的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两条链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、Trie 的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passing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计数、AVL 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平衡因子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——旋转前后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中序次序不变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结构失效或空间不足时怎样收尾？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句柄池耗尽返回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nullopt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；变长块要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分裂与合并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；引用计数收不回环，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标记–清除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按可达性回收。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E3D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一句话概括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0050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读这一章不要只记结构名称：每种结构都要回答</a:t>
            </a:r>
            <a:r>
              <a:rPr lang="en-US" sz="15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落在哪、维护什么、怎样收尾</a:t>
            </a: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内容地图：四条独立的线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920240" cy="3566160"/>
          </a:xfrm>
          <a:prstGeom prst="roundRect">
            <a:avLst>
              <a:gd name="adj" fmla="val 3810"/>
            </a:avLst>
          </a:prstGeom>
          <a:solidFill>
            <a:srgbClr val="FFF6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17043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 多维数组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783080"/>
            <a:ext cx="178308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多维数组的存储：行优先 / 列优先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特殊矩阵：三角、对称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稀疏矩阵：三元组、十字链表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8862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代码：code/ch12/</a:t>
            </a:r>
            <a:endParaRPr lang="en-US" sz="8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sparse_matrix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60320" y="1051560"/>
            <a:ext cx="1920240" cy="3566160"/>
          </a:xfrm>
          <a:prstGeom prst="roundRect">
            <a:avLst>
              <a:gd name="adj" fmla="val 3810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697480" y="117043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 广义表与存储管理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1783080"/>
            <a:ext cx="178308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广义表：纯表 / 再入表 / 循环表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共享与引用计数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可利用空间表（句柄池）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变长块：三种适配、合并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无用单元回收：标记–清除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38862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代码：code/ch12/</a:t>
            </a:r>
            <a:endParaRPr lang="en-US" sz="8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gen_list · optimal_bst</a:t>
            </a:r>
            <a:endParaRPr lang="en-US" sz="8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memory_allocator</a:t>
            </a:r>
            <a:endParaRPr lang="en-US" sz="8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storage_recovery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1051560"/>
            <a:ext cx="1920240" cy="3566160"/>
          </a:xfrm>
          <a:prstGeom prst="roundRect">
            <a:avLst>
              <a:gd name="adj" fmla="val 3810"/>
            </a:avLst>
          </a:prstGeom>
          <a:solidFill>
            <a:srgbClr val="FFF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00600" y="117043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12.3 Trie 与 Patricia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1783080"/>
            <a:ext cx="178308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对象空间 vs 关键码空间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 Trie、字母 Trie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最长前缀匹配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Patricia：按位分支、压缩单孩子结点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38862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代码：code/ch12/</a:t>
            </a:r>
            <a:endParaRPr lang="en-US" sz="8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66560" y="1051560"/>
            <a:ext cx="1920240" cy="3566160"/>
          </a:xfrm>
          <a:prstGeom prst="roundRect">
            <a:avLst>
              <a:gd name="adj" fmla="val 3810"/>
            </a:avLst>
          </a:prstGeom>
          <a:solidFill>
            <a:srgbClr val="F1F4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03720" y="117043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 改进的 BST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1783080"/>
            <a:ext cx="178308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 BST：扩充二叉树、动态规划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AVL：平衡因子、四种旋转、高度上界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伸展树：一字形 / 之字形、半伸展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38862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代码：code/ch12/</a:t>
            </a:r>
            <a:endParaRPr lang="en-US" sz="8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optimal_bst</a:t>
            </a:r>
            <a:endParaRPr lang="en-US" sz="8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balanced_trees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先跑一遍 · 1 /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广义表：头尾分解、三个指标、共享子表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8229600" cy="2724912"/>
          </a:xfrm>
          <a:prstGeom prst="roundRect">
            <a:avLst>
              <a:gd name="adj" fmla="val 268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8083296" cy="2633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"modern.hpp"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&lt;cstdio&gt;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using dsa::advanced::GenList;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GenList list = GenList::parse("(a,(b,c),d)");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std::printf("表      : %s\n", list.to_string().c_str());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std::printf("表头    : %s\n", list.head()-&gt;to_string().c_str());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std::printf("表尾    : %s\n", list.tail()-&gt;to_string().c_str());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std::printf("长度 %zu，深度 %zu，原子 %zu 个\n",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list.length(), list.depth(), list.atom_count());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再入表：同一个子表挂到两处，靠引用计数而不是拷贝。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GenList shared = GenList::parse("(b,c)");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GenList host = GenList::cons(shared, GenList::cons(shared, GenList()));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std::printf("共享后  : %s，被引用 %zu 次\n", host.to_string().c_str(), shared.use_count());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3730752"/>
            <a:ext cx="3291840" cy="978408"/>
          </a:xfrm>
          <a:prstGeom prst="roundRect">
            <a:avLst>
              <a:gd name="adj" fmla="val 7477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37856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986784"/>
            <a:ext cx="30723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表      : (a,(b,c),d)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表头    : 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表尾    : ((b,c),d)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长度 3，深度 2，原子 4 个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共享后  : ((b,c),(b,c))，被引用 3 次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931920" y="3730752"/>
            <a:ext cx="4754880" cy="978408"/>
          </a:xfrm>
          <a:prstGeom prst="roundRect">
            <a:avLst>
              <a:gd name="adj" fmla="val 7477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069080" y="38221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看到了什么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069080" y="4114800"/>
            <a:ext cx="4480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表尾仍是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一个表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((b,c),d)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；长度、深度、原子数是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三个不同的问题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(b,c)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只有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、挂在两处，计数 3：自己一份，两个宿主各一份。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先跑一遍 · 2 /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句柄池复用槽位；最优 BST 算出总成本与根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486400" cy="3154680"/>
          </a:xfrm>
          <a:prstGeom prst="roundRect">
            <a:avLst>
              <a:gd name="adj" fmla="val 231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340096" cy="3063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"modern.hpp"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&lt;iostream&gt;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dsa::advanced::ReusableNodePool&lt;int&gt; pool(2);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auto first = pool.acquire(11);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auto second = pool.acquire(22);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"申请到槽 " &lt;&lt; *first &lt;&lt; " 和 " &lt;&lt; *second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&lt;&lt; "，剩余 " &lt;&lt; pool.available() &lt;&lt; '\n';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pool.release(*first);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auto reused = pool.acquire(44);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"归还后再申请得到槽 " &lt;&lt; *reused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&lt;&lt; "，值为 " &lt;&lt; *pool.get(*reused) &lt;&lt; '\n';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auto tree = dsa::advanced::optimal_bst({1, 5, 4, 3}, {5, 4, 3, 2, 1});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"最优 BST 总成本 " &lt;&lt; tree.cost[0][4]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&lt;&lt; "，根为键 " &lt;&lt; tree.root[0][4] &lt;&lt; '\n';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206240"/>
            <a:ext cx="54864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-std=c++17 -Wall -Wextra -Werror -Icode/ch12/optimal_bst \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code/ch12/optimal_bst/demo.cpp -o /tmp/bst-demo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126480" y="96012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1B2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36208" y="1014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236208" y="1216152"/>
            <a:ext cx="234086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申请到槽 0 和 1，剩余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归还后再申请得到槽 0，值为 44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最优 BST 总成本 57，根为键 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233172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6364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看到了什么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2715768"/>
            <a:ext cx="2340864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归还的槽 0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马上被复用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：可利用空间表就是一个空闲栈。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教材样例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{1,5,4,3}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{5,4,3,2,1}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：总成本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，根是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个键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长度对不上的输入（如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optimal_bst({1,2}, {3,4})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）抛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std::invalid_argument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先跑一遍 · 3 /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Trie 与 Patricia：结点数是程序报的，不是数出来的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12064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497433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"modern.hpp"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&lt;cstdio&gt;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dsa::advanced::Trie trie;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dsa::advanced::PatriciaTree patricia;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(const char* word : {"can", "car", "cat", "do"})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trie.insert(word);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patricia.insert(word);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std::printf("Trie     : %zu 个词，%zu 个结点（字符总数 11）\n",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trie.size(), trie.node_count());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std::printf("Patricia : %zu 个词，%zu 个内部结点\n",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patricia.size(), patricia.internal_count());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std::printf("前缀 ca 下有 %zu 个词：", trie.count_with_prefix("ca"));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(const auto&amp; word : trie.keys_with_prefix("ca"))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std::printf("%s ", word.c_str());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std::printf("\n最长前缀匹配 dozen -&gt; %s（走不动就回退到最近词尾）\n",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trie.longest_prefix_of("dozen").c_str());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760720" y="960120"/>
            <a:ext cx="2926080" cy="1783080"/>
          </a:xfrm>
          <a:prstGeom prst="roundRect">
            <a:avLst>
              <a:gd name="adj" fmla="val 4103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70448" y="1014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870448" y="1216152"/>
            <a:ext cx="2706624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Trie     : 4 个词，7 个结点（字符总数 11）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Patricia : 4 个词，3 个内部结点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前缀 ca 下有 3 个词：can car cat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最长前缀匹配 dozen -&gt; do（走不动就回退到最近词尾）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760720" y="2880360"/>
            <a:ext cx="2926080" cy="1783080"/>
          </a:xfrm>
          <a:prstGeom prst="roundRect">
            <a:avLst>
              <a:gd name="adj" fmla="val 4103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97880" y="2971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看到了什么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870448" y="3264408"/>
            <a:ext cx="2706624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个字符只要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个结点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只存了一次——前缀共享的全部价值。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Patricia 把单孩子结点压掉，只剩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个内部结点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dozen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走到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之后走不动，回退到最近的词尾。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多维数组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多个下标 → 一个线性地址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行优先 / 列优先 · 三角与对称矩阵压缩 · 稀疏矩阵十字链表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12.1.1 多维数组的存储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多维数组：按某种周游次序排成一条线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420624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数组的数组就是二维，二维数组再排成一列就是三维。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同一数组里元素类型相同；个数相对固定，生成后通常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只改值、不改相对位置和个数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自然采用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顺序存储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a[i][j]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同时属于第 i 行和第 j 列，最多两个前驱、两个后继；推到 k 维，每个元素属于 k 个向量。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92040" y="1005840"/>
            <a:ext cx="3794760" cy="2011680"/>
          </a:xfrm>
          <a:prstGeom prst="roundRect">
            <a:avLst>
              <a:gd name="adj" fmla="val 3636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0" y="1078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行优先（C++、Pascal）：先排最右的下标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74920" y="1463040"/>
            <a:ext cx="502920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74920" y="14630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0" y="1463040"/>
            <a:ext cx="502920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77840" y="14630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a01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463040"/>
            <a:ext cx="502920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80760" y="14630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a02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74920" y="1810512"/>
            <a:ext cx="502920" cy="347472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74920" y="18105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1810512"/>
            <a:ext cx="502920" cy="347472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77840" y="18105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0760" y="1810512"/>
            <a:ext cx="502920" cy="347472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80760" y="18105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75120" y="1810512"/>
            <a:ext cx="411480" cy="0"/>
          </a:xfrm>
          <a:prstGeom prst="line">
            <a:avLst/>
          </a:prstGeom>
          <a:noFill/>
          <a:ln w="19050">
            <a:solidFill>
              <a:srgbClr val="A06A0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074920" y="2395728"/>
            <a:ext cx="502920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74920" y="23957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a00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074920" y="2743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577840" y="2395728"/>
            <a:ext cx="502920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77840" y="23957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a01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577840" y="2743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80760" y="2395728"/>
            <a:ext cx="502920" cy="347472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080760" y="23957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a02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080760" y="2743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583680" y="2395728"/>
            <a:ext cx="502920" cy="347472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83680" y="23957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a10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0" y="2743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086600" y="2395728"/>
            <a:ext cx="502920" cy="347472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086600" y="23957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a11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7086600" y="2743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589520" y="2395728"/>
            <a:ext cx="502920" cy="347472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589520" y="23957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a12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589520" y="2743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5029200" y="3081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列优先（FORTRAN）：先排最左下标，公式左右对调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34290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E3D34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40080" y="34747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d₀ × d₁ × ⋯ × dₙ₋₁ 数组中 A[j₀, …, jₙ₋₁] 的偏移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4480560" y="34747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· ( Σᵢ₌₀ⁿ⁻² jᵢ · Πₖ₌ᵢ₊₁ⁿ⁻¹ dₖ  +  jₙ₋₁ )</a:t>
            </a:r>
            <a:endParaRPr lang="en-US" sz="17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是一个元素所占单元数。每个元素的定位时间相同 →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随机存储结构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。定位前仍要逐维检查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&lt;= j_i &lt; d_i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公式本身不会替程序发现越界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12.1.1 多维数组的存储 · 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 A[2][3][4]：A[1][2][3] 在哪？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不必真把 24 个元素列出来：最右一维每跨一步跳 1 个，中间一维跳 4 个，最左一维跳 3 × 4 = 12 个。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4805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182880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后续维大小的乘积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贡献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× 4 = 12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 个元素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474720"/>
            <a:ext cx="4480560" cy="1188720"/>
          </a:xfrm>
          <a:prstGeom prst="roundRect">
            <a:avLst>
              <a:gd name="adj" fmla="val 6154"/>
            </a:avLst>
          </a:prstGeom>
          <a:solidFill>
            <a:srgbClr val="F1F4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35478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 int 占 4 字节，字节偏移是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92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。从左往右用霍纳法：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886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((1 * 3 + 2) * 4 + 3) * 4 = 92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4279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一边读下标一边累乘，不必预存每一维的跨度。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166360" y="13716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6E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03520" y="14630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测试布局：选能区分规则的下标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276088" y="1755648"/>
            <a:ext cx="3300984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列优先把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最左下标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当作变化最快的一维：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[1,2,3]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1 + 2×2 + 3×(2×3) =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这个角落碰巧仍是 23——拿它测，两种布局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都能通过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，什么也没检出来。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换成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[1,0,0]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：行优先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，列优先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12.1.2 特殊矩阵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三角矩阵与对称矩阵：只存有用的一半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/>
        </p:spPr>
      </p:sp>
      <p:pic>
        <p:nvPicPr>
          <p:cNvPr id="8" name="Image 0" descr="fig-12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162" y="1051560"/>
            <a:ext cx="3656317" cy="13533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24597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12.1  上三角矩阵和下三角矩阵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960120"/>
            <a:ext cx="379476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三角矩阵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：对角线一侧全是 0 或常数 c，只存另一侧的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(n² + n) / 2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个元素，再加 1 个单元存常数 c。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下三角 </a:t>
            </a: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a[i][j]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（i ≥ j）前面有 i 行、共 (i² + i)/2 个元素，再加本行的 j。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对称矩阵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a[i][j] = a[j][i]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，只存下三角（含对角线），另一半用对称关系映射。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017520"/>
            <a:ext cx="8229600" cy="1645920"/>
          </a:xfrm>
          <a:prstGeom prst="roundRect">
            <a:avLst>
              <a:gd name="adj" fmla="val 4444"/>
            </a:avLst>
          </a:prstGeom>
          <a:solidFill>
            <a:srgbClr val="1E3D3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5800" y="3108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一维数组 list[0 .. (n²+n)/2 − 1] 的下标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520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下三角 / 对称矩阵，i ≥ j：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0" y="3520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(i² + i) / 2 + j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4023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对称矩阵，i &lt; j：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657600" y="4023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(j² + j) / 2 + i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12.1.2 特殊矩阵 · 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阶下三角按行压缩：a₃,₁ 落在哪？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阶下三角（格内是压缩后的下标）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1371600"/>
            <a:ext cx="548640" cy="457200"/>
          </a:xfrm>
          <a:prstGeom prst="rect">
            <a:avLst/>
          </a:prstGeom>
          <a:solidFill>
            <a:srgbClr val="F9E3B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463040" y="1371600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1371600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371600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13716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i=0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1828800"/>
            <a:ext cx="548640" cy="457200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463040" y="1828800"/>
            <a:ext cx="548640" cy="457200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63040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011680" y="1828800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1828800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" y="18288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i=1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" y="2286000"/>
            <a:ext cx="548640" cy="457200"/>
          </a:xfrm>
          <a:prstGeom prst="rect">
            <a:avLst/>
          </a:prstGeom>
          <a:solidFill>
            <a:srgbClr val="D6E4F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463040" y="2286000"/>
            <a:ext cx="548640" cy="457200"/>
          </a:xfrm>
          <a:prstGeom prst="rect">
            <a:avLst/>
          </a:prstGeom>
          <a:solidFill>
            <a:srgbClr val="D6E4F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463040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011680" y="2286000"/>
            <a:ext cx="548640" cy="457200"/>
          </a:xfrm>
          <a:prstGeom prst="rect">
            <a:avLst/>
          </a:prstGeom>
          <a:solidFill>
            <a:srgbClr val="D6E4F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011680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60320" y="2286000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1480" y="2286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i=2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4400" y="2743200"/>
            <a:ext cx="548640" cy="457200"/>
          </a:xfrm>
          <a:prstGeom prst="rect">
            <a:avLst/>
          </a:prstGeom>
          <a:solidFill>
            <a:srgbClr val="EBD9E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4400" y="2743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463040" y="2743200"/>
            <a:ext cx="548640" cy="457200"/>
          </a:xfrm>
          <a:prstGeom prst="rect">
            <a:avLst/>
          </a:prstGeom>
          <a:solidFill>
            <a:srgbClr val="F4B9B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463040" y="2743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011680" y="2743200"/>
            <a:ext cx="548640" cy="457200"/>
          </a:xfrm>
          <a:prstGeom prst="rect">
            <a:avLst/>
          </a:prstGeom>
          <a:solidFill>
            <a:srgbClr val="EBD9E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011680" y="2743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560320" y="2743200"/>
            <a:ext cx="548640" cy="457200"/>
          </a:xfrm>
          <a:prstGeom prst="rect">
            <a:avLst/>
          </a:prstGeom>
          <a:solidFill>
            <a:srgbClr val="EBD9E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560320" y="2743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11480" y="27432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i=3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914400" y="32186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j=0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463040" y="32186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j=1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2011680" y="32186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j=2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2560320" y="32186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j=3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3611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压缩后的一维数组：各行区间 [0]、[1..2]、[3..5]、[6..9]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57200" y="3977640"/>
            <a:ext cx="475488" cy="384048"/>
          </a:xfrm>
          <a:prstGeom prst="rect">
            <a:avLst/>
          </a:prstGeom>
          <a:solidFill>
            <a:srgbClr val="F9E3B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57200" y="39776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a00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436168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932688" y="3977640"/>
            <a:ext cx="475488" cy="384048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32688" y="39776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a10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932688" y="436168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408176" y="3977640"/>
            <a:ext cx="475488" cy="384048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408176" y="39776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a11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1408176" y="436168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883664" y="3977640"/>
            <a:ext cx="475488" cy="384048"/>
          </a:xfrm>
          <a:prstGeom prst="rect">
            <a:avLst/>
          </a:prstGeom>
          <a:solidFill>
            <a:srgbClr val="D6E4F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883664" y="39776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a20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1883664" y="436168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359152" y="3977640"/>
            <a:ext cx="475488" cy="384048"/>
          </a:xfrm>
          <a:prstGeom prst="rect">
            <a:avLst/>
          </a:prstGeom>
          <a:solidFill>
            <a:srgbClr val="D6E4F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2359152" y="39776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a21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2359152" y="436168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834640" y="3977640"/>
            <a:ext cx="475488" cy="384048"/>
          </a:xfrm>
          <a:prstGeom prst="rect">
            <a:avLst/>
          </a:prstGeom>
          <a:solidFill>
            <a:srgbClr val="D6E4F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2834640" y="39776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a22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2834640" y="436168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310128" y="3977640"/>
            <a:ext cx="475488" cy="384048"/>
          </a:xfrm>
          <a:prstGeom prst="rect">
            <a:avLst/>
          </a:prstGeom>
          <a:solidFill>
            <a:srgbClr val="EBD9E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310128" y="39776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a30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3310128" y="436168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785616" y="3977640"/>
            <a:ext cx="475488" cy="384048"/>
          </a:xfrm>
          <a:prstGeom prst="rect">
            <a:avLst/>
          </a:prstGeom>
          <a:solidFill>
            <a:srgbClr val="F4B9B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3785616" y="39776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a31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3785616" y="436168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261104" y="3977640"/>
            <a:ext cx="475488" cy="384048"/>
          </a:xfrm>
          <a:prstGeom prst="rect">
            <a:avLst/>
          </a:prstGeom>
          <a:solidFill>
            <a:srgbClr val="EBD9E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261104" y="39776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a32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4261104" y="436168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736592" y="3977640"/>
            <a:ext cx="475488" cy="384048"/>
          </a:xfrm>
          <a:prstGeom prst="rect">
            <a:avLst/>
          </a:prstGeom>
          <a:solidFill>
            <a:srgbClr val="EBD9E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4736592" y="39776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a33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4736592" y="436168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394960" y="96012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FFF6E0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5532120" y="1051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a₃,₁ → 下标 7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5504688" y="1344168"/>
            <a:ext cx="3072384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行之前有 (9 + 3)/2 =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个元素，再加本行 j = 1 →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+ 1 = 7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上三角位置 a₁,₃：若矩阵对称，先换成 a₃,₁，仍读下标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5394960" y="320040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CFE0D8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5532120" y="3291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核对口诀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5532120" y="35844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先判断三角区域、再套公式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，比背两套公式容易核对。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12.1.3 稀疏矩阵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非零元很少、分布又不规则：不要再分配整块二维数组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429768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× n 矩阵有 t 个非零元，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稀疏因子 δ = t / (mn)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；通常 δ &lt; 0.05 就按稀疏处理。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改存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三元组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2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(行, 列, 值)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的线性表，或用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十字链表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十字链表：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每个非零元同时挂在一条行链和一条列链上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，按行、按列遍历都方便。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4297680" cy="1554480"/>
          </a:xfrm>
          <a:prstGeom prst="roundRect">
            <a:avLst>
              <a:gd name="adj" fmla="val 4706"/>
            </a:avLst>
          </a:prstGeom>
          <a:solidFill>
            <a:srgbClr val="FFF6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3200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现代视角：COO / CSR / CSC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493008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十字链表（orthogonal list）适合需要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频繁按行、按列更新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的场合。现代数值计算更常用 COO（三元组）、CSR（压缩稀疏行）、CSC（压缩稀疏列）：连续存储、缓存局部性更好，但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动态插入通常要批量重建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83480" y="960120"/>
            <a:ext cx="370332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pic>
        <p:nvPicPr>
          <p:cNvPr id="12" name="Image 0" descr="fig-12-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505966"/>
            <a:ext cx="3520440" cy="231902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029200" y="433425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12.2  稀疏矩阵的十字链表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12.1.3 稀疏矩阵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三种存法的代价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828800"/>
                <a:gridCol w="228600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整块二维数组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三元组线性表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十字链表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O(t)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O(t)，每个元另带 right、down 两个指针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取 a_ij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O(log t)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O(该行非零元数)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按列扫一遍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O(m)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O(t)，要滤掉别的列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O(该列非零元数)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插入一个非零元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O(t)，要挪动后面的项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O(行内 + 列内定位)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47472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566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怎么读这张表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85876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「取 a_ij」那一行是十字链表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吃亏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的地方；「按列扫」「插入」才是它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存在的理由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。选数据结构不看它哪里最好，看它在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你的负载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上哪几行最重要。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06440" y="3474720"/>
            <a:ext cx="2880360" cy="1188720"/>
          </a:xfrm>
          <a:prstGeom prst="roundRect">
            <a:avLst>
              <a:gd name="adj" fmla="val 6154"/>
            </a:avLst>
          </a:prstGeom>
          <a:solidFill>
            <a:srgbClr val="CFE0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0" y="3566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385876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 × 200 对角线矩阵、第 7 列再补两个非零元（共 202 个）：扫第 7 列只走过该列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个结点，而不是全表的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个。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12.1.3 稀疏矩阵 · 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十字链表：一次更新要同时维护两条链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× 5 矩阵，只列非零元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325880"/>
            <a:ext cx="457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1325880"/>
            <a:ext cx="457200" cy="402336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80160" y="13258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737360" y="1325880"/>
            <a:ext cx="457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1325880"/>
            <a:ext cx="457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1325880"/>
            <a:ext cx="457200" cy="402336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51760" y="13258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132588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1728216"/>
            <a:ext cx="457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80160" y="1728216"/>
            <a:ext cx="457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37360" y="1728216"/>
            <a:ext cx="457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4560" y="1728216"/>
            <a:ext cx="457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51760" y="1728216"/>
            <a:ext cx="457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172821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" y="2130552"/>
            <a:ext cx="457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80160" y="2130552"/>
            <a:ext cx="457200" cy="402336"/>
          </a:xfrm>
          <a:prstGeom prst="rect">
            <a:avLst/>
          </a:prstGeom>
          <a:solidFill>
            <a:srgbClr val="F4B9B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280160" y="213055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737360" y="2130552"/>
            <a:ext cx="457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94560" y="2130552"/>
            <a:ext cx="457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51760" y="2130552"/>
            <a:ext cx="457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2920" y="21305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2960" y="2532888"/>
            <a:ext cx="457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80160" y="2532888"/>
            <a:ext cx="457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37360" y="2532888"/>
            <a:ext cx="457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94560" y="2532888"/>
            <a:ext cx="457200" cy="402336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194560" y="253288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651760" y="2532888"/>
            <a:ext cx="457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02920" y="253288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" y="29535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280160" y="29535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737360" y="29535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2194560" y="29535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2651760" y="29535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(0,1,8) (0,4,2) (2,1,5) (3,3,7)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3520440"/>
            <a:ext cx="320040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(2,1,5)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在第 2 行链里是唯一结点，在第 1 列链里却接在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(0,1,8)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后面。删掉它要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摘两次链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：第 2 行头改为空；第 1 列中让 8 的下继越过 5。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60120"/>
          <a:ext cx="48463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417320"/>
                <a:gridCol w="731520"/>
                <a:gridCol w="1463040"/>
                <a:gridCol w="3657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0 行链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2 行链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 列链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(0,1,8) -&gt; (0,4,2)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(2,1,5)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(0,1,8) -&gt; (2,1,5)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 </a:t>
                      </a: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(0,1,9)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(0,1,9) -&gt; (0,4,2)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(2,1,5)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(0,1,9) -&gt; (2,1,5)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删除 </a:t>
                      </a:r>
                      <a:r>
                        <a:rPr lang="en-US" sz="9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(2,1)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(0,1,9) -&gt; (0,4,2)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(0,1,9)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Shape 41"/>
          <p:cNvSpPr/>
          <p:nvPr/>
        </p:nvSpPr>
        <p:spPr>
          <a:xfrm>
            <a:off x="3840480" y="2697480"/>
            <a:ext cx="4846320" cy="1965960"/>
          </a:xfrm>
          <a:prstGeom prst="roundRect">
            <a:avLst>
              <a:gd name="adj" fmla="val 3721"/>
            </a:avLst>
          </a:prstGeom>
          <a:solidFill>
            <a:srgbClr val="FFF6E0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397764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测试至少查四件事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3950208" y="3081528"/>
            <a:ext cx="4626864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新坐标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同时出现在两条链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上。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覆盖同坐标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不增加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非零元数（找到旧结点改值）。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赋值为 0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等价于删除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删除后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两条链都找不到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12.1.3 稀疏矩阵 · code/ch12/sparse_matrix（上）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set：先在第 row 行链上定位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48640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34009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set(std::size_t row, std::size_t col, int value)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check(row, col);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 row_prev = nullptr;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 cursor = row_heads_[row];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(cursor != nullptr &amp;&amp; cursor-&gt;col &lt; col)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++steps_;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row_prev = cursor;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cursor = cursor-&gt;right;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bool exists = cursor != nullptr &amp;&amp; cursor-&gt;col == col;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(exists &amp;&amp; value != 0)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cursor-&gt;value = value;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就地改值，两条链一根都不用动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(exists)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unlink(row, col, row_prev, cursor);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(value == 0)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return;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本来就是零元，什么都不用做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960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结点：五个域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28016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1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45352" y="1325880"/>
            <a:ext cx="2368296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row;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col;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value;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right;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行链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down;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列链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72200" y="274320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2834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三个分支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81928" y="3127248"/>
            <a:ext cx="229514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已存在、新值非 0 →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就地改值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已存在、新值为 0 → 从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两条链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上摘掉。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不存在、新值为 0 → 什么都不做。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剩下的情况才要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（下页）。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12.1.3 稀疏矩阵 · code/ch12/sparse_matrix（下）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set：再在第 col 列链上定位，两条链同时接上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48640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34009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 col_prev = nullptr;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 down_cursor = col_heads_[col];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(down_cursor != nullptr &amp;&amp; down_cursor-&gt;row &lt; row)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++steps_;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col_prev = down_cursor;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down_cursor = down_cursor-&gt;down;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 fresh = new Node{row, col, value, cursor, down_cursor};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(row_prev != nullptr)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row_prev-&gt;right = fresh;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row_heads_[row] = fresh;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(col_prev != nullptr)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col_prev-&gt;down = fresh;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col_heads_[col] = fresh;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++count_;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72200" y="96012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1051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定位是局部的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344168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只在第 row 行和第 col 列上各走一段，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不碰其他行列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。新结点的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接行内后继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接列内后继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down_cursor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283464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删除：unlink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3218688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行链前驱在 set 里已经找到；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列链的前驱要现找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——结点只存后继，不存前驱。两条链各摘一次，再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--count_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12.1.3 稀疏矩阵 · 关键要点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所有权归容器：两条链都是裸指针，析构迭代释放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3611880"/>
          </a:xfrm>
          <a:prstGeom prst="roundRect">
            <a:avLst>
              <a:gd name="adj" fmla="val 2025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143000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为什么不用 unique_ptr 串链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645920"/>
            <a:ext cx="365760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一个结点在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两条链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上，只能有一个主人——所有权归容器，链上都是观察指针。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</a:t>
            </a: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unique_ptr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串行链，析构是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的：一行里非零元一多，就会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压穿栈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判据见 2.3.1 节「所有权工具怎么选」；实测数字在该单元的 </a:t>
            </a: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legacy.md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3977640" cy="3611880"/>
          </a:xfrm>
          <a:prstGeom prst="roundRect">
            <a:avLst>
              <a:gd name="adj" fmla="val 2025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4892040" y="1143000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9204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clear()：逐行沿 right 迭代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1645920"/>
            <a:ext cx="370332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19472" y="1691640"/>
            <a:ext cx="3557016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clear() noexcept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(Node*&amp; head : row_heads_)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Node* p = head;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while (p != nullptr)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Node* next = p-&gt;right;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delete p;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 = next;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head = nullptr;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(Node*&amp; head : col_heads_)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head = nullptr;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count_ = 0;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4023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每个结点恰在一条行链上 → 沿行链释放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每个只删一次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；列头只需清空。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广义表和存储管理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元素可以是表 · 共享与环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引用计数 · 可利用空间表 · 首次 / 最佳 / 最坏适应 · 标记–清除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12.2.1 广义表的定义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广义表：元素可以是原子，也可以是另一个广义表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48463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表头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是第一个元素，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表尾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是去掉表头后剩下的那个表；空表既没有头也没有尾。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任何非空广义表都能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拆成「头 + 尾」→ 递归算法写成「先处理头、再处理尾」就和定义对上了。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4846320" cy="2468880"/>
          </a:xfrm>
          <a:prstGeom prst="roundRect">
            <a:avLst>
              <a:gd name="adj" fmla="val 2963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L = (a, (b,c), d) 连续拆解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651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head(L)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651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a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9809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tail(L)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29809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((b,c),d)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3101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head((b,c))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33101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b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6393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tail((b,c))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36393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(c)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402336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0233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 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37083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只数最外层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40280" y="402336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240280" y="40233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 2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240280" y="437083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要进入子表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49040" y="402336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749040" y="40233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 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749040" y="437083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遍历所有层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532120" y="960120"/>
            <a:ext cx="3154680" cy="2103120"/>
          </a:xfrm>
          <a:prstGeom prst="roundRect">
            <a:avLst>
              <a:gd name="adj" fmla="val 3478"/>
            </a:avLst>
          </a:prstGeom>
          <a:solidFill>
            <a:srgbClr val="FFF6E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669280" y="1051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现代视角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0" y="1344168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「广义表」是教材中的历史名称；今天通常叫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嵌套对象、对象图、共享 DAG 或循环对象图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——编译器 AST、JSON/XML 的嵌套值、内容寻址存储里的共享节点，都能用头尾分解、共享和环来解释。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532120" y="3200400"/>
            <a:ext cx="3154680" cy="1463040"/>
          </a:xfrm>
          <a:prstGeom prst="roundRect">
            <a:avLst>
              <a:gd name="adj" fmla="val 5000"/>
            </a:avLst>
          </a:prstGeom>
          <a:solidFill>
            <a:srgbClr val="CFE0D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669280" y="32918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为什么这一节只有 C++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0" y="3584448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讨论的是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存储图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：结点被多个表共享、释放要避免重复访问、还要处理环。Python 的引用计数 / GC 会替你维护这些，本节就没了。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12.2.1 广义表的分类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按是否共享、是否有环：线性表 → 纯表 → 再入表 → 循环表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1920240" cy="2148840"/>
          </a:xfrm>
          <a:prstGeom prst="roundRect">
            <a:avLst>
              <a:gd name="adj" fmla="val 381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005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线性表</a:t>
            </a:r>
            <a:endParaRPr lang="en-US" sz="1200" dirty="0"/>
          </a:p>
        </p:txBody>
      </p:sp>
      <p:pic>
        <p:nvPicPr>
          <p:cNvPr id="9" name="Image 0" descr="fig-12-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80651"/>
            <a:ext cx="1737360" cy="89863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2788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元素全是原子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560320" y="960120"/>
            <a:ext cx="1920240" cy="2148840"/>
          </a:xfrm>
          <a:prstGeom prst="roundRect">
            <a:avLst>
              <a:gd name="adj" fmla="val 3810"/>
            </a:avLst>
          </a:prstGeom>
          <a:solidFill>
            <a:srgbClr val="F1F4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651760" y="1005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纯表 ↔ 树</a:t>
            </a:r>
            <a:endParaRPr lang="en-US" sz="1200" dirty="0"/>
          </a:p>
        </p:txBody>
      </p:sp>
      <p:pic>
        <p:nvPicPr>
          <p:cNvPr id="13" name="Image 1" descr="fig-12-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564473"/>
            <a:ext cx="1737360" cy="9309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651760" y="2788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每个子表只出现一次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663440" y="960120"/>
            <a:ext cx="1920240" cy="2148840"/>
          </a:xfrm>
          <a:prstGeom prst="roundRect">
            <a:avLst>
              <a:gd name="adj" fmla="val 3810"/>
            </a:avLst>
          </a:prstGeom>
          <a:solidFill>
            <a:srgbClr val="F1F4F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754880" y="1005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再入表 ↔ DAG</a:t>
            </a:r>
            <a:endParaRPr lang="en-US" sz="1200" dirty="0"/>
          </a:p>
        </p:txBody>
      </p:sp>
      <p:pic>
        <p:nvPicPr>
          <p:cNvPr id="17" name="Image 2" descr="fig-12-5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694606"/>
            <a:ext cx="1737360" cy="67072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754880" y="2788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子表可被共享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766560" y="960120"/>
            <a:ext cx="1920240" cy="2148840"/>
          </a:xfrm>
          <a:prstGeom prst="roundRect">
            <a:avLst>
              <a:gd name="adj" fmla="val 3810"/>
            </a:avLst>
          </a:prstGeom>
          <a:solidFill>
            <a:srgbClr val="F1F4F2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6858000" y="1005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循环表 ↔ 有环图</a:t>
            </a:r>
            <a:endParaRPr lang="en-US" sz="1200" dirty="0"/>
          </a:p>
        </p:txBody>
      </p:sp>
      <p:pic>
        <p:nvPicPr>
          <p:cNvPr id="21" name="Image 3" descr="fig-12-6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575297"/>
            <a:ext cx="1737360" cy="9093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58000" y="2788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子表可以包含自己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57200" y="321868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E3D34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40080" y="32186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 ⊇  再入表（循环表是带回路的特殊再入表）  ⊇  纯表  ⊇  线性表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457200" y="379476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6E0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594360" y="3886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标号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594360" y="41788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共享时允许对子表和原子标号，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重复出现的标号代替对应的元素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；写循环表的括号形式必须用标号。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663440" y="379476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CFE0D8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4800600" y="3886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 = 展开后括号的层数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4800600" y="41788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线性表深度 1；图 12.4、12.5 深度 3；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循环表深度为无穷大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12.2.1 广义表 · code/ch12/gen_list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GenNode 与 cons：头 + 尾 → 新表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760720" cy="3017520"/>
          </a:xfrm>
          <a:prstGeom prst="roundRect">
            <a:avLst>
              <a:gd name="adj" fmla="val 242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614416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GenNode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enum class Tag { Atom, List };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Tag tag = Tag::Atom;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 value = '\0';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tag == Atom 时有效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GenNode* head = nullptr;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tag == List 时有效：表头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GenNode* tail = nullptr;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tag == List 时有效：表尾，空表用 nullptr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refs = 0;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表头 + 表尾 → 新表。原书的「任何非空广义表都能唯一拆成头和尾」的逆运算。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GenList cons(const GenList&amp; head, const GenList&amp; tail)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(tail.node_ != nullptr &amp;&amp; tail.node_-&gt;tag != GenNode::Tag::List)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std::invalid_argument("tail must be a list");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auto* node = new GenNode{GenNode::Tag::List, '\0', head.node_, tail.node_, 0};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retain(node-&gt;head);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retain(node-&gt;tail);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GenList(node);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069080"/>
            <a:ext cx="5760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表用「头 + 尾」表示：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(a,(b,c),d)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就是 cons(a, cons((b,c), cons(d, ())))。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46520" y="960120"/>
            <a:ext cx="2240280" cy="2331720"/>
          </a:xfrm>
          <a:prstGeom prst="roundRect">
            <a:avLst>
              <a:gd name="adj" fmla="val 3265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1051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计数放在结点上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56248" y="1344168"/>
            <a:ext cx="2020824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refs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：有几处引用这个结点。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句柄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GenList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负责加减：拷贝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retain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，析构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对头、尾各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retain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一次——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共享而不是拷贝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46520" y="342900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CFE0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0" y="35204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表尾必须是表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813048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是原子属于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用错接口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，抛异常；空表的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head()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tail()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则返回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nullopt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12.2.1 广义表 · code/ch12/gen_list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共享一旦发生，回收就不能再按树递归 delete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248656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retain(GenNode* node) noexcept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(node != nullptr)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++node-&gt;refs;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release(GenNode* node) noexcept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计数归零才真正删除；共享的子表因此只会被删一次。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(node != nullptr &amp;&amp; --node-&gt;refs == 0)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GenNode* const head = node-&gt;head;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GenNode* const tail = node-&gt;tail;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delete node;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表尾用循环走，长表不会把栈压穿；表头递归，深度由嵌套层数决定。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release(head);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 = tail;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1F4F2"/>
          </a:solidFill>
          <a:ln/>
        </p:spPr>
      </p:sp>
      <p:pic>
        <p:nvPicPr>
          <p:cNvPr id="10" name="Image 0" descr="fig-12-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6474" y="3886200"/>
            <a:ext cx="1776413" cy="685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080760" y="96012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FF6E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17920" y="1051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190488" y="1344168"/>
            <a:ext cx="2386584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按树递归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会把共享的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(b,c)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删两次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沿表尾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、只对表头递归：三万个元素的长表析构不压栈，栈深只跟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嵌套层数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shared_ptr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：本节要教的就是「谁来回收共享结点」。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080760" y="356616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DF0E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217920" y="3657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引用计数收不回环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39502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本书接口自底向上建表，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造不出循环表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。环交给 12.2.4 的标记–清除。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12.2.2 可利用空间表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等长结点的复用：从全局 avail 链到显式句柄池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572000" cy="2103120"/>
          </a:xfrm>
          <a:prstGeom prst="roundRect">
            <a:avLst>
              <a:gd name="adj" fmla="val 3478"/>
            </a:avLst>
          </a:prstGeom>
          <a:solidFill>
            <a:srgbClr val="F1F4F2"/>
          </a:solidFill>
          <a:ln/>
        </p:spPr>
      </p:sp>
      <p:pic>
        <p:nvPicPr>
          <p:cNvPr id="8" name="Image 0" descr="fig-12-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426" y="1051560"/>
            <a:ext cx="4259548" cy="16276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27340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12.10  等长结点的可利用空间表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3200400"/>
            <a:ext cx="2194560" cy="1463040"/>
          </a:xfrm>
          <a:prstGeom prst="roundRect">
            <a:avLst>
              <a:gd name="adj" fmla="val 5000"/>
            </a:avLst>
          </a:prstGeom>
          <a:solidFill>
            <a:srgbClr val="FDF0E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" y="3273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356616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重载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 new/delete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一条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链；所有对象共享隐式全局状态，结束时还要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::delete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整条链。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834640" y="3200400"/>
            <a:ext cx="2194560" cy="1463040"/>
          </a:xfrm>
          <a:prstGeom prst="roundRect">
            <a:avLst>
              <a:gd name="adj" fmla="val 5000"/>
            </a:avLst>
          </a:prstGeom>
          <a:solidFill>
            <a:srgbClr val="EAF4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971800" y="3273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现代实现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971800" y="356616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显式索引句柄池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acquire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从空闲栈弹下标，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推回；耗尽返回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nullopt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，重复 / 越界归还返回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5257800" y="960120"/>
            <a:ext cx="342900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「可利用空间表」（free list）是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固定大小对象池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的历史叫法。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工程中按对象大小用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arena、pool、slab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allocator——都把分配路径和所有权边界显式化。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释放后的下标失效，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得到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空指针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本章的句柄池把「失败」做成返回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nullopt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不劫持全局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12.2.2 可利用空间表 · 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容量为 3 的句柄池：一张账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7548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822960"/>
                <a:gridCol w="822960"/>
                <a:gridCol w="822960"/>
                <a:gridCol w="10058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槽 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槽 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槽 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下一可用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acquire(A)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acquire(B)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release(0)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acquire(C)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B7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3566160"/>
            <a:ext cx="47548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初始空闲栈顶依次是 0, 1, 2；归还 0 后空闲栈是 0, 2；再申请 C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 0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40680" y="1005840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FFF6E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577840" y="10972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旧句柄 0 已经失效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577840" y="1389888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 0 后来又出现，却代表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新的占用期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。真实系统要识别「拿旧句柄误访问新对象」，还会在句柄里加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代数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（generation）；本节的简化池只保证空闲槽不可读、重复释放会失败。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40680" y="315468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DF0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577840" y="32461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 为什么要先查占用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577840" y="3538728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若不确认槽位处于占用状态，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重复归还 0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会让空闲栈出现两个 0，接下来的两次申请就会拿到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同一个槽 0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12.2.2 可利用空间表 · code/ch12/optimal_bst（上）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ReusableNodePool：构造与 acquire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669280" cy="3017520"/>
          </a:xfrm>
          <a:prstGeom prst="roundRect">
            <a:avLst>
              <a:gd name="adj" fmla="val 242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522976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 &lt;typename T&gt;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ReusableNodePool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explicit ReusableNodePool(std::size_t capacity) : slots_(capacity)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 index = 0; index &lt; capacity; ++index)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free_.push_back(capacity - index - 1);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[[nodiscard]] std::optional&lt;std::size_t&gt; acquire(const T&amp; value)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(free_.empty())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std::nullopt;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std::size_t index = free_.back();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free_.pop_back();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slots_[index] = value;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index;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55080" y="960120"/>
            <a:ext cx="2331720" cy="1600200"/>
          </a:xfrm>
          <a:prstGeom prst="roundRect">
            <a:avLst>
              <a:gd name="adj" fmla="val 4571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0241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两个数据成员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13258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vector&lt;optional&lt;T&gt;&gt; slots_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槽位：有值 = 占用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vector&lt;size_t&gt; free_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空闲栈：存空槽下标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55080" y="2697480"/>
            <a:ext cx="2331720" cy="1965960"/>
          </a:xfrm>
          <a:prstGeom prst="roundRect">
            <a:avLst>
              <a:gd name="adj" fmla="val 3721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27889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下标从大到小入栈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081528"/>
            <a:ext cx="205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构造时压入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capacity-1, …, 1, 0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，栈顶是 0 →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 acquire 拿到 0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，与演示输出「申请到槽 0 和 1」一致。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114800"/>
            <a:ext cx="56692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耗尽返回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nullopt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可预期的状态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，不是异常。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12.2.2 可利用空间表 · code/ch12/optimal_bst（下）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 / get：先确认占用，再归还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85216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70585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release(std::size_t index)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(index &gt;= slots_.size() || !slots_[index])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false;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slots_[index].reset();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free_.push_back(index);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[[nodiscard]] const T* get(std::size_t index) const noexcept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(index &gt;= slots_.size() || !slots_[index])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nullptr;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&amp;*slots_[index];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[[nodiscard]] std::size_t available() const noexcept { return free_.size();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std::vector&lt;std::optional&lt;T&gt;&gt; slots_;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std::vector&lt;std::size_t&gt; free_;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92240" y="960120"/>
            <a:ext cx="2194560" cy="2194560"/>
          </a:xfrm>
          <a:prstGeom prst="roundRect">
            <a:avLst>
              <a:gd name="adj" fmla="val 3333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29400" y="1051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 的两道闸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01968" y="1344168"/>
            <a:ext cx="1975104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越界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&gt;= slots_.size()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重复归还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：槽已空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!slots_[index]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通过后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reset()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清空槽，再推回空闲栈。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92240" y="329184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3383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 对空槽给空指针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367588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释放后的下标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不可读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返回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nullptr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，而不是读到上一轮留下的旧值。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12.2.3 顺序适配（sequential fit）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首先 / 最佳 / 最差适配：只在「挑哪一块」这一步不同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变长空闲块自带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标记位、块长度、双链指针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，空闲表不再是栈。分配 N 时找一块 K ≥ N：整块给出，多余的浪费在块内（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内部碎片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）；切出 N、剩 K − N 另成空闲块，长期运行留下一堆用不上的小块（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外部碎片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64592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645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首先适配 First fit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从表头顺次搜索，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第一块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≥ 请求的就分配。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27432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改进：记住上次搜到的位置，从那里接着搜，到表尾再绕回表头（今天叫 </a:t>
            </a:r>
            <a:r>
              <a:rPr lang="en-US" sz="10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fit</a:t>
            </a: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3749040"/>
            <a:ext cx="2386584" cy="822960"/>
          </a:xfrm>
          <a:prstGeom prst="roundRect">
            <a:avLst>
              <a:gd name="adj" fmla="val 8889"/>
            </a:avLst>
          </a:prstGeom>
          <a:solidFill>
            <a:srgbClr val="FFF6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3776472"/>
            <a:ext cx="22128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速度快；但可能把大块拆小，后来难以满足大请求。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5544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7" name="Shape 15"/>
          <p:cNvSpPr/>
          <p:nvPr/>
        </p:nvSpPr>
        <p:spPr>
          <a:xfrm>
            <a:off x="3383280" y="164592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38328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1645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最佳适配 Best fit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410712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在所有 ≥ 请求的块中挑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的一块。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410712" y="27432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实现：扫整个无序表；或把空闲块</a:t>
            </a:r>
            <a:r>
              <a:rPr lang="en-US" sz="10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从小到大</a:t>
            </a: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排成优先队列，只需从表头往后看。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55848" y="3749040"/>
            <a:ext cx="2386584" cy="822960"/>
          </a:xfrm>
          <a:prstGeom prst="roundRect">
            <a:avLst>
              <a:gd name="adj" fmla="val 8889"/>
            </a:avLst>
          </a:prstGeom>
          <a:solidFill>
            <a:srgbClr val="FFF6E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447288" y="3776472"/>
            <a:ext cx="22128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大请求无法满足的可能性最低；但剩下的碎片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非常小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，外部碎片可能很严重。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15544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25" name="Shape 23"/>
          <p:cNvSpPr/>
          <p:nvPr/>
        </p:nvSpPr>
        <p:spPr>
          <a:xfrm>
            <a:off x="6172200" y="164592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16459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最差适配 Worst fit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199632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每次分配当前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的块。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199632" y="27432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指望剩下的部分还大到能再用一次。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44768" y="3749040"/>
            <a:ext cx="2386584" cy="822960"/>
          </a:xfrm>
          <a:prstGeom prst="roundRect">
            <a:avLst>
              <a:gd name="adj" fmla="val 8889"/>
            </a:avLst>
          </a:prstGeom>
          <a:solidFill>
            <a:srgbClr val="FFF6E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36208" y="3776472"/>
            <a:ext cx="22128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剩下的还能再分；但大块很快被拆光。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12.2.3 顺序适配 · 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空闲区 500、200、300、600，请求 212 字节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097280" cy="45720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234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0" y="1234440"/>
            <a:ext cx="274320" cy="457200"/>
          </a:xfrm>
          <a:prstGeom prst="rect">
            <a:avLst/>
          </a:prstGeom>
          <a:solidFill>
            <a:srgbClr val="9AAAA3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1234440"/>
            <a:ext cx="548640" cy="45720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03120" y="1234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51760" y="1234440"/>
            <a:ext cx="274320" cy="457200"/>
          </a:xfrm>
          <a:prstGeom prst="rect">
            <a:avLst/>
          </a:prstGeom>
          <a:solidFill>
            <a:srgbClr val="9AAAA3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1234440"/>
            <a:ext cx="731520" cy="45720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26080" y="1234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0" y="1234440"/>
            <a:ext cx="274320" cy="457200"/>
          </a:xfrm>
          <a:prstGeom prst="rect">
            <a:avLst/>
          </a:prstGeom>
          <a:solidFill>
            <a:srgbClr val="9AAAA3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31920" y="1234440"/>
            <a:ext cx="1280160" cy="45720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31920" y="1234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灰色是已分配块，把空闲区隔开，所以不会合并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850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280160" y="1051560"/>
            <a:ext cx="0" cy="164592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2834640" y="850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51560"/>
            <a:ext cx="0" cy="164592"/>
          </a:xfrm>
          <a:prstGeom prst="line">
            <a:avLst/>
          </a:prstGeom>
          <a:noFill/>
          <a:ln w="19050">
            <a:solidFill>
              <a:srgbClr val="A06A00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114800" y="8503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最坏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1051560"/>
            <a:ext cx="0" cy="164592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1188720"/>
                <a:gridCol w="47548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挑中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剩下的碎片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首次适应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 那块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找到就停，扫得最少；小碎片在低地址堆积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最佳适应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300 那块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大块留住了，但剩下的碎片最碎、最难再用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最坏适应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600 那块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剩下的还大到能再分一次；大块很快被拆光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457200" y="36576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DF0EE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94360" y="37490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测试要用多块、大小不同的空闲区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94360" y="404164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一块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空闲区上测，三种策略必然挑中同一块——把最佳适应和最坏适应的判据对调，测试照样全绿。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code/ch12/memory_allocator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的测试用的正是上面这组数字。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12.2.3 顺序适配 · code/ch12/memory_allocator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select：三种策略的唯一分歧点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98932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84301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class Fit { First, Best, Worst };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三种策略的唯一分歧点。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[[nodiscard]] std::optional&lt;std::size_t&gt; select(std::size_t bytes, Fit fit)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scanned_ = 0;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std::optional&lt;std::size_t&gt; chosen;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 i = 0; i &lt; blocks_.size(); ++i)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++scanned_;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(!blocks_[i].free || blocks_[i].size &lt; bytes)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continue;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(fit == Fit::First)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i;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第一块够大的就走，不再往后看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(!chosen)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chosen = i;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 else if (fit == Fit::Best &amp;&amp; blocks_[i].size &lt; blocks_[*chosen].size)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chosen = i;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 else if (fit == Fit::Worst &amp;&amp; blocks_[i].size &gt; blocks_[*chosen].size)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chosen = i;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chosen;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675120" y="960120"/>
            <a:ext cx="2011680" cy="2514600"/>
          </a:xfrm>
          <a:prstGeom prst="roundRect">
            <a:avLst>
              <a:gd name="adj" fmla="val 3636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12280" y="1051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84848" y="1344168"/>
            <a:ext cx="1792224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First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：命中即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，后面的块不看。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 / Worst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：扫完全表，比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还是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scanned_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记扫过几块：首次适应通常最小——这是它「快」的全部含义。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5120" y="361188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12280" y="3703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块表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399592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blocks_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按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偏移升序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，覆盖整段空间、无空洞。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12.2.3 回收与合并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释放块 M：与相邻空闲块合并的四种位置关系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005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左右都忙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1371600"/>
            <a:ext cx="457200" cy="384048"/>
          </a:xfrm>
          <a:prstGeom prst="rect">
            <a:avLst/>
          </a:prstGeom>
          <a:solidFill>
            <a:srgbClr val="9AAAA3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3716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88720" y="1371600"/>
            <a:ext cx="457200" cy="384048"/>
          </a:xfrm>
          <a:prstGeom prst="rect">
            <a:avLst/>
          </a:prstGeom>
          <a:solidFill>
            <a:srgbClr val="F2B134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88720" y="13716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45920" y="1371600"/>
            <a:ext cx="457200" cy="384048"/>
          </a:xfrm>
          <a:prstGeom prst="rect">
            <a:avLst/>
          </a:prstGeom>
          <a:solidFill>
            <a:srgbClr val="9AAAA3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45920" y="13716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忙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单独入空闲表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0" y="96012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F1F4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651760" y="1005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只有左边空闲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834640" y="1371600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34640" y="13716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1371600"/>
            <a:ext cx="457200" cy="384048"/>
          </a:xfrm>
          <a:prstGeom prst="rect">
            <a:avLst/>
          </a:prstGeom>
          <a:solidFill>
            <a:srgbClr val="F2B134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91840" y="13716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49040" y="1371600"/>
            <a:ext cx="457200" cy="384048"/>
          </a:xfrm>
          <a:prstGeom prst="rect">
            <a:avLst/>
          </a:prstGeom>
          <a:solidFill>
            <a:srgbClr val="9AAAA3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49040" y="13716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忙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65176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扩大左块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96012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F1F4F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54880" y="1005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只有右边空闲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937760" y="1371600"/>
            <a:ext cx="457200" cy="384048"/>
          </a:xfrm>
          <a:prstGeom prst="rect">
            <a:avLst/>
          </a:prstGeom>
          <a:solidFill>
            <a:srgbClr val="9AAAA3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13716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忙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94960" y="1371600"/>
            <a:ext cx="457200" cy="384048"/>
          </a:xfrm>
          <a:prstGeom prst="rect">
            <a:avLst/>
          </a:prstGeom>
          <a:solidFill>
            <a:srgbClr val="F2B134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394960" y="13716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852160" y="1371600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852160" y="13716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75488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右块起点移到 M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766560" y="96012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F1F4F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858000" y="1005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左右都空闲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040880" y="1371600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040880" y="13716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98080" y="1371600"/>
            <a:ext cx="457200" cy="384048"/>
          </a:xfrm>
          <a:prstGeom prst="rect">
            <a:avLst/>
          </a:prstGeom>
          <a:solidFill>
            <a:srgbClr val="F2B134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98080" y="13716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955280" y="1371600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955280" y="13716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三块合成一块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260604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1F4F2"/>
          </a:solidFill>
          <a:ln/>
        </p:spPr>
      </p:sp>
      <p:pic>
        <p:nvPicPr>
          <p:cNvPr id="44" name="Image 0" descr="fig-12-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57" y="2697480"/>
            <a:ext cx="2951325" cy="896112"/>
          </a:xfrm>
          <a:prstGeom prst="rect">
            <a:avLst/>
          </a:prstGeom>
        </p:spPr>
      </p:pic>
      <p:sp>
        <p:nvSpPr>
          <p:cNvPr id="45" name="Text 42"/>
          <p:cNvSpPr txBox="1"/>
          <p:nvPr/>
        </p:nvSpPr>
        <p:spPr>
          <a:xfrm>
            <a:off x="502920" y="364845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12.13  释放 M 时与相邻空闲块合并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457200" y="402336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顺序表实现检查前后项；</a:t>
            </a:r>
            <a:r>
              <a:rPr lang="en-US" sz="95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边界标记</a:t>
            </a: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（块头块尾各记一份大小与忙闲）从 M 的块头、块尾 </a:t>
            </a:r>
            <a:r>
              <a:rPr lang="en-US" sz="95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O(1)</a:t>
            </a: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找到物理邻居。本书按偏移升序存块表，相邻块就是表里相邻的项——同一个想法，代价是定位要扫表。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4663440" y="2606040"/>
            <a:ext cx="4023360" cy="2057400"/>
          </a:xfrm>
          <a:prstGeom prst="roundRect">
            <a:avLst>
              <a:gd name="adj" fmla="val 3556"/>
            </a:avLst>
          </a:prstGeom>
          <a:solidFill>
            <a:srgbClr val="FFF6E0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4800600" y="2697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外部碎片可以量出来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4773168" y="2990088"/>
            <a:ext cx="3803904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释放出两个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不相邻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 30 字节空洞：空闲总量 60，最大一块只有 30 →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 字节的请求失败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把中间那块也释放、三块并成一整块 → 同样的请求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立刻能满足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装不下一个请求时，看的是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largest_free_block()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，不是空闲总量。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12.2.3 回收与合并 · code/ch12/memory_allocator（上）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allocate：挑块，够大就分裂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612648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980176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[[nodiscard]] std::optional&lt;std::size_t&gt; allocate(std::size_t bytes, Fit fit)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(bytes == 0)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std::invalid_argument("BoundaryAllocator: size must be positive");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std::optional&lt;std::size_t&gt; chosen = select(bytes, fit);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(!chosen)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std::nullopt;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Block&amp; block = blocks_[*chosen];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(block.size &gt; bytes)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分裂：剩下的那截仍然空闲，作为下一项插进块表。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const Block rest{block.offset + bytes, block.size - bytes, true};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block.size = bytes;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blocks_.insert(blocks_.begin() + static_cast&lt;std::ptrdiff_t&gt;(*chosen) + 1, rest);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blocks_[*chosen].free = false;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blocks_[*chosen].offset;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840480"/>
            <a:ext cx="6126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两种失败，两种口径：请求 0 字节是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调用方用错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，抛异常；空间不足是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预期结果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，返回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nullopt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12280" y="960120"/>
            <a:ext cx="1874520" cy="3703320"/>
          </a:xfrm>
          <a:prstGeom prst="roundRect">
            <a:avLst>
              <a:gd name="adj" fmla="val 3902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49440" y="1051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分裂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922008" y="1344168"/>
            <a:ext cx="1655064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块比请求大：前半截给请求者，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后半截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仍空闲，插在块表下一项。</a:t>
            </a:r>
            <a:endParaRPr lang="en-US" sz="10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块表始终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按偏移升序、覆盖整段、无空洞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返回的是块的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偏移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，释放时凭它找回块。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12.2.3 回收与合并 · code/ch12/memory_allocator（下）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 + coalesce：先合右，再合左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6126480" cy="3291840"/>
          </a:xfrm>
          <a:prstGeom prst="roundRect">
            <a:avLst>
              <a:gd name="adj" fmla="val 222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980176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release(std::size_t offset)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std::optional&lt;std::size_t&gt; index = index_of(offset);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(!index || blocks_[*index].free)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false;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blocks_[*index].free = true;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coalesce(*index);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与左右两侧的空闲块合并。**先合右再合左**：先处理右边，左边的下标才不会失效。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不合并的话，外部碎片只会越积越多——这是本节的正题。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coalesce(std::size_t index)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(index + 1 &lt; blocks_.size() &amp;&amp; blocks_[index + 1].free)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blocks_[index].size += blocks_[index + 1].size;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blocks_.erase(blocks_.begin() + static_cast&lt;std::ptrdiff_t&gt;(index) + 1);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(index &gt; 0 &amp;&amp; blocks_[index - 1].free)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blocks_[index - 1].size += blocks_[index].size;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blocks_.erase(blocks_.begin() + static_cast&lt;std::ptrdiff_t&gt;(index));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12280" y="96012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49440" y="1051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为什么先合右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1344168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合右删的是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+ 1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本身不动；若先合左，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那一项被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erase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，再去看右边就用错了下标。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12280" y="320040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4944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重复释放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358444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偏移上没有块，或块已空闲 →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四种位置关系在这里只剩两个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：右邻空闲就吞掉右邻，左邻空闲就被左邻吞掉。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12.2.4 失败处理策略和无用单元回收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分配失败时：拒绝、压缩，或回收够不着的块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6B7B7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960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直接拒绝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46120" y="960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压缩：把已分配块搬到一起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96012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35040" y="960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垃圾回收：收回够不着却占着的块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508760"/>
            <a:ext cx="3977640" cy="2194560"/>
          </a:xfrm>
          <a:prstGeom prst="roundRect">
            <a:avLst>
              <a:gd name="adj" fmla="val 3333"/>
            </a:avLst>
          </a:prstGeom>
          <a:solidFill>
            <a:srgbClr val="FDF0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引用计数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1965960"/>
            <a:ext cx="374904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每个对象记有多少指针指着它，减到零就释放。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实现简单；但对象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互相指形成环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时，计数永远掉不到零 →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内存泄漏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1508760"/>
            <a:ext cx="3977640" cy="2194560"/>
          </a:xfrm>
          <a:prstGeom prst="roundRect">
            <a:avLst>
              <a:gd name="adj" fmla="val 3333"/>
            </a:avLst>
          </a:prstGeom>
          <a:solidFill>
            <a:srgbClr val="EAF4E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9204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标记–清除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1965960"/>
            <a:ext cx="374904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从一组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（栈上的指针、全局变量）出发，走遍能碰到的对象并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；再扫一遍堆，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没标记的统统回收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能处理环；但要能从根集走到每个活对象，还要区分「指针」和「像地址的整数」。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1F4F2"/>
          </a:solidFill>
          <a:ln/>
        </p:spPr>
      </p:sp>
      <p:pic>
        <p:nvPicPr>
          <p:cNvPr id="20" name="Image 0" descr="fig-12-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028" y="3931920"/>
            <a:ext cx="1995544" cy="64008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3383280" y="38404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12.14  无根循环引用不会自行消失。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判生死的是可达性，不是入度或引用数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——这正是循环引用能被整组收回的原因。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12.2.4 无用单元回收 · 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标记–清除走一遍：根集只有 R → A → B，另有 C ⇄ D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3444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234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R（根）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1660" y="1211580"/>
            <a:ext cx="411480" cy="411480"/>
          </a:xfrm>
          <a:prstGeom prst="ellipse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51660" y="12115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03220" y="1211580"/>
            <a:ext cx="411480" cy="411480"/>
          </a:xfrm>
          <a:prstGeom prst="ellipse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03220" y="12115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554480" y="1417320"/>
            <a:ext cx="292608" cy="0"/>
          </a:xfrm>
          <a:prstGeom prst="line">
            <a:avLst/>
          </a:prstGeom>
          <a:noFill/>
          <a:ln w="19050">
            <a:solidFill>
              <a:srgbClr val="1E3D3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267712" y="1417320"/>
            <a:ext cx="630936" cy="0"/>
          </a:xfrm>
          <a:prstGeom prst="line">
            <a:avLst/>
          </a:prstGeom>
          <a:noFill/>
          <a:ln w="19050">
            <a:solidFill>
              <a:srgbClr val="1E3D3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257300" y="2308860"/>
            <a:ext cx="411480" cy="411480"/>
          </a:xfrm>
          <a:prstGeom prst="ellipse">
            <a:avLst/>
          </a:prstGeom>
          <a:solidFill>
            <a:srgbClr val="F4B9B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57300" y="23088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37460" y="2308860"/>
            <a:ext cx="411480" cy="411480"/>
          </a:xfrm>
          <a:prstGeom prst="ellipse">
            <a:avLst/>
          </a:prstGeom>
          <a:solidFill>
            <a:srgbClr val="F4B9B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537460" y="23088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673352" y="2423160"/>
            <a:ext cx="859536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>
            <a:off x="1673352" y="2606040"/>
            <a:ext cx="859536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548640" y="2880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C、D 各有一个入边，却从任何根都走不到</a:t>
            </a:r>
            <a:endParaRPr lang="en-US" sz="9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77640" y="960120"/>
          <a:ext cx="47091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960120"/>
                <a:gridCol w="822960"/>
                <a:gridCol w="2057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待处理栈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已标记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放入根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根先标记再入栈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弹出 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A、B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沿 A → B 发现 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弹出 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A、B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标记阶段结束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清扫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A、B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保留 A、B；</a:t>
                      </a: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回收 C、D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3977640" y="3063240"/>
            <a:ext cx="4709160" cy="1005840"/>
          </a:xfrm>
          <a:prstGeom prst="roundRect">
            <a:avLst>
              <a:gd name="adj" fmla="val 7273"/>
            </a:avLst>
          </a:prstGeom>
          <a:solidFill>
            <a:srgbClr val="FDF0EE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114800" y="31546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一定要「先标记、再入栈」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114800" y="344728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若等到弹出时才标，环或菱形共享会把同一结点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反复压栈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；结果也许仍对，空间和时间却可能失控。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57200" y="347472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CFE0D8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94360" y="3566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一个被三处引用的对象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94360" y="38587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谁都够不着根 → 引用计数收不回，标记–清除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照收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3977640" y="41605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清除阶段顺着堆里所有对象串成的链走一遍：没标记的删掉，有标记的把标记清零，为下一轮复位。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12.2.4 无用单元回收 · code/ch12/storage_recovery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collect = mark + sweep；标记用显式栈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66928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52297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collect(const std::vector&lt;Node*&gt;&amp; roots)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mark(roots);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sweep();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mark(const std::vector&lt;Node*&gt;&amp; roots)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std::vector&lt;Node*&gt; pending;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(Node* root : roots)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(root != nullptr &amp;&amp; !root-&gt;marked)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root-&gt;marked = true;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pending.push_back(root);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(!pending.empty())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Node* node = pending.back();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pending.pop_back();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(Node* next : node-&gt;edges)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(next != nullptr &amp;&amp; !next-&gt;marked)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next-&gt;marked = true;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先标记再入栈：环不会让这里转不出来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pending.push_back(next);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355080" y="960120"/>
            <a:ext cx="2331720" cy="1783080"/>
          </a:xfrm>
          <a:prstGeom prst="roundRect">
            <a:avLst>
              <a:gd name="adj" fmla="val 4103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051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为什么不递归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1344168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 恰恰是在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内存吃紧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时跑的，那时最不该再去吃调用栈。测试里有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万个对象的深链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，递归标记必然压穿栈。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55080" y="2880360"/>
            <a:ext cx="2331720" cy="1783080"/>
          </a:xfrm>
          <a:prstGeom prst="roundRect">
            <a:avLst>
              <a:gd name="adj" fmla="val 4103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2971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它仍是教学模型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3264408"/>
            <a:ext cx="2112264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出边是一张表，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collect()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接受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一组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没有栈扫描、写屏障、分代，也不区分指针与整数——那恰恰是真实 GC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最难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的部分。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Trie 结构和 Patricia 树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换一种「分解」：按关键码的字符或位分层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 Trie · 字母 Trie · 最长前缀匹配 · Patricia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12.3 Trie 结构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BST 与 Trie 分属两种「分解」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9776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33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对象空间分解（BST）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417320"/>
            <a:ext cx="37490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关键码范围怎么划分，由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存进树里的关键码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决定。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树形与输入顺序关系很大：升序输入退化成线性表，查找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3977640" cy="2331720"/>
          </a:xfrm>
          <a:prstGeom prst="roundRect">
            <a:avLst>
              <a:gd name="adj" fmla="val 3137"/>
            </a:avLst>
          </a:prstGeom>
          <a:solidFill>
            <a:srgbClr val="EAF4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033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关键码空间分解（Trie）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417320"/>
            <a:ext cx="37490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对每个结点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预定义划分位置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，均分关键码范围。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树形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不依赖插入顺序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，深度只受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关键码精度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影响：0～255 的整数精度 8 位，只在最低位不同的两个关键码到第 8 次划分才分开。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429000"/>
            <a:ext cx="539496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「trie」来自 re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trie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val：信息检索；常用于存英文词典。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Trie 基于两个原则：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关键码集合固定；能对结点分层标记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（如 0～9 的数字，根分出 10 个子结点）。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B+ 树一样，内部结点只作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占位符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引导检索，数据记录只存在叶结点。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34290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DF0E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7220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但不保证平衡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381304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关键码分布不均时，比如都小于根的划分点，右子树就一个元素也没有。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12.3 Trie 结构 · 二叉 Trie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 Trie：按数值区间对半分，左枝 0、右枝 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84632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pic>
        <p:nvPicPr>
          <p:cNvPr id="8" name="Image 0" descr="fig-12-1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44584"/>
            <a:ext cx="4663440" cy="28417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43342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12.16  二叉 Trie 树（元素 2、5、9、17、41、45、63）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5532120" y="960120"/>
            <a:ext cx="315468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最大元素 63 → 关键码范围取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[0, 64)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根把范围劈成 [0, 32) 和 [32, 64)：2、5、9、17 进左子树，41、45、63 进右子树。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再往下继续对半分，直到每个元素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单独落在一个叶上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同一棵子树下的关键码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共享父结点代表的前缀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532120" y="3657600"/>
            <a:ext cx="3154680" cy="1005840"/>
          </a:xfrm>
          <a:prstGeom prst="roundRect">
            <a:avLst>
              <a:gd name="adj" fmla="val 7273"/>
            </a:avLst>
          </a:prstGeom>
          <a:solidFill>
            <a:srgbClr val="CFE0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69280" y="37490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老朋友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0" y="404164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章的 Huffman 编码树也有「共享前缀」这个性质——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Huffman 树就是一种二叉 Trie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12.3 Trie 结构 · 字母 Trie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can、car、cat、do 插进字母 Trie：公共前缀 ca 只存一次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2377440" cy="2011680"/>
          </a:xfrm>
          <a:prstGeom prst="roundRect">
            <a:avLst>
              <a:gd name="adj" fmla="val 3636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2231136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·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/ \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   d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   |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   o*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/|\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n* r* t*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 * 的是词尾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63240" y="960120"/>
            <a:ext cx="562356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pic>
        <p:nvPicPr>
          <p:cNvPr id="11" name="Image 0" descr="fig-12-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4062" y="1051560"/>
            <a:ext cx="4661916" cy="185623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3108960" y="2962656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12.17  按字符分支存放单词的 Trie（原书例）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429000"/>
            <a:ext cx="512064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i 层对应第 i 个字符；查找沿字符走，时间与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关键码长度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成正比，与表里有多少个词关系不大。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：c–a–r，三步；查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cab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：在 b 处没有分支，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最长前缀匹配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（路由）：走到不能再走为止，回退到最近的词尾。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806440" y="3429000"/>
            <a:ext cx="2880360" cy="1234440"/>
          </a:xfrm>
          <a:prstGeom prst="roundRect">
            <a:avLst>
              <a:gd name="adj" fmla="val 5926"/>
            </a:avLst>
          </a:prstGeom>
          <a:solidFill>
            <a:srgbClr val="1E3D3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943600" y="3520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个字符 → 7 个结点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0" y="390448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c、a、n、r、t、d、o：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</a:t>
            </a: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只存了一次。字典、IP 路由这类「按前缀分类」的问题特别合适。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12.3 Trie 结构 · code/ch12/trie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Trie::insert：沿途建结点，并维护 passing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24865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insert(std::string_view word)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validate(word);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Node* node = &amp;root_;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(const char letter : word)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const std::size_t slot = index_of(letter);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(!node-&gt;children[slot])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node-&gt;children[slot] = std::make_unique&lt;Node&gt;();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++nodes_;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node = node-&gt;children[slot].get();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++node-&gt;passing;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(node-&gt;terminal)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词已存在：把刚才一路加上的 passing 退回去。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unwind(word);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false;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node-&gt;terminal = true;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++size_;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960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1261872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1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53912" y="1307592"/>
            <a:ext cx="2459736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std::array&lt;std::unique_ptr&lt;Node&gt;,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kAlphabet&gt; children{};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terminal = false;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passing = 0;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80760" y="260604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2697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passing 与 terminal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190488" y="2990088"/>
            <a:ext cx="2386584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passing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：有多少个词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经过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这里 →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count_with_prefix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一次问答，不必把子树数一遍。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：这里是不是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词尾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字母表限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a..z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，越界字符抛异常。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12.3 Trie 结构 · code/ch12/trie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最长前缀匹配：一路往下走，随手记住最近的词尾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340096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最长前缀匹配：走到走不动为止，回退到最近的词尾。IP 路由查表就是这个动作。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std::string longest_prefix_of(std::string_view text) const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Node* node = &amp;root_;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best = 0;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i = 0; i &lt; text.size(); ++i)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(!is_letter(text[i]))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Node* next = node-&gt;children[index_of(text[i])].get();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(next == nullptr)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 = next;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(node-&gt;terminal)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best = i + 1;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std::string(text.substr(0, best));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069080"/>
            <a:ext cx="54864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dozen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：d → o（词尾，best = 2）→ z 无分支，停 → 返回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960120"/>
            <a:ext cx="2514600" cy="1783080"/>
          </a:xfrm>
          <a:prstGeom prst="roundRect">
            <a:avLst>
              <a:gd name="adj" fmla="val 4103"/>
            </a:avLst>
          </a:prstGeom>
          <a:solidFill>
            <a:srgbClr val="F1F4F2"/>
          </a:solidFill>
          <a:ln/>
        </p:spPr>
      </p:sp>
      <p:pic>
        <p:nvPicPr>
          <p:cNvPr id="11" name="Image 0" descr="fig-12-1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1142" y="1051560"/>
            <a:ext cx="1936716" cy="130759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217920" y="24140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12.18  对 Trie 树的改进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72200" y="2880360"/>
            <a:ext cx="2514600" cy="1783080"/>
          </a:xfrm>
          <a:prstGeom prst="roundRect">
            <a:avLst>
              <a:gd name="adj" fmla="val 4103"/>
            </a:avLst>
          </a:prstGeom>
          <a:solidFill>
            <a:srgbClr val="FFF6E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971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空间是 Trie 的主要代价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3264408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字母 Trie 每个内部结点原则上留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条分支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，大部分是空的。改进：只保存实际用到的分支，代价是查一层要在表里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找一次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，不再是直接下标。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12.3 Patricia 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Patricia：把「只有一个孩子」的结点压缩掉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97764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pic>
        <p:nvPicPr>
          <p:cNvPr id="8" name="Image 0" descr="fig-12-1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984" y="1051560"/>
            <a:ext cx="3000073" cy="20391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31455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12.19  x 表示那一位取 0 或 1 都落在同一枝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09160" y="960120"/>
            <a:ext cx="397764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pic>
        <p:nvPicPr>
          <p:cNvPr id="11" name="Image 1" descr="fig-12-2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7949" y="1051560"/>
            <a:ext cx="3240061" cy="20391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54880" y="31455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12.20  压缩后的 PATRICIA Trie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3611880"/>
            <a:ext cx="53949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Trie 在单孩子内部结点上仍然分支，路径偏长。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那一位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不需要用来分支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——把这样的层去掉就是 Patricia。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内部结点不再逐位下降，而是各自记住「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该比第几位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」；查找按记下的位取关键码的那一位，决定走左还是走右。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361188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CFE0D8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17220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39959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路径更短、结点更少，仍保持前缀共享——同样四个词，Patricia 只要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个内部结点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12.3 Patricia 树 · code/ch12/trie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两块基石：按位取值、第一次不同在第几位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760720" cy="3017520"/>
          </a:xfrm>
          <a:prstGeom prst="roundRect">
            <a:avLst>
              <a:gd name="adj" fmla="val 242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614416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bool bit_of(std::string_view key, std::size_t index) noexcept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std::size_t byte = index / 8;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(byte &gt;= key.size())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false;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越过关键码长度，一律读 0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auto value = static_cast&lt;unsigned char&gt;(key[byte]);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((value &gt;&gt; (7 - index % 8)) &amp; 1U) != 0;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optional_bit first_differing_bit(std::string_view a, std::string_view b)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std::size_t longest = a.size() &gt; b.size() ? a.size() : b.size();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std::size_t bits = (longest + 1) * 8;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+1 让「一个是另一个的前缀」也能分开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i = 0; i &lt; bits; ++i)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(bit_of(a, i) != bit_of(b, i))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{true, i};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{};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069080"/>
            <a:ext cx="57607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关键码按字节的位串看待，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最高位在前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：第 index 位在第 index / 8 个字节里，右移 7 − index % 8 位。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46520" y="960120"/>
            <a:ext cx="2240280" cy="1645920"/>
          </a:xfrm>
          <a:prstGeom prst="roundRect">
            <a:avLst>
              <a:gd name="adj" fmla="val 4444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1051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越界读 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1344168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这种「一个是另一个的前缀」也能分开；代价是关键码里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不能出现 '\0'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46520" y="2743200"/>
            <a:ext cx="2240280" cy="1920240"/>
          </a:xfrm>
          <a:prstGeom prst="roundRect">
            <a:avLst>
              <a:gd name="adj" fmla="val 3810"/>
            </a:avLst>
          </a:prstGeom>
          <a:solidFill>
            <a:srgbClr val="FDF0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0" y="2834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叶上必须再比一次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127248"/>
            <a:ext cx="1965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沿位下降到叶后，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必须和叶上的完整关键码再比一次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——路上只看了少数几位，不比就会把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cars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判成命中。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12.3 Patricia 树 · 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'a' 与 'c'：第一次不同在第 6 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88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 = 0x61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0240" y="1188720"/>
            <a:ext cx="457200" cy="411480"/>
          </a:xfrm>
          <a:prstGeom prst="rect">
            <a:avLst/>
          </a:prstGeom>
          <a:solidFill>
            <a:srgbClr val="E3E8E6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20240" y="1188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77440" y="1188720"/>
            <a:ext cx="457200" cy="411480"/>
          </a:xfrm>
          <a:prstGeom prst="rect">
            <a:avLst/>
          </a:prstGeom>
          <a:solidFill>
            <a:srgbClr val="E3E8E6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77440" y="1188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834640" y="1188720"/>
            <a:ext cx="457200" cy="411480"/>
          </a:xfrm>
          <a:prstGeom prst="rect">
            <a:avLst/>
          </a:prstGeom>
          <a:solidFill>
            <a:srgbClr val="E3E8E6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34640" y="1188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91840" y="1188720"/>
            <a:ext cx="457200" cy="411480"/>
          </a:xfrm>
          <a:prstGeom prst="rect">
            <a:avLst/>
          </a:prstGeom>
          <a:solidFill>
            <a:srgbClr val="E3E8E6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91840" y="1188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49040" y="1188720"/>
            <a:ext cx="457200" cy="411480"/>
          </a:xfrm>
          <a:prstGeom prst="rect">
            <a:avLst/>
          </a:prstGeom>
          <a:solidFill>
            <a:srgbClr val="E3E8E6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49040" y="1188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06240" y="1188720"/>
            <a:ext cx="457200" cy="411480"/>
          </a:xfrm>
          <a:prstGeom prst="rect">
            <a:avLst/>
          </a:prstGeom>
          <a:solidFill>
            <a:srgbClr val="E3E8E6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06240" y="1188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1188720"/>
            <a:ext cx="457200" cy="411480"/>
          </a:xfrm>
          <a:prstGeom prst="rect">
            <a:avLst/>
          </a:prstGeom>
          <a:solidFill>
            <a:srgbClr val="F4B9B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63440" y="1188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120640" y="1188720"/>
            <a:ext cx="457200" cy="41148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20640" y="1188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1783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'c' = 0x63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920240" y="1783080"/>
            <a:ext cx="457200" cy="411480"/>
          </a:xfrm>
          <a:prstGeom prst="rect">
            <a:avLst/>
          </a:prstGeom>
          <a:solidFill>
            <a:srgbClr val="E3E8E6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920240" y="1783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2194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377440" y="1783080"/>
            <a:ext cx="457200" cy="411480"/>
          </a:xfrm>
          <a:prstGeom prst="rect">
            <a:avLst/>
          </a:prstGeom>
          <a:solidFill>
            <a:srgbClr val="E3E8E6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377440" y="1783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2377440" y="2194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834640" y="1783080"/>
            <a:ext cx="457200" cy="411480"/>
          </a:xfrm>
          <a:prstGeom prst="rect">
            <a:avLst/>
          </a:prstGeom>
          <a:solidFill>
            <a:srgbClr val="E3E8E6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834640" y="1783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2834640" y="2194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91840" y="1783080"/>
            <a:ext cx="457200" cy="411480"/>
          </a:xfrm>
          <a:prstGeom prst="rect">
            <a:avLst/>
          </a:prstGeom>
          <a:solidFill>
            <a:srgbClr val="E3E8E6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291840" y="1783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3291840" y="2194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749040" y="1783080"/>
            <a:ext cx="457200" cy="411480"/>
          </a:xfrm>
          <a:prstGeom prst="rect">
            <a:avLst/>
          </a:prstGeom>
          <a:solidFill>
            <a:srgbClr val="E3E8E6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749040" y="1783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3749040" y="2194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206240" y="1783080"/>
            <a:ext cx="457200" cy="411480"/>
          </a:xfrm>
          <a:prstGeom prst="rect">
            <a:avLst/>
          </a:prstGeom>
          <a:solidFill>
            <a:srgbClr val="E3E8E6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206240" y="1783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4206240" y="2194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663440" y="1783080"/>
            <a:ext cx="457200" cy="411480"/>
          </a:xfrm>
          <a:prstGeom prst="rect">
            <a:avLst/>
          </a:prstGeom>
          <a:solidFill>
            <a:srgbClr val="F4B9B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663440" y="1783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663440" y="2194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120640" y="1783080"/>
            <a:ext cx="457200" cy="41148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120640" y="1783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5120640" y="2194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4434840" y="804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位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92040" y="1005840"/>
            <a:ext cx="0" cy="164592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1920240" y="2423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位号（从 0 起，最高位在前）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852160" y="960120"/>
            <a:ext cx="283464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5989320" y="1024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内部结点只记分歧位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063740" y="1394460"/>
            <a:ext cx="411480" cy="41148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063740" y="13944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 flipH="1">
            <a:off x="6675120" y="1783080"/>
            <a:ext cx="457200" cy="411480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406640" y="1783080"/>
            <a:ext cx="457200" cy="411480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55080" y="2194560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6355080" y="21945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543800" y="2194560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7543800" y="21945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6629400" y="17830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7726680" y="17830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457200" y="2834640"/>
            <a:ext cx="82296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ASCII 分别是 </a:t>
            </a: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01100001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和 </a:t>
            </a:r>
            <a:r>
              <a:rPr lang="en-US" sz="12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01100011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，前六位相同，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第一次不同在从 0 起算的第 6 位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Patricia 内部结点只记这个分歧位：该位为 0 走一边，为 1 走另一边；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前面六个相同位不再各占一层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插入新键：先走到叶、找出首个不同位，再把新分支插到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位号仍保持递增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的位置——否则查找路径会跳过应比较的位。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12.3 Patricia 树 · code/ch12/trie（上）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insert 前半：沿位下降到叶，求首个不同位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85216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70585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insert(std::string_view key)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validate(key);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(root_ == nullptr)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root_ = make_leaf(key);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++size_;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true;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Node* leaf = descend(key);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optional_bit differing = first_differing_bit(leaf-&gt;key, key);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(!differing.found)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false;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已经在树里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[[nodiscard]] const Node* descend(std::string_view key) const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Node* node = root_.get();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(node-&gt;is_internal())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node = bit_of(key, node-&gt;bit) ? node-&gt;right.get() : node-&gt;left.get();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node;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37960" y="960120"/>
            <a:ext cx="2148840" cy="1737360"/>
          </a:xfrm>
          <a:prstGeom prst="roundRect">
            <a:avLst>
              <a:gd name="adj" fmla="val 4211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10515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descend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1344168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内部结点记着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：按关键码的那一位走左（0）或右（1），直到叶。路上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只看了少数几位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37960" y="2834640"/>
            <a:ext cx="2148840" cy="1828800"/>
          </a:xfrm>
          <a:prstGeom prst="roundRect">
            <a:avLst>
              <a:gd name="adj" fmla="val 4000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75120" y="2926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和叶比完整关键码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218688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没有不同位 → 已在树里；有 → 分歧位就是新内部结点要记的位。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同理：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descend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后比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leaf-&gt;key == key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12.3 Patricia 树 · code/ch12/trie（下）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insert 后半：从根重走，插到位号递增的位置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85216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70585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在第 differing.index 位上插入一个新的内部结点。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std::unique_ptr&lt;Node&gt;* slot = &amp;root_;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((*slot)-&gt;is_internal() &amp;&amp; (*slot)-&gt;bit &lt; differing.index)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slot = bit_of(key, (*slot)-&gt;bit) ? &amp;(*slot)-&gt;right : &amp;(*slot)-&gt;left;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auto node = std::make_unique&lt;Node&gt;();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node-&gt;bit = differing.index;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auto leaf_node = make_leaf(key);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(bit_of(key, differing.index))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node-&gt;left = std::move(*slot);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node-&gt;right = std::move(leaf_node);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node-&gt;right = std::move(*slot);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node-&gt;left = std::move(leaf_node);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*slot = std::move(node);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++size_;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++internal_;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37960" y="960120"/>
            <a:ext cx="2148840" cy="2606040"/>
          </a:xfrm>
          <a:prstGeom prst="roundRect">
            <a:avLst>
              <a:gd name="adj" fmla="val 3404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10515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停在哪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1344168"/>
            <a:ext cx="1929384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从根重走，停在第一个位号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分歧位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的地方（或叶）。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新内部结点记分歧位：新键该位为 1 → 新叶在右，原子树在左；反之亦然。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位号沿路径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保持递增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，查找才不会跳过应比较的位。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37960" y="37033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75120" y="37947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每插一个键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40873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恰好多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一个内部结点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、一个叶：4 个词 → 3 个内部结点。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改进的二叉搜索树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按访问权重、严格高度平衡、访问局部性改进查找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 BST（动态规划） · AVL 树 · 伸展树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12.4.1 最佳二叉搜索树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同一批关键码，插入次序不同，长出的 BST 就不同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977640" cy="2011680"/>
          </a:xfrm>
          <a:prstGeom prst="roundRect">
            <a:avLst>
              <a:gd name="adj" fmla="val 3636"/>
            </a:avLst>
          </a:prstGeom>
          <a:solidFill>
            <a:srgbClr val="F1F4F2"/>
          </a:solidFill>
          <a:ln/>
        </p:spPr>
      </p:sp>
      <p:pic>
        <p:nvPicPr>
          <p:cNvPr id="8" name="Image 0" descr="fig-12-2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117" y="1051560"/>
            <a:ext cx="3367806" cy="153619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264261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12.21  按给定次序插入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09160" y="960120"/>
            <a:ext cx="3977640" cy="2011680"/>
          </a:xfrm>
          <a:prstGeom prst="roundRect">
            <a:avLst>
              <a:gd name="adj" fmla="val 3636"/>
            </a:avLst>
          </a:prstGeom>
          <a:solidFill>
            <a:srgbClr val="F1F4F2"/>
          </a:solidFill>
          <a:ln/>
        </p:spPr>
      </p:sp>
      <p:pic>
        <p:nvPicPr>
          <p:cNvPr id="11" name="Image 1" descr="fig-12-2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922" y="1051560"/>
            <a:ext cx="2296117" cy="15361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54880" y="264261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12.22  同一批关键码倒着插入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3108960"/>
            <a:ext cx="55778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 K = { xal, wan, wil, zol, yo, xul, yum, wen, wim, zi, yon, xem, wul, zom }。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个关键码有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n!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种插入次序，但不同次序可能长出同一棵树；真正不同的形状只有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C(2n, n) / (n+1)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棵（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Catalan 数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等价问法：中序是 {1, 2, …, n} 时有多少种前序排列——例如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{2, 3, 1} 不是任何 BST 的前序排列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63640" y="3108960"/>
            <a:ext cx="2423160" cy="1554480"/>
          </a:xfrm>
          <a:prstGeom prst="roundRect">
            <a:avLst>
              <a:gd name="adj" fmla="val 4706"/>
            </a:avLst>
          </a:prstGeom>
          <a:solidFill>
            <a:srgbClr val="FFF6E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400800" y="32004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于是问题变成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0" y="3493008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 C(2n, n)/(n+1) 棵树里，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哪一棵检索效率最好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11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12.4.1 最佳二叉搜索树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扩充二叉树：成功代价落在内部结点，失败代价落在外部结点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206240" cy="2286000"/>
          </a:xfrm>
          <a:prstGeom prst="roundRect">
            <a:avLst>
              <a:gd name="adj" fmla="val 3200"/>
            </a:avLst>
          </a:prstGeom>
          <a:solidFill>
            <a:srgbClr val="F1F4F2"/>
          </a:solidFill>
          <a:ln/>
        </p:spPr>
      </p:sp>
      <p:pic>
        <p:nvPicPr>
          <p:cNvPr id="8" name="Image 0" descr="fig-12-2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911" y="1051560"/>
            <a:ext cx="3872817" cy="18105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29169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12.23  扩充二叉树（小方框是外部结点）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960120"/>
            <a:ext cx="379476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空子树补成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外部结点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，每个外部结点代表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一类检索失败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——如 A 代表落在 wim 与 wul 之间的关键码。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外部路径长度 E、内部路径长度 I 满足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= I + 2n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根为第 0 层：成功检索比较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lᵢ + 1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次；失败检索比较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l′ᵢ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次（外部结点的层数）。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38328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1E3D3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5800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平均比较次数（带权）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749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ASL(n) = [ Σᵢ₌₁ⁿ pᵢ (lᵢ + 1) + Σᵢ₌₀ⁿ qᵢ l′ᵢ ] / W ，  W = Σ pᵢ + Σ qᵢ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pᵢ：检索第 i 个关键码的频率；qᵢ：落在第 i 与第 i+1 个关键码之间的频率。二者叫</a:t>
            </a:r>
            <a:r>
              <a:rPr lang="en-US" sz="1050" b="1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</a:t>
            </a:r>
            <a:r>
              <a:rPr lang="en-US" sz="105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。ASL 最小的那棵叫</a:t>
            </a:r>
            <a:r>
              <a:rPr lang="en-US" sz="1050" b="1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最佳二叉搜索树</a:t>
            </a:r>
            <a:r>
              <a:rPr lang="en-US" sz="105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12.4.1 最佳二叉搜索树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等权时：让内部路径长度 I 最小，即形状尽量平衡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1F4F2"/>
          </a:solidFill>
          <a:ln/>
        </p:spPr>
      </p:sp>
      <p:pic>
        <p:nvPicPr>
          <p:cNvPr id="8" name="Image 0" descr="fig-12-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253" y="1051560"/>
            <a:ext cx="3477534" cy="98755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209397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12.24  等权时的最佳 BST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2560320"/>
            <a:ext cx="3977640" cy="2103120"/>
          </a:xfrm>
          <a:prstGeom prst="roundRect">
            <a:avLst>
              <a:gd name="adj" fmla="val 3478"/>
            </a:avLst>
          </a:prstGeom>
          <a:solidFill>
            <a:srgbClr val="F1F4F2"/>
          </a:solidFill>
          <a:ln/>
        </p:spPr>
      </p:sp>
      <p:pic>
        <p:nvPicPr>
          <p:cNvPr id="11" name="Image 1" descr="fig-12-25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004" y="2651760"/>
            <a:ext cx="2808032" cy="16276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2920" y="433425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12.25  最坏：退化成链，O(n)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960120"/>
            <a:ext cx="4023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pᵢ / W = qᵢ / W = 1 / (2n+1)，用 E = I + 2n 化简得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ASL(n) = (2I + 3n) / (2n + 1)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路径长度为 0 的结点只有 1 个，为 1 的至多 2 个，为 2 的至多 4 个…… → I 至少是 0, 1, 1, 2, 2, 2, 2, 3, … 的前 n 项和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Σ⌊log₂k⌋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只有最下面两层结点的度数可以小于 2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时达到，ASL 为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Θ(log n)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。构造：排序后用二分法依次插入。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63440" y="36118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CFE0D8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800600" y="3703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随便插入会怎样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800600" y="39959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n! 种插入次序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等概率平均，比较次数约 2 ln n ≈ 1.39 log₂ n，仍是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O(log₂ n)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。原书写成对 C(2n, n)/(n+1) 种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形状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平均——那样平均深度是 Θ(√n)，平均对象说错了。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12.4.1 最佳二叉搜索树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不等权时：最佳的形状未必最平衡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572000" cy="2651760"/>
          </a:xfrm>
          <a:prstGeom prst="roundRect">
            <a:avLst>
              <a:gd name="adj" fmla="val 2759"/>
            </a:avLst>
          </a:prstGeom>
          <a:solidFill>
            <a:srgbClr val="F1F4F2"/>
          </a:solidFill>
          <a:ln/>
        </p:spPr>
      </p:sp>
      <p:pic>
        <p:nvPicPr>
          <p:cNvPr id="8" name="Image 0" descr="fig-12-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372" y="1051560"/>
            <a:ext cx="3851656" cy="217627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32826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12.26  具有不等权结点的二叉搜索树</a:t>
            </a:r>
            <a:endParaRPr lang="en-US" sz="9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30752"/>
          <a:ext cx="45720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1280160"/>
                <a:gridCol w="9144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成功 Σp(l+1)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失败 Σq·l′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左：B 为根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+ 10 + 4 = 15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× 2 = 18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 / 17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右：A 为根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+ 2 + 6 = 13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+ 6 + 6 = 16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 / 17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5257800" y="960120"/>
            <a:ext cx="342900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权：A = 5、B = 1、C = 2；四个外部结点 4、3、1、1；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 = 17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成功查找按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层数 + 1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计，失败查找按外部结点的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层数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权大的 A（5）往根靠，哪怕整棵树因此歪一些，ASL 反而更小。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257800" y="3474720"/>
            <a:ext cx="342900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5394960" y="35661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所以要动态规划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394960" y="385876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不能简单「取中位数当根」——要在每个区间里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枚举根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12.4.1 最佳二叉搜索树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动态规划：最佳 BST 的任何子树也是最佳 BST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530352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t(i, j)：以 key₍ᵢ₊₁₎ … keyⱼ 为内部结点、权为 (qᵢ, pᵢ₊₁, qᵢ₊₁, …, pⱼ, qⱼ) 的最佳 BST；根 r(i, j)，开销 C(i, j)。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W(i, j) = pᵢ₊₁ + ⋯ + pⱼ + qᵢ + ⋯ + qⱼ。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先构造 1 个结点的 t(0,1), t(1,2), …；再 2 个结点的 t(0,2), t(1,3), …；直到 t(0, n)。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大树用前面构造的小树当子树。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31089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C(i, j) = W(i, j) + min₍ᵢ&lt;ₖ≤ⱼ₎ ( C(i, k−1) + C(k, j) 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977640"/>
            <a:ext cx="5303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keyₖ 为根：左子树 t(i, k−1)、右子树 t(k, j) 都已求出。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每换一个根都要再加一次 W(i, j)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——挂到新根下面后，区间内每种查找的深度都加 1。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root[i][j]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是重建树时的路线图。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89320" y="960120"/>
            <a:ext cx="2697480" cy="3703320"/>
          </a:xfrm>
          <a:prstGeom prst="roundRect">
            <a:avLst>
              <a:gd name="adj" fmla="val 2712"/>
            </a:avLst>
          </a:prstGeom>
          <a:solidFill>
            <a:srgbClr val="F1F4F2"/>
          </a:solidFill>
          <a:ln/>
        </p:spPr>
      </p:sp>
      <p:pic>
        <p:nvPicPr>
          <p:cNvPr id="12" name="Image 0" descr="fig-12-2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6497" y="1051560"/>
            <a:ext cx="2503126" cy="322783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035040" y="43342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12.27  按区间由短到长构造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12.4.1 最佳 BST · code/ch12/optimal_bst（上）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optimal_bst：校验权数，初始化空区间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603504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88873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OptimalBstResult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std::vector&lt;std::vector&lt;long long&gt;&gt; cost;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std::vector&lt;std::vector&lt;std::size_t&gt;&gt; root;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OptimalBstResult optimal_bst(const std::vector&lt;int&gt;&amp; successful,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const std::vector&lt;int&gt;&amp; unsuccessful)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(unsuccessful.size() != successful.size() + 1)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std::invalid_argument("weight count");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std::size_t count = successful.size();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OptimalBstResult result{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std::vector&lt;std::vector&lt;long long&gt;&gt;(count + 1,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std::vector&lt;long long&gt;(count + 1, 0)),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std::vector&lt;std::vector&lt;std::size_t&gt;&gt;(count + 1,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std::vector&lt;std::size_t&gt;(count + 1, 0))};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std::vector&lt;std::vector&lt;long long&gt;&gt; weight(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 + 1, std::vector&lt;long long&gt;(count + 1, 0));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index = 0; index &lt;= count; ++index)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book's c table measures internal-key comparison cost; an empty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interval has zero c cost while its unsuccessful weight remains in w.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result.cost[index][index] = 0;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weight[index][index] = unsuccessful[index];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720840" y="960120"/>
            <a:ext cx="1965960" cy="3703320"/>
          </a:xfrm>
          <a:prstGeom prst="roundRect">
            <a:avLst>
              <a:gd name="adj" fmla="val 3721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0" y="1051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输入与边界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30568" y="1344168"/>
            <a:ext cx="1746504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成功权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p[1..n]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，失败权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q[0..n]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必须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q.size() == p.size() + 1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空区间：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cost[i][i] = 0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weight[i][i] = q[i]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空树：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{}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{某个失败权}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，代价 0。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12.4.1 最佳 BST · code/ch12/optimal_bst（下）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按区间长度递增，枚举每个根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6035040" cy="2926080"/>
          </a:xfrm>
          <a:prstGeom prst="roundRect">
            <a:avLst>
              <a:gd name="adj" fmla="val 25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888736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length = 1; length &lt;= count; ++length)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 first = 0; first + length &lt;= count; ++first)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const std::size_t last = first + length;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weight[first][last] = weight[first][last - 1] + successful[last - 1] +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unsuccessful[last];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result.cost[first][last] = std::numeric_limits&lt;long long&gt;::max() / 4;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(std::size_t root = first + 1; root &lt;= last; ++root)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const long long candidate = result.cost[first][root - 1] +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result.cost[root][last] + weight[first][last];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(candidate &lt; result.cost[first][last])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result.cost[first][last] = candidate;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result.root[first][last] = root;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77640"/>
            <a:ext cx="6035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三重循环：区间长度 × 起点 × 根 → 朴素实现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O(n³)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20840" y="960120"/>
            <a:ext cx="1965960" cy="2286000"/>
          </a:xfrm>
          <a:prstGeom prst="roundRect">
            <a:avLst>
              <a:gd name="adj" fmla="val 3721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0" y="1051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为什么按长度递增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1344168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[i, j]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选根 r 时，必须已经知道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[i, r−1]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和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[r, j]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的最优代价——它们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都比当前区间短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338328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CFE0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0" y="3474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weight 递推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3767328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w[i][j] = w[i][j−1] + p[j] + q[j]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：每格 O(1)。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12.4.1 最佳 BST · 逐层核算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{1,5,4,3}，q = {5,4,3,2,1}：最后一格怎样得到 57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9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32688"/>
          <a:ext cx="3657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100584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总权 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最优代价 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[0,1]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[1,2]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[2,3]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[3,4]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[0,2]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[1,3]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[2,4]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[0,3]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[1,4]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[0,4]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0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343400" y="932688"/>
            <a:ext cx="4343400" cy="1783080"/>
          </a:xfrm>
          <a:prstGeom prst="roundRect">
            <a:avLst>
              <a:gd name="adj" fmla="val 4103"/>
            </a:avLst>
          </a:prstGeom>
          <a:solidFill>
            <a:srgbClr val="F1F4F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48056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[0,4] 的四个候选：c[0][k−1] + c[k][4] + 28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13258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1325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+ 40 + 28 = 68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165506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394960" y="16550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+ 19 + 28 = 57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19842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394960" y="19842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+ 6 + 28 = 62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26280" y="23134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94960" y="23134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+ 0 + 28 = 71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343400" y="283464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434840" y="28803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按根表重建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 flipH="1">
            <a:off x="4892040" y="3383280"/>
            <a:ext cx="502920" cy="457200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394960" y="3383280"/>
            <a:ext cx="502920" cy="457200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897880" y="3840480"/>
            <a:ext cx="320040" cy="457200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221224" y="3209544"/>
            <a:ext cx="347472" cy="347472"/>
          </a:xfrm>
          <a:prstGeom prst="ellipse">
            <a:avLst/>
          </a:prstGeom>
          <a:solidFill>
            <a:srgbClr val="F2B134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221224" y="3209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718304" y="3666744"/>
            <a:ext cx="347472" cy="347472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18304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724144" y="3666744"/>
            <a:ext cx="347472" cy="347472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724144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044184" y="4123944"/>
            <a:ext cx="347472" cy="347472"/>
          </a:xfrm>
          <a:prstGeom prst="ellipse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044184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583680" y="283464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72084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这张表能抓什么错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6720840" y="3218688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复算了演示输出；也能抓住把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漏加或多加一次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的实现错误。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40690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root[0][4] = 2 → 左 [0,1] 根 1；右 [2,4] 根 3 → 其右 [3,4] 根 4。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12.4.2 平衡的二叉搜索树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AVL 树：任何结点的左右子树高度最多相差 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977640" cy="2103120"/>
          </a:xfrm>
          <a:prstGeom prst="roundRect">
            <a:avLst>
              <a:gd name="adj" fmla="val 3478"/>
            </a:avLst>
          </a:prstGeom>
          <a:solidFill>
            <a:srgbClr val="F1F4F2"/>
          </a:solidFill>
          <a:ln/>
        </p:spPr>
      </p:sp>
      <p:pic>
        <p:nvPicPr>
          <p:cNvPr id="8" name="Image 0" descr="fig-12-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654" y="1051560"/>
            <a:ext cx="3104732" cy="16276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273405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12.15  同一批关键码：接近完全 vs 一条链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320040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1F4F2"/>
          </a:solidFill>
          <a:ln/>
        </p:spPr>
      </p:sp>
      <p:pic>
        <p:nvPicPr>
          <p:cNvPr id="11" name="Image 1" descr="fig-12-2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550" y="3291840"/>
            <a:ext cx="2040941" cy="9875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2920" y="433425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12.28  (a) AVL 树  (b) 非 AVL 树的 BST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960120"/>
            <a:ext cx="40233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BST 最好 O(log n)、最坏 O(n)。Adelson-Velskii 和 Landis 发明的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AVL 树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BST 不受输入影响、始终保持平衡。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709160" y="1938528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70916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166360" y="189280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空二叉树是 AVL 树。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709160" y="2468880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70916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5166360" y="242316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个结点的 AVL 树高度为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O(log n)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709160" y="2999232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70916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5166360" y="295351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左右子树 T_L、T_R 也是 AVL 树，且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|h_L − h_R| ≤ 1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4663440" y="352044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6E0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480060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关键问题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4800600" y="390448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高度 O(log n) → 查找、插入、删除都 O(log n)。难点是：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任何操作之后都保持 AVL 特性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，而且维护本身也要在 O(log n) 内完成。</a:t>
            </a:r>
            <a:endParaRPr lang="en-US" sz="10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12.4.2 AVL 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平衡因子与四种失衡：LL、LR、RR、RL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F1F4F2"/>
          </a:solidFill>
          <a:ln/>
        </p:spPr>
      </p:sp>
      <p:pic>
        <p:nvPicPr>
          <p:cNvPr id="8" name="Image 0" descr="fig-12-2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769" y="1051560"/>
            <a:ext cx="1876301" cy="144475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25511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12.29  带平衡因子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3017520" y="960120"/>
            <a:ext cx="56692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平衡因子 =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右子树高 − 左子树高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，只允许 −1、0、1。插入使某祖先变成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±2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：不平衡结点一定在根到新结点的路径上。</a:t>
            </a:r>
            <a:endParaRPr lang="en-US" sz="115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17520" y="1691640"/>
          <a:ext cx="56692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94560"/>
                <a:gridCol w="283464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情形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新结点位置（失衡结点 A）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的左孩子的左子树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 A 上</a:t>
                      </a: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右旋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RR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的右孩子的右子树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 A 上</a:t>
                      </a: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左旋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LR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的左孩子的右子树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先在左孩子上左旋，再在 A 上右旋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的右孩子的左子树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先在右孩子上右旋，再在 A 上左旋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310896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1F4F2"/>
          </a:solidFill>
          <a:ln/>
        </p:spPr>
      </p:sp>
      <p:pic>
        <p:nvPicPr>
          <p:cNvPr id="13" name="Image 1" descr="fig-12-3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955" y="3200400"/>
            <a:ext cx="2885131" cy="107899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2920" y="43342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12.31  (a) LL  (b) LR  (c) RR  (d) RL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5760720" y="315468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FFF6E0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5897880" y="3246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插入时子树根的三类变化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870448" y="3538728"/>
            <a:ext cx="2706624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原来平衡 → 变重：父结点状态也变。</a:t>
            </a:r>
            <a:endParaRPr lang="en-US" sz="9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原来一边重 → 变平衡：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子树高度未变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，父结点不变。</a:t>
            </a:r>
            <a:endParaRPr lang="en-US" sz="9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原来一边重、又加到重的一边 →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危急结点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，要旋转。</a:t>
            </a:r>
            <a:endParaRPr lang="en-US" sz="9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12.4.2 AVL 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旋转为什么一定对：把 7 个部分排成一个数组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重构：从新结点 u 往上找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最近的不平衡祖先 a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（到根都没有就返回）；a 往 u 方向的第一、二个子结点为 b、c。3 个结点 + 4 棵子树按中序放进数组：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463040" y="1645920"/>
            <a:ext cx="868680" cy="45720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63040" y="16459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31720" y="1645920"/>
            <a:ext cx="868680" cy="457200"/>
          </a:xfrm>
          <a:prstGeom prst="rect">
            <a:avLst/>
          </a:prstGeom>
          <a:solidFill>
            <a:srgbClr val="F2B134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31720" y="16459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0" y="1645920"/>
            <a:ext cx="868680" cy="45720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0" y="16459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069080" y="1645920"/>
            <a:ext cx="868680" cy="457200"/>
          </a:xfrm>
          <a:prstGeom prst="rect">
            <a:avLst/>
          </a:prstGeom>
          <a:solidFill>
            <a:srgbClr val="F2B134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69080" y="16459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37760" y="1645920"/>
            <a:ext cx="868680" cy="45720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37760" y="16459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06440" y="1645920"/>
            <a:ext cx="868680" cy="457200"/>
          </a:xfrm>
          <a:prstGeom prst="rect">
            <a:avLst/>
          </a:prstGeom>
          <a:solidFill>
            <a:srgbClr val="F2B134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06440" y="16459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675120" y="1645920"/>
            <a:ext cx="868680" cy="457200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0" y="16459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T₃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2148840"/>
            <a:ext cx="6080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T₀ &lt; a &lt; T₁ &lt; c &lt; T₂ &lt; b &lt; T₃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2560320"/>
            <a:ext cx="3977640" cy="2103120"/>
          </a:xfrm>
          <a:prstGeom prst="roundRect">
            <a:avLst>
              <a:gd name="adj" fmla="val 3478"/>
            </a:avLst>
          </a:prstGeom>
          <a:solidFill>
            <a:srgbClr val="F1F4F2"/>
          </a:solidFill>
          <a:ln/>
        </p:spPr>
      </p:sp>
      <p:pic>
        <p:nvPicPr>
          <p:cNvPr id="24" name="Image 0" descr="fig-12-3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540" y="2651760"/>
            <a:ext cx="3616960" cy="1627632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502920" y="433425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12.32  LL 型：单旋转（RR 对称）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709160" y="2560320"/>
            <a:ext cx="2377440" cy="2103120"/>
          </a:xfrm>
          <a:prstGeom prst="roundRect">
            <a:avLst>
              <a:gd name="adj" fmla="val 3478"/>
            </a:avLst>
          </a:prstGeom>
          <a:solidFill>
            <a:srgbClr val="F1F4F2"/>
          </a:solidFill>
          <a:ln/>
        </p:spPr>
      </p:sp>
      <p:pic>
        <p:nvPicPr>
          <p:cNvPr id="27" name="Image 1" descr="fig-12-33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872331"/>
            <a:ext cx="2194560" cy="118649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4754880" y="43342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12.33  RL 型双旋转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7269480" y="2560320"/>
            <a:ext cx="1417320" cy="2103120"/>
          </a:xfrm>
          <a:prstGeom prst="roundRect">
            <a:avLst>
              <a:gd name="adj" fmla="val 5161"/>
            </a:avLst>
          </a:prstGeom>
          <a:solidFill>
            <a:srgbClr val="FFF6E0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7406640" y="26517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7379208" y="2944368"/>
            <a:ext cx="1197864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旋转只是把这 7 部分</a:t>
            </a:r>
            <a:r>
              <a:rPr lang="en-US" sz="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重新组成 AVL 结构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，中序次序不变。</a:t>
            </a:r>
            <a:endParaRPr lang="en-US" sz="9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只改几个指针；新子树高 </a:t>
            </a:r>
            <a:r>
              <a:rPr lang="en-US" sz="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 + 2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，与插入前相同 → 更高层不受影响。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12.4.2 AVL 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四种情形的最小输入：正好当旋转单元测试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120640" cy="2971800"/>
          </a:xfrm>
          <a:prstGeom prst="roundRect">
            <a:avLst>
              <a:gd name="adj" fmla="val 246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4974336" cy="2880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LL（左左）：在 C 上右旋              RR（右右）：在 A 上左旋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                                A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/                                  \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         →      B                  B        →      B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                 / \                  \             / \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                 A   C                  C           A   C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LR（左右）：先在 A 上左旋，再在 C 上右旋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                C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/                /                B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       →       B         →      / \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\              /                A   C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            A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RL（右左）：先在 C 上右旋，再在 A 上左旋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               A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\                \                B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      →         B       →      / \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/                  \            A   C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                   C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023360"/>
            <a:ext cx="5120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中序始终保持 A &lt; B &lt; C；箭头左边是失衡形状，右边是每一次旋转后的结果。</a:t>
            </a:r>
            <a:endParaRPr lang="en-US" sz="10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960120"/>
          <a:ext cx="288036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502920"/>
                <a:gridCol w="16002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插入次序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情形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旋转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3, 2, 1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 3 上右旋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1, 2, 3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RR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 1 上左旋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3, 1, 2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LR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先在 1 上左旋，再在 3 上右旋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1, 3, 2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先在 3 上右旋，再在 1 上左旋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806440" y="2743200"/>
            <a:ext cx="2880360" cy="1920240"/>
          </a:xfrm>
          <a:prstGeom prst="roundRect">
            <a:avLst>
              <a:gd name="adj" fmla="val 3810"/>
            </a:avLst>
          </a:prstGeom>
          <a:solidFill>
            <a:srgbClr val="FDF0E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只测中序不够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3127248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结果都应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2 为根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、中序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1,2,3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。一条退化链的中序也正确——还要查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根、高度和平衡因子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，才能证明旋转真的发生。</a:t>
            </a:r>
            <a:endParaRPr lang="en-US" sz="10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12.4.2 AVL 树 · code/ch12/balanced_trees（上）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高度、平衡因子与两种单旋转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617220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602589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int height_of(const std::unique_ptr&lt;Node&gt;&amp; node) { return node ? node-&gt;height : 0;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void refresh(Node* node)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node-&gt;height = 1 + std::max(height_of(node-&gt;left), height_of(node-&gt;right));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平衡因子：右子树高 − 左子树高。绝对值超过 1 就要旋转。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int balance_factor(const std::unique_ptr&lt;Node&gt;&amp; node)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node ? height_of(node-&gt;right) - height_of(node-&gt;left) : 0;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std::unique_ptr&lt;Node&gt; rotate_left(std::unique_ptr&lt;Node&gt; x)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auto y = std::move(x-&gt;right);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x-&gt;right = std::move(y-&gt;left);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refresh(x.get());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y-&gt;left = std::move(x);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refresh(y.get());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y;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std::unique_ptr&lt;Node&gt; rotate_right(std::unique_ptr&lt;Node&gt; y)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auto x = std::move(y-&gt;left);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y-&gt;left = std::move(x-&gt;right);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refresh(y.get());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x-&gt;right = std::move(y);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refresh(x.get());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x;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12280" y="960120"/>
            <a:ext cx="187452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49440" y="1051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1344168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（空树 0，叶 1）、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unique_ptr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。实现里存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高度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，平衡因子现算。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12280" y="2788920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49440" y="2880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旋转的顺序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3172968"/>
            <a:ext cx="1600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refresh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下沉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的那个结点，再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refresh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新根——新根的高度依赖下沉结点。</a:t>
            </a:r>
            <a:endParaRPr lang="en-US" sz="9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12.4.2 AVL 树 · code/ch12/balanced_trees（中）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insert：自底向上回溯，第一个失衡的结点按表选旋转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5760720" cy="3776472"/>
          </a:xfrm>
          <a:prstGeom prst="roundRect">
            <a:avLst>
              <a:gd name="adj" fmla="val 193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78408"/>
            <a:ext cx="5614416" cy="3685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std::unique_ptr&lt;Node&gt; insert(std::unique_ptr&lt;Node&gt; node, int key)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(!node)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++size_;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std::make_unique&lt;Node&gt;(key);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(key &lt; node-&gt;key)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node-&gt;left = insert(std::move(node-&gt;left), key);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if (key &gt; node-&gt;key)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node-&gt;right = insert(std::move(node-&gt;right), key);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node;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重复键不插入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refresh(node.get());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int balance = balance_factor(node);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(balance &gt; 1) {                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右边高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(key &lt; node-&gt;right-&gt;key) { 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RL：先把右孩子右旋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node-&gt;right = rotate_right(std::move(node-&gt;right));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rotate_left(std::move(node));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RR / RL 的第二步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(balance &lt; -1) {               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左边高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(key &gt; node-&gt;left-&gt;key) {  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LR：先把左孩子左旋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node-&gt;left = rotate_left(std::move(node-&gt;left));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rotate_right(std::move(node));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LL / LR 的第二步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node;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6446520" y="960120"/>
            <a:ext cx="2240280" cy="2651760"/>
          </a:xfrm>
          <a:prstGeom prst="roundRect">
            <a:avLst>
              <a:gd name="adj" fmla="val 3265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1051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56248" y="1344168"/>
            <a:ext cx="2020824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递归返回时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逐层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refresh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判平衡——这就是「向上回溯」。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双旋转 = 先把孩子转一下，变成单旋转的形状，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第二步共用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用新键和孩子的键比较，判断是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外侧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还是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内侧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374904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0" y="3840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插入最多转一次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413308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转完子树高度恢复原值，上面的祖先不再失衡。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12.4.2 AVL 树 · code/ch12/balanced_trees（下）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删除：可能一路向上每层都要转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937760" cy="3200400"/>
          </a:xfrm>
          <a:prstGeom prst="roundRect">
            <a:avLst>
              <a:gd name="adj" fmla="val 2286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4791456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两个孩子都在：用右子树的最小键顶上来，再去右子树删掉那个键。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const Node* successor = node-&gt;right.get();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while (successor-&gt;left)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successor = successor-&gt;left.get();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node-&gt;key = successor-&gt;key;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node-&gt;right = erase(std::move(node-&gt;right), node-&gt;key);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refresh(node.get());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int balance = balance_factor(node);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(balance &gt; 1)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(balance_factor(node-&gt;right) &lt; 0)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node-&gt;right = rotate_right(std::move(node-&gt;right));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rotate_left(std::move(node));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(balance &lt; -1)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(balance_factor(node-&gt;left) &gt; 0)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node-&gt;left = rotate_left(std::move(node-&gt;left));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rotate_right(std::move(node));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node;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4224528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FDF0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2245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注意：图 12.36 用</a:t>
            </a:r>
            <a:r>
              <a:rPr lang="en-US" sz="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中序前驱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（左子树最大）顶替，代码用</a:t>
            </a:r>
            <a:r>
              <a:rPr lang="en-US" sz="9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中序后继</a:t>
            </a: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（右子树最小）。两者互为镜像、都正确；用代码复现此图，顶替结点和失衡位置会与图不同。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577840" y="96012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F1F4F2"/>
          </a:solidFill>
          <a:ln/>
        </p:spPr>
      </p:sp>
      <p:pic>
        <p:nvPicPr>
          <p:cNvPr id="12" name="Image 0" descr="fig-12-36-a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085423"/>
            <a:ext cx="2926080" cy="107527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577840" y="2331720"/>
            <a:ext cx="3108960" cy="1554480"/>
          </a:xfrm>
          <a:prstGeom prst="roundRect">
            <a:avLst>
              <a:gd name="adj" fmla="val 4706"/>
            </a:avLst>
          </a:prstGeom>
          <a:solidFill>
            <a:srgbClr val="F1F4F2"/>
          </a:solidFill>
          <a:ln/>
        </p:spPr>
      </p:sp>
      <p:pic>
        <p:nvPicPr>
          <p:cNvPr id="14" name="Image 1" descr="fig-12-36-c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7903" y="2423160"/>
            <a:ext cx="2108835" cy="13716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577840" y="3931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12.36  删 c 用中序前驱 m 顶替 → 删 g 后 m 失衡 → 对 m 作 LL → 回溯到 a 又失衡 → 再作 LL。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12.4.2 AVL 树 · 高度上界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最「瘦」的 AVL 树：Fibonacci 递推给出 O(log n)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1F4F2"/>
          </a:solidFill>
          <a:ln/>
        </p:spPr>
      </p:sp>
      <p:pic>
        <p:nvPicPr>
          <p:cNvPr id="8" name="Image 0" descr="fig-12-3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240" y="1051560"/>
            <a:ext cx="3088640" cy="190195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30083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12.37  临界 AVL 树 T₁ … T₄ 与 Tᵢ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60520" y="960120"/>
            <a:ext cx="452628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Tᵢ 以 Tᵢ₋₁、Tᵢ₋₂ 为左右子树：既不破坏 AVL，又要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结点最少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两棵子树高度差必然为 1。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t(1) = 2、t(2) = 4、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t(i) = t(i−1) + t(i−2) + 1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t(i) = F(i+3) − 1。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F(i) ≈ φⁱ / √5，φ = (1+√5)/2，log₂φ ≈ 0.694 →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&lt; 1.5 log₂(t(i)+1) − 1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74720"/>
          <a:ext cx="45720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48640"/>
                <a:gridCol w="548640"/>
                <a:gridCol w="548640"/>
                <a:gridCol w="548640"/>
                <a:gridCol w="548640"/>
                <a:gridCol w="5486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t(i)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F(i+3) − 1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3−1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5−1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8−1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13−1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21−1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34−1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257800" y="3474720"/>
            <a:ext cx="3429000" cy="1188720"/>
          </a:xfrm>
          <a:prstGeom prst="roundRect">
            <a:avLst>
              <a:gd name="adj" fmla="val 6154"/>
            </a:avLst>
          </a:prstGeom>
          <a:solidFill>
            <a:srgbClr val="1E3D3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5394960" y="354787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个结点的 AVL 树高度 ≤ 1.5 log₂(n+1)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394960" y="40965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平衡不是完美平衡，但足以保证 O(log n)。查找、插入、删除都是单路径局部运算。</a:t>
            </a:r>
            <a:endParaRPr lang="en-US" sz="9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12.4.3 伸展树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伸展树：不存平衡信息，每次访问后把结点展开到根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457200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Sleator 与 Tarjan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提出（论文 Self-Adjusting Binary Search Trees，1985；原书误作 Hopcroft 与 Tarjan），与 10.1 节的线性表调整技术同属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自调整数据结构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一次访问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不一定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让树更平衡，也不保证树高平衡；但保证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访问的总代价不高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它不是新结构，而是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 BST 性能的一组规则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每次访问结点 x 都做一次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展开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（splaying）：插入、检索 x 时 x 为当前结点；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 x 时 x 的父结点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为当前结点；沿路旋转直到当前结点到根。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57800" y="9601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94960" y="10241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三种旋转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94960" y="137160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394960" y="137160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单旋转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13441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是根的孩子；与 AVL 单旋转相同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94960" y="192024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94960" y="19202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一字形双旋转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18928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x、父、祖父同向（zig-zig）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94960" y="246888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94960" y="24688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之字形双旋转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4414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x、父、祖父拐弯（zig-zag）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257800" y="32461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1F4F2"/>
          </a:solidFill>
          <a:ln/>
        </p:spPr>
      </p:sp>
      <p:pic>
        <p:nvPicPr>
          <p:cNvPr id="20" name="Image 0" descr="fig-12-3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3491781"/>
            <a:ext cx="3246120" cy="633389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303520" y="433425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12.38  x 已是根的孩子：单旋转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406908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CFE0D8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94360" y="4160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94360" y="4453128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最近被用到的键下次更容易先碰到；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均摊 O(log n)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12.4.3 伸展树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一字形先转祖父、再转父；之字形先转父、再转祖父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F1F4F2"/>
          </a:solidFill>
          <a:ln/>
        </p:spPr>
      </p:sp>
      <p:pic>
        <p:nvPicPr>
          <p:cNvPr id="8" name="Image 0" descr="fig-12-3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7795"/>
            <a:ext cx="4023360" cy="9322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22311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12.39  一字形旋转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892040" y="960120"/>
            <a:ext cx="3794760" cy="1600200"/>
          </a:xfrm>
          <a:prstGeom prst="roundRect">
            <a:avLst>
              <a:gd name="adj" fmla="val 4571"/>
            </a:avLst>
          </a:prstGeom>
          <a:solidFill>
            <a:srgbClr val="F1F4F2"/>
          </a:solidFill>
          <a:ln/>
        </p:spPr>
      </p:sp>
      <p:pic>
        <p:nvPicPr>
          <p:cNvPr id="11" name="Image 1" descr="fig-12-4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748" y="1051560"/>
            <a:ext cx="2869344" cy="11247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937760" y="223113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12.40  之字形旋转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2697480"/>
            <a:ext cx="475488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一字形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（连续两次同向）：单看一次一般不降树高，只把目标提两层；沿长链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做一字形才把链折短（右链 1→…→7 访问 7：树高 7→5；逐层单旋仍是 7）。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之字形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（先左后右或先右后左）：倾向于让树更平衡——子树 B、C 上升一层，D 下降一层。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两种双旋都把目标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提升两层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；只差一层到根时，再做一次单旋转。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40680" y="269748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1F4F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577840" y="27614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例：链 10 → 20 → 30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577840" y="3063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 30：右–右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一字形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，先围绕 10 左旋，再围绕 20 左旋，30 到根。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5577840" y="3749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 10 的右孩子是 30、30 的左孩子是 20：访问 20 是右–左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之字形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，两次旋转方向相反。</a:t>
            </a:r>
            <a:endParaRPr lang="en-US" sz="10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12.4.3 伸展树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检索之后展开到根：三次双旋 + 一次单旋，a 从第 7 层升到根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657600" cy="3703320"/>
          </a:xfrm>
          <a:prstGeom prst="roundRect">
            <a:avLst>
              <a:gd name="adj" fmla="val 2000"/>
            </a:avLst>
          </a:prstGeom>
          <a:solidFill>
            <a:srgbClr val="F1F4F2"/>
          </a:solidFill>
          <a:ln/>
        </p:spPr>
      </p:sp>
      <p:pic>
        <p:nvPicPr>
          <p:cNvPr id="8" name="Image 0" descr="fig-12-4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965" y="1051560"/>
            <a:ext cx="3088070" cy="32278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43342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12.41  检索 a 之后把它展开到根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343400" y="960120"/>
            <a:ext cx="434340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 c、b、a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一字形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，再 d、a、e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之字形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，再 f、a、g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之字形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，最后一次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单旋转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 成为根。（内部结点只是索引代号，记录都在外部叶上，所以字母不必中序有序。）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43400" y="2331720"/>
            <a:ext cx="434340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480560" y="24231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插入与删除怎么接上展开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453128" y="2715768"/>
            <a:ext cx="412394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插入与 BST 相同，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插入后把新结点展开到根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BST 策略删除结点后，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被删结点的父结点展开到根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43400" y="3657600"/>
            <a:ext cx="4343400" cy="1005840"/>
          </a:xfrm>
          <a:prstGeom prst="roundRect">
            <a:avLst>
              <a:gd name="adj" fmla="val 7273"/>
            </a:avLst>
          </a:prstGeom>
          <a:solidFill>
            <a:srgbClr val="FDF0E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480560" y="37490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容易忽略的边界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404164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记录都存在外部结点、内部结点只作索引时：检索到外部结点，由它的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内部父结点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作为当前结点开始调整——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外部结点不能被旋转到根上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12.4.3 伸展树 · code/ch12/balanced_trees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splay：把 key（或最接近它的键）旋到 t 的根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0352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15721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void splay(std::unique_ptr&lt;Node&gt;&amp; t, int key)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(!t || t-&gt;key == key)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(key &lt; t-&gt;key)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(!t-&gt;left)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(key &lt; t-&gt;left-&gt;key) {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左-左，一字形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splay(t-&gt;left-&gt;left, key);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rotate_right(t);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 else if (key &gt; t-&gt;left-&gt;key) {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左-右，之字形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splay(t-&gt;left-&gt;right, key);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(t-&gt;left-&gt;right)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rotate_left(t-&gt;left);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(t-&gt;left)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rotate_right(t);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89320" y="960120"/>
            <a:ext cx="2697480" cy="2240280"/>
          </a:xfrm>
          <a:prstGeom prst="roundRect">
            <a:avLst>
              <a:gd name="adj" fmla="val 3265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26480" y="1051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对照规则读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99048" y="1344168"/>
            <a:ext cx="2478024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一字形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：先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rotate_right(t)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转祖父，再转一次 → 目标升两层。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之字形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：先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rotate_left(t-&gt;left)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转父，再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rotate_right(t)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转祖父。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分支是右侧的镜像。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9320" y="333756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26480" y="34290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查找会改变树形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372160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命中后该键被旋到根，所以它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const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。无需平衡域；子树用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unique_ptr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维护所有权。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12.4.3 伸展树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均摊不等于每次都快；半伸展是一种折中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448056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访问深链末端的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单次代价仍可达 O(n)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；保证的是一串 m 次操作总成本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O(m log n)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（另加初始势能）。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热点键反复出现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、又不要求单次延迟上界的场景；实时系统要求每次都在确定高度内结束，更适合 AVL 或红黑树。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半伸展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：对一字形像 AVL 的 LL、RR 那样处理；下一轮从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父结点位置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开始——不需要把目标移到根，旋转更少。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120640" y="9601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1F4F2"/>
          </a:solidFill>
          <a:ln/>
        </p:spPr>
      </p:sp>
      <p:pic>
        <p:nvPicPr>
          <p:cNvPr id="9" name="Image 0" descr="fig-12-4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2603" y="1051560"/>
            <a:ext cx="2942234" cy="89611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166360" y="2002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12.42  半伸展与全伸展的区别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120640" y="246888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1F4F2"/>
          </a:solidFill>
          <a:ln/>
        </p:spPr>
      </p:sp>
      <p:pic>
        <p:nvPicPr>
          <p:cNvPr id="12" name="Image 1" descr="fig-12-45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382" y="2560320"/>
            <a:ext cx="2414676" cy="171907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166360" y="43342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12.45  在图 12.44 上连续读 a、a、b、g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" y="374904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CFE0D8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94360" y="3840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热点会浮上来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94360" y="4133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重复访问的键会一路浮到靠近根的位置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——这正是伸展树占便宜的地方。</a:t>
            </a:r>
            <a:endParaRPr lang="en-US" sz="10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 改进的二叉搜索树 · 对照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三种改进的 BST，各自改进了什么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69</a:t>
            </a:r>
            <a:endParaRPr lang="en-US" sz="90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94560"/>
                <a:gridCol w="2514600"/>
                <a:gridCol w="233172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最佳 BST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AVL 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伸展树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访问权重 p、q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严格高度平衡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访问局部性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动态规划按区间选根，O(n³)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平衡因子 + 四种旋转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访问后一字形 / 之字形旋至根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带权 ASL 最小（静态集合）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高度 ≤ 1.5 log₂(n+1)，最坏 O(log n)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均摊 O(log n)，单次可能 O(n)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额外信息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cost / root 两张表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每结点平衡因子（或高度）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2918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383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红黑树（第 11 章）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67588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平衡要求比 AVL 更低；n 个内部结点的红黑树最大树高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log₂(n+1) + 1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（原书口径，数到外部空叶；只数内部结点为 2 log₂(n+1)），最坏情况比同规模 AVL 高。AVL、伸展树适合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检索较多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；插入删除频繁常用红黑树。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63440" y="32918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CFE0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00600" y="3383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 vs 外存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800600" y="367588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BST（红黑树、AVL、伸展树）适合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内存中小规模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的目录；外存文件若以结点为交换单位，找到关键码前平均要访问外存 log₂n 次——文件索引用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树 / B+ 树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12.5 · 补充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区间查询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前缀和 → 树状数组 → 线段树：数组会变，还要随时问一段的和 / 最值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前缀和 · 树状数组（lowbit）· 迭代线段树 · Lazy 标记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12.5 区间查询 · 前缀和 · 补充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前缀和：查询 O(1)，但改一个数要重算 O(n)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120640" cy="3017520"/>
          </a:xfrm>
          <a:prstGeom prst="roundRect">
            <a:avLst>
              <a:gd name="adj" fmla="val 242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4974336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itertools import accumulate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[5, 1, 4, 2, 7, 3, 6, 8]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[0, *accumulate(a)]          </a:t>
            </a:r>
            <a:r>
              <a:rPr lang="en-US" sz="9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P[i] = a[0] + ... + a[i-1]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print(P[7] - P[2])           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[2, 7) 的和：4+2+7+3+6 = 22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二维：S[i][j] = 左上角 i×j 子矩阵的和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[[1, 2, 3], [4, 5, 6], [7, 8, 9]]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[[0] * 4 for _ in range(4)]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range(3):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j in range(3):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S[i+1][j+1] = M[i][j] + S[i][j+1] + S[i+1][j] - S[i][j]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行 [1,3)、列 [1,3) 的和：容斥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print(S[3][3] - S[1][3] - S[3][1] + S[1][1])   </a:t>
            </a:r>
            <a:r>
              <a:rPr lang="en-US" sz="9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5+6+8+9 = 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1E3D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4114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半开区间 [l, r) 的和 = P[r] − P[l]：和 bisect、本书的 range_sum 是同一套约定。</a:t>
            </a:r>
            <a:endParaRPr lang="en-US" sz="105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960120"/>
          <a:ext cx="29260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区间查询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单点修改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原数组逐个加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前缀和数组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树状数组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O(log 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O(log 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线段树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O(log 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O(log n)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760720" y="2926080"/>
            <a:ext cx="2926080" cy="1737360"/>
          </a:xfrm>
          <a:prstGeom prst="roundRect">
            <a:avLst>
              <a:gd name="adj" fmla="val 4211"/>
            </a:avLst>
          </a:prstGeom>
          <a:solidFill>
            <a:srgbClr val="CFE0D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897880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要的是两头折中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897880" y="3310128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查询多、修改少：前缀和。两者都多（LC 307、OJ 动态区间和）：把 O(1)/O(n) 拉平成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O(log n)/O(log n)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12.5 区间查询 · 树状数组 · 补充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树状数组：C[i] 管 lowbit(i) 个元素，即 (i − lowbit(i), i]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96012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664208" y="96012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2231136" y="96012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2798064" y="96012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3364992" y="96012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96012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96012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065776" y="96012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117043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97280" y="1170432"/>
            <a:ext cx="566928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117043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664208" y="1170432"/>
            <a:ext cx="566928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64208" y="117043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31136" y="1170432"/>
            <a:ext cx="566928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231136" y="117043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98064" y="1170432"/>
            <a:ext cx="566928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798064" y="117043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64992" y="1170432"/>
            <a:ext cx="566928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64992" y="117043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931920" y="1170432"/>
            <a:ext cx="566928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931920" y="117043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98848" y="1170432"/>
            <a:ext cx="566928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98848" y="117043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65776" y="1170432"/>
            <a:ext cx="566928" cy="32918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65776" y="117043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124712" y="1691640"/>
            <a:ext cx="512064" cy="310896"/>
          </a:xfrm>
          <a:prstGeom prst="rect">
            <a:avLst/>
          </a:prstGeom>
          <a:solidFill>
            <a:srgbClr val="FFF6E0"/>
          </a:solidFill>
          <a:ln w="9525">
            <a:solidFill>
              <a:srgbClr val="3E7C6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124712" y="1691640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C[1] = 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124712" y="2093976"/>
            <a:ext cx="1078992" cy="310896"/>
          </a:xfrm>
          <a:prstGeom prst="rect">
            <a:avLst/>
          </a:prstGeom>
          <a:solidFill>
            <a:srgbClr val="FFF6E0"/>
          </a:solidFill>
          <a:ln w="9525">
            <a:solidFill>
              <a:srgbClr val="3E7C6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124712" y="2093976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C[2] = 6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58568" y="1691640"/>
            <a:ext cx="512064" cy="310896"/>
          </a:xfrm>
          <a:prstGeom prst="rect">
            <a:avLst/>
          </a:prstGeom>
          <a:solidFill>
            <a:srgbClr val="D6E9F8"/>
          </a:solidFill>
          <a:ln w="9525">
            <a:solidFill>
              <a:srgbClr val="3E7C6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258568" y="1691640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C[3] = 4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124712" y="2496312"/>
            <a:ext cx="2212848" cy="310896"/>
          </a:xfrm>
          <a:prstGeom prst="rect">
            <a:avLst/>
          </a:prstGeom>
          <a:solidFill>
            <a:srgbClr val="E8D9EE"/>
          </a:solidFill>
          <a:ln w="9525">
            <a:solidFill>
              <a:srgbClr val="3E7C6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124712" y="249631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C[4] = 12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392424" y="1691640"/>
            <a:ext cx="512064" cy="310896"/>
          </a:xfrm>
          <a:prstGeom prst="rect">
            <a:avLst/>
          </a:prstGeom>
          <a:solidFill>
            <a:srgbClr val="FFF6E0"/>
          </a:solidFill>
          <a:ln w="9525">
            <a:solidFill>
              <a:srgbClr val="3E7C6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392424" y="1691640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C[5] = 7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392424" y="2093976"/>
            <a:ext cx="1078992" cy="310896"/>
          </a:xfrm>
          <a:prstGeom prst="rect">
            <a:avLst/>
          </a:prstGeom>
          <a:solidFill>
            <a:srgbClr val="F9D5D0"/>
          </a:solidFill>
          <a:ln w="9525">
            <a:solidFill>
              <a:srgbClr val="3E7C6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392424" y="2093976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C[6] = 10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26280" y="1691640"/>
            <a:ext cx="512064" cy="310896"/>
          </a:xfrm>
          <a:prstGeom prst="rect">
            <a:avLst/>
          </a:prstGeom>
          <a:solidFill>
            <a:srgbClr val="F9D5D0"/>
          </a:solidFill>
          <a:ln w="9525">
            <a:solidFill>
              <a:srgbClr val="3E7C6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526280" y="1691640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C[7] = 6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124712" y="2898648"/>
            <a:ext cx="4480560" cy="310896"/>
          </a:xfrm>
          <a:prstGeom prst="rect">
            <a:avLst/>
          </a:prstGeom>
          <a:solidFill>
            <a:srgbClr val="D6E9F8"/>
          </a:solidFill>
          <a:ln w="9525">
            <a:solidFill>
              <a:srgbClr val="3E7C6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124712" y="28986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C[8] = 36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5715000" y="16916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lowbit = 1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5715000" y="209397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5715000" y="24963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5715000" y="28986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57200" y="338328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FDF0EE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594360" y="3429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查前 7 个：减法往下拆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594360" y="373075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→ 7−1 = 6 → 6−2 = 4 → 4−4 = 0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C[7] + C[6] + C[4] = 6 + 10 + 12 =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(6,7]、(4,6]、(0,4] 不重不漏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09160" y="338328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EAF1F8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4846320" y="3429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 A[3]：加法往上找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4846320" y="373075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→ 3+1 = 4 → 4+4 = 8 → 16 &gt; n 停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C[3]、C[4]、C[8] 的区间盖住了 3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每步 lowbit 至少翻倍：≤ log₂ n + 1 步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537960" y="960120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FFF6E0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6675120" y="10515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lowbit(i) = i &amp; −i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6675120" y="1344168"/>
            <a:ext cx="1874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补码里 −i = ~i + 1：最右边的 1 保留，其左各位全反，一与只剩它。12 = 1100₂ → 4；6 = 110₂ → 2。</a:t>
            </a:r>
            <a:endParaRPr lang="en-US" sz="9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12.5 树状数组 · code/ch12/fenwick/modern.py（节选） · 补充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add 沿 +lowbit 上行，prefix_sum 沿 −lowbit 回退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48640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34009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FenwickTree: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size):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self.tree = [0] * (size + 1)    </a:t>
            </a:r>
            <a:r>
              <a:rPr lang="en-US" sz="83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内部 1 起始，tree[0] 不用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@staticmethod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lowbit(i):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i &amp; -i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add(self, index, delta):        </a:t>
            </a:r>
            <a:r>
              <a:rPr lang="en-US" sz="83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公共接口 0 起始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 = index + 1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i &lt; len(self.tree):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self.tree[i] += delta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 += self.lowbit(i)         </a:t>
            </a:r>
            <a:r>
              <a:rPr lang="en-US" sz="83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加法：往上找管着 i 的块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prefix_sum(self, end):          </a:t>
            </a:r>
            <a:r>
              <a:rPr lang="en-US" sz="83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[0, end) 的和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result, i = 0, end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i: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 += self.tree[i]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 -= self.lowbit(i)         </a:t>
            </a:r>
            <a:r>
              <a:rPr lang="en-US" sz="83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减法：拆成不相交的块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result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range_sum(self, left, right):   </a:t>
            </a:r>
            <a:r>
              <a:rPr lang="en-US" sz="83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[left, right)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self.prefix_sum(right) - self.prefix_sum(left)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FenwickTree(8)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v in enumerate([5, 1, 4, 2, 7, 3, 6, 8]):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f.add(i, v)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print(f.tree[1:], f.range_sum(2, 7))    </a:t>
            </a:r>
            <a:r>
              <a:rPr lang="en-US" sz="83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[5, 6, 4, 12, 7, 10, 6, 36] 22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6126480" y="96012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下标为什么从 1 起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34416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lowbit(0) = 0，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+= lowbit(i)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会原地不动。本书接口仍是 0 起始，进门时 +1。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224028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正确性两句话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36208" y="2624328"/>
            <a:ext cx="2340864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上行：i + lowbit(i) 是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覆盖区间包住 i 的块；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回退：(i−lowbit(i), i] 与下一段首尾相接，直到 0。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370332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FF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完整版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40873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仓库里的 modern.py 另有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value_at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、越界检查；与 C++ 版共读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cases.tsv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对拍。</a:t>
            </a:r>
            <a:endParaRPr lang="en-US" sz="9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12.5 树状数组 · 应用 · 补充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离散化 + 树状数组数逆序对（对照第 8 章归并法）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340096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count_inversions(a):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rank = {v: r + 1 for r, v in enumerate(sorted(set(a)))}   </a:t>
            </a:r>
            <a:r>
              <a:rPr lang="en-US" sz="86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离散化：值 → 名次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tree = [0] * (len(rank) + 1)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inv = 0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seen, v in enumerate(a):     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seen = 已扫过的个数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i, le = rank[v], 0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i:                     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已扫过的数里 &lt;= v 的个数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 += tree[i]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 -= i &amp; -i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inv += seen - le                </a:t>
            </a:r>
            <a:r>
              <a:rPr lang="en-US" sz="86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其余的都 &gt; v：与 v 构成逆序对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 = rank[v]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i &lt; len(tree):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tree[i] += 1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 += i &amp; -i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inv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print(count_inversions([9, 1, 0, 5, 4]))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6（OJ 02299 样例）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print(count_inversions([3, 1, 3, 2]))   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3：相等的两个 3 不算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1E3D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41148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树状数组里存的是「每个名次出现了几次」：前缀和 = 不超过 v 的个数。</a:t>
            </a:r>
            <a:endParaRPr lang="en-US" sz="105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960120"/>
          <a:ext cx="25603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91440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归并（8.5）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树状数组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 log n)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 log n)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要离散化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序列追加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接着扫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126480" y="25146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CFE0D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6364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为什么要离散化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289864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值可能是 10⁹ 或负数，不能直接当下标；只关心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大小次序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，换成 1..k 的名次即可。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6126480" y="3840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春季讲义练习：M20018 蚂蚁王国的越野跑（同一题型）。</a:t>
            </a:r>
            <a:endParaRPr lang="en-US" sz="9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12.5 区间查询 · 迭代线段树 · 补充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线段树：2n 个格子，叶子在 [n, 2n)，父亲 = i // 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66928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52297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SegmentTree: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data, func=lambda x, y: x + y, default=0):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self.n, self.func, self.default = len(data), func, default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self.tree = [default] * self.n + list(data)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叶子在 [n, 2n)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i in range(self.n - 1, 0, -1):     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自底向上建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self.tree[i] = func(self.tree[2 * i], self.tree[2 * i + 1])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update(self, p, value):  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a[p] = value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 += self.n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self.tree[p] = value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p &gt; 1: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self.tree[p &gt;&gt; 1] = self.func(self.tree[p], self.tree[p ^ 1])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 &gt;&gt;= 1              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 ^ 1 是兄弟结点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query(self, l, r):       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[l, r)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res, l, r = self.default, l + self.n, r + self.n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l &lt; r: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 &amp; 1:                   </a:t>
            </a:r>
            <a:r>
              <a:rPr lang="en-US" sz="79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 是右孩子：父结点超出区间，单独计入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res = self.func(res, self.tree[l]); l += 1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r &amp; 1:                   </a:t>
            </a:r>
            <a:r>
              <a:rPr lang="en-US" sz="79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 是右孩子：r-1 是左孩子，计入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 -= 1; res = self.func(res, self.tree[r])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 &gt;&gt;= 1; r &gt;&gt;= 1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 = SegmentTree([5, 1, 4, 2, 7, 3, 6, 8])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print(st.query(2, 7))                                 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22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print(SegmentTree([5, 1, 4, 2], max, float('-inf')).query(1, 4))   </a:t>
            </a: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6309360" y="96012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比树状数组多了什么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134416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func 只要满足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结合律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：和、max、min、gcd 都行。树状数组靠「前缀相减」，只适合有逆运算的和 / 异或。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09360" y="256032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2651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 的奇偶判断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94436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为奇数：它是右孩子，父结点还管着左边不要的那格，只能单拿它；r 同理。两端一起往上爬，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每层至多取两个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4160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取自春季讲义 A1（GeeksforGeeks 的 2n 迭代写法）。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12.5 区间查询 · 递归线段树与 Lazy 标记 · 补充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区间整体加：只在完全覆盖的结点记账，下次路过再下传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24865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_apply(self, k, lo, hi, v):     </a:t>
            </a:r>
            <a:r>
              <a:rPr lang="en-US" sz="81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整段加 v：只改本结点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self.sum[k] += v * (hi - lo + 1)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self.tag[k] += v                </a:t>
            </a:r>
            <a:r>
              <a:rPr lang="en-US" sz="81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「子树里每个数都还欠加 tag」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_push(self, k, lo, hi):         </a:t>
            </a:r>
            <a:r>
              <a:rPr lang="en-US" sz="81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要往下走时才把账交给孩子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self.tag[k]: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mid = (lo + hi) // 2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self._apply(2 * k, lo, mid, self.tag[k])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self._apply(2 * k + 1, mid + 1, hi, self.tag[k])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self.tag[k] = 0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add(self, l, r, v, k=1, lo=0, hi=None):    </a:t>
            </a:r>
            <a:r>
              <a:rPr lang="en-US" sz="81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闭区间 [l, r]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 = self.n - 1 if hi is None else hi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 &lt; lo or hi &lt; l: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                     </a:t>
            </a:r>
            <a:r>
              <a:rPr lang="en-US" sz="81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不相交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 &lt;= lo and hi &lt;= r: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self._apply(k, lo, hi, v); return      </a:t>
            </a:r>
            <a:r>
              <a:rPr lang="en-US" sz="81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完全覆盖：记账即走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self._push(k, lo, hi)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mid = (lo + hi) // 2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self.add(l, r, v, 2 * k, lo, mid)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self.add(l, r, v, 2 * k + 1, mid + 1, hi)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self.sum[k] = self.sum[2 * k] + self.sum[2 * k + 1]</a:t>
            </a:r>
            <a:endParaRPr lang="en-US" sz="81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query 结构相同：完全覆盖直接返回 sum[k]，否则先 _push 再分两半</a:t>
            </a:r>
            <a:endParaRPr lang="en-US" sz="810" dirty="0"/>
          </a:p>
        </p:txBody>
      </p:sp>
      <p:sp>
        <p:nvSpPr>
          <p:cNvPr id="9" name="Shape 7"/>
          <p:cNvSpPr/>
          <p:nvPr/>
        </p:nvSpPr>
        <p:spPr>
          <a:xfrm>
            <a:off x="6035040" y="96012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44768" y="1014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144768" y="1216152"/>
            <a:ext cx="24323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[5,1,4,2,7,3,6,8]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add(1, 5, 10)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query(2, 6) → 62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query(0, 7) → 86</a:t>
            </a:r>
            <a:endParaRPr lang="en-US" sz="90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2240280"/>
          <a:ext cx="265176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594360"/>
                <a:gridCol w="685800"/>
                <a:gridCol w="6858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树状数组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迭代线段树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递归 + Lazy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2n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4n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运算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可减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结合律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结合律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区间修改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差分技巧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难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代码量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最短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6035040" y="3840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单点修改首选前两者；区间加 / 区间赋值才上 Lazy。Python 递归深 log n，不怕栈。</a:t>
            </a:r>
            <a:endParaRPr lang="en-US" sz="9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✎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课后练习（节选）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几道代表性的题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1F4F2"/>
          </a:solidFill>
          <a:ln w="12700">
            <a:solidFill>
              <a:srgbClr val="D5DD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088136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108813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960120"/>
            <a:ext cx="7269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写出 3 × 4 数组按行优先时 a₂,₁ 相对首地址的偏移（元素占 1 个单元）；把 4 阶下三角压成一维，给出 a₃,₁ 的下标。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581912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D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709928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17099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1581912"/>
            <a:ext cx="7269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说明共享广义表为什么不能简单递归释放，并设计引用计数或访问标记方案。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203704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1F4F2"/>
          </a:solidFill>
          <a:ln w="12700">
            <a:solidFill>
              <a:srgbClr val="D5DD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33172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23317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2203704"/>
            <a:ext cx="7269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空闲块按地址顺序是 900、1500、700。举一个请求，使首次、最佳、最坏适应分别选中三块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的空闲区；为什么「能不能满足」本身分辨不出三种策略？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825496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D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2953512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29535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12.3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2825496"/>
            <a:ext cx="7269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can、car、cat 插入字母 Trie，画出结果，并写出查找 cab 的失败路径。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44728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1F4F2"/>
          </a:solidFill>
          <a:ln w="12700">
            <a:solidFill>
              <a:srgbClr val="D5DD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3575304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66928" y="35753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3447288"/>
            <a:ext cx="7269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从空 AVL 依次插入 1、2、3，画出每次旋转；再插入 0，需要旋转吗？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D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4197096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66928" y="419709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12.4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4069080"/>
            <a:ext cx="7269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伸展树中，之字形和一字形各升几层？为什么半伸展适合连续访问同一结点？</a:t>
            </a:r>
            <a:endParaRPr lang="en-US" sz="11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2103120"/>
            <a:ext cx="3108960" cy="310896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3444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097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多维数组与矩阵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0972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行优先 / 列优先把多个下标换成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一个线性地址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；三角、对称矩阵压一半；稀疏矩阵用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十字链表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，一次更新维护两条链。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1993392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562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广义表与回收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8562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头尾分解对应递归；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后不能按树 delete，靠引用计数；引用计数收不回环，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标记–清除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按可达性回收。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2752344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61518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存储分配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261518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定长结点用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句柄池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（空闲栈）；变长块用首次 / 最佳 / 最坏适应，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分裂与合并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对付碎片。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511296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37413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Trie / Patricia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337413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关键码空间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分解，公共前缀只存一次；Patricia 只记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分歧位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，叶上必须再比完整关键码。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4270248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1330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改进的 BST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13308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 BST 用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动态规划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选根；AVL 用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四种旋转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 O(log n)；伸展树访问后上移，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均摊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O(log n)。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78</Slides>
  <Notes>78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 第12章 高级数据结构</dc:title>
  <dc:subject>PptxGenJS Presentation</dc:subject>
  <dc:creator>Hongfei Yan</dc:creator>
  <cp:lastModifiedBy>Hongfei Yan</cp:lastModifiedBy>
  <cp:revision>1</cp:revision>
  <dcterms:created xsi:type="dcterms:W3CDTF">2026-10-28T11:27:27Z</dcterms:created>
  <dcterms:modified xsi:type="dcterms:W3CDTF">2026-10-28T11:27:27Z</dcterms:modified>
</cp:coreProperties>
</file>