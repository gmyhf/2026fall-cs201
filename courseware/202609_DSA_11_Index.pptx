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第11章  索引技术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Indexing：关键码到记录位置的查找表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线性索引：稠密 / 稀疏 · 多级索引 · 静态多分树与扇出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倒排索引：有序表求交 · 短语查询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树：插入分裂 · 删除借位与合并 · B+ 树与叶链范围扫描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位图索引与尾部掩码 · 游程压缩 · 签名文件 · 红黑树（对照）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Updated 2026-10-28 · github.com/GMyhf/dsa-modernization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主文件太大，怎么先查一张小表？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线性索引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分稠密和稀疏；索引也放不下就建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多级索引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——查一次的代价等于层数。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索引还要支持插入删除，怎么办？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 / B+ 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：靠分裂、借位与合并做局部调整，始终保持平衡。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能不能反过来，从属性值找记录？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倒排索引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把查询变成集合运算；低基数属性用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，粗筛用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索引是「关键码 → 记录位置」的查找表；关键指标不是比较次数，而是</a:t>
            </a:r>
            <a:r>
              <a:rPr lang="en-US" sz="14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磁盘页访问次数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线性索引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1938528"/>
            <a:ext cx="14630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vs 稀疏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变长记录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多级索引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 条记录算出四层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21408" y="105156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31136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静态多分树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176272" y="1938528"/>
            <a:ext cx="14630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多分降树高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扇出是算出来的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批量装入 bulk_load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溢出区与重组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85616" y="105156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95344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倒排索引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1938528"/>
            <a:ext cx="14630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属性倒排 / 正文倒排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双指针求交 O(n+m)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 / 并 / 差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短语查询靠位置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49824" y="105156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559552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59552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动态索引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04688" y="1938528"/>
            <a:ext cx="14630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树定义与访外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插入—分裂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交换—删除—借—合并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 树与叶链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性能分析 · 静态 vs 动态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14032" y="105156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23760" y="1170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位索引技术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68896" y="1938528"/>
            <a:ext cx="14630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位图与按位运算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尾部掩码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游程压缩 · 签名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红黑树（对照）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code/ch11/linear_index/demo.cpp（上）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 条记录，每个数据页 4 条，建稀疏索引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&lt;cstdio&gt;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dsa::index::IndexKind;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dsa::index::MultiLevelIndex;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std::vector&lt;std::pair&lt;int, std::string&gt;&gt; records;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1000; ++i)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records.emplace_back(i * 10, std::string(static_cast&lt;std::size_t&gt;(i % 7) + 1, 'x'));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每个数据页 4 条记录，每个索引页 4 项。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MultiLevelIndex sparse(IndexKind::Sparse, 4, 4);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sparse.load(records);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sparse.reset_counters();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bool hit = sparse.find(5000).has_value();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std::printf("稀疏 · 每页 4 项 : %zu 个数据页，%zu 个索引项，%zu 层，查一次读 %zu 页（命中 %d）\n",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sparse.data_pages(), sparse.entries(), sparse.levels(), sparse.page_reads(),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static_cast&lt;int&gt;(hit));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2153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416552"/>
            <a:ext cx="8010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稀疏 · 每页 4 项 : 250 个数据页，250 个索引项，4 层，查一次读 4 页（命中 1）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code/ch11/linear_index/demo.cpp（下）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索引页放 64 项；换成稠密索引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索引页装得多，层数就少，访外次数随之下降——这就是 11.2 要做多分树的理由。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MultiLevelIndex flat(IndexKind::Sparse, 4, 64);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flat.load(records);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flat.reset_counters();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(void)flat.find(5000);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std::printf("稀疏 · 每页 64 项: %zu 层，查一次读 %zu 页\n", flat.levels(), flat.page_reads());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MultiLevelIndex dense(IndexKind::Dense, 4, 64);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dense.load(records);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dense.reset_counters();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(void)dense.find(5005);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不存在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miss_reads = dense.page_reads();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dense.reset_counters();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(void)dense.find(5000);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存在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std::printf("稠密 · %zu 层      : 查不到读 %zu 页，命中读 %zu 页——"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"多出来的那一页就是数据页，索引里没有就不必去读\n",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dense.levels(), miss_reads, dense.page_reads());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904488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959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160520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稀疏 · 每页 4 项 : 250 个数据页，250 个索引项，4 层，查一次读 4 页（命中 1）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稀疏 · 每页 64 项: 2 层，查一次读 2 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稠密 · 2 层      : 查不到读 1 页，命中读 2 页——多出来的那一页就是数据页，索引里没有就不必去读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 · 看到了什么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三行输出，三个结论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1143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层，查一次读 4 页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37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索引项一页放不下就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逐层上建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，查一次的代价等于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层数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143000"/>
            <a:ext cx="384048" cy="384048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04488" y="1143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 64 项：2 层，读 2 页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737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索引页装得多，层数就少，访外次数随之下降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 11.2 要做多分树的理由。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14300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93408" y="11430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稠密：查不到 1 页，命中 2 页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737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稠密索引在索引里查不到就是真没有，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一个数据页都不用读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；稀疏索引只能定位到页，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查不到也得先把那一页读上来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度量衡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69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本章全部实现都是内存里的</a:t>
            </a: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页模拟</a:t>
            </a: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：结点即页，</a:t>
            </a:r>
            <a:r>
              <a:rPr lang="en-US" sz="135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page_reads()</a:t>
            </a: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数的是页访问次数。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· 11.1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线性索引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项是 (key, location)，按 key 排序，可以在内存里二分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稠密与稀疏 · 变长记录 · 多级索引 · 查一次的代价 = 层数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线性索引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先查一张小表，再按位置读记录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外存上逐条扫描主文件太贵。线性索引的项是 </a:t>
            </a:r>
            <a:r>
              <a:rPr lang="en-US" sz="12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(key, location)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，按 key 排序，可以在内存里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稠密索引：每条记录一项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847088"/>
            <a:ext cx="3758184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主文件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可以无序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查到索引项就直接得到记录位置。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索引里查不到 = 真没有，数据页都不用读。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200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稀疏索引：每个数据块一项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493008"/>
            <a:ext cx="375818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通常记下该块的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 key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查到块之后还要在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块内再找一次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更省空间，但要求主文件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key 分块有序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pic>
        <p:nvPicPr>
          <p:cNvPr id="15" name="Image 0" descr="fig-11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29428"/>
            <a:ext cx="3703320" cy="117598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709160" y="2926080"/>
            <a:ext cx="3977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  线性索引与不等长记录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338328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3474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变长记录离不开「索引 + 位置」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7673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记录长度不同，不能用「基地址 + 下标 × 固定长度」直接算位置。索引项保存关键码和记录地址，把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逻辑顺序与物理布局分开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；主文件移动后要更新地址，索引本身不保存完整记录。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线性索引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索引也放不下：再为它建一层 → 多级索引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2412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024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内存里的顶层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216152"/>
            <a:ext cx="548640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02412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024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读一个索引页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23560" y="1216152"/>
            <a:ext cx="548640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102412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0241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读数据页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60020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F1F4F2"/>
          </a:solidFill>
          <a:ln/>
        </p:spPr>
      </p:sp>
      <p:pic>
        <p:nvPicPr>
          <p:cNvPr id="16" name="Image 0" descr="fig-11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336" y="1664208"/>
            <a:ext cx="5291328" cy="1417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57200" y="3090672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11.2  二级索引文件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关键指标变了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9044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一次查询 = 顶层（常驻内存）→ 逐层读索引页 → 读数据页。这时要数的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CPU 比较次数，而是磁盘页访问次数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09160" y="35204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代价由什么决定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9044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查一次读几页 = 下层索引层数 + 1 个数据页。想少读页，就要让每个索引页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装更多项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，把层数压下来。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线性索引 · 算一笔账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1000 条记录算出四层索引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每个数据页 4 条记录 → ⌈1000/4⌉ =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个数据页；稀疏索引每页一项，索引页也只放 4 项：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0584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占用页数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上一层要为它建多少项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条记录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一级索引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二级索引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三级索引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顶层索引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常驻内存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06440" y="1417320"/>
            <a:ext cx="288036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命中一次读几页？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18013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顶层定位后，三级、二级、一级索引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各读一页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，再读数据页：共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——与 demo 输出一致。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3017520"/>
            <a:ext cx="288036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0" y="3108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索引页容量 4 → 64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40156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 项只占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，再用 1 个顶层页索引它们；查询只读 1 个下层索引页 + 1 个数据页 =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每层页数 = ⌈下层项数 / 4⌉：250 → 63 → 16 → 4 → 1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（顶层只剩一页即停：它常驻内存，不计页访问）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线性索引 · 算一笔账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字节的块，两级索引最多能管多少条记录？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68 字节（关键码 4 + 数据 64），已排序顺序存放；索引项 =（块内最小关键码 4 字节，块号 4 字节）。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447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⌊4096 / 68⌋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8288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230428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每个数据块的记录数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33472" y="14447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/ 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18288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33472" y="230428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每个索引块的项数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36592" y="14447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二级索引 1 块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18288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 个线性索引块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36592" y="230428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每项指一个线性索引块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E3D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39712" y="144475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 × 512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39712" y="182880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 个数据块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230428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线性索引共 2 MB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6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2880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 个数据块 × 60 条 = 15 360K = </a:t>
            </a: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</a:t>
            </a: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条记录（K = 2¹⁰，M = 2²⁰）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两道 MOOC 题是同一个数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0416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「二级索引 4096 字节」与「线性索引 2 MB」说的是同一件事：2 MB / 8 = 256K 项 = 512 × 512。所以两题答案都是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576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0060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题面叫「稠密索引」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40416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但每项指向的是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一个块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（块内最小关键码），按本章的说法是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索引；若真的每条记录一项，容量要再除以 60。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线性索引 · modern.hpp#index-find（上）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find：逐层读索引页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std::optional&lt;std::string&gt; find(int key) const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(levels_.empty())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std::nullopt;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顶层常驻内存：定位到它所在的那一页，不计页访问。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page = locate(levels_.back(), 0, levels_.back().size(), key);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level = levels_.size() - 1; level &gt; 0; --level)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 = levels_[level][page].target;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++reads_;  </a:t>
            </a:r>
            <a:r>
              <a:rPr lang="en-US" sz="9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读一个下层索引页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first = page * entries_per_page_;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std::size_t last = std::min(first + entries_per_page_, levels_[level - 1].size());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(first &gt;= last)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page = locate(levels_[level - 1], first, last, key);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730752"/>
            <a:ext cx="2651760" cy="932688"/>
          </a:xfrm>
          <a:prstGeom prst="roundRect">
            <a:avLst>
              <a:gd name="adj" fmla="val 784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levels_ 的布局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levels_[0]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是底层，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back()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是顶层；顶层常驻内存，第一次定位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不计页访问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3730752"/>
            <a:ext cx="2651760" cy="932688"/>
          </a:xfrm>
          <a:prstGeom prst="roundRect">
            <a:avLst>
              <a:gd name="adj" fmla="val 784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每下一层 +1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循环每走一层就读一个下层索引页。层数越多，读的页越多。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730752"/>
            <a:ext cx="2651760" cy="932688"/>
          </a:xfrm>
          <a:prstGeom prst="roundRect">
            <a:avLst>
              <a:gd name="adj" fmla="val 7843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41148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[first, last)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里找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key ≤ 目标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的项，返回它的下标。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线性索引 · modern.hpp#index-find（下）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底层：稠密与稀疏分道扬镳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7607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61441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Entry&amp; entry = levels_[0][page];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(kind_ == IndexKind::Dense)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稠密索引：索引里没有就是真没有，数据页一次都不用读。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(entry.key != key)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std::nullopt;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++reads_;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records_[entry.target].second;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稀疏索引：只能定位到页，页内还要再找一次；不命中也已经付出了这一页。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++reads_;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first = entry.target * records_per_page_;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last = std::min(first + records_per_page_, records_.size());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first; i &lt; last; ++i)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(records_[i].first == key)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records_[i].second;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std::nullopt;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051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vs 稀疏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344168"/>
            <a:ext cx="2066544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稠密：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entry.key != key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直接返回，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不读数据页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稀疏：先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++reads_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读页，再在页内顺序找。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283464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页内怎么找不重要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2186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页内用顺序查还是二分查，只改变 CPU 比较次数，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不改变「这一页已经读进来」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这个事实。优化顺序：先降树高和随机 I/O，再谈页内比较。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· 11.2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静态索引：多分树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一个结点恰好装满一页 · 多分 → 树矮 → 页访问少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扇出是算出来的 · 批量装入 · 溢出区与重组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 静态多分树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多分树降低的是高度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1148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8" name="Image 0" descr="fig-11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7103"/>
            <a:ext cx="3840480" cy="223503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315968"/>
            <a:ext cx="4114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11.3  多分树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960120"/>
            <a:ext cx="388620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磁盘按页读写，一个索引结点通常设计成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恰好装满一页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二叉树每个结点只有两个孩子，同样多的 key 把树撑得很高 → 查询要读很多页。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每个结点最多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个孩子、树高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：理想满树可导航约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mʰ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个叶页。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同样覆盖一百万个叶页：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00600" y="30632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00600" y="30906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20 层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3639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二叉树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12280" y="30632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AF4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12280" y="30906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层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812280" y="3639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路树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41148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页内要比较更多分界 key，但整页已经在内存里，代价通常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远小于多读一次外存页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 静态多分树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扇出不是随意选的，是算出来的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字节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04288" y="1627632"/>
            <a:ext cx="237744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0320" y="105156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6032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÷ 16 字节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 + 孩子页号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07408" y="1627632"/>
            <a:ext cx="237744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105156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250 项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扣除页头之后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10528" y="1627632"/>
            <a:ext cx="237744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6560" y="105156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扇出 ≈ 251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孩子数 = 项数 + 1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42316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2514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扇出什么时候会下降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807208"/>
            <a:ext cx="37581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：每项占的字节变多。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页头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元数据增加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：一页里能用的空间变少。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242316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0" y="2514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数据库为什么喜欢短关键码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280720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不只为省总空间，也为让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一页容纳更多分支、压低树高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1F4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 11.4 的性能分析会再算一次：4 字节整数关键码、8 字节指针，4096 字节的块里 B+ 树内部结点最多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340 个关键码、341 个孩子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；三层 B+ 树能容纳约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1660 万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条记录。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 静态多分树 · bplus_tree/modern.hpp#bulk_load（节选）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批量装入：按页填满，自底向上建层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212080" cy="3767328"/>
          </a:xfrm>
          <a:prstGeom prst="roundRect">
            <a:avLst>
              <a:gd name="adj" fmla="val 194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60120"/>
            <a:ext cx="5065776" cy="3675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std::vector&lt;std::unique_ptr&lt;Node&gt;&gt; level;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(std::size_t i = 0; i &lt; sorted.size(); i += per_leaf)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leaf = std::make_unique&lt;Node&gt;(true);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j = i; j &lt; sorted.size() &amp;&amp; j &lt; i + per_leaf; ++j)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leaf-&gt;keys.push_back(sorted[j].first);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leaf-&gt;values.push_back(sorted[j].second);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(!level.empty())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level.back()-&gt;next = leaf.get();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level.push_back(std::move(leaf));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rebalance_last_page(level, tree.min_keys(true));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tree.first_leaf_ = level.front().get();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tree.size_ = sorted.size();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(level.size() &gt; 1)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std::vector&lt;std::unique_ptr&lt;Node&gt;&gt; parents;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0; i &lt; level.size(); i += order)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auto parent = std::make_unique&lt;Node&gt;(false);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j = i; j &lt; level.size() &amp;&amp; j &lt; i + order; ++j)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(j != i)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parent-&gt;keys.push_back(smallest_key(level[j].get()));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parent-&gt;children.push_back(std::move(level[j]));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parents.push_back(std::move(parent));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rebalance_last_page(parents, tree.min_keys(false));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level = std::move(parents);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tree.root_ = std::move(level.front());</a:t>
            </a:r>
            <a:endParaRPr lang="en-US" sz="79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1353312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9788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298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key 排好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536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bulk_load 要求 key 严格递增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97880" y="192024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9788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8653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连续填叶页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031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顺手串起叶链 next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97880" y="2487168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788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4323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建上一层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670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用每个孩子的最小 key 当分界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97880" y="3063240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35040" y="3154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为什么要批量装入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44728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叶页天然相邻，范围扫描接近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 I/O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。一条条随机插入再指望同样布局是不行的：结点会因分裂留下空隙，树形和页利用率都不同。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 静态多分树 · 关键要点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一次建好、很少改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307592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0972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查找：从根走到叶，每层读一页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444752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批量装入时按页填满，之后结构不再变。树高就是查一次要读的页数。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2523744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13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插入、删除破坏「一页正好满」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660904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多出来的记录只能进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溢出区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，少了的页会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变稀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，最终往往要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重组整棵树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739896"/>
            <a:ext cx="457200" cy="457200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5295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同一套建法，两种后续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77056"/>
            <a:ext cx="7223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bulk_load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 {10,20,30,50,70,90} 装成 3 阶树，得到 </a:t>
            </a:r>
            <a:r>
              <a:rPr lang="en-US" sz="11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[30,70] / [10,20] [30,50] [70,90]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——正是 11.4 的那棵 B+ 树。区别只在后续：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静态多分树靠重组，B+ 树靠分裂与合并就地维护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 · 11.3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倒排索引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不是由记录确定属性值，而是由属性值确定记录的位置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有序表求交 O(n+m) · 交 / 并 / 差 · 短语查询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倒排索引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按属性值检索记录：倒排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索引表中每一项包括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一个属性值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具有该属性值的各记录地址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。由于不是由记录来确定属性值，而是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由属性值来确定记录的位置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，因而称为倒排索引（inverted index）；带有倒排索引的文件称为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倒排文件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206240" cy="2926080"/>
          </a:xfrm>
          <a:prstGeom prst="roundRect">
            <a:avLst>
              <a:gd name="adj" fmla="val 2500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原书表 11.1：教师登记表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21408"/>
            <a:ext cx="3986784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职工号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EMP#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是主关键码，可以唯一标识一个教员。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姓名、系、职称、专长、地址等属性则不能：计算机系几十名教员，就有几十个记录的「系」是「计算机」。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查「职称为讲师的所有职工号」要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顺序扫描所有记录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；查「计算机系擅长英语」还要逐个记录先查「系」再查「专长」。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737360"/>
            <a:ext cx="3794760" cy="2926080"/>
          </a:xfrm>
          <a:prstGeom prst="roundRect">
            <a:avLst>
              <a:gd name="adj" fmla="val 2500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倒排表（inverted list）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对每个感兴趣属性的每个值，建一张线性表，存放对应的所有关键码：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269748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0" y="26974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679192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6791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0310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30568" y="2679192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0568" y="26791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0330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97496" y="2679192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97496" y="26791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0341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0" y="324612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0" y="32461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英语专长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227832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322783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0310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30568" y="3227832"/>
            <a:ext cx="566928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30568" y="322783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0421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0" y="3794760"/>
            <a:ext cx="3520440" cy="0"/>
          </a:xfrm>
          <a:prstGeom prst="line">
            <a:avLst/>
          </a:prstGeom>
          <a:noFill/>
          <a:ln w="12700">
            <a:solidFill>
              <a:srgbClr val="D5DD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0" y="38587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「计算机系且擅长英语」= 两个有序列表的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[0310]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。倒排表只存标识和位置，完整记录仍在主文件里。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倒排索引 · 对正文文件的倒排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词索引 vs 全文索引；posting list 存什么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CFE0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词索引（word index）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89888"/>
            <a:ext cx="3758184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把正文看做符号和词的集合，抽取关键词组成快速检索结构。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适合容易解析成词的文本（如英文）；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不适合生物学数据和一些东方语言文本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查询词限制在关键词范围内。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097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全文索引（full-text index）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1389888"/>
            <a:ext cx="3758184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把正文看做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一个长字符串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，记录子字符串的开始位置。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可以查询正文中的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任何子字符串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代价：通常需要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更大的空间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090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倒排文件是使用得最广泛的词索引：排序关键词列表，每个词指向一个 posting list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tᵢ → { (dᵢ₁, fᵢ₁, aᵢ₁), (dᵢ₂, fᵢ₂, aᵢ₂), … }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58768"/>
            <a:ext cx="7863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文档标号 ·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该词在文档中的出现次数 ·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出现信息（位置、权重等）。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为省空间、提高响应，可去掉频率甚至位置，只留文档号；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本节实现保留位置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——短语查询需要它。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倒排索引 · 先跑一遍 code/ch11/inverted_index/demo.cpp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交、并、差与短语查询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257800" cy="3767328"/>
          </a:xfrm>
          <a:prstGeom prst="roundRect">
            <a:avLst>
              <a:gd name="adj" fmla="val 194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60120"/>
            <a:ext cx="5111496" cy="3675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&lt;cstdio&gt;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dsa::index::InvertedIndex index;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index.add_document(310, {"计算机系", "英语专长"});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index.add_document(330, {"计算机系"});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index.add_document(341, {"计算机系"});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index.add_document(421, {"英语专长"});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show = [](const char* label, const std::vector&lt;int&gt;&amp; docs)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std::printf("%s:", label);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(const int doc : docs)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std::printf(" %04d", doc);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std::printf("\n");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show("计算机系          ", index.postings("计算机系"));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show("英语专长          ", index.postings("英语专长"));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show("计算机系且擅长英语", index.and_query({"计算机系", "英语专长"}));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show("计算机系或擅长英语", index.or_query({"计算机系", "英语专长"}));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show("不擅长英语        ", index.not_query("英语专长"));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dsa::index::InvertedIndex text;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text.add_document(1, {"the", "quick", "brown", "fox"});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text.add_document(2, {"the", "brown", "quick", "fox"});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show("含 quick 与 brown ", text.and_query({"quick", "brown"}));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show("短语 quick brown  ", text.phrase_query({"quick", "brown"}));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5897880" y="960120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0760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216152"/>
            <a:ext cx="25694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计算机系          : 0310 0330 0341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英语专长          : 0310 0421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计算机系且擅长英语: 0310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计算机系或擅长英语: 0310 0330 0341 0421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不擅长英语        : 0330 0341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含 quick 与 brown : 0001 0002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短语 quick brown  : 0001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269748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看到了什么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07608" y="3081528"/>
            <a:ext cx="2569464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，非 = 相对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全部文档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最后两行：2 号文档两个词都有，但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不相邻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——只有位置信息能把它排除。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倒排索引 · 手算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两个指针怎样求交：A = [310, 330, 341]，B = [310, 421]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3035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822960"/>
                <a:gridCol w="822960"/>
                <a:gridCol w="2286000"/>
                <a:gridCol w="868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A[i]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B[j]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相等，两边都前进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左边小，只移动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左边小，只移动 </a:t>
                      </a:r>
                      <a:r>
                        <a:rPr lang="en-US" sz="1200" b="1" dirty="0">
                          <a:solidFill>
                            <a:srgbClr val="3E7C6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74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O(n+m)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587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至少有一个指针前进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，所以总步数不超过两张表长度之和。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3474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DF0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3756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反面写法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38587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 的每个文档号都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从头扫描 B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，会把 O(n+m) 退化成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O(nm)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89320" y="105156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26480" y="1143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多词 AND：先交最短的表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143560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三张表长 10、1000、100000：先交最短的，往往能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尽早把候选集缩小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；先合并后两张会制造一个很大的中间结果。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292608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26480" y="3017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 与 NOT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331012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 要在归并时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；NOT 必须相对于「全部文档集合」求差——单独一张倒排表无法知道哪些文档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该词。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倒排索引 · modern.hpp#inverted-intersect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intersect：归并一遍，两个指针各走一趟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807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9344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有序表求交。归并一遍，两个指针各走一趟，代价 O(n+m)。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static std::vector&lt;int&gt; intersect(const std::vector&lt;int&gt;&amp; left,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const std::vector&lt;int&gt;&amp; right)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out;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i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std::size_t j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(i &lt; left.size() &amp;&amp; j &lt; right.size())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(left[i] &lt; right[j])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++i;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if (right[j] &lt; left[i])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++j;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out.push_back(left[i]);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++i;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++j;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20840" y="960120"/>
            <a:ext cx="1965960" cy="1783080"/>
          </a:xfrm>
          <a:prstGeom prst="roundRect">
            <a:avLst>
              <a:gd name="adj" fmla="val 4103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051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前提：按文档号升序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344168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add_document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要求文档号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严格递增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——倒排表有序，是后面所有集合运算的前提。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2880360"/>
            <a:ext cx="196596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为什么手写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3264408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这段归并是本节的核心，所以要自己写；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换成一行库调用，这一节就没有内容了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倒排索引 · 上机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04093 倒排索引查询：先交、后差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sys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sys.stdin.read().split()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 0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nxt():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pos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 += 1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int(data[pos - 1])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nxt()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[]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range(n):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nxt()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docs.append(set(nxt() for _ in range(c)))   </a:t>
            </a:r>
            <a:r>
              <a:rPr lang="en-US" sz="86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每个词的 posting 集合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range(nxt()):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[nxt() for _ in range(n)]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must = [docs[i] for i in range(n) if q[i] == 1]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ban = [docs[i] for i in range(n) if q[i] == -1]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 = set.intersection(*must)  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1：先把必须出现的求交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 in ban: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ans -= b                               </a:t>
            </a:r>
            <a:r>
              <a:rPr lang="en-US" sz="86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-1：最后统一减掉</a:t>
            </a:r>
            <a:endParaRPr lang="en-US" sz="8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print(*sorted(ans) if ans else ["NOT FOUND"])</a:t>
            </a:r>
            <a:endParaRPr lang="en-US" sz="86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960120"/>
          <a:ext cx="26517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23444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1 1 1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{1,2,3}∩{2}∩{3}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 FOUND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1 −1 0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{1,2,3} − {2}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1 −1 −1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{1,2,3} − {2} − {3}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03504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三个词的文档表：{1,2,3}、{2}、{3}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26060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7220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−1 / 0 = AND / NOT / 不管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29900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11.3 的 intersect 同一个思想：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从最短的必含表出发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，NOT 只从结果里剔除，不去构造「不含该词的文档」。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72200" y="3931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 vs 有序表归并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 求交平均 O(较小集合)；搜索引擎的 posting 表有序，用双指针归并。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倒排索引 · 短语查询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短语查询要存位置：quick brown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倒排项不能只存文档号，还要存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词在文档中的位置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（从 0 数起）：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1600200"/>
            <a:ext cx="7772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0" y="1600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1984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23160" y="1600200"/>
            <a:ext cx="77724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3160" y="1600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1984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0" y="1600200"/>
            <a:ext cx="777240" cy="384048"/>
          </a:xfrm>
          <a:prstGeom prst="rect">
            <a:avLst/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1600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984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77640" y="1600200"/>
            <a:ext cx="7772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77640" y="1600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77640" y="19842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(1, 2)，相差 1 → 保留 ✓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45920" y="2788920"/>
            <a:ext cx="7772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45920" y="27889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645920" y="31729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23160" y="2788920"/>
            <a:ext cx="77724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23160" y="27889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brown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423160" y="31729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0" y="2788920"/>
            <a:ext cx="77724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0" y="27889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00400" y="31729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77640" y="2788920"/>
            <a:ext cx="77724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77640" y="27889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77640" y="31729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在 2、brown 在 1：次序相反 → 排除 ✗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CFE0D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9436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两步走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42245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先按文档号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求交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把候选缩小，再在候选文档内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检查位置是否相邻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——可避免读取无关位置表。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38404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46320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维护代价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846320" y="42245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查询变成集合运算，很快；代价是每次插入、删除、修改记录，都要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同步维护所有相关列表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倒排索引 · inverted_index/modern.hpp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phrase_query：先求交，再看位置是否相邻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0807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93445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短语查询：先求交把候选文档缩小，再用位置是否相邻过滤。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std::vector&lt;int&gt; phrase_query(const std::vector&lt;std::string&gt;&amp; phrase)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(phrase.empty())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{};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candidates = and_query(phrase);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out;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(const int doc : candidates)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(const int start : positions_of(phrase.front(), doc))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bool adjacent = true;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(std::size_t step = 1; step &lt; phrase.size() &amp;&amp; adjacent; ++step)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adjacent = has_position(phrase[step], doc, start + static_cast&lt;int&gt;(step));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(adjacent)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out.push_back(doc);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720840" y="96012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051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34416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and_query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逐个求交：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候选集先缩小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22860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6700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第一个词在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，第 k 个词必须恰好在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+ k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20840" y="35661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9502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在 2，brown 应在 3，实际在 1 → 不相邻。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 · 11.4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动态索引：B 树与 B+ 树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插入删除时索引结构本身也会改变，以保持较好的检索性能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插入—分裂 · 交换—删除—借—合并 · B+ 树叶链 · 性能分析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 动态索引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为什么外存索引必须用平衡的多分树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49377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静态索引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一旦建立，插入删除只能靠溢出区兜着；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动态索引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在插删时结构本身也会改变。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BST 不能保证平衡，可能退化为线性表——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退化的树结构将导致树形索引的失败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，面临巨大的访外开销。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外存索引结点在不超过页块大小的前提下，应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尽量多放关键码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章的 AVL 树保持 Θ(log n) 平衡，但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频繁的插删调整对外存也需要很大的 I/O 访问量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于是问题变成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904488"/>
            <a:ext cx="471830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怎样保持多分树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高度上的平衡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，不让它退化？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怎样让结点中关键码尽可能多，而插删又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不需要太多调整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960120"/>
            <a:ext cx="3063240" cy="2011680"/>
          </a:xfrm>
          <a:prstGeom prst="roundRect">
            <a:avLst>
              <a:gd name="adj" fmla="val 3636"/>
            </a:avLst>
          </a:prstGeom>
          <a:solidFill>
            <a:srgbClr val="1E3D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0644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1600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R. Bayer 和 E. McCreight 提出 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（balanced tree）：一种平衡的多分树，适用于组织动态的索引结构。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23560" y="310896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FDF0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0" y="3200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读音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49300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国内也有人写「B-树」，其中的「-」是英文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连字符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不要说成「B 减树」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 B 树 · 定义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阶 B 树：五条，缺一不可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69848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69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005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每个结点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至多有 m 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子结点。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36776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636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5727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除根结点和叶结点外，其他每个结点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至少有 ⌈m/2⌉ 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子结点。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1396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根结点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至少有两个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子结点（例外：根可以为空，或者独根）。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706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所有的叶结点在同一层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，可以有 ⌈m/2⌉−1 到 m−1 个关键码。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2735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k 个子结点的分支结点恰好包含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k−1 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3192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最底层叶结点的指针指向空（对应失败检索）：</a:t>
            </a:r>
            <a:r>
              <a:rPr lang="en-US" sz="11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空指针数目 = 关键码数目 + 1</a:t>
            </a:r>
            <a:r>
              <a:rPr lang="en-US" sz="110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1005840"/>
            <a:ext cx="3017520" cy="2926080"/>
          </a:xfrm>
          <a:prstGeom prst="roundRect">
            <a:avLst>
              <a:gd name="adj" fmla="val 2500"/>
            </a:avLst>
          </a:prstGeom>
          <a:solidFill>
            <a:srgbClr val="FFF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064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树的四条性质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779008" y="1389888"/>
            <a:ext cx="2798064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树高平衡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的，所有叶结点在同一层。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更新和检索只影响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一些磁盘块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，性能很好。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关键码接近的记录放在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同一个磁盘块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，利用访问局部性。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保证一定比例的结点是满的：空间利用率有保证，插删也不必频繁改结点。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4069080"/>
            <a:ext cx="3017520" cy="594360"/>
          </a:xfrm>
          <a:prstGeom prst="roundRect">
            <a:avLst>
              <a:gd name="adj" fmla="val 12308"/>
            </a:avLst>
          </a:prstGeom>
          <a:solidFill>
            <a:srgbClr val="1E3D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0" y="4069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阶为 3 的 B 树就是「2-3 树」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 B 树 · 结点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一个结点：多个有序 key，key 之间是孩子指针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F1F4F2"/>
          </a:solidFill>
          <a:ln/>
        </p:spPr>
      </p:sp>
      <p:pic>
        <p:nvPicPr>
          <p:cNvPr id="8" name="Image 0" descr="fig-11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903" y="1097280"/>
            <a:ext cx="7202194" cy="10515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14884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11.4  B 树结点的一般形式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606040"/>
            <a:ext cx="512064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个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关键码的内部结点有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r+1 个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孩子：最左孩子的键都小于第一个关键码，相邻两个关键码之间各管一个区间，最右孩子的键都大于最后一个关键码。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查找从根开始：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页内先定位区间，再沿对应页号下降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，读孩子页。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树高随阶数增大而降低，一次查找的页数大约是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logₘ n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06440" y="26060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697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结构自检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990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若孩子数与关键码数不满足「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多一个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」，结点结构已经损坏。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361188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树是专为磁盘页设计的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3995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一个结点 = 一页；页内比较在内存里做，代价远小于多读一页。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 B 树 · 检索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检索要算访外次数：以图 11.5 为例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5262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8" name="Image 0" descr="fig-11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796" y="1005840"/>
            <a:ext cx="4283089" cy="3383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389120"/>
            <a:ext cx="4526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11.5  同一棵 3 阶 B 树的三种画法</a:t>
            </a:r>
            <a:endParaRPr lang="en-US" sz="9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005840"/>
          <a:ext cx="3474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25880"/>
                <a:gridCol w="77724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访问的索引结点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a、c、i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a₁₂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a、b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21208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设树高 h（独根为 1）：自顶向下最多读 h 次索引盘，再按隐含指针读 1 次数据盘，即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h+1 次访外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212080" y="283464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34924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三种画法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32186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通常画法；(b) 画出外部空结点；(c) 画出隐含指针——a₁～a₁₆ 是关键码在主文件里对应磁盘块的地址。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212080" y="393192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CFE0D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3492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B+ 树的分水岭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34924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树的关键码在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内部结点上也带着数据地址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 B 树 · 插入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插入—分裂：可能导致 B 树朝着根的方向生长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02412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10058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关键码已在树中 → 拒绝插入；否则最后找到的叶结点就是插入位置。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5564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插入叶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17373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插入后关键码个数 &lt; m → 完成。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4871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上溢出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2468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个数 = m：取中位数为分界码，叶分裂为 ⌈(m−1)/2⌉ 与 ⌊(m−1)/2⌋ 个关键码的两个结点，分界码插入父结点。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2186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向上传递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3200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父结点没有上溢则结束；否则继续分裂，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可能一直分裂到根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，树增高一层。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15000" y="100584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978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插入最多访外次数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+ 2(h−1) + 3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3h + 1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897880" y="2286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向下读盘 h 次；每分裂一个非根结点写出 2 个结点；分裂根（最后一次）写出 3 个结点。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15000" y="3474720"/>
            <a:ext cx="297180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852160" y="3566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385876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原书图 11.7 那次根也分裂的插入：3 × 3 + 1 =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次访外。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 B 树 · 插入示例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在图 11.5 的 3 阶 B 树里插入 14、55，再插入 19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pic>
        <p:nvPicPr>
          <p:cNvPr id="8" name="Image 0" descr="fig-11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4056"/>
            <a:ext cx="3794760" cy="11923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880360"/>
            <a:ext cx="3977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11.6  插入 14、55 后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pic>
        <p:nvPicPr>
          <p:cNvPr id="11" name="Image 1" descr="fig-11-7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11942"/>
            <a:ext cx="3794760" cy="14165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2880360"/>
            <a:ext cx="3977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11.7  再插入 19：根分裂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3429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94360" y="3520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14、55：就地放下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" y="38130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两次插入都能就地放下，树高不变——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大多数插入就是这样结束的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09160" y="342900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846320" y="3520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19：一路裂到根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846320" y="38130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叶溢出、分裂、分界 key 上推，父结点跟着溢出，一路裂到根，树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增高一层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。B 树只在这一种情况下长高，所以所有叶永远在同一层。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 B 树 · 深入讨论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两个「为什么」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704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根为什么可以只有 2 个子结点？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45920"/>
            <a:ext cx="36576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插入分裂到根时，会分为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个子结点并产生一个新根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；若要求根与内部结点同样的出度，就要大调整，违背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局部调整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根往往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保存在内存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中，不需要遵守下限；大部分内部结点在外存，要保证至少半满以折衷存储与操作效率。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根也不可能只有 1 个子结点：浪费空间，还增加检索时间。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3611880"/>
          </a:xfrm>
          <a:prstGeom prst="roundRect">
            <a:avLst>
              <a:gd name="adj" fmla="val 2025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14300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1704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插入时为什么分裂，不「送给邻居」？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645920"/>
            <a:ext cx="3657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插入可能发生在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创建阶段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，分裂出的结点很快就会增加新的关键码。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送关键码要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读和修改邻居结点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，访外开销大，操作也麻烦。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342900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0" y="3520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对比删除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8130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删除下溢时反过来：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先向兄弟借，借不到再合并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 B 树 · 删除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交换—删除—借关键码—合并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06424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106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9875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98755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待删关键码不在叶层：先与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对换位置再删。后继 = 右指针所指子树中最左结点的最小关键码，一定在叶层。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865376"/>
            <a:ext cx="384048" cy="384048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465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174650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在叶层直接删除；可能使关键码个数 &lt; ⌈m/2⌉−1，产生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下溢出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5054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50545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看直接左兄弟或右兄弟（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先左后右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）：被删结点、被借结点与父结点分界码一起排列，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取中位数为新分界码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2644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32644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兄弟也只剩 ⌈m/2⌉−1 个：本结点 + 兄弟 + 父分界码合为一个结点；父少一个关键码，可能继续合并，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传到根则树减少一层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987552"/>
            <a:ext cx="2788920" cy="233172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35040" y="10789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先借还是先合并？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1371600"/>
            <a:ext cx="2514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一般先看能否借，借不了再合并。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阶比较小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 3 阶、4 阶）时删除可能出现空结点，可以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先考虑合并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，有可能降低树高；实际 B 树阶很大，不会删一个关键码就变空。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97880" y="342900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3504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借时为什么取中位数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38130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让两个新兄弟所含关键码个数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基本相同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，可以延迟下一次删除引起的下溢出。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 B 树 · 删除示例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 B 树连续删除 120、150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406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8" name="Image 0" descr="fig-11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37807"/>
            <a:ext cx="5257800" cy="35479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26480" y="9601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6364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删 120 → 借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13441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先与中序后继交换再删，删后下溢，向左邻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：118 上移，c 应为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118 150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（扫描件印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120 150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是笔误，120 已删）。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242316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6364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删 150 → 合并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80720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先与后继 156 交换；叶 i 只剩 177 下溢，它只有左兄弟 h，h 恰在下限借不到 → h、156、i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；c 随之下溢，b、103、c 合并成新根，树降一层。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11.8  局部调整保证所有叶在同一层，B 树始终平衡。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11.4.1 B 树 · 删除 · 访外次数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删除时左右兄弟都检查：高度 h 最多访外 4h − 2 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00584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读路径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00584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根到叶 h 个结点（路径结点留在内存，不重复读）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005840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347472" cy="347472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57276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读兄弟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157276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根以下每层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左右两个兄弟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都要看，才能决定借还是合并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157276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2(h − 1)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212848"/>
            <a:ext cx="347472" cy="347472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2139696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写合并结果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213969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根以下每层合并一次，写回合并后的结点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13969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− 1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779776"/>
            <a:ext cx="347472" cy="347472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2706624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写根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270662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最后根少一个关键码（或被合并掉）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70662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40880" y="1005840"/>
            <a:ext cx="1645920" cy="2212848"/>
          </a:xfrm>
          <a:prstGeom prst="roundRect">
            <a:avLst>
              <a:gd name="adj" fmla="val 4444"/>
            </a:avLst>
          </a:prstGeom>
          <a:solidFill>
            <a:srgbClr val="1E3D3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1078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− 2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= 4 → 14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= 5 → 18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FF6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3474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和插入对照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37673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插入最坏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3h + 1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（读路径 h，每层分裂写两个结点 2(h−1)，根裂再写 3 个）。删除多出来的是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读兄弟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：只看一个兄弟时是 h + (h−1) + (h−1) + 1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3h − 1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760720" y="338328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CFE0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89788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MOOC 两道题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897880" y="376732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「修改删除方式：左右兄弟都检查」，高度 5 的 B 树最多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次，高度 4 的最多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次——都是这个计法。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B+ 树 · 定义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 树：关键码全在叶上，内部结点只作路标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树的变形有很多：充满度不同、各层阶不同、关键码变长……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把关键码全部顺序存储在叶结点上、索引部分是结点内最大（或最小）关键码的复写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——就是应用最广的 B+ 树。</a:t>
            </a:r>
            <a:endParaRPr lang="en-US" sz="11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阶 B 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阶 B+ 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 个子结点的分支结点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恰好 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k−1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个关键码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必有 </a:t>
                      </a: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</a:t>
                      </a: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个关键码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除根外的下限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内部结点至少 ⌈m/2⌉ 个子结点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每个结点至少 ⌈m/2⌉ 个子结点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叶的关键码数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⌈m/2⌉−1 到 m−1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⌈m/2⌉ 到 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记录信息在哪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内部结点也带数据地址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叶包含全部关键码及记录信息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叶之间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无横向链接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可用双链表顺序链接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范围扫描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要反复爬树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找到下限所在叶，沿叶链扫到上限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关系数据库的磁盘索引多用 B+ 树，正是因为</a:t>
            </a: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范围扫描是常见操作</a:t>
            </a:r>
            <a:r>
              <a:rPr lang="en-US" sz="11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B+ 树 · 两套约定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11.4.2 的约定 vs 本章的约定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pic>
        <p:nvPicPr>
          <p:cNvPr id="8" name="Image 0" descr="fig-11-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1663" y="1005840"/>
            <a:ext cx="5400675" cy="1280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11.9  3 阶 B+ 树（原书约定：最大关键码复写，叶存 2～3 个 key）。扫描件叶 f 印作 5 30，应为 25 30</a:t>
            </a:r>
            <a:endParaRPr lang="en-US" sz="9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5669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21031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本章（code/ch11/bplus_tree）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原书 11.4.2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order 的含义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一个结点最多几个孩子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叶的关键码容量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最多 order − 1（3 阶：≤ 2 个）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⌈m/2⌉～m（3 阶：2～3 个）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分界码取值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右子树的最小关键码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最大关键码复写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42062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两套约定都成立，对照原书读时注意这处差别；叶分裂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复写</a:t>
            </a: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、内部分裂</a:t>
            </a:r>
            <a:r>
              <a:rPr lang="en-US" sz="105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上移</a:t>
            </a:r>
            <a:r>
              <a:rPr lang="en-US" sz="10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，两套一致。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55080" y="265176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9224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多走一步换来什么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035808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 内部关键码只是叶键的复写，点查询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必须走到叶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。换来的是内部页只放短 key 和孩子指针：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扇出更大、树更矮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，所有记录都在同一叶层。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B+ 树 · 本章的 3 阶 B+ 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内部结点只导航，数据全在叶层，叶之间有横链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84632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0" y="118872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1E3D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1887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 |  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H="1">
            <a:off x="1234440" y="1499616"/>
            <a:ext cx="1280160" cy="60350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10312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103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| 20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记录…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234440" y="2414016"/>
            <a:ext cx="0" cy="283464"/>
          </a:xfrm>
          <a:prstGeom prst="line">
            <a:avLst/>
          </a:prstGeom>
          <a:noFill/>
          <a:ln w="12700">
            <a:solidFill>
              <a:srgbClr val="B8C7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1499616"/>
            <a:ext cx="0" cy="60350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10312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31720" y="2103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| 50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80360" y="2414016"/>
            <a:ext cx="0" cy="283464"/>
          </a:xfrm>
          <a:prstGeom prst="line">
            <a:avLst/>
          </a:prstGeom>
          <a:noFill/>
          <a:ln w="12700">
            <a:solidFill>
              <a:srgbClr val="B8C7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499616"/>
            <a:ext cx="1280160" cy="60350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210312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77640" y="2103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 | 90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697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记录…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26280" y="2414016"/>
            <a:ext cx="0" cy="283464"/>
          </a:xfrm>
          <a:prstGeom prst="line">
            <a:avLst/>
          </a:prstGeom>
          <a:noFill/>
          <a:ln w="12700">
            <a:solidFill>
              <a:srgbClr val="B8C7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01368" y="2258568"/>
            <a:ext cx="512064" cy="0"/>
          </a:xfrm>
          <a:prstGeom prst="line">
            <a:avLst/>
          </a:prstGeom>
          <a:noFill/>
          <a:ln w="15240">
            <a:solidFill>
              <a:srgbClr val="A06A00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447288" y="2258568"/>
            <a:ext cx="512064" cy="0"/>
          </a:xfrm>
          <a:prstGeom prst="line">
            <a:avLst/>
          </a:prstGeom>
          <a:noFill/>
          <a:ln w="15240">
            <a:solidFill>
              <a:srgbClr val="A06A00"/>
            </a:solidFill>
            <a:prstDash val="solid"/>
            <a:headEnd type="triangl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4008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叶链 ↔：范围扫描不必再回到内部结点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CFE0D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 50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9959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根上 30 ≤ 50 &lt; 70，走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中间孩子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；叶上直接取到 50。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71800" y="36118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108960" y="3703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 35 到 80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108960" y="39959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先落到含 35 的叶，再沿 ↔ 扫过 50、70，直到超过 80。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32120" y="960120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0" y="1051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等于分界码走哪边？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134416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本章分界码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右子树的最小 key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，所以等于分界码要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走右边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（代码里用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upper_bound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32120" y="2258568"/>
            <a:ext cx="3154680" cy="1188720"/>
          </a:xfrm>
          <a:prstGeom prst="roundRect">
            <a:avLst>
              <a:gd name="adj" fmla="val 6154"/>
            </a:avLst>
          </a:prstGeom>
          <a:solidFill>
            <a:srgbClr val="CFE0D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669280" y="23500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这棵树从哪来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0" y="2642616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 的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bulk_load(3, rows, 2)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：6 条记录每叶装 2 个，自底向上建出根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[30,70]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32120" y="35661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669280" y="3657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B 树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0" y="395020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树命中内部关键码时就可能拿到记录；B+ 树要走到叶，但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路径长度统一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B+ 树 · 插入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 60：叶裂 → 根裂 → 树增高一层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4572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1783080"/>
                <a:gridCol w="1051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发生溢出的页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局部结果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向父层传什么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叶 [30,50]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 60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叶页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[30] 与 [50,60]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复写 50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父层接收 50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key 变为 [30,50,70]，4 个孩子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上移 50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建新根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新根 [50]，树高加 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27432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中间叶暂成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[30|50|60]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，超过 2 个 key 的上限：取中位数 50 作分界，50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复写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一份上推（叶上仍保留）；根成了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[30|50|70]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、要挂 4 个孩子，同样超限，中位数 50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成为新根。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DF0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最容易混的一处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4224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叶分裂：分界 key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复写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（叶上仍留一份）；内部结点分裂：分界 key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（原结点不再保留）。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57800" y="960120"/>
            <a:ext cx="3429000" cy="370332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394960" y="1024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插入后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52260" y="137160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E3D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52260" y="137160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214884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21488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543800" y="214884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43800" y="21488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 flipH="1">
            <a:off x="6126480" y="1682496"/>
            <a:ext cx="685800" cy="46634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32320" y="1682496"/>
            <a:ext cx="685800" cy="46634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21808" y="29718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21808" y="29718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10|20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26480" y="2971800"/>
            <a:ext cx="457200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26480" y="29718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031736" y="29718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31736" y="29718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50|60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854696" y="29718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54696" y="29718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70|90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 flipH="1">
            <a:off x="5650992" y="2459736"/>
            <a:ext cx="338328" cy="51206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63640" y="2459736"/>
            <a:ext cx="91440" cy="51206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H="1">
            <a:off x="7360920" y="2459736"/>
            <a:ext cx="320040" cy="51206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2459736"/>
            <a:ext cx="228600" cy="51206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89320" y="3127248"/>
            <a:ext cx="128016" cy="0"/>
          </a:xfrm>
          <a:prstGeom prst="line">
            <a:avLst/>
          </a:prstGeom>
          <a:noFill/>
          <a:ln w="15240">
            <a:solidFill>
              <a:srgbClr val="A06A00"/>
            </a:solidFill>
            <a:prstDash val="solid"/>
            <a:headEnd type="triangl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6592824" y="3127248"/>
            <a:ext cx="429768" cy="0"/>
          </a:xfrm>
          <a:prstGeom prst="line">
            <a:avLst/>
          </a:prstGeom>
          <a:noFill/>
          <a:ln w="15240">
            <a:solidFill>
              <a:srgbClr val="A06A00"/>
            </a:solidFill>
            <a:prstDash val="solid"/>
            <a:headEnd type="triangl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7699248" y="3127248"/>
            <a:ext cx="146304" cy="0"/>
          </a:xfrm>
          <a:prstGeom prst="line">
            <a:avLst/>
          </a:prstGeom>
          <a:noFill/>
          <a:ln w="15240">
            <a:solidFill>
              <a:srgbClr val="A06A00"/>
            </a:solidFill>
            <a:prstDash val="solid"/>
            <a:headEnd type="triangle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539496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[50] / [30] [70]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[10,20] [30] [50,60] [70,90]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39496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用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to_string()</a:t>
            </a: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逐层打印，与此一致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B+ 树 · modern.hpp#bplus-split（上）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split_leaf：分界码复写上推，叶上仍保留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split_leaf(Node* node, Split&amp; split)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mid = node-&gt;keys.size() / 2;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right = std::make_unique&lt;Node&gt;(true);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right-&gt;keys.assign(node-&gt;keys.begin() + static_cast&lt;std::ptrdiff_t&gt;(mid), node-&gt;keys.end());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right-&gt;values.assign(std::make_move_iterator(node-&gt;values.begin() + static_cast&lt;std::ptrdiff_t&gt;(mid)),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std::make_move_iterator(node-&gt;values.end()));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node-&gt;keys.resize(mid);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node-&gt;values.resize(mid);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right-&gt;next = node-&gt;next;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node-&gt;next = right.get();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叶分裂：分界码是右叶最小关键码，复写上推，叶上仍保留。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split.happened =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split.separator = right-&gt;keys.front();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split.right = std::move(right);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writes_ += 2;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60" y="400507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" y="40050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30|50|60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4160520"/>
            <a:ext cx="411480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63140" y="4005072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63140" y="40050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4005072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CDEBD9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1800" y="40050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50|60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70632" y="4160520"/>
            <a:ext cx="201168" cy="0"/>
          </a:xfrm>
          <a:prstGeom prst="line">
            <a:avLst/>
          </a:prstGeom>
          <a:noFill/>
          <a:ln w="15240">
            <a:solidFill>
              <a:srgbClr val="A06A00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749040" y="40050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上推 50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= 3/2 =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365760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0" y="3749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别漏了第 9–10 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0416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新右叶要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接进叶链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right-&gt;next = node-&gt;next; node-&gt;next = right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。漏掉它点查询全绿，范围扫描却会断。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writes_ += 2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：写出左右两页。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B+ 树 · modern.hpp#bplus-split（下）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split_internal：中位数上移，原结点不再保留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2423160"/>
          </a:xfrm>
          <a:prstGeom prst="roundRect">
            <a:avLst>
              <a:gd name="adj" fmla="val 3019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split_internal(Node* node, Split&amp; split)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mid = node-&gt;keys.size() / 2;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right = std::make_unique&lt;Node&gt;(false);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内部结点分裂：中位数上移，原结点不再保留它。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split.separator = node-&gt;keys[mid];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right-&gt;keys.assign(node-&gt;keys.begin() + static_cast&lt;std::ptrdiff_t&gt;(mid) + 1, node-&gt;keys.end());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right-&gt;children.assign(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std::make_move_iterator(node-&gt;children.begin() + static_cast&lt;std::ptrdiff_t&gt;(mid) + 1),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std::make_move_iterator(node-&gt;children.end()));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node-&gt;keys.resize(mid);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node-&gt;children.resize(mid + 1);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split.happened = true;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split.right = std::move(right);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writes_ += 2;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1F4F2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60" y="3931920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" y="39319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30|50|70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4087368"/>
            <a:ext cx="411480" cy="0"/>
          </a:xfrm>
          <a:prstGeom prst="line">
            <a:avLst/>
          </a:prstGeom>
          <a:noFill/>
          <a:ln w="19050">
            <a:solidFill>
              <a:srgbClr val="6B7B7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57500" y="361188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1E3D34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57500" y="36118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08860" y="420624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08860" y="42062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06140" y="4206240"/>
            <a:ext cx="502920" cy="310896"/>
          </a:xfrm>
          <a:prstGeom prst="roundRect">
            <a:avLst>
              <a:gd name="adj" fmla="val 14706"/>
            </a:avLst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6140" y="42062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H="1">
            <a:off x="2560320" y="3922776"/>
            <a:ext cx="411480" cy="28346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3922776"/>
            <a:ext cx="411480" cy="283464"/>
          </a:xfrm>
          <a:prstGeom prst="line">
            <a:avLst/>
          </a:prstGeom>
          <a:noFill/>
          <a:ln w="12700">
            <a:solidFill>
              <a:srgbClr val="3E7C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keys: [0, mid) 留下，mid 上移，(mid, end) 去右边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92040" y="352044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6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0" y="3611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split_leaf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01768" y="3904488"/>
            <a:ext cx="357530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 → 分界码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仍在右叶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内部：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+ 1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开始 →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keys[mid]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只去父结点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孩子数 = 关键码数 + 1：左边留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+ 1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个孩子。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 B+ 树 · 先跑一遍 code/ch11/bplus_tree/demo.cpp（上）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批量装入，再插入 60、65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17220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602589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&lt;cstdio&gt;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dsa::index::BPlusTree;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std::vector&lt;std::pair&lt;int, std::string&gt;&gt; rows;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(const int key : {10, 20, 30, 50, 70, 90})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rows.emplace_back(key, "记录" + std::to_string(key));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11.2：批量装入，按页填满。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BPlusTree tree = BPlusTree::bulk_load(3, rows, 2);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std::printf("装入后   : %s\n", tree.to_string().c_str());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11.4：插入 60，叶裂 → 根裂 → 树增高一层。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tree.insert(60, "记录60");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std::printf("插入 60  : %s（树高 %zu）\n", tree.to_string().c_str(), tree.height());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tree.insert(65, "记录65");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std::printf("插入 65  : %s（父结点没满，没裂到根）\n", tree.to_string().c_str());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12280" y="96012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1051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为什么没裂到根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344168"/>
            <a:ext cx="1600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 落进叶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[50,60]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[50,60,65]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溢出，裂成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[50]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与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[60,65]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，复写 60 上推；父结点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[70]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只有 1 个 key，收下后成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[60,70]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没超限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，到此结束。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795528"/>
          </a:xfrm>
          <a:prstGeom prst="roundRect">
            <a:avLst>
              <a:gd name="adj" fmla="val 9195"/>
            </a:avLst>
          </a:prstGeom>
          <a:solidFill>
            <a:srgbClr val="1B2B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941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142232"/>
            <a:ext cx="8010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装入后   : [30,70] / [10,20] [30,50] [70,90]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插入 60  : [50] / [30] [70] / [10,20] [30] [50,60] [70,90]（树高 3）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插入 65  : [50] / [30] [60,70] / [10,20] [30] [50] [60,65] [70,90]（父结点没满，没裂到根）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 B+ 树 · 先跑一遍 code/ch11/bplus_tree/demo.cpp（下）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点查询、范围扫描、删除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248656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tree.reset_counters();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先取结果再取计数：printf 的实参求值顺序没有保证。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found = tree.find(50);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point_reads = tree.page_reads();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std::printf("查找 50  : %s，读了 %zu 页\n", found-&gt;c_str(), point_reads);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tree.reset_counters();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scan = tree.range(35, 80);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scan_reads = tree.page_reads();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std::printf("范围 35..80 :");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(const auto&amp; row : scan)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std::printf(" %d", row.first);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std::printf("，读了 %zu 页\n", scan_reads);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tree.erase(70);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std::printf("删除 70  : %s\n", tree.to_string().c_str());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 50：3 页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3441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 3：根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[50]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内部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[60,70]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叶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[50]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，每层读一页。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2212848"/>
            <a:ext cx="2651760" cy="1581912"/>
          </a:xfrm>
          <a:prstGeom prst="roundRect">
            <a:avLst>
              <a:gd name="adj" fmla="val 4624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304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70：路标重算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596896"/>
            <a:ext cx="23774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[70,90]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[90]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，仍达下限（1 个），不借不合并；但父分界 70 已过期，按「右子树最小 key」重算成 </a:t>
            </a:r>
            <a:r>
              <a:rPr lang="en-US" sz="10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[60,90]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795528"/>
          </a:xfrm>
          <a:prstGeom prst="roundRect">
            <a:avLst>
              <a:gd name="adj" fmla="val 9195"/>
            </a:avLst>
          </a:prstGeom>
          <a:solidFill>
            <a:srgbClr val="1B2B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" y="3941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142232"/>
            <a:ext cx="8010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查找 50  : 记录50，读了 3 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范围 35..80 : 50 60 65 70，读了 6 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删除 70  : [50] / [30] [60,90] / [10,20] [30] [50] [60,65] [90]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B+ 树 · modern.hpp#bplus-range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范围扫描：找到下限所在的叶，然后沿叶链横着走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范围扫描：找到下限所在的叶，然后沿叶链横着走，不再回到内部结点。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std::vector&lt;std::pair&lt;int, std::string&gt;&gt; range(int low, int high) const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std::vector&lt;std::pair&lt;int, std::string&gt;&gt; out;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(low &gt; high)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out;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Node* node = root_.get();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(!node-&gt;leaf)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++reads_;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 = node-&gt;children[child_slot(*node, low)].get();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(node != nullptr)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++reads_;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(std::size_t i = 0; i &lt; node-&gt;keys.size(); ++i)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(node-&gt;keys[i] &gt; high)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out;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(node-&gt;keys[i] &gt;= low) {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out.emplace_back(node-&gt;keys[i], node-&gt;values[i]);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 = node-&gt;next;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out;</a:t>
            </a:r>
            <a:endParaRPr lang="en-US" sz="79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960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range(35, 80) 读的 6 页</a:t>
            </a:r>
            <a:endParaRPr lang="en-US" sz="9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80160"/>
          <a:ext cx="242316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731520"/>
                <a:gridCol w="14173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读的页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[50]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&lt; 50 → 左孩子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[30]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 ≥ 30 → 右孩子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[30]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叶：30 &lt; 35，跳过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[50]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 50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[60,65]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 60、65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[70,90]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 70；90&gt;80 返回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263640" y="36118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2 页在内部结点下降，后 4 页全是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沿叶链横走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——输出 50 60 65 70，读 6 页，与 demo 一致。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B+ 树 · 删除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删除—借关键码—合并，不需要交换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42416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42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98755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页仍达到最小占用 → 更新必要的父分界后结束；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17904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146304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页下溢且相邻兄弟有富余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借一个键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并重算父分界；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193852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兄弟也在下限 →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合并两页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，父结点少一个 key 和一个孩子；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2414016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父结点因此下溢 → 向上重复；若根只剩一个孩子，让它成为新根，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树高减 1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480060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0632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容易漏的一处：过期路标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355848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借位和合并都会把父结点的分界 key 搬进孩子里，而那个 key 可能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正是刚被删掉的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——搬完必须按「分界 key = 右子树最小 key」重算，否则树里会留下一个指向已删关键码的路标。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这个错误不影响点查询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，只有结构不变量检查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才看得出来。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0" y="96012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pic>
        <p:nvPicPr>
          <p:cNvPr id="23" name="Image 0" descr="fig-11-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82296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486400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11.11  从 3 阶 B+ 树删除 75 后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0" y="297180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62356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原书的做法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623560" y="335584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 75：叶 k 剩 80 下溢，与右邻 l 合并；d 随之下溢，向 c 借 j 和 70，根 a 的分界 70 改为 60。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删除不引起下溢时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，上层那份复写可以留着不动——只是路标。本章实现选择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重算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，好让 </a:t>
            </a:r>
            <a:r>
              <a:rPr lang="en-US" sz="9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把关。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B+ 树 · 混合型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内部结点与叶结点的阶可以不同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84632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8" name="Image 0" descr="fig-11-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431" y="1005840"/>
            <a:ext cx="3087858" cy="914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1938528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11.12  混合型 B+ 树：内部阶 4，叶阶 5</a:t>
            </a:r>
            <a:endParaRPr lang="en-US" sz="950" dirty="0"/>
          </a:p>
        </p:txBody>
      </p:sp>
      <p:pic>
        <p:nvPicPr>
          <p:cNvPr id="10" name="Image 1" descr="fig-11-1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966" y="2240280"/>
            <a:ext cx="3488788" cy="914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3172968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11.13  插入 22 之后</a:t>
            </a:r>
            <a:endParaRPr lang="en-US" sz="950" dirty="0"/>
          </a:p>
        </p:txBody>
      </p:sp>
      <p:pic>
        <p:nvPicPr>
          <p:cNvPr id="12" name="Image 2" descr="fig-11-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806" y="3474720"/>
            <a:ext cx="3127108" cy="914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4389120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11.14  再删除 40 之后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5532120" y="960120"/>
            <a:ext cx="31546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内部结点只放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 key 和页号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，放得下的多；叶要放记录或记录地址，放得少。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内外阶数不同的叫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混合型 B+ 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分裂与合并的规则不变，只是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内外两层各按各自的阶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判断溢出和下溢。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532120" y="34290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669280" y="3520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对照原书习题 17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669280" y="3813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内部阶 100、叶阶 15 的混合型 B+ 树，1～5 层各能存多少记录？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11.4.2 B 树 vs B+ 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三句话记住区别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88720"/>
            <a:ext cx="402336" cy="402336"/>
          </a:xfrm>
          <a:prstGeom prst="ellipse">
            <a:avLst/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051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记录在不在内部结点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051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树内部关键码带数据地址，命中即可取；B+ 树内部只是叶键的复写，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必须查到叶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075688"/>
            <a:ext cx="402336" cy="402336"/>
          </a:xfrm>
          <a:prstGeom prst="ellipse">
            <a:avLst/>
          </a:prstGeom>
          <a:solidFill>
            <a:srgbClr val="A06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19385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叶有没有横向链接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193852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 树所有叶构成一个有序链表，可以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按关键码有序遍历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全部记录。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79776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962656"/>
            <a:ext cx="402336" cy="402336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282549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范围扫描要不要反复爬树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282549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树也可按序遍历；B+ 树用叶链更方便地支持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随机检索和顺序检索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（尤其范围检索），实际应用更多。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DF0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分裂与合并要同时维护叶链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087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只修父子指针而漏掉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，点查询仍可能全绿，范围查询却会跨不过断链。所以测试既要逐键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，也要把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全范围扫描结果与排序后的记录全集对拍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11.4.3 B 树的性能分析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树高有上界，分裂次数有上界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个关键码 → N+1 个外部空结点，设都在第 I 层（根为第 0 层）。第 1 层至少 2 个结点，第 I 层至少 2⌈m/2⌉^(I−1) 个：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≤ 1 + log⌈m/2⌉((N+1)/2)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97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= 1999998、m = 199 时 ⌈m/2⌉ = 100，(N+1)/2 &lt; 100³，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至多等于 3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（原书作 4，按公式应为 3）：一次检索至多 I 次存取。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每插入一个关键码平均分裂几个结点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325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个内部结点时 N ≥ 1 + (⌈m/2⌉−1)(p−1)；最坏情况插入 N 个关键码做了 p−1 次分裂：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(p−1)/N ≤ 1/(⌈m/2⌉−1)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697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越大这个数越小——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「结点开大一点」在插入代价上的回报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FF6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8587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树与 B+ 树谁更矮？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15137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B+ 树内部结点的关键码不需要带隐含指针。页块容量、指针大小相同时索引同一个主文件，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树比 B+ 树高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。设一页可存 m 个（关键码, 子页地址）对、平均充盈度 (1+0.5)/2 = 75%，B+ 树高度为 ⌈log₀.₇₅ₘ N⌉；B 树存（关键码, 隐含指针, 子页指针）三元组，平均约 0.5m 个子结点，高度 ⌈log₀.₅ₘ N⌉。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11.4.3 B+ 树的索引规模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全章最值得记住的一笔账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磁盘块 4096 字节，整数关键码 4 字节，指针 8 字节，不计块头：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6304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4m + 8(m+1) ≤ 4096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2176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340 个 key、341 个孩子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33472" y="146304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255 个指针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176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充满度介于最大和最小之间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36592" y="146304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255² = 65025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2176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层树的叶结点数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E3D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39712" y="146304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255³ ≈ 16.6 × 10⁶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17627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指向记录的指针数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FF6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971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264408"/>
            <a:ext cx="3703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记录数 ≤ 约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1660 万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的文件都可以被 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层 B+ 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容纳，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次访外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就能拿到关键码在主文件的地址。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88036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CFE0D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46320" y="2971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实际上还可以更少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264408"/>
            <a:ext cx="3703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树根通常在内存；现在内存大，把第二层结点也完全放在缓冲区是合理的——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只需读一次叶结点磁盘块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。这就是今天数据库索引的常见形态：三层 B+ 树 + 常驻内存的上两层。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11.4.3 B+ 树的索引规模 · 补充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层 B+ 树：内部至多 100 个子女，叶至多 15 条记录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层（根）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个结点，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个子女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个结点，100 个子女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 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个结点 × 50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× 100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个结点 × 50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10⁴ × 100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层（叶）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5 000 个叶 × </a:t>
                      </a: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10⁶ 个叶 × 15 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40 000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15 000 000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96012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9788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三个下界各从哪来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70448" y="1344168"/>
            <a:ext cx="2706624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根：只要不是叶，至少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个子女；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其他内部结点至少 ⌈100/2⌉ =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个子女；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叶至少半满：⌈15/2⌉ =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8346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E3D3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89788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最少 2·50·50·8 = 40 000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100³·15 = 15 000 000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66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上下界差 375 倍，但树高都是 4：记录数在这个范围里的文件，查一条都只要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次访外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（根常驻内存则 3 次）。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MOOC 第十一章第 10 题，答案 40000,15000000。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11.4.4 动态索引和静态索引的比较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更新成本由谁承担？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静态索引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44168"/>
            <a:ext cx="375818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新增记录进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溢出区并挂链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，不主动重排主文件。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结点紧凑、层数少，记录地址稳定。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插删积累后溢出链变长、空洞增多 → 最终要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停下来重组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051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动态索引（B / B+ 树）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1344168"/>
            <a:ext cx="375818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分裂、借位、合并保持平衡；新旧记录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渐近查询代价相同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空间按需分配，不需要周期性全文件重组。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代价：结点要留孩子指针；更新还要处理并发锁与辅助索引的地址变化。</a:t>
            </a:r>
            <a:endParaRPr lang="en-US" sz="10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474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工作负载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更合适的选择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数据几乎只读、可批量重建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静态索引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结构紧凑，读路径短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持续插入和删除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B/B+ 树动态索引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局部调整即可保持查询性能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范围扫描很多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B+ 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数据集中在叶层，叶链可顺序读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记录物理地址必须长期稳定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静态索引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不因结点分裂搬动既有记录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静态索引把成本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推迟到批量重组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，动态索引把成本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摊到每次更新</a:t>
            </a: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 · 11.5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位索引技术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位图：一个属性值一条位串 · 按位运算 · 尾部掩码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游程压缩 · 签名文件（粗筛）· 红黑树（与 B+ 树对照）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位图索引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每个属性值一条位串，第 i 位 = 第 i 条记录有没有这个值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39319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取值很少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的属性：性别、省份、是否及格。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AND、OR、NOT 查询变成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机器字上的按位运算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，一次处理几十上百条记录。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属性取值一多，位图会变得很宽，需要压缩（游程、字对齐混合等）。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96012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pic>
        <p:nvPicPr>
          <p:cNvPr id="9" name="Image 0" descr="fig-11-15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079701"/>
            <a:ext cx="3886200" cy="18090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617720" y="2971800"/>
            <a:ext cx="4069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11.15(a)  百货销售记录与 State=NY 的位向量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 ≈ 记录数 × 不同取值数（位）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81304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低基数列很合算：一百万条记录的「是否及格」只有两张约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122 KiB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的位图；若把几乎每人不同的学号做位图，就会生成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近一百万张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位图，完全失去意义。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位图索引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一个数据域 = 一组位向量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54864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State=AK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State=AL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State=NY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7C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数据域 State 的位向量集合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0" y="960120"/>
            <a:ext cx="4114800" cy="2514600"/>
          </a:xfrm>
          <a:prstGeom prst="roundRect">
            <a:avLst>
              <a:gd name="adj" fmla="val 2909"/>
            </a:avLst>
          </a:prstGeom>
          <a:solidFill>
            <a:srgbClr val="F1F4F2"/>
          </a:solidFill>
          <a:ln/>
        </p:spPr>
      </p:sp>
      <p:pic>
        <p:nvPicPr>
          <p:cNvPr id="10" name="Image 0" descr="fig-11-15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4147" y="1024128"/>
            <a:ext cx="3610506" cy="2103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11.15(c)  数据域 Class 的位向量集合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位图为什么只适合低基数属性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" y="41330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有多少个取值，(b) 就有多少列，每列长度都是记录条数；查询变成位串之间的按位运算。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属性取值越多，位图越宽。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位图索引 · 手算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State=NY AND Class=A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State=NY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91640" y="1097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1097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109728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1097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1097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1097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63240" y="109728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1097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1097280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1097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1097280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77640" y="1097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1664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Class=A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91640" y="16642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91640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48840" y="16642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48840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06040" y="166420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06040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63240" y="16642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63240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20440" y="1664208"/>
            <a:ext cx="457200" cy="384048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0440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77640" y="1664208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77640" y="1664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22311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91640" y="2231136"/>
            <a:ext cx="45720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691640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691640" y="26151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48840" y="223113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48840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148840" y="26151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606040" y="223113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06040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606040" y="26151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63240" y="223113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063240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3063240" y="26151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520440" y="2231136"/>
            <a:ext cx="457200" cy="384048"/>
          </a:xfrm>
          <a:prstGeom prst="rect">
            <a:avLst/>
          </a:prstGeom>
          <a:solidFill>
            <a:srgbClr val="F9D5D0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520440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3520440" y="26151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977640" y="2231136"/>
            <a:ext cx="457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77640" y="22311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3977640" y="26151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691640" y="2185416"/>
            <a:ext cx="2743200" cy="0"/>
          </a:xfrm>
          <a:prstGeom prst="line">
            <a:avLst/>
          </a:prstGeom>
          <a:noFill/>
          <a:ln w="15240">
            <a:solidFill>
              <a:srgbClr val="1E3D3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2926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结果位 0 和 4 为 1 → 返回第 1、5 条记录（程序下标从 0 开始则是 0、4）。OR 返回满足任一条件的记录。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46320" y="105156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DF0EE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9834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NOT 的尾部陷阱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983480" y="1435608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条记录只用了一个 64 位机器字的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6 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。取反后其余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 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全变成 1，会被误认成记录——NOT 必须把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超出实际记录数的尾部位清零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46320" y="31089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9834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数据来自图 11.15(a)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4983480" y="3493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列：NY AL NY AK NY AK；Class 列：A A B A A B。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一次机器字运算处理 64 条记录：这是位图快的全部理由。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位索引 · 先跑一遍 code/ch11/bitmap_index/demo.cpp（上）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条记录的「是否及格」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2788920"/>
          </a:xfrm>
          <a:prstGeom prst="roundRect">
            <a:avLst>
              <a:gd name="adj" fmla="val 262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522976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"modern.hpp"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&lt;cstdio&gt;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dsa::index::BitmapIndex index;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200; ++i)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index.add_record((i % 3) == 0 ? "及格" : "不及格");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index.reset_ops();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passed = index.select("及格");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failed = index.select_not("及格");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std::printf("200 条记录，%zu 个取值，位图共 %zu 个机器字\n",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index.distinct_values(), index.words());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std::printf("及格 %zu 条，不及格 %zu 条；取反只做了 %zu 次字运算\n",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passed.size(), failed.size(), index.word_ops());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895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96512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条记录，2 个取值，位图共 8 个机器字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及格 67 条，不及格 133 条；取反只做了 4 次字运算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960120"/>
            <a:ext cx="2331720" cy="3703320"/>
          </a:xfrm>
          <a:prstGeom prst="roundRect">
            <a:avLst>
              <a:gd name="adj" fmla="val 3137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051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数一数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1344168"/>
            <a:ext cx="2112264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位 → ⌈200/64⌉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；2 个取值 × 4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% 3 == 0：0, 3, …, 198 共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条及格。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select_not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逐字取反：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次字运算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处理完全部 200 条记录。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位索引 · 先跑一遍 code/ch11/bitmap_index/demo.cpp（下）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稀疏位图的游程压缩；签名粗筛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607161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稀疏位图：大片全 0 的字，游程压缩很有效。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dsa::index::BitmapIndex sparse;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1000; ++i)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sparse.add_record(i &lt; 3 ? "命中" : "其他");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bits = sparse.bitmap("命中");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auto encoded = dsa::index::run_length_encode(bits);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std::printf("稀疏位图 %zu 个字 → 游程压缩后 %zu 个字\n", bits.size(), encoded.size());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dsa::index::SignatureFile signatures(2);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signatures.add(1, {"数据", "结构"});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signatures.add(2, {"算法", "分析"});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std::printf("签名粗筛「数据」的候选文档数：%zu（仍需回原文确认）\n",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signatures.candidates({"数据"}).size());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6217920" cy="822960"/>
          </a:xfrm>
          <a:prstGeom prst="roundRect">
            <a:avLst>
              <a:gd name="adj" fmla="val 888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895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96512"/>
            <a:ext cx="5998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稀疏位图 16 个字 → 游程压缩后 4 个字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签名粗筛「数据」的候选文档数：1（仍需回原文确认）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960120"/>
            <a:ext cx="1828800" cy="370332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95160" y="1051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→ 4 怎么来的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344168"/>
            <a:ext cx="1554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 位 →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。「命中」只有前 3 条：第 0 个字是 0b111，后 15 个字全 0。字级游程存「重复次数 + 字值」：(1, 0b111)、(15, 0)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位索引 · modern.hpp#bitmap-ops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查询只是逐字的按位运算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340096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「与」：逐字 `&amp;`。`word_ops()` 数的就是这里做了几次字运算。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std::vector&lt;std::size_t&gt; select_and(const std::string&amp; a,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const std::string&amp; b) const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to_records(combine(bitmap(a), bitmap(b), Op::And));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std::vector&lt;std::size_t&gt; select_or(const std::string&amp; a,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const std::string&amp; b) const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to_records(combine(bitmap(a), bitmap(b), Op::Or));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std::vector&lt;std::size_t&gt; select_not(const std::string&amp; value) const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std::vector&lt;std::uint64_t&gt; bits = bitmap(value);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(auto&amp; word : bits)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word = ~word;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++ops_;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mask_tail(bits);  </a:t>
            </a:r>
            <a:r>
              <a:rPr lang="en-US" sz="800" b="1" dirty="0">
                <a:solidFill>
                  <a:srgbClr val="A0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最后一个字里超出记录数的那些位必须清掉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to_records(bits);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3794760"/>
            <a:ext cx="534009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mask_tail(std::vector&lt;std::uint64_t&gt;&amp; bits) const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std::size_t used = records_ % kBitsPerWord;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(used != 0 &amp;&amp; !bits.empty()) {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bits.back() &amp;= (std::uint64_t{1} &lt;&lt; used) - 1;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72200" y="9601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DF0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1051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位图实现最常见的一个洞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344168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记录数不是 64 的整数倍时，最后一个字里超出记录数的那些位取反后会变成 1，于是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冒出根本不存在的记录号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3017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掩码怎么算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310128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用了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位 → 掩码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&lt;&lt; used) − 1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保留低 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位。200 条记录：used = 200 % 64 = 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位索引 · 压缩与签名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游程压缩不是万能的；签名只做粗筛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263640" cy="1874520"/>
          </a:xfrm>
          <a:prstGeom prst="roundRect">
            <a:avLst>
              <a:gd name="adj" fmla="val 390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6117336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C8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粗筛：文档签名必须**包含**查询签名的每一位。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[[nodiscard]] std::vector&lt;int&gt; candidates(const std::vector&lt;std::string&gt;&amp; query) const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std::uint64_t wanted = signature_of(query);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std::vector&lt;int&gt; out;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(std::size_t i = 0; i &lt; docs_.size(); ++i)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((signatures_[i] &amp; wanted) == wanted) {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out.push_back(docs_[i]);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out;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0" y="960120"/>
            <a:ext cx="1828800" cy="187452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1051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签名文件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344168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把文档特征散列成较短的位串（各词位串</a:t>
            </a:r>
            <a:r>
              <a:rPr lang="en-US" sz="9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按位或</a:t>
            </a: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）。先用签名丢掉不可能匹配的文档，再回原文确认。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可能假阳性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5584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若「数据」「结构」散列后碰巧置上了与「算法」相同的几位，查「算法」时这篇文档会进入候选集。粗筛后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必须回原文确认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29718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绝不假阴性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35584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构造签名时把每个真实词的位都置上：真正含「算法」的文档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不可能被漏掉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。它适合「先粗筛、再精查」，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不替代倒排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9718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22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压缩会变大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355848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稀疏位图 16 个字压到 4 个；但 0 和 1 交替的稠密位图，游程压缩后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反而更大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105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test.cpp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直接断言了这一点。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红黑树（概念导读）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内存里的近似平衡二叉搜索树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pic>
        <p:nvPicPr>
          <p:cNvPr id="8" name="Image 0" descr="fig-11-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33667"/>
            <a:ext cx="3840480" cy="180972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907792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11.16  红黑树示意图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46320" y="1051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颜色约束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818888" y="1344168"/>
            <a:ext cx="375818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根为黑。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红结点不能有红孩子。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从任一结点到其后代空叶的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黑结点数相同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256032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1E3D3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09160" y="25877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个内部结点：树高 ≤ 2 log₂(n+1) + 1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926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原书口径：数到外部空叶；只数内部结点则为 2 log₂(n+1)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383280"/>
            <a:ext cx="82296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「平衡」不是左右子树等高，而是用颜色约束控制最长路径：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最长路径不超过最短路径的两倍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查找、插入、删除都是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O(log n)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，旋转次数有常数上限。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适合进程地址空间里的有序映射，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不替代按页组织的 B+ 树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。C++ STL 的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等用了红黑树的变体。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红黑树 · 插入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新结点着红；父子都红时看叔父——情况 1：叔父黑，旋转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pic>
        <p:nvPicPr>
          <p:cNvPr id="8" name="Image 0" descr="fig-11-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00488"/>
            <a:ext cx="3474720" cy="121888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11.17  父红、叔父黑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43400" y="960120"/>
            <a:ext cx="434340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pic>
        <p:nvPicPr>
          <p:cNvPr id="11" name="Image 1" descr="fig-11-1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028720"/>
            <a:ext cx="4160520" cy="18927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2944368"/>
            <a:ext cx="4343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11.18  叔父为黑时的四种重构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926080"/>
            <a:ext cx="37490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先按普通 BST 找到位置，把新结点着成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；父结点是黑的就结束。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11.17：新增结点 X 是父结点 A 的左孩子；X 是右孩子时先把 X 与 A 换位，化归成同一种形状。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343400" y="342900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480560" y="3520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四种（LL、LR、RL、RR）是同一件事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480560" y="381304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取「双红结点 + 祖父」这三个键的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中位数当新的子根、着黑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，另外两个当它的孩子、着红。黑高不变，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调整到此结束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红黑树 · 插入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 2：叔父也红——不旋转，只换色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1F4F2"/>
          </a:solidFill>
          <a:ln/>
        </p:spPr>
      </p:sp>
      <p:pic>
        <p:nvPicPr>
          <p:cNvPr id="8" name="Image 0" descr="fig-11-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38233"/>
            <a:ext cx="4023360" cy="12519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331720"/>
            <a:ext cx="4206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11.19  父结点、叔父结点均为红色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FFF6E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换色，然后递归向上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17296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把父 A 和叔父 C 都改成黑、祖父 B 改成红。A 以下的冲突解决了，但 B 可能与它的父结点再冲突，于是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B 当成新的 X 递归上去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。最坏一路推到根，把根改回黑色即可——这是红黑树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唯一会长高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（阶加 1）的时刻。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92040" y="960120"/>
            <a:ext cx="379476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pic>
        <p:nvPicPr>
          <p:cNvPr id="14" name="Image 1" descr="fig-11-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03004"/>
            <a:ext cx="3611880" cy="248836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92040" y="4315968"/>
            <a:ext cx="3794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11.20  一次插入引发的红红冲突调整全过程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红黑树 · 删除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双黑结点：按兄弟和侄子的颜色分情况（以双黑是左孩子为例）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先照 BST 删：有两个非空孩子就与右子树最小结点交换值（颜色不动），再删；删完可能出现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双黑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结点。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pic>
        <p:nvPicPr>
          <p:cNvPr id="9" name="Image 0" descr="fig-11-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96557"/>
            <a:ext cx="2103120" cy="10679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697480" y="14356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1(a) 兄弟黑、红侄子外撇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20116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兄弟 C 提上去继承 B 的颜色，B 与侄子 D 着黑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132588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pic>
        <p:nvPicPr>
          <p:cNvPr id="13" name="Image 1" descr="fig-11-2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615891"/>
            <a:ext cx="2103120" cy="102932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58000" y="14356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1(b) 兄弟黑、红侄子同边顺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20116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侄子 D 提上去当子根、继承 B 的颜色，B 着黑（双旋转）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pic>
        <p:nvPicPr>
          <p:cNvPr id="17" name="Image 2" descr="fig-11-2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63466"/>
            <a:ext cx="2103120" cy="7174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697480" y="31272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兄弟黑、两个侄子都黑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2697480" y="37033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只换色：C 着红、B 着黑；B 原为黑则继续向上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17720" y="301752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pic>
        <p:nvPicPr>
          <p:cNvPr id="21" name="Image 3" descr="fig-11-2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441071"/>
            <a:ext cx="2103120" cy="7622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31272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兄弟红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0" y="37033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旋转一次，X 仍双黑，但已化归成前两种情况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11.5 位索引 · 对照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各种索引怎么选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endParaRPr lang="en-US" sz="9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228600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保存什么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可能的额外工作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倒排表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词到文档号 / 位置的列表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合并有序列表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精确全文检索、短语查询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属性值到记录位向量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按位布尔运算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低基数列组合过滤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文档特征的短位串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假阳性后回原文确认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空间受限的粗筛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B+ 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 key 到记录位置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沿页树下降、沿叶链扫描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点查询与范围查询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004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红黑树 vs B+ 树：两种成本模型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58444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红黑树每步只碰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几个结点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，适合内存里的有序映射；B+ 树每步碰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一整页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，适合按页读写的外存索引。图 11.16～11.25 只用来比较「二叉、内存结点」与「多路、页结点」。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06440" y="3200400"/>
            <a:ext cx="288036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3291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B/B+ 树 vs 位图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584448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B/B+ 树适合检索并取回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少量记录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；唯一值极少（低基数）的数据域适合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课后练习（精选）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动手算一算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197864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3E7C6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1978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5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00584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在插入 60 之后的那棵 3 阶 B+ 树上继续插入 65，写出叶和根，并说明这次为什么没有一直裂到根。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0058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的第三行就是答案：父结点 [70] 收下 60 后成 [60,70]，没超限。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13055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1305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19385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B 磁盘块，记录 4 B 关键码 + 64 B 数据，线性索引项为（每块最小关键码, 4 B 块地址）。线性索引 2 MB 时最多存多少条记录？再加 4096 B 的二级索引呢？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93852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先算一块放几条记录、一个索引项几字节。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06324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16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287121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万个记录，每个 200 B、关键码 50 B；页块 1000 B，指针 5 B。B+ 树尽量装满，要多少个非叶结点？存取一个记录几次外存访问？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87121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先算阶：一页能放几个（关键码, 指针）对。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758184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995928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995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原书 23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380390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个顾客的（年龄, 月收入）：写出年龄、月收入的位图索引向量集合，找出年龄 20～40 且月收入 1000～2000 的顾客。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80390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范围条件 = 若干取值位向量的 OR，再 AND。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度量衡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外存索引的关键指标是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磁盘页访问次数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 CPU 比较次数；查一次的代价 ≈ 树高。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线性与静态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稠密可无序、稀疏要分块有序；过大就多级。静态多分树按页填满，插删靠溢出区，最终重组。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倒排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由属性值确定记录位置：查询变成有序表的交、并、差，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双指针归并 O(n+m)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；短语查询要位置。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/ B+ 树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树「插入—分裂」「交换—删除—借—合并」保持平衡；B+ 树记录全在叶，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叶链支持范围扫描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位索引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位图适合低基数属性，NOT 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掩掉尾部位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；签名只做粗筛（可假阳性）；红黑树是内存有序映射。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第11章 索引技术</dc:title>
  <dc:subject>PptxGenJS Presentation</dc:subject>
  <dc:creator>Hongfei Yan</dc:creator>
  <cp:lastModifiedBy>Hongfei Yan</cp:lastModifiedBy>
  <cp:revision>1</cp:revision>
  <dcterms:created xsi:type="dcterms:W3CDTF">2026-10-28T12:30:25Z</dcterms:created>
  <dcterms:modified xsi:type="dcterms:W3CDTF">2026-10-28T12:30:25Z</dcterms:modified>
</cp:coreProperties>
</file>