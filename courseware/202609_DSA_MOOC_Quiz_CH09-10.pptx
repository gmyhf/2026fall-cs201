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课堂提问：MOOC 习题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外排序（10 题） · 第十章 检索（13 题）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每页先出题，请同学作答；单击显示答案与解析，再单击进入下一题。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9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10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磁道平均距离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从磁盘中随机选择两个磁道，它们的平均距离约是磁盘磁道总数的多少？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1/4</a:t>
            </a:r>
            <a:endParaRPr lang="en-US" sz="2000" dirty="0"/>
          </a:p>
        </p:txBody>
      </p:sp>
      <p:sp>
        <p:nvSpPr>
          <p:cNvPr id="15" name="ANS_0"/>
          <p:cNvSpPr/>
          <p:nvPr/>
        </p:nvSpPr>
        <p:spPr>
          <a:xfrm>
            <a:off x="2160270" y="262737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4400" dirty="0"/>
          </a:p>
        </p:txBody>
      </p:sp>
      <p:sp>
        <p:nvSpPr>
          <p:cNvPr id="19" name="ANS_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6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把磁道看成 [0, N] 上均匀分布的两个点 x、y。</a:t>
            </a:r>
            <a:endParaRPr lang="en-US" sz="1700" dirty="0"/>
          </a:p>
        </p:txBody>
      </p:sp>
      <p:sp>
        <p:nvSpPr>
          <p:cNvPr id="22" name="ANS_7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8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E|x − y| = (1/N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∬ |x − y| dx dy = N/3</a:t>
            </a:r>
            <a:endParaRPr lang="en-US" sz="1700" dirty="0"/>
          </a:p>
        </p:txBody>
      </p:sp>
      <p:sp>
        <p:nvSpPr>
          <p:cNvPr id="24" name="ANS_9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0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所以平均寻道距离约为磁道总数的 1/3。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六路归并的赢者树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进行六路归并，各顺串第一个记录的关键码分别是 22, 6, 12, 84, 10, 9。构造赢者树填充其他结点，求其广度优先周游序列（不含 6 个外部结点，数字间用空格分隔）。</a:t>
            </a:r>
            <a:endParaRPr lang="en-US" sz="2000" dirty="0"/>
          </a:p>
        </p:txBody>
      </p:sp>
      <p:pic>
        <p:nvPicPr>
          <p:cNvPr id="7" name="Image 0" descr="六路归并的赢者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356" y="3297936"/>
            <a:ext cx="4877929" cy="2651760"/>
          </a:xfrm>
          <a:prstGeom prst="rect">
            <a:avLst/>
          </a:prstGeom>
        </p:spPr>
      </p:pic>
      <p:sp>
        <p:nvSpPr>
          <p:cNvPr id="8" name="ANS_1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ANS_1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0" name="ANS_1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2 2 6 2 3</a:t>
            </a:r>
            <a:endParaRPr lang="en-US" sz="3600" dirty="0"/>
          </a:p>
        </p:txBody>
      </p:sp>
      <p:sp>
        <p:nvSpPr>
          <p:cNvPr id="11" name="ANS_1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2" name="ANS_1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ANS_16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内部结点记录胜者所在的顺串编号（关键码小者胜）。</a:t>
            </a:r>
            <a:endParaRPr lang="en-US" sz="1700" dirty="0"/>
          </a:p>
        </p:txBody>
      </p:sp>
      <p:sp>
        <p:nvSpPr>
          <p:cNvPr id="14" name="ANS_17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ANS_18"/>
          <p:cNvSpPr txBox="1"/>
          <p:nvPr/>
        </p:nvSpPr>
        <p:spPr>
          <a:xfrm>
            <a:off x="7818120" y="3416503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底层：1(22) vs 2(6) → 2；3(12) vs 4(84) → 3；5(10) vs 6(9) → 6</a:t>
            </a:r>
            <a:endParaRPr lang="en-US" sz="1700" dirty="0"/>
          </a:p>
        </p:txBody>
      </p:sp>
      <p:sp>
        <p:nvSpPr>
          <p:cNvPr id="16" name="ANS_19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ANS_20"/>
          <p:cNvSpPr txBox="1"/>
          <p:nvPr/>
        </p:nvSpPr>
        <p:spPr>
          <a:xfrm>
            <a:off x="7818120" y="4466234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上一层：2(6) vs 3(12) → 2</a:t>
            </a:r>
            <a:endParaRPr lang="en-US" sz="1700" dirty="0"/>
          </a:p>
        </p:txBody>
      </p:sp>
      <p:sp>
        <p:nvSpPr>
          <p:cNvPr id="18" name="ANS_21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ANS_22"/>
          <p:cNvSpPr txBox="1"/>
          <p:nvPr/>
        </p:nvSpPr>
        <p:spPr>
          <a:xfrm>
            <a:off x="7818120" y="494599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根：2(6) vs 6(9) → 2</a:t>
            </a:r>
            <a:endParaRPr lang="en-US" sz="1700" dirty="0"/>
          </a:p>
        </p:txBody>
      </p:sp>
      <p:sp>
        <p:nvSpPr>
          <p:cNvPr id="20" name="ANS_23"/>
          <p:cNvSpPr/>
          <p:nvPr/>
        </p:nvSpPr>
        <p:spPr>
          <a:xfrm>
            <a:off x="7616952" y="552251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24"/>
          <p:cNvSpPr txBox="1"/>
          <p:nvPr/>
        </p:nvSpPr>
        <p:spPr>
          <a:xfrm>
            <a:off x="7818120" y="5425745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按层次读出：根 2，第二层 2、6，第三层 2、3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败者树：输出一次后的根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个顺串第一个记录的关键码为 14, 22, 24, 15, 16, 11, 100, 18，第二个记录的关键码为 26, 38, 30, 26, 50, 28, 110, 40。败者树输出一个全局优胜者（并有相应记录进入败者树）并重构后，根结点是几号？（顺串从 1 编号；不是问根上方表示「冠军」的附加结点）</a:t>
            </a:r>
            <a:endParaRPr lang="en-US" sz="2000" dirty="0"/>
          </a:p>
        </p:txBody>
      </p:sp>
      <p:sp>
        <p:nvSpPr>
          <p:cNvPr id="7" name="ANS_2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ANS_2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9"/>
          <p:cNvSpPr/>
          <p:nvPr/>
        </p:nvSpPr>
        <p:spPr>
          <a:xfrm>
            <a:off x="7616952" y="273177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30"/>
          <p:cNvSpPr txBox="1"/>
          <p:nvPr/>
        </p:nvSpPr>
        <p:spPr>
          <a:xfrm>
            <a:off x="7818120" y="2651760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初建：冠军是 6 号（11），根记录败者 1 号（14）。</a:t>
            </a:r>
            <a:endParaRPr lang="en-US" sz="1500" dirty="0"/>
          </a:p>
        </p:txBody>
      </p:sp>
      <p:sp>
        <p:nvSpPr>
          <p:cNvPr id="13" name="ANS_31"/>
          <p:cNvSpPr/>
          <p:nvPr/>
        </p:nvSpPr>
        <p:spPr>
          <a:xfrm>
            <a:off x="7616952" y="341299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32"/>
          <p:cNvSpPr txBox="1"/>
          <p:nvPr/>
        </p:nvSpPr>
        <p:spPr>
          <a:xfrm>
            <a:off x="7818120" y="3332988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11 后，6 号顺串的下一个记录 28 进入，沿 6 号到根的路径重赛：</a:t>
            </a:r>
            <a:endParaRPr lang="en-US" sz="1500" dirty="0"/>
          </a:p>
        </p:txBody>
      </p:sp>
      <p:sp>
        <p:nvSpPr>
          <p:cNvPr id="15" name="ANS_33"/>
          <p:cNvSpPr/>
          <p:nvPr/>
        </p:nvSpPr>
        <p:spPr>
          <a:xfrm>
            <a:off x="7616952" y="409422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34"/>
          <p:cNvSpPr txBox="1"/>
          <p:nvPr/>
        </p:nvSpPr>
        <p:spPr>
          <a:xfrm>
            <a:off x="7818120" y="4014216"/>
            <a:ext cx="35204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5(16) vs 6(28) → 败者 6，胜者 5</a:t>
            </a:r>
            <a:endParaRPr lang="en-US" sz="1500" dirty="0"/>
          </a:p>
        </p:txBody>
      </p:sp>
      <p:sp>
        <p:nvSpPr>
          <p:cNvPr id="17" name="ANS_35"/>
          <p:cNvSpPr/>
          <p:nvPr/>
        </p:nvSpPr>
        <p:spPr>
          <a:xfrm>
            <a:off x="7616952" y="452399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36"/>
          <p:cNvSpPr txBox="1"/>
          <p:nvPr/>
        </p:nvSpPr>
        <p:spPr>
          <a:xfrm>
            <a:off x="7818120" y="4443984"/>
            <a:ext cx="35204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5(16) vs 8(18) → 败者 8，胜者 5</a:t>
            </a:r>
            <a:endParaRPr lang="en-US" sz="1500" dirty="0"/>
          </a:p>
        </p:txBody>
      </p:sp>
      <p:sp>
        <p:nvSpPr>
          <p:cNvPr id="19" name="ANS_37"/>
          <p:cNvSpPr/>
          <p:nvPr/>
        </p:nvSpPr>
        <p:spPr>
          <a:xfrm>
            <a:off x="7616952" y="495376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ANS_38"/>
          <p:cNvSpPr txBox="1"/>
          <p:nvPr/>
        </p:nvSpPr>
        <p:spPr>
          <a:xfrm>
            <a:off x="7818120" y="4873752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根：1(14) vs 5(16) → 败者 </a:t>
            </a: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留在根，冠军 1 号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败者树：初建时的根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个顺串第一个记录的关键码分别为 14, 22, 24, 15, 16, 11, 100, 18。开始 8 路归并时建立败者树，根结点是几号？（顺串从 1 编号；不是问根上方表示「冠军」的附加结点）</a:t>
            </a:r>
            <a:endParaRPr lang="en-US" sz="2000" dirty="0"/>
          </a:p>
        </p:txBody>
      </p:sp>
      <p:sp>
        <p:nvSpPr>
          <p:cNvPr id="7" name="ANS_3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4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4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ANS_4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4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4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第一轮：1(14) 胜 2，4(15) 胜 3，6(11) 胜 5，8(18) 胜 7</a:t>
            </a:r>
            <a:endParaRPr lang="en-US" sz="1700" dirty="0"/>
          </a:p>
        </p:txBody>
      </p:sp>
      <p:sp>
        <p:nvSpPr>
          <p:cNvPr id="13" name="ANS_4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46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第二轮：1(14) 胜 4(15)；6(11) 胜 8(18)</a:t>
            </a:r>
            <a:endParaRPr lang="en-US" sz="1700" dirty="0"/>
          </a:p>
        </p:txBody>
      </p:sp>
      <p:sp>
        <p:nvSpPr>
          <p:cNvPr id="15" name="ANS_47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48"/>
          <p:cNvSpPr txBox="1"/>
          <p:nvPr/>
        </p:nvSpPr>
        <p:spPr>
          <a:xfrm>
            <a:off x="7818120" y="4181246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决赛：6(11) 胜 1(14) → 败者 </a:t>
            </a: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留在根，冠军 6 号进附加结点。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置换-选择：逆序输入（一）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输入的关键码满足 k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&gt; k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&gt; … &gt; k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，缓冲区大小为 m，用最小值堆进行置换-选择排序，可产生多少个初始归并段？（n = 200，m = 25）</a:t>
            </a:r>
            <a:endParaRPr lang="en-US" sz="2000" dirty="0"/>
          </a:p>
        </p:txBody>
      </p:sp>
      <p:sp>
        <p:nvSpPr>
          <p:cNvPr id="7" name="ANS_4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5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5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4400" dirty="0"/>
          </a:p>
        </p:txBody>
      </p:sp>
      <p:sp>
        <p:nvSpPr>
          <p:cNvPr id="10" name="ANS_5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5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54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逆序输入时，每个新读入的关键码都比刚输出的小，只能留给下一段。</a:t>
            </a:r>
            <a:endParaRPr lang="en-US" sz="1700" dirty="0"/>
          </a:p>
        </p:txBody>
      </p:sp>
      <p:sp>
        <p:nvSpPr>
          <p:cNvPr id="13" name="ANS_55"/>
          <p:cNvSpPr/>
          <p:nvPr/>
        </p:nvSpPr>
        <p:spPr>
          <a:xfrm>
            <a:off x="7616952" y="379826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56"/>
          <p:cNvSpPr txBox="1"/>
          <p:nvPr/>
        </p:nvSpPr>
        <p:spPr>
          <a:xfrm>
            <a:off x="7818120" y="3701491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所以每段恰好是堆里的 m 个记录：段数 = ⌈n / m⌉。</a:t>
            </a:r>
            <a:endParaRPr lang="en-US" sz="1700" dirty="0"/>
          </a:p>
        </p:txBody>
      </p:sp>
      <p:sp>
        <p:nvSpPr>
          <p:cNvPr id="15" name="ANS_57"/>
          <p:cNvSpPr/>
          <p:nvPr/>
        </p:nvSpPr>
        <p:spPr>
          <a:xfrm>
            <a:off x="7616952" y="456300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58"/>
          <p:cNvSpPr txBox="1"/>
          <p:nvPr/>
        </p:nvSpPr>
        <p:spPr>
          <a:xfrm>
            <a:off x="7818120" y="4466234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/ 25 = 8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置换-选择：逆序输入（二）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同上（逆序输入，最小值堆），若 n = 100，m = 5，可产生多少个初始归并段？</a:t>
            </a:r>
            <a:endParaRPr lang="en-US" sz="2000" dirty="0"/>
          </a:p>
        </p:txBody>
      </p:sp>
      <p:sp>
        <p:nvSpPr>
          <p:cNvPr id="7" name="ANS_5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6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6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4400" dirty="0"/>
          </a:p>
        </p:txBody>
      </p:sp>
      <p:sp>
        <p:nvSpPr>
          <p:cNvPr id="10" name="ANS_6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6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6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段数 = ⌈n / m⌉ = 100 / 5 = 20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置换-选择：逆序输入（三）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同上（逆序输入，最小值堆），若 n = 100，m = 10，可产生多少个初始归并段？</a:t>
            </a:r>
            <a:endParaRPr lang="en-US" sz="2000" dirty="0"/>
          </a:p>
        </p:txBody>
      </p:sp>
      <p:sp>
        <p:nvSpPr>
          <p:cNvPr id="7" name="ANS_6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6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6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4400" dirty="0"/>
          </a:p>
        </p:txBody>
      </p:sp>
      <p:sp>
        <p:nvSpPr>
          <p:cNvPr id="10" name="ANS_6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6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70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段数 = ⌈n / m⌉ = 100 / 10 = 10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磁盘块能放几条记录（一）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磁盘块 2048 字节，每条记录 68 字节（数据 64 字节 + 关键码 4 字节），磁盘指针 4 字节。这个磁盘块上最多有多少条记录？</a:t>
            </a:r>
            <a:endParaRPr lang="en-US" sz="2000" dirty="0"/>
          </a:p>
        </p:txBody>
      </p:sp>
      <p:sp>
        <p:nvSpPr>
          <p:cNvPr id="7" name="ANS_7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7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7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4400" dirty="0"/>
          </a:p>
        </p:txBody>
      </p:sp>
      <p:sp>
        <p:nvSpPr>
          <p:cNvPr id="10" name="ANS_7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7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76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块内只存记录：⌊2048 / 68⌋ = 30（占 2040 字节）。</a:t>
            </a:r>
            <a:endParaRPr lang="en-US" sz="1700" dirty="0"/>
          </a:p>
        </p:txBody>
      </p:sp>
      <p:sp>
        <p:nvSpPr>
          <p:cNvPr id="13" name="ANS_77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78"/>
          <p:cNvSpPr txBox="1"/>
          <p:nvPr/>
        </p:nvSpPr>
        <p:spPr>
          <a:xfrm>
            <a:off x="7818120" y="3416503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即使块尾再放一个指向下一块的指针：30×68 + 4 = 2044 ≤ 2048，仍是 30。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五路归并的赢者树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进行五路归并，各顺串第一个记录的关键码分别是 14, 18, 9, 23, 77。构造赢者树填充其他结点，求其广度优先周游序列（不含 5 个外部结点，数字间用空格分隔）。</a:t>
            </a:r>
            <a:endParaRPr lang="en-US" sz="2000" dirty="0"/>
          </a:p>
        </p:txBody>
      </p:sp>
      <p:pic>
        <p:nvPicPr>
          <p:cNvPr id="7" name="Image 0" descr="五路归并的赢者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9827" y="3297936"/>
            <a:ext cx="3006985" cy="2926080"/>
          </a:xfrm>
          <a:prstGeom prst="rect">
            <a:avLst/>
          </a:prstGeom>
        </p:spPr>
      </p:pic>
      <p:sp>
        <p:nvSpPr>
          <p:cNvPr id="8" name="ANS_7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ANS_8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0" name="ANS_8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3 3 4 1</a:t>
            </a:r>
            <a:endParaRPr lang="en-US" sz="4400" dirty="0"/>
          </a:p>
        </p:txBody>
      </p:sp>
      <p:sp>
        <p:nvSpPr>
          <p:cNvPr id="11" name="ANS_8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2" name="ANS_8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ANS_8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内部结点记录胜者所在的顺串编号。</a:t>
            </a:r>
            <a:endParaRPr lang="en-US" sz="1700" dirty="0"/>
          </a:p>
        </p:txBody>
      </p:sp>
      <p:sp>
        <p:nvSpPr>
          <p:cNvPr id="14" name="ANS_8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ANS_86"/>
          <p:cNvSpPr txBox="1"/>
          <p:nvPr/>
        </p:nvSpPr>
        <p:spPr>
          <a:xfrm>
            <a:off x="7818120" y="3416503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最底层：1(14) vs 2(18) → 1</a:t>
            </a:r>
            <a:endParaRPr lang="en-US" sz="1700" dirty="0"/>
          </a:p>
        </p:txBody>
      </p:sp>
      <p:sp>
        <p:nvSpPr>
          <p:cNvPr id="16" name="ANS_87"/>
          <p:cNvSpPr/>
          <p:nvPr/>
        </p:nvSpPr>
        <p:spPr>
          <a:xfrm>
            <a:off x="7616952" y="399303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ANS_88"/>
          <p:cNvSpPr txBox="1"/>
          <p:nvPr/>
        </p:nvSpPr>
        <p:spPr>
          <a:xfrm>
            <a:off x="7818120" y="3896258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左子树：1(14) vs 3(9) → 3；右子树：4(23) vs 5(77) → 4</a:t>
            </a:r>
            <a:endParaRPr lang="en-US" sz="1700" dirty="0"/>
          </a:p>
        </p:txBody>
      </p:sp>
      <p:sp>
        <p:nvSpPr>
          <p:cNvPr id="18" name="ANS_89"/>
          <p:cNvSpPr/>
          <p:nvPr/>
        </p:nvSpPr>
        <p:spPr>
          <a:xfrm>
            <a:off x="7616952" y="475777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ANS_90"/>
          <p:cNvSpPr txBox="1"/>
          <p:nvPr/>
        </p:nvSpPr>
        <p:spPr>
          <a:xfrm>
            <a:off x="7818120" y="4661002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根：3(9) vs 4(23) → 3</a:t>
            </a:r>
            <a:endParaRPr lang="en-US" sz="1700" dirty="0"/>
          </a:p>
        </p:txBody>
      </p:sp>
      <p:sp>
        <p:nvSpPr>
          <p:cNvPr id="20" name="ANS_91"/>
          <p:cNvSpPr/>
          <p:nvPr/>
        </p:nvSpPr>
        <p:spPr>
          <a:xfrm>
            <a:off x="7616952" y="5237531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92"/>
          <p:cNvSpPr txBox="1"/>
          <p:nvPr/>
        </p:nvSpPr>
        <p:spPr>
          <a:xfrm>
            <a:off x="7818120" y="5140757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按层次读出：3，3、4，1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外排序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磁盘块能放几条记录（二）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磁盘块 2048 字节，每条记录 48 字节（数据 44 字节 + 关键码 4 字节），磁盘指针 4 字节。这个磁盘块上最多有多少条记录？</a:t>
            </a:r>
            <a:endParaRPr lang="en-US" sz="2000" dirty="0"/>
          </a:p>
        </p:txBody>
      </p:sp>
      <p:sp>
        <p:nvSpPr>
          <p:cNvPr id="7" name="ANS_9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9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9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4400" dirty="0"/>
          </a:p>
        </p:txBody>
      </p:sp>
      <p:sp>
        <p:nvSpPr>
          <p:cNvPr id="10" name="ANS_9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97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98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⌊2048 / 48⌋ = 42（占 2016 字节）。</a:t>
            </a:r>
            <a:endParaRPr lang="en-US" sz="1700" dirty="0"/>
          </a:p>
        </p:txBody>
      </p:sp>
      <p:sp>
        <p:nvSpPr>
          <p:cNvPr id="13" name="ANS_99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100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加一个 4 字节块指针：42×48 + 4 = 2020 ≤ 2048，仍是 42。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029200" cy="5029200"/>
          </a:xfrm>
          <a:prstGeom prst="ellipse">
            <a:avLst/>
          </a:prstGeom>
          <a:solidFill>
            <a:srgbClr val="3E7C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2926080" cy="2926080"/>
          </a:xfrm>
          <a:prstGeom prst="ellipse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13 题 · 准备好了吗？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n 无关的平均查找长度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平均查找长度与结点个数 n 无关的查找方法是：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524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65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9209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散列查找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02361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23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5046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顺序查找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68198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81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883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45617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56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267200"/>
            <a:ext cx="57607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没有这样的查找方法使得平均查找长度和 n 无关</a:t>
            </a:r>
            <a:endParaRPr lang="en-US" sz="2000" dirty="0"/>
          </a:p>
        </p:txBody>
      </p:sp>
      <p:sp>
        <p:nvSpPr>
          <p:cNvPr id="19" name="ANS_101"/>
          <p:cNvSpPr/>
          <p:nvPr/>
        </p:nvSpPr>
        <p:spPr>
          <a:xfrm>
            <a:off x="457200" y="225552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02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03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04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3" name="ANS_105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06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07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散列查找的 ASL 只取决于负载因子 α = n/m，与 n 本身无关。</a:t>
            </a:r>
            <a:endParaRPr lang="en-US" sz="1700" dirty="0"/>
          </a:p>
        </p:txBody>
      </p:sp>
      <p:sp>
        <p:nvSpPr>
          <p:cNvPr id="26" name="ANS_108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09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顺序查找 O(n)，二分查找 O(log n)。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双散列的不成功检索长度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闭散列表共 N 个槽，用双散列探查解决冲突。当前有 M 个元素，负载因子 α = M/N = 0.4。M、N 都非常大，且每次探查可近似看作等概率探查每个槽。不成功检索的平均检索长度约为：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9793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29793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329793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329793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329793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329793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329793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329793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5/3</a:t>
            </a:r>
            <a:endParaRPr lang="en-US" sz="2000" dirty="0"/>
          </a:p>
        </p:txBody>
      </p:sp>
      <p:sp>
        <p:nvSpPr>
          <p:cNvPr id="15" name="ANS_110"/>
          <p:cNvSpPr/>
          <p:nvPr/>
        </p:nvSpPr>
        <p:spPr>
          <a:xfrm>
            <a:off x="5383530" y="329793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11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11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11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4400" dirty="0"/>
          </a:p>
        </p:txBody>
      </p:sp>
      <p:sp>
        <p:nvSpPr>
          <p:cNvPr id="19" name="ANS_11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11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116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每次探查命中已占槽的概率为 α，探查次数服从几何分布。</a:t>
            </a:r>
            <a:endParaRPr lang="en-US" sz="1700" dirty="0"/>
          </a:p>
        </p:txBody>
      </p:sp>
      <p:sp>
        <p:nvSpPr>
          <p:cNvPr id="22" name="ANS_117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118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U(α) = 1 / (1 − α) = 1 / 0.6 = 5/3</a:t>
            </a:r>
            <a:endParaRPr lang="en-US" sz="1700" dirty="0"/>
          </a:p>
        </p:txBody>
      </p:sp>
      <p:sp>
        <p:nvSpPr>
          <p:cNvPr id="24" name="ANS_119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20"/>
          <p:cNvSpPr txBox="1"/>
          <p:nvPr/>
        </p:nvSpPr>
        <p:spPr>
          <a:xfrm>
            <a:off x="7818120" y="4181246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对比：线性探查不成功时约为 ½(1 + 1/(1−α)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≈ 1.89，聚集更严重。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极限 ASL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n 个关键码的线性表中顺序检索，检索第 i 个关键码的概率为 P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：P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1/2，P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1/4，…，P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1/2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，P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1/2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（概率之和为 1）。当 n → ∞ 时，成功检索的平均检索长度（ASL）的极限是：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0636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6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63321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36473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364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29158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502310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23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94995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68147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681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60832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1.99999999</a:t>
            </a:r>
            <a:endParaRPr lang="en-US" sz="2000" dirty="0"/>
          </a:p>
        </p:txBody>
      </p:sp>
      <p:sp>
        <p:nvSpPr>
          <p:cNvPr id="19" name="ANS_121"/>
          <p:cNvSpPr/>
          <p:nvPr/>
        </p:nvSpPr>
        <p:spPr>
          <a:xfrm>
            <a:off x="457200" y="4255008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22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23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24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4400" dirty="0"/>
          </a:p>
        </p:txBody>
      </p:sp>
      <p:sp>
        <p:nvSpPr>
          <p:cNvPr id="23" name="ANS_125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26"/>
          <p:cNvSpPr/>
          <p:nvPr/>
        </p:nvSpPr>
        <p:spPr>
          <a:xfrm>
            <a:off x="7616952" y="273177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27"/>
          <p:cNvSpPr txBox="1"/>
          <p:nvPr/>
        </p:nvSpPr>
        <p:spPr>
          <a:xfrm>
            <a:off x="7818120" y="2651760"/>
            <a:ext cx="35204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找第 i 个要比较 i 次：ASL = Σ</a:t>
            </a:r>
            <a:r>
              <a:rPr lang="en-US" sz="15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i&lt;n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i/2</a:t>
            </a:r>
            <a:r>
              <a:rPr lang="en-US" sz="15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n/2</a:t>
            </a:r>
            <a:r>
              <a:rPr lang="en-US" sz="15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2 − 1/2</a:t>
            </a:r>
            <a:r>
              <a:rPr lang="en-US" sz="15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（见第 22 页）</a:t>
            </a:r>
            <a:endParaRPr lang="en-US" sz="1500" dirty="0"/>
          </a:p>
        </p:txBody>
      </p:sp>
      <p:sp>
        <p:nvSpPr>
          <p:cNvPr id="26" name="ANS_128"/>
          <p:cNvSpPr/>
          <p:nvPr/>
        </p:nvSpPr>
        <p:spPr>
          <a:xfrm>
            <a:off x="7616952" y="366445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29"/>
          <p:cNvSpPr txBox="1"/>
          <p:nvPr/>
        </p:nvSpPr>
        <p:spPr>
          <a:xfrm>
            <a:off x="7818120" y="3584448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∞ 时 1/2</a:t>
            </a:r>
            <a:r>
              <a:rPr lang="en-US" sz="15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0，极限为 2；D 只是一个接近 2 的数，不是极限。</a:t>
            </a:r>
            <a:endParaRPr lang="en-US" sz="1500" dirty="0"/>
          </a:p>
        </p:txBody>
      </p:sp>
      <p:sp>
        <p:nvSpPr>
          <p:cNvPr id="28" name="ANS_130"/>
          <p:cNvSpPr/>
          <p:nvPr/>
        </p:nvSpPr>
        <p:spPr>
          <a:xfrm>
            <a:off x="7616952" y="434568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131"/>
          <p:cNvSpPr txBox="1"/>
          <p:nvPr/>
        </p:nvSpPr>
        <p:spPr>
          <a:xfrm>
            <a:off x="7818120" y="4265676"/>
            <a:ext cx="35204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也可直接看无穷级数 S = Σ i/2</a:t>
            </a:r>
            <a:r>
              <a:rPr lang="en-US" sz="15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：S/2 = 1/4 + 2/8 + …，相减得 S/2 = 1/2 + 1/4 + … = 1，S = 2。</a:t>
            </a:r>
            <a:endParaRPr lang="en-US" sz="1500" dirty="0"/>
          </a:p>
        </p:txBody>
      </p:sp>
      <p:sp>
        <p:nvSpPr>
          <p:cNvPr id="30" name="ANS_132"/>
          <p:cNvSpPr/>
          <p:nvPr/>
        </p:nvSpPr>
        <p:spPr>
          <a:xfrm>
            <a:off x="7616952" y="527837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133"/>
          <p:cNvSpPr txBox="1"/>
          <p:nvPr/>
        </p:nvSpPr>
        <p:spPr>
          <a:xfrm>
            <a:off x="7818120" y="5198364"/>
            <a:ext cx="35204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注：原题 P</a:t>
            </a:r>
            <a:r>
              <a:rPr lang="en-US" sz="15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1/2</a:t>
            </a:r>
            <a:r>
              <a:rPr lang="en-US" sz="15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 ΣP</a:t>
            </a:r>
            <a:r>
              <a:rPr lang="en-US" sz="15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1 − 1/2</a:t>
            </a:r>
            <a:r>
              <a:rPr lang="en-US" sz="15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≠ 1（原书第 10 章习题 1 同错），已把 P</a:t>
            </a:r>
            <a:r>
              <a:rPr lang="en-US" sz="15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改为 1/2</a:t>
            </a:r>
            <a:r>
              <a:rPr lang="en-US" sz="15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；极限不变。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折半查找的比较序列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折半查找有序表 (4, 6, 10, 12, 20, 30, 50, 70, 88, 100)。若查找表中元素 58，则它将依次与表中哪些元素比较大小，查找结果是失败？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6265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20, 50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62102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30, 88, 70, 50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7939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20, 70, 30, 50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377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30, 88, 50</a:t>
            </a:r>
            <a:endParaRPr lang="en-US" sz="2000" dirty="0"/>
          </a:p>
        </p:txBody>
      </p:sp>
      <p:sp>
        <p:nvSpPr>
          <p:cNvPr id="19" name="ANS_134"/>
          <p:cNvSpPr/>
          <p:nvPr/>
        </p:nvSpPr>
        <p:spPr>
          <a:xfrm>
            <a:off x="457200" y="4242816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35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36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37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4400" dirty="0"/>
          </a:p>
        </p:txBody>
      </p:sp>
      <p:sp>
        <p:nvSpPr>
          <p:cNvPr id="23" name="ANS_138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39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40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 [0, 9]，mid = 4 → 20，58 &gt; 20 往右</a:t>
            </a:r>
            <a:endParaRPr lang="en-US" sz="1700" dirty="0"/>
          </a:p>
        </p:txBody>
      </p:sp>
      <p:sp>
        <p:nvSpPr>
          <p:cNvPr id="26" name="ANS_141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42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[5, 9]，mid = 7 → 70，58 &lt; 70 往左</a:t>
            </a:r>
            <a:endParaRPr lang="en-US" sz="1700" dirty="0"/>
          </a:p>
        </p:txBody>
      </p:sp>
      <p:sp>
        <p:nvSpPr>
          <p:cNvPr id="28" name="ANS_143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144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[5, 6]，mid = 5 → 30，58 &gt; 30 往右</a:t>
            </a:r>
            <a:endParaRPr lang="en-US" sz="1700" dirty="0"/>
          </a:p>
        </p:txBody>
      </p:sp>
      <p:sp>
        <p:nvSpPr>
          <p:cNvPr id="30" name="ANS_145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146"/>
          <p:cNvSpPr txBox="1"/>
          <p:nvPr/>
        </p:nvSpPr>
        <p:spPr>
          <a:xfrm>
            <a:off x="7818120" y="494599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[6, 6]，mid = 6 → 50，58 &gt; 50，区间变空，失败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折半查找失败的最少比较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22 个记录的有序表作折半查找，当查找失败时，至少需要比较几次关键字？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6027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6027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190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190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3530" y="2627376"/>
            <a:ext cx="147447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83530" y="2627376"/>
            <a:ext cx="14744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 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ANS_147"/>
          <p:cNvSpPr/>
          <p:nvPr/>
        </p:nvSpPr>
        <p:spPr>
          <a:xfrm>
            <a:off x="3771900" y="2627376"/>
            <a:ext cx="1474470" cy="822960"/>
          </a:xfrm>
          <a:prstGeom prst="roundRect">
            <a:avLst>
              <a:gd name="adj" fmla="val 11111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16" name="ANS_148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7" name="ANS_149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18" name="ANS_150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4400" dirty="0"/>
          </a:p>
        </p:txBody>
      </p:sp>
      <p:sp>
        <p:nvSpPr>
          <p:cNvPr id="19" name="ANS_151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0" name="ANS_152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ANS_153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判定树有 22 个内部结点，高度 ⌊log</a:t>
            </a:r>
            <a:r>
              <a:rPr lang="en-US" sz="17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22⌋ + 1 = 5。</a:t>
            </a:r>
            <a:endParaRPr lang="en-US" sz="1700" dirty="0"/>
          </a:p>
        </p:txBody>
      </p:sp>
      <p:sp>
        <p:nvSpPr>
          <p:cNvPr id="22" name="ANS_154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ANS_155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4 层是满的（1+2+4+8 = 15 个），第 5 层只有 7 个结点。</a:t>
            </a:r>
            <a:endParaRPr lang="en-US" sz="1700" dirty="0"/>
          </a:p>
        </p:txBody>
      </p:sp>
      <p:sp>
        <p:nvSpPr>
          <p:cNvPr id="24" name="ANS_156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57"/>
          <p:cNvSpPr txBox="1"/>
          <p:nvPr/>
        </p:nvSpPr>
        <p:spPr>
          <a:xfrm>
            <a:off x="7818120" y="4181246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外部结点（失败）落在第 4、5 层之下，最少比较 4 次、最多 5 次。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除余法的模数（α = 0.5）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关键码序列 26, 25, 20, 33, 21, 24, 45, 204, 42, 38, 29, 31 用闭散列存储。针对负载因子 α = 0.5，最合理的除余法散列函数是：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6265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H(key) = key % 24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62102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H(key) = key % 11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7939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H(key) = key % 12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377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H(key) = key % 23</a:t>
            </a:r>
            <a:endParaRPr lang="en-US" sz="2000" dirty="0"/>
          </a:p>
        </p:txBody>
      </p:sp>
      <p:sp>
        <p:nvSpPr>
          <p:cNvPr id="19" name="ANS_158"/>
          <p:cNvSpPr/>
          <p:nvPr/>
        </p:nvSpPr>
        <p:spPr>
          <a:xfrm>
            <a:off x="457200" y="4901184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5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6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6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4400" dirty="0"/>
          </a:p>
        </p:txBody>
      </p:sp>
      <p:sp>
        <p:nvSpPr>
          <p:cNvPr id="23" name="ANS_16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6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6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表长 m = n / α = 12 / 0.5 = 24。</a:t>
            </a:r>
            <a:endParaRPr lang="en-US" sz="1700" dirty="0"/>
          </a:p>
        </p:txBody>
      </p:sp>
      <p:sp>
        <p:nvSpPr>
          <p:cNvPr id="26" name="ANS_16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66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模数取不大于 m 的最大素数：23。</a:t>
            </a:r>
            <a:endParaRPr lang="en-US" sz="1700" dirty="0"/>
          </a:p>
        </p:txBody>
      </p:sp>
      <p:sp>
        <p:nvSpPr>
          <p:cNvPr id="28" name="ANS_167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168"/>
          <p:cNvSpPr txBox="1"/>
          <p:nvPr/>
        </p:nvSpPr>
        <p:spPr>
          <a:xfrm>
            <a:off x="7818120" y="4181246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 24：偶数关键码全落在偶数槽，聚集严重；取 11、12 则表长不够。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除余法的模数（α = 0.6）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12 个关键码，针对负载因子 α = 0.6，最合理的除余法散列函数是：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005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00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737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H(key) = key % 17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35889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8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574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H(key) = key % 23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01726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7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411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H(key) = key % 19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563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75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02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H(key) = key % 20</a:t>
            </a:r>
            <a:endParaRPr lang="en-US" sz="2000" dirty="0"/>
          </a:p>
        </p:txBody>
      </p:sp>
      <p:sp>
        <p:nvSpPr>
          <p:cNvPr id="19" name="ANS_169"/>
          <p:cNvSpPr/>
          <p:nvPr/>
        </p:nvSpPr>
        <p:spPr>
          <a:xfrm>
            <a:off x="457200" y="3907536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70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71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72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4400" dirty="0"/>
          </a:p>
        </p:txBody>
      </p:sp>
      <p:sp>
        <p:nvSpPr>
          <p:cNvPr id="23" name="ANS_173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74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75"/>
          <p:cNvSpPr txBox="1"/>
          <p:nvPr/>
        </p:nvSpPr>
        <p:spPr>
          <a:xfrm>
            <a:off x="7818120" y="2651760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表长 m = 12 / 0.6 = 20。</a:t>
            </a:r>
            <a:endParaRPr lang="en-US" sz="1700" dirty="0"/>
          </a:p>
        </p:txBody>
      </p:sp>
      <p:sp>
        <p:nvSpPr>
          <p:cNvPr id="26" name="ANS_176"/>
          <p:cNvSpPr/>
          <p:nvPr/>
        </p:nvSpPr>
        <p:spPr>
          <a:xfrm>
            <a:off x="7616952" y="322828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77"/>
          <p:cNvSpPr txBox="1"/>
          <p:nvPr/>
        </p:nvSpPr>
        <p:spPr>
          <a:xfrm>
            <a:off x="7818120" y="3131515"/>
            <a:ext cx="35204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不大于 20 的最大素数是 19。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有序集合求交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两个整数集合 A、B，大小分别为 n 和 m = O(log n)，都用顺序表存储且已排好序。求它们的交集，高效算法的复杂度是：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6265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62102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7939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377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log n</a:t>
            </a:r>
            <a:endParaRPr lang="en-US" sz="2000" dirty="0"/>
          </a:p>
        </p:txBody>
      </p:sp>
      <p:sp>
        <p:nvSpPr>
          <p:cNvPr id="19" name="ANS_178"/>
          <p:cNvSpPr/>
          <p:nvPr/>
        </p:nvSpPr>
        <p:spPr>
          <a:xfrm>
            <a:off x="457200" y="3584448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7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8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8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4400" dirty="0"/>
          </a:p>
        </p:txBody>
      </p:sp>
      <p:sp>
        <p:nvSpPr>
          <p:cNvPr id="23" name="ANS_18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8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8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B 中每个元素在 A 中二分查找：每次 O(log n)。</a:t>
            </a:r>
            <a:endParaRPr lang="en-US" sz="1700" dirty="0"/>
          </a:p>
        </p:txBody>
      </p:sp>
      <p:sp>
        <p:nvSpPr>
          <p:cNvPr id="26" name="ANS_18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86"/>
          <p:cNvSpPr txBox="1"/>
          <p:nvPr/>
        </p:nvSpPr>
        <p:spPr>
          <a:xfrm>
            <a:off x="7818120" y="3416503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m = O(log n) 次 → O(log</a:t>
            </a:r>
            <a:r>
              <a:rPr lang="en-US" sz="17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n)，比归并式扫描 O(n + m) 更快。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指数分布的 ASL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n 个关键码的线性表里顺序检索，检索第 i 个关键码的概率为 p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2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−i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 ≤ i ≤ n−1），p</a:t>
            </a:r>
            <a:r>
              <a:rPr lang="en-US" sz="2000" baseline="-4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2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−(n−1)</a:t>
            </a: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（概率之和为 1），求平均检索长度。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6265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2 − (n+2)/2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62102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2 − (n+2)/2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7939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2 − 1/2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377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2 − 1/2</a:t>
            </a:r>
            <a:r>
              <a:rPr lang="en-US" sz="2000" baseline="30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endParaRPr lang="en-US" sz="2000" dirty="0"/>
          </a:p>
        </p:txBody>
      </p:sp>
      <p:sp>
        <p:nvSpPr>
          <p:cNvPr id="19" name="ANS_187"/>
          <p:cNvSpPr/>
          <p:nvPr/>
        </p:nvSpPr>
        <p:spPr>
          <a:xfrm>
            <a:off x="457200" y="4901184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188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189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190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4400" dirty="0"/>
          </a:p>
        </p:txBody>
      </p:sp>
      <p:sp>
        <p:nvSpPr>
          <p:cNvPr id="23" name="ANS_191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192"/>
          <p:cNvSpPr/>
          <p:nvPr/>
        </p:nvSpPr>
        <p:spPr>
          <a:xfrm>
            <a:off x="7616952" y="272338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193"/>
          <p:cNvSpPr txBox="1"/>
          <p:nvPr/>
        </p:nvSpPr>
        <p:spPr>
          <a:xfrm>
            <a:off x="7818120" y="2651760"/>
            <a:ext cx="352044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 = Σ</a:t>
            </a:r>
            <a:r>
              <a:rPr lang="en-US" sz="14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i&lt;n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i/2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n/2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；错位相减得 Σ</a:t>
            </a:r>
            <a:r>
              <a:rPr lang="en-US" sz="14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i&lt;n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i/2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2 − (n+1)/2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26" name="ANS_194"/>
          <p:cNvSpPr/>
          <p:nvPr/>
        </p:nvSpPr>
        <p:spPr>
          <a:xfrm>
            <a:off x="7616952" y="336285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7" name="ANS_195"/>
          <p:cNvSpPr txBox="1"/>
          <p:nvPr/>
        </p:nvSpPr>
        <p:spPr>
          <a:xfrm>
            <a:off x="7818120" y="3291230"/>
            <a:ext cx="352044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加上最后一项 n/2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：ASL = 2 − 1/2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n−1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，即 D。</a:t>
            </a:r>
            <a:endParaRPr lang="en-US" sz="1400" dirty="0"/>
          </a:p>
        </p:txBody>
      </p:sp>
      <p:sp>
        <p:nvSpPr>
          <p:cNvPr id="28" name="ANS_196"/>
          <p:cNvSpPr/>
          <p:nvPr/>
        </p:nvSpPr>
        <p:spPr>
          <a:xfrm>
            <a:off x="7616952" y="4002329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ANS_197"/>
          <p:cNvSpPr txBox="1"/>
          <p:nvPr/>
        </p:nvSpPr>
        <p:spPr>
          <a:xfrm>
            <a:off x="7818120" y="3930701"/>
            <a:ext cx="3520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验算：n = 1 时 p</a:t>
            </a:r>
            <a:r>
              <a:rPr lang="en-US" sz="14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1，ASL = 1；n = 2 时 1/2 + 2·1/2 = 1.5，都与 D 吻合，其余三项都不符。</a:t>
            </a:r>
            <a:endParaRPr lang="en-US" sz="1400" dirty="0"/>
          </a:p>
        </p:txBody>
      </p:sp>
      <p:sp>
        <p:nvSpPr>
          <p:cNvPr id="30" name="ANS_198"/>
          <p:cNvSpPr/>
          <p:nvPr/>
        </p:nvSpPr>
        <p:spPr>
          <a:xfrm>
            <a:off x="7616952" y="4876495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1" name="ANS_199"/>
          <p:cNvSpPr txBox="1"/>
          <p:nvPr/>
        </p:nvSpPr>
        <p:spPr>
          <a:xfrm>
            <a:off x="7818120" y="4804867"/>
            <a:ext cx="3520440" cy="122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注：原题写作 p</a:t>
            </a:r>
            <a:r>
              <a:rPr lang="en-US" sz="14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−i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 ≤ i ≤ n），概率之和只有 1 − 1/2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；按那个题面算得 2 − (n+2)/2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（B），与题库答案 D 不一致。已把 p</a:t>
            </a:r>
            <a:r>
              <a:rPr lang="en-US" sz="1400" baseline="-4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改为 2</a:t>
            </a:r>
            <a:r>
              <a:rPr lang="en-US" sz="1400" baseline="30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−(n−1)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，与题库答案 D 统一。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单选题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链表适合的查找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链表适用于哪种查找？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524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65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9209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02361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23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5046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二分法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68198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81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883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顺序和二分法都适合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34035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40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26720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顺序和二分法都不适合</a:t>
            </a:r>
            <a:endParaRPr lang="en-US" sz="2000" dirty="0"/>
          </a:p>
        </p:txBody>
      </p:sp>
      <p:sp>
        <p:nvSpPr>
          <p:cNvPr id="19" name="ANS_200"/>
          <p:cNvSpPr/>
          <p:nvPr/>
        </p:nvSpPr>
        <p:spPr>
          <a:xfrm>
            <a:off x="457200" y="225552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20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1" name="ANS_20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2" name="ANS_20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4400" dirty="0"/>
          </a:p>
        </p:txBody>
      </p:sp>
      <p:sp>
        <p:nvSpPr>
          <p:cNvPr id="23" name="ANS_20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4" name="ANS_20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ANS_206"/>
          <p:cNvSpPr txBox="1"/>
          <p:nvPr/>
        </p:nvSpPr>
        <p:spPr>
          <a:xfrm>
            <a:off x="7818120" y="2651760"/>
            <a:ext cx="35204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二分查找要随机访问中间元素，链表做不到 O(1) 定位，只能顺序查找。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多选题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开散列的散列函数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把关键码 K 散列到有 n 个槽（0 到 n−1 编号）的散列表中，用开散列解决冲突。下面哪些函数作为散列函数，能保证插入和检索一定正常工作？（Random(n) 返回 0 到 n−1 的随机整数；只考虑正确性，不考虑性能）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0636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06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63321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h(k) = 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36473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364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29158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h(k) = k mod n，其中 n 是素数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502310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23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94995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h(k) = k / n，其中 k 和 n 都是整数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681472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681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60832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h(k) = (k + Random(n)) mod n</a:t>
            </a:r>
            <a:endParaRPr lang="en-US" sz="2000" dirty="0"/>
          </a:p>
        </p:txBody>
      </p:sp>
      <p:sp>
        <p:nvSpPr>
          <p:cNvPr id="19" name="ANS_207"/>
          <p:cNvSpPr/>
          <p:nvPr/>
        </p:nvSpPr>
        <p:spPr>
          <a:xfrm>
            <a:off x="457200" y="3596640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0" name="ANS_208"/>
          <p:cNvSpPr/>
          <p:nvPr/>
        </p:nvSpPr>
        <p:spPr>
          <a:xfrm>
            <a:off x="457200" y="4255008"/>
            <a:ext cx="6492240" cy="603504"/>
          </a:xfrm>
          <a:prstGeom prst="roundRect">
            <a:avLst>
              <a:gd name="adj" fmla="val 15152"/>
            </a:avLst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21" name="ANS_209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22" name="ANS_210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23" name="ANS_211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A、B</a:t>
            </a:r>
            <a:endParaRPr lang="en-US" sz="4400" dirty="0"/>
          </a:p>
        </p:txBody>
      </p:sp>
      <p:sp>
        <p:nvSpPr>
          <p:cNvPr id="24" name="ANS_21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ANS_213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ANS_214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✓ 全部进同一条链，很慢但结果正确。</a:t>
            </a:r>
            <a:endParaRPr lang="en-US" sz="1700" dirty="0"/>
          </a:p>
        </p:txBody>
      </p:sp>
      <p:sp>
        <p:nvSpPr>
          <p:cNvPr id="27" name="ANS_215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ANS_216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✓ 值总在 0…n−1 内，且对同一 k 恒定。</a:t>
            </a:r>
            <a:endParaRPr lang="en-US" sz="1700" dirty="0"/>
          </a:p>
        </p:txBody>
      </p:sp>
      <p:sp>
        <p:nvSpPr>
          <p:cNvPr id="29" name="ANS_217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0" name="ANS_218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✗ k / n 可能 ≥ n，越出槽的范围。</a:t>
            </a:r>
            <a:endParaRPr lang="en-US" sz="1700" dirty="0"/>
          </a:p>
        </p:txBody>
      </p:sp>
      <p:sp>
        <p:nvSpPr>
          <p:cNvPr id="31" name="ANS_219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2" name="ANS_220"/>
          <p:cNvSpPr txBox="1"/>
          <p:nvPr/>
        </p:nvSpPr>
        <p:spPr>
          <a:xfrm>
            <a:off x="7818120" y="494599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✗ 同一个 k 每次算出的槽不同，插入后再也找不到。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线性探查的填充概率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个槽的闭散列表（槽 0–6），散列函数 h(k) = k mod 7，线性探查。依次插入 3、12、9、2 后，每个空槽作为下一个被填充槽的概率是多少？按槽 0 到 6 依次写出，用「,」间隔，如 2/7,0,0,0,0,0,5/7。</a:t>
            </a:r>
            <a:endParaRPr lang="en-US" sz="2000" dirty="0"/>
          </a:p>
        </p:txBody>
      </p:sp>
      <p:sp>
        <p:nvSpPr>
          <p:cNvPr id="7" name="ANS_221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22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23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1/7,1/7,0,0,0,0,5/7</a:t>
            </a:r>
            <a:endParaRPr lang="en-US" sz="2600" dirty="0"/>
          </a:p>
        </p:txBody>
      </p:sp>
      <p:sp>
        <p:nvSpPr>
          <p:cNvPr id="10" name="ANS_224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25"/>
          <p:cNvSpPr/>
          <p:nvPr/>
        </p:nvSpPr>
        <p:spPr>
          <a:xfrm>
            <a:off x="7616952" y="274853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26"/>
          <p:cNvSpPr txBox="1"/>
          <p:nvPr/>
        </p:nvSpPr>
        <p:spPr>
          <a:xfrm>
            <a:off x="7818120" y="265176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→ 槽 3；12 → 槽 5；9 → 槽 2；2 → 槽 2、3 已占 → 槽 4</a:t>
            </a:r>
            <a:endParaRPr lang="en-US" sz="1700" dirty="0"/>
          </a:p>
        </p:txBody>
      </p:sp>
      <p:sp>
        <p:nvSpPr>
          <p:cNvPr id="13" name="ANS_227"/>
          <p:cNvSpPr/>
          <p:nvPr/>
        </p:nvSpPr>
        <p:spPr>
          <a:xfrm>
            <a:off x="7616952" y="3513277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28"/>
          <p:cNvSpPr txBox="1"/>
          <p:nvPr/>
        </p:nvSpPr>
        <p:spPr>
          <a:xfrm>
            <a:off x="7818120" y="3416503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已占槽 2、3、4、5；空槽 0、1、6</a:t>
            </a:r>
            <a:endParaRPr lang="en-US" sz="1700" dirty="0"/>
          </a:p>
        </p:txBody>
      </p:sp>
      <p:sp>
        <p:nvSpPr>
          <p:cNvPr id="15" name="ANS_229"/>
          <p:cNvSpPr/>
          <p:nvPr/>
        </p:nvSpPr>
        <p:spPr>
          <a:xfrm>
            <a:off x="7616952" y="42780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30"/>
          <p:cNvSpPr txBox="1"/>
          <p:nvPr/>
        </p:nvSpPr>
        <p:spPr>
          <a:xfrm>
            <a:off x="7818120" y="4181246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散列到 0 → 槽 0；散列到 1 → 槽 1：各 1/7</a:t>
            </a:r>
            <a:endParaRPr lang="en-US" sz="1700" dirty="0"/>
          </a:p>
        </p:txBody>
      </p:sp>
      <p:sp>
        <p:nvSpPr>
          <p:cNvPr id="17" name="ANS_231"/>
          <p:cNvSpPr/>
          <p:nvPr/>
        </p:nvSpPr>
        <p:spPr>
          <a:xfrm>
            <a:off x="7616952" y="50427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232"/>
          <p:cNvSpPr txBox="1"/>
          <p:nvPr/>
        </p:nvSpPr>
        <p:spPr>
          <a:xfrm>
            <a:off x="7818120" y="4945990"/>
            <a:ext cx="352044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散列到 2、3、4、5、6 都会一路探查到槽 6：5/7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68680" cy="86868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检索  ·  填空题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插入删除后的平均检索长度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30936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散列函数 h(key) = key % 19，共 20 个槽，闭散列线性探查。从空表开始依次执行：Add 26，Add 25，Add 24，Add 195，Del 26，Add 176。这些操作的平均检索长度是？（表中不能插入相同关键码；用最简分数表示，如 3/4）</a:t>
            </a:r>
            <a:endParaRPr lang="en-US" sz="2000" dirty="0"/>
          </a:p>
        </p:txBody>
      </p:sp>
      <p:sp>
        <p:nvSpPr>
          <p:cNvPr id="7" name="ANS_233"/>
          <p:cNvSpPr/>
          <p:nvPr/>
        </p:nvSpPr>
        <p:spPr>
          <a:xfrm>
            <a:off x="7269480" y="411480"/>
            <a:ext cx="4389120" cy="6035040"/>
          </a:xfrm>
          <a:prstGeom prst="roundRect">
            <a:avLst>
              <a:gd name="adj" fmla="val 3125"/>
            </a:avLst>
          </a:prstGeom>
          <a:solidFill>
            <a:srgbClr val="FFF6E0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8" name="ANS_234"/>
          <p:cNvSpPr txBox="1"/>
          <p:nvPr/>
        </p:nvSpPr>
        <p:spPr>
          <a:xfrm>
            <a:off x="7589520" y="685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600" dirty="0"/>
          </a:p>
        </p:txBody>
      </p:sp>
      <p:sp>
        <p:nvSpPr>
          <p:cNvPr id="9" name="ANS_235"/>
          <p:cNvSpPr txBox="1"/>
          <p:nvPr/>
        </p:nvSpPr>
        <p:spPr>
          <a:xfrm>
            <a:off x="7589520" y="1097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13/6</a:t>
            </a:r>
            <a:endParaRPr lang="en-US" sz="4400" dirty="0"/>
          </a:p>
        </p:txBody>
      </p:sp>
      <p:sp>
        <p:nvSpPr>
          <p:cNvPr id="10" name="ANS_236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1" name="ANS_237"/>
          <p:cNvSpPr/>
          <p:nvPr/>
        </p:nvSpPr>
        <p:spPr>
          <a:xfrm>
            <a:off x="7616952" y="273177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ANS_238"/>
          <p:cNvSpPr txBox="1"/>
          <p:nvPr/>
        </p:nvSpPr>
        <p:spPr>
          <a:xfrm>
            <a:off x="7818120" y="2651760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 26 → 槽 7，1 次；Add 25 → 槽 6，1 次；Add 24 → 槽 5，1 次</a:t>
            </a:r>
            <a:endParaRPr lang="en-US" sz="1500" dirty="0"/>
          </a:p>
        </p:txBody>
      </p:sp>
      <p:sp>
        <p:nvSpPr>
          <p:cNvPr id="13" name="ANS_239"/>
          <p:cNvSpPr/>
          <p:nvPr/>
        </p:nvSpPr>
        <p:spPr>
          <a:xfrm>
            <a:off x="7616952" y="3412998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ANS_240"/>
          <p:cNvSpPr txBox="1"/>
          <p:nvPr/>
        </p:nvSpPr>
        <p:spPr>
          <a:xfrm>
            <a:off x="7818120" y="3332988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 195（h = 5）：探 5、6、7、8，4 次，放槽 8</a:t>
            </a:r>
            <a:endParaRPr lang="en-US" sz="1500" dirty="0"/>
          </a:p>
        </p:txBody>
      </p:sp>
      <p:sp>
        <p:nvSpPr>
          <p:cNvPr id="15" name="ANS_241"/>
          <p:cNvSpPr/>
          <p:nvPr/>
        </p:nvSpPr>
        <p:spPr>
          <a:xfrm>
            <a:off x="7616952" y="4094226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ANS_242"/>
          <p:cNvSpPr txBox="1"/>
          <p:nvPr/>
        </p:nvSpPr>
        <p:spPr>
          <a:xfrm>
            <a:off x="7818120" y="4014216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 26：探槽 7 找到，1 次，留下删除标记</a:t>
            </a:r>
            <a:endParaRPr lang="en-US" sz="1500" dirty="0"/>
          </a:p>
        </p:txBody>
      </p:sp>
      <p:sp>
        <p:nvSpPr>
          <p:cNvPr id="17" name="ANS_243"/>
          <p:cNvSpPr/>
          <p:nvPr/>
        </p:nvSpPr>
        <p:spPr>
          <a:xfrm>
            <a:off x="7616952" y="477545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ANS_244"/>
          <p:cNvSpPr txBox="1"/>
          <p:nvPr/>
        </p:nvSpPr>
        <p:spPr>
          <a:xfrm>
            <a:off x="7818120" y="4695444"/>
            <a:ext cx="352044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 176（h = 5）：要确认表中没有 176，探 5、6、7、8、9 直到空槽，5 次；放进槽 7 的删除标记处</a:t>
            </a:r>
            <a:endParaRPr lang="en-US" sz="1500" dirty="0"/>
          </a:p>
        </p:txBody>
      </p:sp>
      <p:sp>
        <p:nvSpPr>
          <p:cNvPr id="19" name="ANS_245"/>
          <p:cNvSpPr/>
          <p:nvPr/>
        </p:nvSpPr>
        <p:spPr>
          <a:xfrm>
            <a:off x="7616952" y="5708142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ANS_246"/>
          <p:cNvSpPr txBox="1"/>
          <p:nvPr/>
        </p:nvSpPr>
        <p:spPr>
          <a:xfrm>
            <a:off x="7818120" y="5628132"/>
            <a:ext cx="35204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(1+1+1+4+1+5) / 6 = 13/6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MOOC Quiz CH09-10</dc:title>
  <dc:subject>PptxGenJS Presentation</dc:subject>
  <dc:creator>Hongfei Yan</dc:creator>
  <cp:lastModifiedBy>Hongfei Yan</cp:lastModifiedBy>
  <cp:revision>1</cp:revision>
  <dcterms:created xsi:type="dcterms:W3CDTF">2026-10-28T14:57:07Z</dcterms:created>
  <dcterms:modified xsi:type="dcterms:W3CDTF">2026-10-28T14:57:07Z</dcterms:modified>
</cp:coreProperties>
</file>